
<file path=[Content_Types].xml><?xml version="1.0" encoding="utf-8"?>
<Types xmlns="http://schemas.openxmlformats.org/package/2006/content-types">
  <Default Extension="emf" ContentType="image/x-emf"/>
  <Default Extension="gif" ContentType="image/gi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10.xml" ContentType="application/vnd.openxmlformats-officedocument.drawingml.chartshapes+xml"/>
  <Override PartName="/ppt/drawings/drawing11.xml" ContentType="application/vnd.openxmlformats-officedocument.drawingml.chartshapes+xml"/>
  <Override PartName="/ppt/drawings/drawing12.xml" ContentType="application/vnd.openxmlformats-officedocument.drawingml.chartshapes+xml"/>
  <Override PartName="/ppt/drawings/drawing13.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drawings/drawing5.xml" ContentType="application/vnd.openxmlformats-officedocument.drawingml.chartshapes+xml"/>
  <Override PartName="/ppt/drawings/drawing6.xml" ContentType="application/vnd.openxmlformats-officedocument.drawingml.chartshapes+xml"/>
  <Override PartName="/ppt/drawings/drawing7.xml" ContentType="application/vnd.openxmlformats-officedocument.drawingml.chartshapes+xml"/>
  <Override PartName="/ppt/drawings/drawing8.xml" ContentType="application/vnd.openxmlformats-officedocument.drawingml.chartshapes+xml"/>
  <Override PartName="/ppt/drawings/drawing9.xml" ContentType="application/vnd.openxmlformats-officedocument.drawingml.chartshap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4"/>
  </p:sldMasterIdLst>
  <p:notesMasterIdLst>
    <p:notesMasterId r:id="rId66"/>
  </p:notesMasterIdLst>
  <p:handoutMasterIdLst>
    <p:handoutMasterId r:id="rId67"/>
  </p:handoutMasterIdLst>
  <p:sldIdLst>
    <p:sldId id="474" r:id="rId5"/>
    <p:sldId id="689" r:id="rId6"/>
    <p:sldId id="662" r:id="rId7"/>
    <p:sldId id="661" r:id="rId8"/>
    <p:sldId id="616" r:id="rId9"/>
    <p:sldId id="700" r:id="rId10"/>
    <p:sldId id="690" r:id="rId11"/>
    <p:sldId id="709" r:id="rId12"/>
    <p:sldId id="620" r:id="rId13"/>
    <p:sldId id="691" r:id="rId14"/>
    <p:sldId id="680" r:id="rId15"/>
    <p:sldId id="686" r:id="rId16"/>
    <p:sldId id="682" r:id="rId17"/>
    <p:sldId id="683" r:id="rId18"/>
    <p:sldId id="695" r:id="rId19"/>
    <p:sldId id="710" r:id="rId20"/>
    <p:sldId id="696" r:id="rId21"/>
    <p:sldId id="711" r:id="rId22"/>
    <p:sldId id="625" r:id="rId23"/>
    <p:sldId id="626" r:id="rId24"/>
    <p:sldId id="694" r:id="rId25"/>
    <p:sldId id="628" r:id="rId26"/>
    <p:sldId id="629" r:id="rId27"/>
    <p:sldId id="702" r:id="rId28"/>
    <p:sldId id="703" r:id="rId29"/>
    <p:sldId id="712" r:id="rId30"/>
    <p:sldId id="630" r:id="rId31"/>
    <p:sldId id="631" r:id="rId32"/>
    <p:sldId id="632" r:id="rId33"/>
    <p:sldId id="704" r:id="rId34"/>
    <p:sldId id="705" r:id="rId35"/>
    <p:sldId id="713" r:id="rId36"/>
    <p:sldId id="633" r:id="rId37"/>
    <p:sldId id="634" r:id="rId38"/>
    <p:sldId id="706" r:id="rId39"/>
    <p:sldId id="669" r:id="rId40"/>
    <p:sldId id="670" r:id="rId41"/>
    <p:sldId id="636" r:id="rId42"/>
    <p:sldId id="637" r:id="rId43"/>
    <p:sldId id="638" r:id="rId44"/>
    <p:sldId id="714" r:id="rId45"/>
    <p:sldId id="640" r:id="rId46"/>
    <p:sldId id="697" r:id="rId47"/>
    <p:sldId id="643" r:id="rId48"/>
    <p:sldId id="645" r:id="rId49"/>
    <p:sldId id="647" r:id="rId50"/>
    <p:sldId id="615" r:id="rId51"/>
    <p:sldId id="608" r:id="rId52"/>
    <p:sldId id="678" r:id="rId53"/>
    <p:sldId id="677" r:id="rId54"/>
    <p:sldId id="708" r:id="rId55"/>
    <p:sldId id="648" r:id="rId56"/>
    <p:sldId id="649" r:id="rId57"/>
    <p:sldId id="672" r:id="rId58"/>
    <p:sldId id="650" r:id="rId59"/>
    <p:sldId id="656" r:id="rId60"/>
    <p:sldId id="673" r:id="rId61"/>
    <p:sldId id="687" r:id="rId62"/>
    <p:sldId id="676" r:id="rId63"/>
    <p:sldId id="596" r:id="rId64"/>
    <p:sldId id="659" r:id="rId65"/>
  </p:sldIdLst>
  <p:sldSz cx="6858000" cy="9144000" type="screen4x3"/>
  <p:notesSz cx="9296400" cy="7010400"/>
  <p:defaultTextStyle>
    <a:defPPr>
      <a:defRPr lang="en-US"/>
    </a:defPPr>
    <a:lvl1pPr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205" userDrawn="1">
          <p15:clr>
            <a:srgbClr val="A4A3A4"/>
          </p15:clr>
        </p15:guide>
        <p15:guide id="2" pos="2924" userDrawn="1">
          <p15:clr>
            <a:srgbClr val="A4A3A4"/>
          </p15:clr>
        </p15:guide>
        <p15:guide id="3" orient="horz" pos="2208" userDrawn="1">
          <p15:clr>
            <a:srgbClr val="A4A3A4"/>
          </p15:clr>
        </p15:guide>
        <p15:guide id="4" pos="292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16604-D201-06CE-DBDB-10CEC180544C}" name="pat escalona" initials="pe" userId="9d691d3bd59083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3"/>
    <a:srgbClr val="3133CC"/>
    <a:srgbClr val="3233CC"/>
    <a:srgbClr val="DEE8F3"/>
    <a:srgbClr val="4F81BD"/>
    <a:srgbClr val="DDE7F2"/>
    <a:srgbClr val="00CC99"/>
    <a:srgbClr val="00CC9A"/>
    <a:srgbClr val="FFC000"/>
    <a:srgbClr val="0F6F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7901A8-1493-AC45-A4DD-6FF1A0C8FDC9}" v="578" dt="2025-12-14T13:02:05.6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3"/>
    <p:restoredTop sz="94685"/>
  </p:normalViewPr>
  <p:slideViewPr>
    <p:cSldViewPr snapToGrid="0">
      <p:cViewPr varScale="1">
        <p:scale>
          <a:sx n="168" d="100"/>
          <a:sy n="168" d="100"/>
        </p:scale>
        <p:origin x="1128" y="520"/>
      </p:cViewPr>
      <p:guideLst>
        <p:guide orient="horz" pos="2880"/>
        <p:guide pos="2160"/>
      </p:guideLst>
    </p:cSldViewPr>
  </p:slideViewPr>
  <p:notesTextViewPr>
    <p:cViewPr>
      <p:scale>
        <a:sx n="1" d="1"/>
        <a:sy n="1" d="1"/>
      </p:scale>
      <p:origin x="0" y="0"/>
    </p:cViewPr>
  </p:notesTextViewPr>
  <p:notesViewPr>
    <p:cSldViewPr snapToGrid="0">
      <p:cViewPr>
        <p:scale>
          <a:sx n="1" d="2"/>
          <a:sy n="1" d="2"/>
        </p:scale>
        <p:origin x="0" y="0"/>
      </p:cViewPr>
      <p:guideLst>
        <p:guide orient="horz" pos="2205"/>
        <p:guide pos="2924"/>
        <p:guide orient="horz" pos="2208"/>
        <p:guide pos="2929"/>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microsoft.com/office/2015/10/relationships/revisionInfo" Target="revisionInfo.xml"/><Relationship Id="rId73"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 Id="rId2"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 Id="rId2"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 Id="rId2" Type="http://schemas.openxmlformats.org/officeDocument/2006/relationships/chartUserShapes" Target="../drawings/drawing3.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 Id="rId2" Type="http://schemas.openxmlformats.org/officeDocument/2006/relationships/chartUserShapes" Target="../drawings/drawing4.xm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 Id="rId2" Type="http://schemas.openxmlformats.org/officeDocument/2006/relationships/chartUserShapes" Target="../drawings/drawing5.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 Id="rId2" Type="http://schemas.openxmlformats.org/officeDocument/2006/relationships/chartUserShapes" Target="../drawings/drawing6.xml"/></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 Id="rId2" Type="http://schemas.openxmlformats.org/officeDocument/2006/relationships/chartUserShapes" Target="../drawings/drawing7.xm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 Id="rId2" Type="http://schemas.openxmlformats.org/officeDocument/2006/relationships/chartUserShapes" Target="../drawings/drawing8.xml"/></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 Id="rId2" Type="http://schemas.openxmlformats.org/officeDocument/2006/relationships/chartUserShapes" Target="../drawings/drawing9.xml"/></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 Id="rId2" Type="http://schemas.openxmlformats.org/officeDocument/2006/relationships/chartUserShapes" Target="../drawings/drawing10.xml"/></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 Id="rId2" Type="http://schemas.openxmlformats.org/officeDocument/2006/relationships/chartUserShapes" Target="../drawings/drawing11.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 Id="rId2" Type="http://schemas.openxmlformats.org/officeDocument/2006/relationships/chartUserShapes" Target="../drawings/drawing12.xml"/></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 Id="rId2" Type="http://schemas.openxmlformats.org/officeDocument/2006/relationships/chartUserShapes" Target="../drawings/drawing13.xml"/></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Q1 2025
(N=45)</c:v>
                </c:pt>
              </c:strCache>
            </c:strRef>
          </c:tx>
          <c:spPr>
            <a:solidFill>
              <a:srgbClr val="FFC003"/>
            </a:solidFill>
            <a:ln>
              <a:noFill/>
            </a:ln>
            <a:effectLst/>
          </c:spPr>
          <c:invertIfNegative val="0"/>
          <c:dLbls>
            <c:spPr>
              <a:noFill/>
              <a:ln w="20893">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0.07</c:v>
                </c:pt>
                <c:pt idx="1">
                  <c:v>0.8</c:v>
                </c:pt>
                <c:pt idx="2">
                  <c:v>0.13</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Q2 2025
(N=46)</c:v>
                </c:pt>
              </c:strCache>
            </c:strRef>
          </c:tx>
          <c:spPr>
            <a:solidFill>
              <a:srgbClr val="3133C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Sheet1!$C$2:$C$4</c:f>
              <c:numCache>
                <c:formatCode>0%</c:formatCode>
                <c:ptCount val="3"/>
                <c:pt idx="0">
                  <c:v>0.04</c:v>
                </c:pt>
                <c:pt idx="1">
                  <c:v>0.83</c:v>
                </c:pt>
                <c:pt idx="2">
                  <c:v>0.13</c:v>
                </c:pt>
              </c:numCache>
            </c:numRef>
          </c:val>
          <c:extLst>
            <c:ext xmlns:c16="http://schemas.microsoft.com/office/drawing/2014/chart" uri="{C3380CC4-5D6E-409C-BE32-E72D297353CC}">
              <c16:uniqueId val="{00000001-FBB7-AB40-8E52-76733A6959E6}"/>
            </c:ext>
          </c:extLst>
        </c:ser>
        <c:ser>
          <c:idx val="2"/>
          <c:order val="2"/>
          <c:tx>
            <c:strRef>
              <c:f>Sheet1!$D$1</c:f>
              <c:strCache>
                <c:ptCount val="1"/>
                <c:pt idx="0">
                  <c:v>Q3 2025
(N=38)</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Sheet1!$D$2:$D$4</c:f>
              <c:numCache>
                <c:formatCode>0%</c:formatCode>
                <c:ptCount val="3"/>
                <c:pt idx="0">
                  <c:v>0.13157894736842105</c:v>
                </c:pt>
                <c:pt idx="1">
                  <c:v>0.6052631578947368</c:v>
                </c:pt>
                <c:pt idx="2">
                  <c:v>0.2631578947368421</c:v>
                </c:pt>
              </c:numCache>
            </c:numRef>
          </c:val>
          <c:extLst>
            <c:ext xmlns:c16="http://schemas.microsoft.com/office/drawing/2014/chart" uri="{C3380CC4-5D6E-409C-BE32-E72D297353CC}">
              <c16:uniqueId val="{00000002-FBB7-AB40-8E52-76733A6959E6}"/>
            </c:ext>
          </c:extLst>
        </c:ser>
        <c:ser>
          <c:idx val="3"/>
          <c:order val="3"/>
          <c:tx>
            <c:strRef>
              <c:f>Sheet1!$E$1</c:f>
              <c:strCache>
                <c:ptCount val="1"/>
                <c:pt idx="0">
                  <c:v>Q4 2025
(N=15)</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Sheet1!$A$2:$A$4</c:f>
              <c:strCache>
                <c:ptCount val="3"/>
                <c:pt idx="0">
                  <c:v>Yes</c:v>
                </c:pt>
                <c:pt idx="1">
                  <c:v>No</c:v>
                </c:pt>
                <c:pt idx="2">
                  <c:v>Do not know</c:v>
                </c:pt>
              </c:strCache>
            </c:strRef>
          </c:cat>
          <c:val>
            <c:numRef>
              <c:f>Sheet1!$E$2:$E$4</c:f>
              <c:numCache>
                <c:formatCode>0%</c:formatCode>
                <c:ptCount val="3"/>
                <c:pt idx="0">
                  <c:v>0.13333333333333333</c:v>
                </c:pt>
                <c:pt idx="1">
                  <c:v>0.8</c:v>
                </c:pt>
                <c:pt idx="2">
                  <c:v>0.06666666666666667</c:v>
                </c:pt>
              </c:numCache>
            </c:numRef>
          </c:val>
          <c:extLst>
            <c:ext xmlns:c16="http://schemas.microsoft.com/office/drawing/2014/chart" uri="{C3380CC4-5D6E-409C-BE32-E72D297353CC}">
              <c16:uniqueId val="{00000003-FBB7-AB40-8E52-76733A6959E6}"/>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prstDash val="solid"/>
              <a:round/>
            </a:ln>
            <a:effectLst/>
          </c:spPr>
        </c:majorGridlines>
        <c:numFmt formatCode="0%" sourceLinked="1"/>
        <c:majorTickMark val="none"/>
        <c:minorTickMark val="none"/>
        <c:tickLblPos val="nextTo"/>
        <c:spPr>
          <a:noFill/>
          <a:ln w="5223" cap="flat" cmpd="sng" algn="ctr">
            <a:solidFill>
              <a:schemeClr val="bg1">
                <a:lumMod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a:effectLst/>
      </c:spPr>
    </c:plotArea>
    <c:legend>
      <c:legendPos val="t"/>
      <c:layout>
        <c:manualLayout>
          <c:xMode val="edge"/>
          <c:yMode val="edge"/>
          <c:x val="0.19246181398377835"/>
          <c:y val="1.556420233463035E-2"/>
          <c:w val="0.60379817654372159"/>
          <c:h val="7.650479487729403E-2"/>
        </c:manualLayout>
      </c:layout>
      <c:overlay val="0"/>
      <c:spPr>
        <a:noFill/>
        <a:ln w="20893">
          <a:noFill/>
        </a:ln>
        <a:effectLst/>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prstDash val="soli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dLbl>
              <c:idx val="3"/>
              <c:layout>
                <c:manualLayout>
                  <c:x val="1.879699248120163E-3"/>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0.02</c:v>
                </c:pt>
                <c:pt idx="2">
                  <c:v>0.02631578947368421</c:v>
                </c:pt>
              </c:numCache>
            </c:numRef>
          </c:val>
          <c:extLst>
            <c:ext xmlns:c16="http://schemas.microsoft.com/office/drawing/2014/chart" uri="{C3380CC4-5D6E-409C-BE32-E72D297353CC}">
              <c16:uniqueId val="{00000001-B9B0-4EA2-8CFB-1195A0386E81}"/>
            </c:ext>
          </c:extLst>
        </c:ser>
        <c:ser>
          <c:idx val="1"/>
          <c:order val="1"/>
          <c:tx>
            <c:strRef>
              <c:f>Sheet1!$C$1</c:f>
              <c:strCache>
                <c:ptCount val="1"/>
                <c:pt idx="0">
                  <c:v>9</c:v>
                </c:pt>
              </c:strCache>
            </c:strRef>
          </c:tx>
          <c:spPr>
            <a:solidFill>
              <a:srgbClr val="59AAF2"/>
            </a:solidFill>
            <a:ln w="20273">
              <a:noFill/>
            </a:ln>
          </c:spPr>
          <c:invertIfNegative val="0"/>
          <c:dLbls>
            <c:dLbl>
              <c:idx val="0"/>
              <c:layout>
                <c:manualLayout>
                  <c:x val="3.7593984962406013E-3"/>
                  <c:y val="-4.992200178579164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9B0-4EA2-8CFB-1195A0386E81}"/>
                </c:ext>
              </c:extLst>
            </c:dLbl>
            <c:dLbl>
              <c:idx val="3"/>
              <c:layout>
                <c:manualLayout>
                  <c:x val="0"/>
                  <c:y val="9.152261266358825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0-4EA2-8CFB-1195A0386E8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0.04</c:v>
                </c:pt>
                <c:pt idx="1">
                  <c:v>0.04</c:v>
                </c:pt>
                <c:pt idx="2">
                  <c:v>0.02631578947368421</c:v>
                </c:pt>
                <c:pt idx="3">
                  <c:v>0.06666666666666667</c:v>
                </c:pt>
              </c:numCache>
            </c:numRef>
          </c:val>
          <c:extLst>
            <c:ext xmlns:c16="http://schemas.microsoft.com/office/drawing/2014/chart" uri="{C3380CC4-5D6E-409C-BE32-E72D297353CC}">
              <c16:uniqueId val="{00000004-B9B0-4EA2-8CFB-1195A0386E81}"/>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5-B9B0-4EA2-8CFB-1195A0386E81}"/>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0.91</c:v>
                </c:pt>
                <c:pt idx="1">
                  <c:v>0.96</c:v>
                </c:pt>
                <c:pt idx="2">
                  <c:v>0.9210526315789473</c:v>
                </c:pt>
                <c:pt idx="3">
                  <c:v>0.9333333333333333</c:v>
                </c:pt>
              </c:numCache>
            </c:numRef>
          </c:val>
          <c:extLst>
            <c:ext xmlns:c16="http://schemas.microsoft.com/office/drawing/2014/chart" uri="{C3380CC4-5D6E-409C-BE32-E72D297353CC}">
              <c16:uniqueId val="{00000006-B9B0-4EA2-8CFB-1195A0386E81}"/>
            </c:ext>
          </c:extLst>
        </c:ser>
        <c:ser>
          <c:idx val="3"/>
          <c:order val="3"/>
          <c:tx>
            <c:strRef>
              <c:f>Sheet1!$E$1</c:f>
              <c:strCache>
                <c:ptCount val="1"/>
                <c:pt idx="0">
                  <c:v>sum of displayed values</c:v>
                </c:pt>
              </c:strCache>
            </c:strRef>
          </c:tx>
          <c:spPr>
            <a:noFill/>
          </c:spPr>
          <c:invertIfNegative val="0"/>
          <c:dLbls>
            <c:dLbl>
              <c:idx val="0"/>
              <c:tx>
                <c:rich>
                  <a:bodyPr/>
                  <a:lstStyle/>
                  <a:p>
                    <a:r>
                      <a:rPr lang="en-US"/>
                      <a:t>100%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125-234F-8BC4-7AE29D876D23}"/>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0.97</c:v>
                </c:pt>
                <c:pt idx="1">
                  <c:v>1</c:v>
                </c:pt>
                <c:pt idx="2">
                  <c:v>0.98</c:v>
                </c:pt>
                <c:pt idx="3">
                  <c:v>1.0</c:v>
                </c:pt>
              </c:numCache>
            </c:numRef>
          </c:val>
          <c:extLst>
            <c:ext xmlns:c16="http://schemas.microsoft.com/office/drawing/2014/chart" uri="{C3380CC4-5D6E-409C-BE32-E72D297353CC}">
              <c16:uniqueId val="{00000007-B9B0-4EA2-8CFB-1195A0386E81}"/>
            </c:ext>
          </c:extLst>
        </c:ser>
        <c:dLbls>
          <c:showLegendKey val="0"/>
          <c:showVal val="0"/>
          <c:showCatName val="0"/>
          <c:showSerName val="0"/>
          <c:showPercent val="0"/>
          <c:showBubbleSize val="0"/>
        </c:dLbls>
        <c:gapWidth val="100"/>
        <c:overlap val="100"/>
        <c:axId val="319815888"/>
        <c:axId val="319816448"/>
      </c:barChart>
      <c:catAx>
        <c:axId val="319815888"/>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6448"/>
        <c:crosses val="autoZero"/>
        <c:auto val="1"/>
        <c:lblAlgn val="ctr"/>
        <c:lblOffset val="100"/>
        <c:noMultiLvlLbl val="0"/>
      </c:catAx>
      <c:valAx>
        <c:axId val="319816448"/>
        <c:scaling>
          <c:orientation val="minMax"/>
          <c:max val="1"/>
        </c:scaling>
        <c:delete val="0"/>
        <c:axPos val="l"/>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19815888"/>
        <c:crosses val="autoZero"/>
        <c:crossBetween val="between"/>
      </c:valAx>
      <c:spPr>
        <a:noFill/>
        <a:ln w="20453">
          <a:noFill/>
        </a:ln>
      </c:spPr>
    </c:plotArea>
    <c:legend>
      <c:legendPos val="b"/>
      <c:legendEntry>
        <c:idx val="3"/>
        <c:delete val="1"/>
      </c:legendEntry>
      <c:layout>
        <c:manualLayout>
          <c:xMode val="edge"/>
          <c:yMode val="edge"/>
          <c:x val="0.36727369605115151"/>
          <c:y val="0"/>
          <c:w val="0.29457344147771003"/>
          <c:h val="7.3359398907651585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0.11</c:v>
                </c:pt>
                <c:pt idx="1">
                  <c:v>0.13</c:v>
                </c:pt>
                <c:pt idx="2">
                  <c:v>0.1578947368421053</c:v>
                </c:pt>
                <c:pt idx="3">
                  <c:v>0.13333333333333333</c:v>
                </c:pt>
              </c:numCache>
            </c:numRef>
          </c:val>
          <c:extLst>
            <c:ext xmlns:c16="http://schemas.microsoft.com/office/drawing/2014/chart" uri="{C3380CC4-5D6E-409C-BE32-E72D297353CC}">
              <c16:uniqueId val="{00000000-BA82-4646-B133-ACCBD878F7F2}"/>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0.11</c:v>
                </c:pt>
                <c:pt idx="1">
                  <c:v>0.07</c:v>
                </c:pt>
                <c:pt idx="2">
                  <c:v>0.07894736842105263</c:v>
                </c:pt>
                <c:pt idx="3">
                  <c:v>0.06666666666666667</c:v>
                </c:pt>
              </c:numCache>
            </c:numRef>
          </c:val>
          <c:extLst>
            <c:ext xmlns:c16="http://schemas.microsoft.com/office/drawing/2014/chart" uri="{C3380CC4-5D6E-409C-BE32-E72D297353CC}">
              <c16:uniqueId val="{00000001-BA82-4646-B133-ACCBD878F7F2}"/>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BA82-4646-B133-ACCBD878F7F2}"/>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0.51</c:v>
                </c:pt>
                <c:pt idx="1">
                  <c:v>0.7</c:v>
                </c:pt>
                <c:pt idx="2">
                  <c:v>0.5526315789473685</c:v>
                </c:pt>
                <c:pt idx="3">
                  <c:v>0.6666666666666666</c:v>
                </c:pt>
              </c:numCache>
            </c:numRef>
          </c:val>
          <c:extLst>
            <c:ext xmlns:c16="http://schemas.microsoft.com/office/drawing/2014/chart" uri="{C3380CC4-5D6E-409C-BE32-E72D297353CC}">
              <c16:uniqueId val="{00000003-BA82-4646-B133-ACCBD878F7F2}"/>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0.73</c:v>
                </c:pt>
                <c:pt idx="1">
                  <c:v>0.9</c:v>
                </c:pt>
                <c:pt idx="2">
                  <c:v>0.7894736842105263</c:v>
                </c:pt>
                <c:pt idx="3">
                  <c:v>0.8666666666666667</c:v>
                </c:pt>
              </c:numCache>
            </c:numRef>
          </c:val>
          <c:extLst>
            <c:ext xmlns:c16="http://schemas.microsoft.com/office/drawing/2014/chart" uri="{C3380CC4-5D6E-409C-BE32-E72D297353CC}">
              <c16:uniqueId val="{00000004-BA82-4646-B133-ACCBD878F7F2}"/>
            </c:ext>
          </c:extLst>
        </c:ser>
        <c:dLbls>
          <c:showLegendKey val="0"/>
          <c:showVal val="0"/>
          <c:showCatName val="0"/>
          <c:showSerName val="0"/>
          <c:showPercent val="0"/>
          <c:showBubbleSize val="0"/>
        </c:dLbls>
        <c:gapWidth val="100"/>
        <c:overlap val="100"/>
        <c:axId val="320148480"/>
        <c:axId val="320149040"/>
      </c:barChart>
      <c:catAx>
        <c:axId val="32014848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9040"/>
        <c:crosses val="autoZero"/>
        <c:auto val="1"/>
        <c:lblAlgn val="ctr"/>
        <c:lblOffset val="100"/>
        <c:noMultiLvlLbl val="0"/>
      </c:catAx>
      <c:valAx>
        <c:axId val="32014904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014848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2.0</c:v>
                </c:pt>
                <c:pt idx="1">
                  <c:v>15.0</c:v>
                </c:pt>
                <c:pt idx="2">
                  <c:v>15.0</c:v>
                </c:pt>
                <c:pt idx="3">
                  <c:v>8.0</c:v>
                </c:pt>
                <c:pt idx="4">
                  <c:v>0.0</c:v>
                </c:pt>
                <c:pt idx="5">
                  <c:v>6.0</c:v>
                </c:pt>
                <c:pt idx="6">
                  <c:v>6.0</c:v>
                </c:pt>
                <c:pt idx="7">
                  <c:v>30.0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2025
(N=46)</c:v>
                </c:pt>
              </c:strCache>
            </c:strRef>
          </c:tx>
          <c:invertIfNegative val="0"/>
          <c:dLbls>
            <c:spPr>
              <a:noFill/>
              <a:ln>
                <a:noFill/>
              </a:ln>
              <a:effectLst/>
            </c:spPr>
            <c:txPr>
              <a:bodyPr wrap="square" lIns="38100" tIns="19050" rIns="38100" bIns="19050" anchor="ctr">
                <a:spAutoFit/>
              </a:bodyPr>
              <a:lstStyle/>
              <a:p>
                <a:pPr>
                  <a:defRPr sz="10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4.0</c:v>
                </c:pt>
                <c:pt idx="1">
                  <c:v>13.0</c:v>
                </c:pt>
                <c:pt idx="2">
                  <c:v>21.0</c:v>
                </c:pt>
                <c:pt idx="3">
                  <c:v>7.0</c:v>
                </c:pt>
                <c:pt idx="4">
                  <c:v>1.0</c:v>
                </c:pt>
                <c:pt idx="5">
                  <c:v>4.0</c:v>
                </c:pt>
                <c:pt idx="6">
                  <c:v>10.0</c:v>
                </c:pt>
                <c:pt idx="7">
                  <c:v>29.0</c:v>
                </c:pt>
              </c:numCache>
            </c:numRef>
          </c:val>
          <c:extLst>
            <c:ext xmlns:c16="http://schemas.microsoft.com/office/drawing/2014/chart" uri="{C3380CC4-5D6E-409C-BE32-E72D297353CC}">
              <c16:uniqueId val="{00000003-228A-4467-BB3A-D385FE43A01E}"/>
            </c:ext>
          </c:extLst>
        </c:ser>
        <c:ser>
          <c:idx val="2"/>
          <c:order val="2"/>
          <c:tx>
            <c:strRef>
              <c:f>Sheet1!$D$1</c:f>
              <c:strCache>
                <c:ptCount val="1"/>
                <c:pt idx="0">
                  <c:v>Q3 2025
(N=38)</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000" b="0">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1.0</c:v>
                </c:pt>
                <c:pt idx="1">
                  <c:v>7.0</c:v>
                </c:pt>
                <c:pt idx="2">
                  <c:v>18.0</c:v>
                </c:pt>
                <c:pt idx="3">
                  <c:v>10.0</c:v>
                </c:pt>
                <c:pt idx="4">
                  <c:v>0.0</c:v>
                </c:pt>
                <c:pt idx="5">
                  <c:v>1.0</c:v>
                </c:pt>
                <c:pt idx="6">
                  <c:v>4.0</c:v>
                </c:pt>
                <c:pt idx="7">
                  <c:v>33.0</c:v>
                </c:pt>
              </c:numCache>
            </c:numRef>
          </c:val>
          <c:extLst>
            <c:ext xmlns:c16="http://schemas.microsoft.com/office/drawing/2014/chart" uri="{C3380CC4-5D6E-409C-BE32-E72D297353CC}">
              <c16:uniqueId val="{00000004-228A-4467-BB3A-D385FE43A01E}"/>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0</c:v>
                </c:pt>
                <c:pt idx="1">
                  <c:v>5</c:v>
                </c:pt>
                <c:pt idx="2">
                  <c:v>8</c:v>
                </c:pt>
                <c:pt idx="3">
                  <c:v>2</c:v>
                </c:pt>
                <c:pt idx="4">
                  <c:v>1</c:v>
                </c:pt>
                <c:pt idx="5">
                  <c:v>1</c:v>
                </c:pt>
                <c:pt idx="6">
                  <c:v>3</c:v>
                </c:pt>
                <c:pt idx="7">
                  <c:v>9</c:v>
                </c:pt>
              </c:numCache>
            </c:numRef>
          </c:val>
          <c:extLst>
            <c:ext xmlns:c16="http://schemas.microsoft.com/office/drawing/2014/chart" uri="{C3380CC4-5D6E-409C-BE32-E72D297353CC}">
              <c16:uniqueId val="{00000000-2997-DA46-B45F-D672517A6AC1}"/>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1.0</c:v>
                </c:pt>
                <c:pt idx="1">
                  <c:v>11.0</c:v>
                </c:pt>
                <c:pt idx="2">
                  <c:v>10.0</c:v>
                </c:pt>
                <c:pt idx="3">
                  <c:v>18.0</c:v>
                </c:pt>
                <c:pt idx="4">
                  <c:v>7.0</c:v>
                </c:pt>
                <c:pt idx="5">
                  <c:v>20.0</c:v>
                </c:pt>
                <c:pt idx="6">
                  <c:v>1.0</c:v>
                </c:pt>
                <c:pt idx="7">
                  <c:v>16.0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2025
(N=46)</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2.0</c:v>
                </c:pt>
                <c:pt idx="1">
                  <c:v>5.0</c:v>
                </c:pt>
                <c:pt idx="2">
                  <c:v>11.0</c:v>
                </c:pt>
                <c:pt idx="3">
                  <c:v>21.0</c:v>
                </c:pt>
                <c:pt idx="4">
                  <c:v>15.0</c:v>
                </c:pt>
                <c:pt idx="5">
                  <c:v>17.0</c:v>
                </c:pt>
                <c:pt idx="6">
                  <c:v>1.0</c:v>
                </c:pt>
                <c:pt idx="7">
                  <c:v>13.0</c:v>
                </c:pt>
              </c:numCache>
            </c:numRef>
          </c:val>
          <c:extLst>
            <c:ext xmlns:c16="http://schemas.microsoft.com/office/drawing/2014/chart" uri="{C3380CC4-5D6E-409C-BE32-E72D297353CC}">
              <c16:uniqueId val="{00000003-6C66-4CAF-81AB-F70542D9BDB7}"/>
            </c:ext>
          </c:extLst>
        </c:ser>
        <c:ser>
          <c:idx val="2"/>
          <c:order val="2"/>
          <c:tx>
            <c:strRef>
              <c:f>Sheet1!$D$1</c:f>
              <c:strCache>
                <c:ptCount val="1"/>
                <c:pt idx="0">
                  <c:v>Q3 2025
(N=38)</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0.0</c:v>
                </c:pt>
                <c:pt idx="1">
                  <c:v>4.0</c:v>
                </c:pt>
                <c:pt idx="2">
                  <c:v>9.0</c:v>
                </c:pt>
                <c:pt idx="3">
                  <c:v>19.0</c:v>
                </c:pt>
                <c:pt idx="4">
                  <c:v>14.0</c:v>
                </c:pt>
                <c:pt idx="5">
                  <c:v>6.0</c:v>
                </c:pt>
                <c:pt idx="6">
                  <c:v>1.0</c:v>
                </c:pt>
                <c:pt idx="7">
                  <c:v>16.0</c:v>
                </c:pt>
              </c:numCache>
            </c:numRef>
          </c:val>
          <c:extLst>
            <c:ext xmlns:c16="http://schemas.microsoft.com/office/drawing/2014/chart" uri="{C3380CC4-5D6E-409C-BE32-E72D297353CC}">
              <c16:uniqueId val="{00000004-6C66-4CAF-81AB-F70542D9BDB7}"/>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1</c:v>
                </c:pt>
                <c:pt idx="1">
                  <c:v>7</c:v>
                </c:pt>
                <c:pt idx="2">
                  <c:v>3</c:v>
                </c:pt>
                <c:pt idx="3">
                  <c:v>4</c:v>
                </c:pt>
                <c:pt idx="4">
                  <c:v>2</c:v>
                </c:pt>
                <c:pt idx="5">
                  <c:v>8</c:v>
                </c:pt>
                <c:pt idx="6">
                  <c:v>0</c:v>
                </c:pt>
                <c:pt idx="7">
                  <c:v>4</c:v>
                </c:pt>
              </c:numCache>
            </c:numRef>
          </c:val>
          <c:extLst>
            <c:ext xmlns:c16="http://schemas.microsoft.com/office/drawing/2014/chart" uri="{C3380CC4-5D6E-409C-BE32-E72D297353CC}">
              <c16:uniqueId val="{00000000-EBC8-684C-8161-18B832E2650C}"/>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3.0</c:v>
                </c:pt>
                <c:pt idx="1">
                  <c:v>23.0</c:v>
                </c:pt>
                <c:pt idx="2">
                  <c:v>3.0</c:v>
                </c:pt>
                <c:pt idx="3">
                  <c:v>14.0</c:v>
                </c:pt>
                <c:pt idx="4">
                  <c:v>33.0</c:v>
                </c:pt>
                <c:pt idx="5">
                  <c:v>6.0</c:v>
                </c:pt>
                <c:pt idx="6">
                  <c:v>1.0</c:v>
                </c:pt>
                <c:pt idx="7">
                  <c:v>3.0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2025
(N=46)</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5.0</c:v>
                </c:pt>
                <c:pt idx="1">
                  <c:v>23.0</c:v>
                </c:pt>
                <c:pt idx="2">
                  <c:v>2.0</c:v>
                </c:pt>
                <c:pt idx="3">
                  <c:v>15.0</c:v>
                </c:pt>
                <c:pt idx="4">
                  <c:v>31.0</c:v>
                </c:pt>
                <c:pt idx="5">
                  <c:v>10.0</c:v>
                </c:pt>
                <c:pt idx="6">
                  <c:v>1.0</c:v>
                </c:pt>
                <c:pt idx="7">
                  <c:v>4.0</c:v>
                </c:pt>
              </c:numCache>
            </c:numRef>
          </c:val>
          <c:extLst>
            <c:ext xmlns:c16="http://schemas.microsoft.com/office/drawing/2014/chart" uri="{C3380CC4-5D6E-409C-BE32-E72D297353CC}">
              <c16:uniqueId val="{00000001-7166-4E76-8E2A-79BCFE23BBB4}"/>
            </c:ext>
          </c:extLst>
        </c:ser>
        <c:ser>
          <c:idx val="2"/>
          <c:order val="2"/>
          <c:tx>
            <c:strRef>
              <c:f>Sheet1!$D$1</c:f>
              <c:strCache>
                <c:ptCount val="1"/>
                <c:pt idx="0">
                  <c:v>Q3 2025
(N=38)</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4.0</c:v>
                </c:pt>
                <c:pt idx="1">
                  <c:v>4.0</c:v>
                </c:pt>
                <c:pt idx="2">
                  <c:v>4.0</c:v>
                </c:pt>
                <c:pt idx="3">
                  <c:v>25.0</c:v>
                </c:pt>
                <c:pt idx="4">
                  <c:v>31.0</c:v>
                </c:pt>
                <c:pt idx="5">
                  <c:v>3.0</c:v>
                </c:pt>
                <c:pt idx="6">
                  <c:v>1.0</c:v>
                </c:pt>
                <c:pt idx="7">
                  <c:v>2.0</c:v>
                </c:pt>
              </c:numCache>
            </c:numRef>
          </c:val>
          <c:extLst>
            <c:ext xmlns:c16="http://schemas.microsoft.com/office/drawing/2014/chart" uri="{C3380CC4-5D6E-409C-BE32-E72D297353CC}">
              <c16:uniqueId val="{00000002-7166-4E76-8E2A-79BCFE23BBB4}"/>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2</c:v>
                </c:pt>
                <c:pt idx="1">
                  <c:v>8</c:v>
                </c:pt>
                <c:pt idx="2">
                  <c:v>2</c:v>
                </c:pt>
                <c:pt idx="3">
                  <c:v>3</c:v>
                </c:pt>
                <c:pt idx="4">
                  <c:v>12</c:v>
                </c:pt>
                <c:pt idx="5">
                  <c:v>1</c:v>
                </c:pt>
                <c:pt idx="6">
                  <c:v>1</c:v>
                </c:pt>
                <c:pt idx="7">
                  <c:v>0</c:v>
                </c:pt>
              </c:numCache>
            </c:numRef>
          </c:val>
          <c:extLst>
            <c:ext xmlns:c16="http://schemas.microsoft.com/office/drawing/2014/chart" uri="{C3380CC4-5D6E-409C-BE32-E72D297353CC}">
              <c16:uniqueId val="{00000000-2146-D84E-B9E7-8807836484F1}"/>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Sheet1!$B$2:$B$9</c:f>
              <c:numCache>
                <c:formatCode>General</c:formatCode>
                <c:ptCount val="8"/>
                <c:pt idx="0">
                  <c:v>7.0</c:v>
                </c:pt>
                <c:pt idx="1">
                  <c:v>14.0</c:v>
                </c:pt>
                <c:pt idx="2">
                  <c:v>1.0</c:v>
                </c:pt>
                <c:pt idx="3">
                  <c:v>23.0</c:v>
                </c:pt>
                <c:pt idx="4">
                  <c:v>29.0</c:v>
                </c:pt>
                <c:pt idx="5">
                  <c:v>10.0</c:v>
                </c:pt>
                <c:pt idx="6">
                  <c:v>1.0</c:v>
                </c:pt>
                <c:pt idx="7">
                  <c:v>5.0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2025
(N=46)</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Sheet1!$C$2:$C$9</c:f>
              <c:numCache>
                <c:formatCode>General</c:formatCode>
                <c:ptCount val="8"/>
                <c:pt idx="0">
                  <c:v>10.0</c:v>
                </c:pt>
                <c:pt idx="1">
                  <c:v>14.0</c:v>
                </c:pt>
                <c:pt idx="2">
                  <c:v>0.0</c:v>
                </c:pt>
                <c:pt idx="3">
                  <c:v>21.0</c:v>
                </c:pt>
                <c:pt idx="4">
                  <c:v>21.0</c:v>
                </c:pt>
                <c:pt idx="5">
                  <c:v>6.0</c:v>
                </c:pt>
                <c:pt idx="6">
                  <c:v>0.0</c:v>
                </c:pt>
                <c:pt idx="7">
                  <c:v>18.0</c:v>
                </c:pt>
              </c:numCache>
            </c:numRef>
          </c:val>
          <c:extLst>
            <c:ext xmlns:c16="http://schemas.microsoft.com/office/drawing/2014/chart" uri="{C3380CC4-5D6E-409C-BE32-E72D297353CC}">
              <c16:uniqueId val="{00000001-A189-4DD3-B104-E94BF8E7B46F}"/>
            </c:ext>
          </c:extLst>
        </c:ser>
        <c:ser>
          <c:idx val="2"/>
          <c:order val="2"/>
          <c:tx>
            <c:strRef>
              <c:f>Sheet1!$D$1</c:f>
              <c:strCache>
                <c:ptCount val="1"/>
                <c:pt idx="0">
                  <c:v>Q3 2025
(N=38)</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Sheet1!$D$2:$D$9</c:f>
              <c:numCache>
                <c:formatCode>General</c:formatCode>
                <c:ptCount val="8"/>
                <c:pt idx="0">
                  <c:v>9.0</c:v>
                </c:pt>
                <c:pt idx="1">
                  <c:v>5.0</c:v>
                </c:pt>
                <c:pt idx="2">
                  <c:v>0.0</c:v>
                </c:pt>
                <c:pt idx="3">
                  <c:v>24.0</c:v>
                </c:pt>
                <c:pt idx="4">
                  <c:v>26.0</c:v>
                </c:pt>
                <c:pt idx="5">
                  <c:v>2.0</c:v>
                </c:pt>
                <c:pt idx="6">
                  <c:v>1.0</c:v>
                </c:pt>
                <c:pt idx="7">
                  <c:v>9.0</c:v>
                </c:pt>
              </c:numCache>
            </c:numRef>
          </c:val>
          <c:extLst>
            <c:ext xmlns:c16="http://schemas.microsoft.com/office/drawing/2014/chart" uri="{C3380CC4-5D6E-409C-BE32-E72D297353CC}">
              <c16:uniqueId val="{00000002-A189-4DD3-B104-E94BF8E7B46F}"/>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Increased</c:v>
                </c:pt>
                <c:pt idx="1">
                  <c:v>Stayed 
the same</c:v>
                </c:pt>
                <c:pt idx="2">
                  <c:v>Decreased</c:v>
                </c:pt>
                <c:pt idx="3">
                  <c:v>Never an 
issue</c:v>
                </c:pt>
                <c:pt idx="4">
                  <c:v>Increased</c:v>
                </c:pt>
                <c:pt idx="5">
                  <c:v>Stayed 
the same</c:v>
                </c:pt>
                <c:pt idx="6">
                  <c:v>Decreased</c:v>
                </c:pt>
                <c:pt idx="7">
                  <c:v>Never an 
issue</c:v>
                </c:pt>
              </c:strCache>
            </c:strRef>
          </c:cat>
          <c:val>
            <c:numRef>
              <c:f>Sheet1!$E$2:$E$9</c:f>
              <c:numCache>
                <c:formatCode>General</c:formatCode>
                <c:ptCount val="8"/>
                <c:pt idx="0">
                  <c:v>5</c:v>
                </c:pt>
                <c:pt idx="1">
                  <c:v>6</c:v>
                </c:pt>
                <c:pt idx="2">
                  <c:v>0</c:v>
                </c:pt>
                <c:pt idx="3">
                  <c:v>4</c:v>
                </c:pt>
                <c:pt idx="4">
                  <c:v>9</c:v>
                </c:pt>
                <c:pt idx="5">
                  <c:v>4</c:v>
                </c:pt>
                <c:pt idx="6">
                  <c:v>0</c:v>
                </c:pt>
                <c:pt idx="7">
                  <c:v>2</c:v>
                </c:pt>
              </c:numCache>
            </c:numRef>
          </c:val>
          <c:extLst>
            <c:ext xmlns:c16="http://schemas.microsoft.com/office/drawing/2014/chart" uri="{C3380CC4-5D6E-409C-BE32-E72D297353CC}">
              <c16:uniqueId val="{00000000-B492-1C4E-87B0-2E30F0B713B0}"/>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4299437278511393"/>
          <c:w val="0.91406747644859176"/>
          <c:h val="0.67080677043445869"/>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Increased</c:v>
                </c:pt>
                <c:pt idx="1">
                  <c:v>Stayed 
the same</c:v>
                </c:pt>
                <c:pt idx="2">
                  <c:v>Decreased</c:v>
                </c:pt>
                <c:pt idx="3">
                  <c:v>Never an 
issue</c:v>
                </c:pt>
              </c:strCache>
            </c:strRef>
          </c:cat>
          <c:val>
            <c:numRef>
              <c:f>Sheet1!$B$2:$B$5</c:f>
              <c:numCache>
                <c:formatCode>General</c:formatCode>
                <c:ptCount val="4"/>
                <c:pt idx="0">
                  <c:v>11.0</c:v>
                </c:pt>
                <c:pt idx="1">
                  <c:v>18.0</c:v>
                </c:pt>
                <c:pt idx="2">
                  <c:v>1.0</c:v>
                </c:pt>
                <c:pt idx="3">
                  <c:v>14.0</c:v>
                </c:pt>
              </c:numCache>
            </c:numRef>
          </c:val>
          <c:extLst>
            <c:ext xmlns:c16="http://schemas.microsoft.com/office/drawing/2014/chart" uri="{C3380CC4-5D6E-409C-BE32-E72D297353CC}">
              <c16:uniqueId val="{00000000-35DF-4C69-8C1F-F193291832C4}"/>
            </c:ext>
          </c:extLst>
        </c:ser>
        <c:ser>
          <c:idx val="1"/>
          <c:order val="1"/>
          <c:tx>
            <c:strRef>
              <c:f>Sheet1!$C$1</c:f>
              <c:strCache>
                <c:ptCount val="1"/>
                <c:pt idx="0">
                  <c:v>Q2 2025
(N=46)</c:v>
                </c:pt>
              </c:strCache>
            </c:strRef>
          </c:tx>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Sheet1!$C$2:$C$5</c:f>
              <c:numCache>
                <c:formatCode>General</c:formatCode>
                <c:ptCount val="4"/>
                <c:pt idx="0">
                  <c:v>20.0</c:v>
                </c:pt>
                <c:pt idx="1">
                  <c:v>11.0</c:v>
                </c:pt>
                <c:pt idx="2">
                  <c:v>0.0</c:v>
                </c:pt>
                <c:pt idx="3">
                  <c:v>14.0</c:v>
                </c:pt>
              </c:numCache>
            </c:numRef>
          </c:val>
          <c:extLst>
            <c:ext xmlns:c16="http://schemas.microsoft.com/office/drawing/2014/chart" uri="{C3380CC4-5D6E-409C-BE32-E72D297353CC}">
              <c16:uniqueId val="{00000003-2D8F-4DC4-8B87-B0638A575DEB}"/>
            </c:ext>
          </c:extLst>
        </c:ser>
        <c:ser>
          <c:idx val="2"/>
          <c:order val="2"/>
          <c:tx>
            <c:strRef>
              <c:f>Sheet1!$D$1</c:f>
              <c:strCache>
                <c:ptCount val="1"/>
                <c:pt idx="0">
                  <c:v>Q3 2025
(N=38)</c:v>
                </c:pt>
              </c:strCache>
            </c:strRef>
          </c:tx>
          <c:spPr>
            <a:solidFill>
              <a:schemeClr val="accent1"/>
            </a:solidFill>
            <a:ln>
              <a:solidFill>
                <a:schemeClr val="accent1"/>
              </a:solidFill>
            </a:ln>
          </c:spPr>
          <c:invertIfNegative val="0"/>
          <c:dLbls>
            <c:spPr>
              <a:noFill/>
              <a:ln>
                <a:noFill/>
              </a:ln>
              <a:effectLst/>
            </c:spPr>
            <c:txPr>
              <a:bodyPr wrap="square" lIns="38100" tIns="19050" rIns="38100" bIns="19050" anchor="ctr">
                <a:spAutoFit/>
              </a:bodyPr>
              <a:lstStyle/>
              <a:p>
                <a:pPr>
                  <a:defRPr sz="1000" b="0">
                    <a:solidFill>
                      <a:schemeClr val="bg2">
                        <a:lumMod val="50000"/>
                      </a:schemeClr>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Sheet1!$D$2:$D$5</c:f>
              <c:numCache>
                <c:formatCode>General</c:formatCode>
                <c:ptCount val="4"/>
                <c:pt idx="0">
                  <c:v>14.0</c:v>
                </c:pt>
                <c:pt idx="1">
                  <c:v>4.0</c:v>
                </c:pt>
                <c:pt idx="2">
                  <c:v>1.0</c:v>
                </c:pt>
                <c:pt idx="3">
                  <c:v>18.0</c:v>
                </c:pt>
              </c:numCache>
            </c:numRef>
          </c:val>
          <c:extLst>
            <c:ext xmlns:c16="http://schemas.microsoft.com/office/drawing/2014/chart" uri="{C3380CC4-5D6E-409C-BE32-E72D297353CC}">
              <c16:uniqueId val="{00000004-2D8F-4DC4-8B87-B0638A575DEB}"/>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Increased</c:v>
                </c:pt>
                <c:pt idx="1">
                  <c:v>Stayed 
the same</c:v>
                </c:pt>
                <c:pt idx="2">
                  <c:v>Decreased</c:v>
                </c:pt>
                <c:pt idx="3">
                  <c:v>Never an 
issue</c:v>
                </c:pt>
              </c:strCache>
            </c:strRef>
          </c:cat>
          <c:val>
            <c:numRef>
              <c:f>Sheet1!$E$2:$E$5</c:f>
              <c:numCache>
                <c:formatCode>General</c:formatCode>
                <c:ptCount val="4"/>
                <c:pt idx="0">
                  <c:v>4</c:v>
                </c:pt>
                <c:pt idx="1">
                  <c:v>7</c:v>
                </c:pt>
                <c:pt idx="2">
                  <c:v>0</c:v>
                </c:pt>
                <c:pt idx="3">
                  <c:v>4</c:v>
                </c:pt>
              </c:numCache>
            </c:numRef>
          </c:val>
          <c:extLst>
            <c:ext xmlns:c16="http://schemas.microsoft.com/office/drawing/2014/chart" uri="{C3380CC4-5D6E-409C-BE32-E72D297353CC}">
              <c16:uniqueId val="{00000000-AD7C-8D41-A7F8-6D939B826D50}"/>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in val="0"/>
        </c:scaling>
        <c:delete val="0"/>
        <c:axPos val="l"/>
        <c:majorGridlines>
          <c:spPr>
            <a:ln w="7816" cap="flat" cmpd="sng" algn="ctr">
              <a:solidFill>
                <a:schemeClr val="bg1">
                  <a:lumMod val="85000"/>
                </a:schemeClr>
              </a:solidFill>
              <a:round/>
            </a:ln>
            <a:effectLst/>
          </c:spPr>
        </c:majorGridlines>
        <c:numFmt formatCode="General"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0.09</c:v>
                </c:pt>
                <c:pt idx="1">
                  <c:v>0.02</c:v>
                </c:pt>
              </c:numCache>
            </c:numRef>
          </c:val>
          <c:extLst>
            <c:ext xmlns:c16="http://schemas.microsoft.com/office/drawing/2014/chart" uri="{C3380CC4-5D6E-409C-BE32-E72D297353CC}">
              <c16:uniqueId val="{00000000-33C6-46D0-A451-9992BB76C127}"/>
            </c:ext>
          </c:extLst>
        </c:ser>
        <c:ser>
          <c:idx val="1"/>
          <c:order val="1"/>
          <c:tx>
            <c:strRef>
              <c:f>Sheet1!$C$1</c:f>
              <c:strCache>
                <c:ptCount val="1"/>
                <c:pt idx="0">
                  <c:v>9</c:v>
                </c:pt>
              </c:strCache>
            </c:strRef>
          </c:tx>
          <c:spPr>
            <a:solidFill>
              <a:srgbClr val="59AAF2"/>
            </a:solidFill>
            <a:ln w="20273">
              <a:noFill/>
            </a:ln>
          </c:spPr>
          <c:invertIfNegative val="0"/>
          <c:dLbls>
            <c:dLbl>
              <c:idx val="3"/>
              <c:layout>
                <c:manualLayout>
                  <c:x val="9.3984962406015032E-3"/>
                  <c:y val="2.496100089289536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F7-46B5-BB28-4A0C3B897C61}"/>
                </c:ext>
              </c:extLst>
            </c:dLbl>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0.11</c:v>
                </c:pt>
                <c:pt idx="1">
                  <c:v>0.11</c:v>
                </c:pt>
                <c:pt idx="2">
                  <c:v>0.02631578947368421</c:v>
                </c:pt>
                <c:pt idx="3">
                  <c:v>0.06666666666666667</c:v>
                </c:pt>
              </c:numCache>
            </c:numRef>
          </c:val>
          <c:extLst>
            <c:ext xmlns:c16="http://schemas.microsoft.com/office/drawing/2014/chart" uri="{C3380CC4-5D6E-409C-BE32-E72D297353CC}">
              <c16:uniqueId val="{00000001-33C6-46D0-A451-9992BB76C127}"/>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3C6-46D0-A451-9992BB76C127}"/>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0.76</c:v>
                </c:pt>
                <c:pt idx="1">
                  <c:v>0.83</c:v>
                </c:pt>
                <c:pt idx="2">
                  <c:v>0.8157894736842105</c:v>
                </c:pt>
                <c:pt idx="3">
                  <c:v>0.8</c:v>
                </c:pt>
              </c:numCache>
            </c:numRef>
          </c:val>
          <c:extLst>
            <c:ext xmlns:c16="http://schemas.microsoft.com/office/drawing/2014/chart" uri="{C3380CC4-5D6E-409C-BE32-E72D297353CC}">
              <c16:uniqueId val="{00000003-33C6-46D0-A451-9992BB76C127}"/>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0.96</c:v>
                </c:pt>
                <c:pt idx="1">
                  <c:v>0.96</c:v>
                </c:pt>
                <c:pt idx="2">
                  <c:v>0.85</c:v>
                </c:pt>
                <c:pt idx="3">
                  <c:v>0.8666666666666667</c:v>
                </c:pt>
              </c:numCache>
            </c:numRef>
          </c:val>
          <c:extLst>
            <c:ext xmlns:c16="http://schemas.microsoft.com/office/drawing/2014/chart" uri="{C3380CC4-5D6E-409C-BE32-E72D297353CC}">
              <c16:uniqueId val="{00000004-33C6-46D0-A451-9992BB76C127}"/>
            </c:ext>
          </c:extLst>
        </c:ser>
        <c:dLbls>
          <c:showLegendKey val="0"/>
          <c:showVal val="0"/>
          <c:showCatName val="0"/>
          <c:showSerName val="0"/>
          <c:showPercent val="0"/>
          <c:showBubbleSize val="0"/>
        </c:dLbls>
        <c:gapWidth val="100"/>
        <c:overlap val="100"/>
        <c:axId val="321857312"/>
        <c:axId val="321857872"/>
      </c:barChart>
      <c:catAx>
        <c:axId val="32185731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872"/>
        <c:crosses val="autoZero"/>
        <c:auto val="1"/>
        <c:lblAlgn val="ctr"/>
        <c:lblOffset val="100"/>
        <c:noMultiLvlLbl val="0"/>
      </c:catAx>
      <c:valAx>
        <c:axId val="32185787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731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5947935496389801"/>
          <c:w val="0.91406747644859176"/>
          <c:h val="0.78884299968340532"/>
        </c:manualLayout>
      </c:layout>
      <c:barChart>
        <c:barDir val="col"/>
        <c:grouping val="clustered"/>
        <c:varyColors val="0"/>
        <c:ser>
          <c:idx val="0"/>
          <c:order val="0"/>
          <c:tx>
            <c:strRef>
              <c:f>Sheet1!$B$1</c:f>
              <c:strCache>
                <c:ptCount val="1"/>
                <c:pt idx="0">
                  <c:v>Q1 2025
(N=45)</c:v>
                </c:pt>
              </c:strCache>
            </c:strRef>
          </c:tx>
          <c:spPr>
            <a:solidFill>
              <a:srgbClr val="FFC003"/>
            </a:solidFill>
            <a:ln w="20893">
              <a:noFill/>
            </a:ln>
          </c:spPr>
          <c:invertIfNegative val="0"/>
          <c:dLbls>
            <c:dLbl>
              <c:idx val="0"/>
              <c:layout>
                <c:manualLayout>
                  <c:x val="-1.1278195488721804E-2"/>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C66-4C29-9A45-A591B99DCE0E}"/>
                </c:ext>
              </c:extLst>
            </c:dLbl>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Sheet1!$B$2:$B$4</c:f>
              <c:numCache>
                <c:formatCode>0%</c:formatCode>
                <c:ptCount val="3"/>
                <c:pt idx="0">
                  <c:v>0.96</c:v>
                </c:pt>
                <c:pt idx="1">
                  <c:v>0.02</c:v>
                </c:pt>
                <c:pt idx="2">
                  <c:v>0.02</c:v>
                </c:pt>
              </c:numCache>
            </c:numRef>
          </c:val>
          <c:extLst>
            <c:ext xmlns:c16="http://schemas.microsoft.com/office/drawing/2014/chart" uri="{C3380CC4-5D6E-409C-BE32-E72D297353CC}">
              <c16:uniqueId val="{00000001-DC66-4C29-9A45-A591B99DCE0E}"/>
            </c:ext>
          </c:extLst>
        </c:ser>
        <c:ser>
          <c:idx val="1"/>
          <c:order val="1"/>
          <c:tx>
            <c:strRef>
              <c:f>Sheet1!$C$1</c:f>
              <c:strCache>
                <c:ptCount val="1"/>
                <c:pt idx="0">
                  <c:v>Q2 2025
(N=46)</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Do not know</c:v>
                </c:pt>
              </c:strCache>
            </c:strRef>
          </c:cat>
          <c:val>
            <c:numRef>
              <c:f>Sheet1!$C$2:$C$4</c:f>
              <c:numCache>
                <c:formatCode>0%</c:formatCode>
                <c:ptCount val="3"/>
                <c:pt idx="0">
                  <c:v>0.98</c:v>
                </c:pt>
                <c:pt idx="1">
                  <c:v>0.0</c:v>
                </c:pt>
                <c:pt idx="2">
                  <c:v>0.02</c:v>
                </c:pt>
              </c:numCache>
            </c:numRef>
          </c:val>
          <c:extLst>
            <c:ext xmlns:c16="http://schemas.microsoft.com/office/drawing/2014/chart" uri="{C3380CC4-5D6E-409C-BE32-E72D297353CC}">
              <c16:uniqueId val="{00000002-DC66-4C29-9A45-A591B99DCE0E}"/>
            </c:ext>
          </c:extLst>
        </c:ser>
        <c:ser>
          <c:idx val="2"/>
          <c:order val="2"/>
          <c:tx>
            <c:strRef>
              <c:f>Sheet1!$D$1</c:f>
              <c:strCache>
                <c:ptCount val="1"/>
                <c:pt idx="0">
                  <c:v>Q3 2025
(N=38)</c:v>
                </c:pt>
              </c:strCache>
            </c:strRef>
          </c:tx>
          <c:spPr>
            <a:solidFill>
              <a:srgbClr val="00CC99"/>
            </a:solidFill>
          </c:spPr>
          <c:invertIfNegative val="0"/>
          <c:dLbls>
            <c:dLbl>
              <c:idx val="0"/>
              <c:layout>
                <c:manualLayout>
                  <c:x val="3.7593984962406013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C66-4C29-9A45-A591B99DCE0E}"/>
                </c:ext>
              </c:extLst>
            </c:dLbl>
            <c:spPr>
              <a:noFill/>
              <a:ln>
                <a:noFill/>
              </a:ln>
              <a:effectLst/>
            </c:spPr>
            <c:txPr>
              <a:bodyPr wrap="square" lIns="38100" tIns="19050" rIns="38100" bIns="19050" anchor="ctr">
                <a:spAutoFit/>
              </a:bodyPr>
              <a:lstStyle/>
              <a:p>
                <a:pPr>
                  <a:defRPr sz="10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a:noFill/>
                    </a:ln>
                  </c:spPr>
                </c15:leaderLines>
              </c:ext>
            </c:extLst>
          </c:dLbls>
          <c:cat>
            <c:strRef>
              <c:f>Sheet1!$A$2:$A$4</c:f>
              <c:strCache>
                <c:ptCount val="3"/>
                <c:pt idx="0">
                  <c:v>Yes</c:v>
                </c:pt>
                <c:pt idx="1">
                  <c:v>No</c:v>
                </c:pt>
                <c:pt idx="2">
                  <c:v>Do not know</c:v>
                </c:pt>
              </c:strCache>
            </c:strRef>
          </c:cat>
          <c:val>
            <c:numRef>
              <c:f>Sheet1!$D$2:$D$4</c:f>
              <c:numCache>
                <c:formatCode>0%</c:formatCode>
                <c:ptCount val="3"/>
                <c:pt idx="0">
                  <c:v>0.9473684210526315</c:v>
                </c:pt>
                <c:pt idx="1">
                  <c:v>0.0</c:v>
                </c:pt>
                <c:pt idx="2">
                  <c:v>0.05</c:v>
                </c:pt>
              </c:numCache>
            </c:numRef>
          </c:val>
          <c:extLst>
            <c:ext xmlns:c16="http://schemas.microsoft.com/office/drawing/2014/chart" uri="{C3380CC4-5D6E-409C-BE32-E72D297353CC}">
              <c16:uniqueId val="{00000004-DC66-4C29-9A45-A591B99DCE0E}"/>
            </c:ext>
          </c:extLst>
        </c:ser>
        <c:ser>
          <c:idx val="3"/>
          <c:order val="3"/>
          <c:tx>
            <c:strRef>
              <c:f>Sheet1!$E$1</c:f>
              <c:strCache>
                <c:ptCount val="1"/>
                <c:pt idx="0">
                  <c:v>Q4 2025
(N=15)</c:v>
                </c:pt>
              </c:strCache>
            </c:strRef>
          </c:tx>
          <c:spPr>
            <a:solidFill>
              <a:schemeClr val="tx1"/>
            </a:solidFill>
          </c:spPr>
          <c:invertIfNegative val="0"/>
          <c:dLbls>
            <c:dLbl>
              <c:idx val="0"/>
              <c:layout>
                <c:manualLayout>
                  <c:x val="7.5187969924811688E-3"/>
                  <c:y val="5.188067444876783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C66-4C29-9A45-A591B99DCE0E}"/>
                </c:ext>
              </c:extLst>
            </c:dLbl>
            <c:spPr>
              <a:noFill/>
              <a:ln>
                <a:noFill/>
              </a:ln>
              <a:effectLst/>
            </c:spPr>
            <c:txPr>
              <a:bodyPr wrap="square" lIns="38100" tIns="19050" rIns="38100" bIns="19050" anchor="ctr">
                <a:spAutoFit/>
              </a:bodyPr>
              <a:lstStyle/>
              <a:p>
                <a:pPr>
                  <a:defRPr sz="1000" b="0">
                    <a:solidFill>
                      <a:schemeClr val="tx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Do not know</c:v>
                </c:pt>
              </c:strCache>
            </c:strRef>
          </c:cat>
          <c:val>
            <c:numRef>
              <c:f>Sheet1!$E$2:$E$2</c:f>
              <c:numCache>
                <c:formatCode>0%</c:formatCode>
                <c:ptCount val="1"/>
                <c:pt idx="0">
                  <c:v>1.0</c:v>
                </c:pt>
              </c:numCache>
            </c:numRef>
          </c:val>
          <c:extLst>
            <c:ext xmlns:c16="http://schemas.microsoft.com/office/drawing/2014/chart" uri="{C3380CC4-5D6E-409C-BE32-E72D297353CC}">
              <c16:uniqueId val="{00000006-DC66-4C29-9A45-A591B99DCE0E}"/>
            </c:ext>
          </c:extLst>
        </c:ser>
        <c:dLbls>
          <c:showLegendKey val="0"/>
          <c:showVal val="0"/>
          <c:showCatName val="0"/>
          <c:showSerName val="0"/>
          <c:showPercent val="0"/>
          <c:showBubbleSize val="0"/>
        </c:dLbls>
        <c:gapWidth val="90"/>
        <c:overlap val="-10"/>
        <c:axId val="322074720"/>
        <c:axId val="322075280"/>
      </c:barChart>
      <c:catAx>
        <c:axId val="32207472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5280"/>
        <c:crosses val="autoZero"/>
        <c:auto val="1"/>
        <c:lblAlgn val="ctr"/>
        <c:lblOffset val="100"/>
        <c:noMultiLvlLbl val="0"/>
      </c:catAx>
      <c:valAx>
        <c:axId val="322075280"/>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4720"/>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22261989978525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Sheet1!$B$2:$B$9</c:f>
              <c:numCache>
                <c:formatCode>0%</c:formatCode>
                <c:ptCount val="8"/>
                <c:pt idx="0">
                  <c:v>0.07</c:v>
                </c:pt>
                <c:pt idx="1">
                  <c:v>0.11</c:v>
                </c:pt>
                <c:pt idx="2">
                  <c:v>0.07894736842105263</c:v>
                </c:pt>
                <c:pt idx="3">
                  <c:v>0.13333333333333333</c:v>
                </c:pt>
                <c:pt idx="4">
                  <c:v>0.07</c:v>
                </c:pt>
                <c:pt idx="5">
                  <c:v>0.04</c:v>
                </c:pt>
              </c:numCache>
            </c:numRef>
          </c:val>
          <c:extLst>
            <c:ext xmlns:c16="http://schemas.microsoft.com/office/drawing/2014/chart" uri="{C3380CC4-5D6E-409C-BE32-E72D297353CC}">
              <c16:uniqueId val="{00000000-AD9A-4955-BC1E-DE66787E4B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Sheet1!$C$2:$C$9</c:f>
              <c:numCache>
                <c:formatCode>0%</c:formatCode>
                <c:ptCount val="8"/>
                <c:pt idx="0">
                  <c:v>0.13</c:v>
                </c:pt>
                <c:pt idx="1">
                  <c:v>0.02</c:v>
                </c:pt>
                <c:pt idx="2">
                  <c:v>0.07894736842105263</c:v>
                </c:pt>
                <c:pt idx="4">
                  <c:v>0.22</c:v>
                </c:pt>
                <c:pt idx="5">
                  <c:v>0.09</c:v>
                </c:pt>
                <c:pt idx="6">
                  <c:v>0.15789473684210525</c:v>
                </c:pt>
              </c:numCache>
            </c:numRef>
          </c:val>
          <c:extLst>
            <c:ext xmlns:c16="http://schemas.microsoft.com/office/drawing/2014/chart" uri="{C3380CC4-5D6E-409C-BE32-E72D297353CC}">
              <c16:uniqueId val="{00000001-AD9A-4955-BC1E-DE66787E4B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Sheet1!$D$2:$D$9</c:f>
              <c:numCache>
                <c:formatCode>0%</c:formatCode>
                <c:ptCount val="8"/>
                <c:pt idx="0">
                  <c:v>0.71</c:v>
                </c:pt>
                <c:pt idx="1">
                  <c:v>0.76</c:v>
                </c:pt>
                <c:pt idx="2">
                  <c:v>0.7894736842105263</c:v>
                </c:pt>
                <c:pt idx="3">
                  <c:v>0.8</c:v>
                </c:pt>
                <c:pt idx="4">
                  <c:v>0.64</c:v>
                </c:pt>
                <c:pt idx="5">
                  <c:v>0.85</c:v>
                </c:pt>
                <c:pt idx="6">
                  <c:v>0.8421052631578947</c:v>
                </c:pt>
                <c:pt idx="7">
                  <c:v>0.8666666666666667</c:v>
                </c:pt>
              </c:numCache>
            </c:numRef>
          </c:val>
          <c:extLst>
            <c:ext xmlns:c16="http://schemas.microsoft.com/office/drawing/2014/chart" uri="{C3380CC4-5D6E-409C-BE32-E72D297353CC}">
              <c16:uniqueId val="{00000002-AD9A-4955-BC1E-DE66787E4B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Sheet1!$E$2:$E$9</c:f>
              <c:numCache>
                <c:formatCode>0%</c:formatCode>
                <c:ptCount val="8"/>
                <c:pt idx="0">
                  <c:v>0.9099999999999999</c:v>
                </c:pt>
                <c:pt idx="1">
                  <c:v>0.89</c:v>
                </c:pt>
                <c:pt idx="2">
                  <c:v>0.9473684210526316</c:v>
                </c:pt>
                <c:pt idx="3">
                  <c:v>0.9333333333333333</c:v>
                </c:pt>
                <c:pt idx="4">
                  <c:v>0.93</c:v>
                </c:pt>
                <c:pt idx="5">
                  <c:v>0.98</c:v>
                </c:pt>
                <c:pt idx="6">
                  <c:v>1.0</c:v>
                </c:pt>
                <c:pt idx="7">
                  <c:v>0.8666666666666667</c:v>
                </c:pt>
              </c:numCache>
            </c:numRef>
          </c:val>
          <c:extLst>
            <c:ext xmlns:c16="http://schemas.microsoft.com/office/drawing/2014/chart" uri="{C3380CC4-5D6E-409C-BE32-E72D297353CC}">
              <c16:uniqueId val="{00000003-AD9A-4955-BC1E-DE66787E4B04}"/>
            </c:ext>
          </c:extLst>
        </c:ser>
        <c:dLbls>
          <c:showLegendKey val="0"/>
          <c:showVal val="0"/>
          <c:showCatName val="0"/>
          <c:showSerName val="0"/>
          <c:showPercent val="0"/>
          <c:showBubbleSize val="0"/>
        </c:dLbls>
        <c:gapWidth val="100"/>
        <c:overlap val="100"/>
        <c:axId val="322079200"/>
        <c:axId val="322079760"/>
      </c:barChart>
      <c:catAx>
        <c:axId val="32207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760"/>
        <c:crosses val="autoZero"/>
        <c:auto val="1"/>
        <c:lblAlgn val="ctr"/>
        <c:lblOffset val="100"/>
        <c:tickLblSkip val="1"/>
        <c:tickMarkSkip val="4"/>
        <c:noMultiLvlLbl val="0"/>
      </c:catAx>
      <c:valAx>
        <c:axId val="32207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079200"/>
        <c:crosses val="autoZero"/>
        <c:crossBetween val="between"/>
      </c:valAx>
      <c:spPr>
        <a:noFill/>
        <a:ln w="20365">
          <a:noFill/>
        </a:ln>
      </c:spPr>
    </c:plotArea>
    <c:legend>
      <c:legendPos val="t"/>
      <c:legendEntry>
        <c:idx val="3"/>
        <c:delete val="1"/>
      </c:legendEntry>
      <c:layout>
        <c:manualLayout>
          <c:xMode val="edge"/>
          <c:yMode val="edge"/>
          <c:x val="0.37558907110295425"/>
          <c:y val="3.4098360655737708E-2"/>
          <c:w val="0.24506245929785095"/>
          <c:h val="4.566495417580999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5598893888263968"/>
          <c:w val="0.91150512660737548"/>
          <c:h val="0.6444120734908136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Sheet1!$B$2:$B$9</c:f>
              <c:numCache>
                <c:formatCode>0%</c:formatCode>
                <c:ptCount val="8"/>
                <c:pt idx="0">
                  <c:v>0.04</c:v>
                </c:pt>
                <c:pt idx="1">
                  <c:v>0.04</c:v>
                </c:pt>
                <c:pt idx="2">
                  <c:v>0.02631578947368421</c:v>
                </c:pt>
                <c:pt idx="3">
                  <c:v>0.06666666666666667</c:v>
                </c:pt>
                <c:pt idx="4">
                  <c:v>0.02</c:v>
                </c:pt>
                <c:pt idx="6">
                  <c:v>0.05263157894736842</c:v>
                </c:pt>
                <c:pt idx="7">
                  <c:v>0.06666666666666667</c:v>
                </c:pt>
              </c:numCache>
            </c:numRef>
          </c:val>
          <c:extLst>
            <c:ext xmlns:c16="http://schemas.microsoft.com/office/drawing/2014/chart" uri="{C3380CC4-5D6E-409C-BE32-E72D297353CC}">
              <c16:uniqueId val="{00000000-AFDD-48EE-81D8-6E6529F03EFA}"/>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Sheet1!$C$2:$C$9</c:f>
              <c:numCache>
                <c:formatCode>0%</c:formatCode>
                <c:ptCount val="8"/>
                <c:pt idx="0">
                  <c:v>0.07</c:v>
                </c:pt>
                <c:pt idx="1">
                  <c:v>0.15</c:v>
                </c:pt>
                <c:pt idx="2">
                  <c:v>0.1842105263157895</c:v>
                </c:pt>
                <c:pt idx="4">
                  <c:v>0.16</c:v>
                </c:pt>
                <c:pt idx="5">
                  <c:v>0.15</c:v>
                </c:pt>
                <c:pt idx="6">
                  <c:v>0.131578947368421</c:v>
                </c:pt>
                <c:pt idx="7">
                  <c:v>0.06666666666666667</c:v>
                </c:pt>
              </c:numCache>
            </c:numRef>
          </c:val>
          <c:extLst>
            <c:ext xmlns:c16="http://schemas.microsoft.com/office/drawing/2014/chart" uri="{C3380CC4-5D6E-409C-BE32-E72D297353CC}">
              <c16:uniqueId val="{00000001-AFDD-48EE-81D8-6E6529F03EFA}"/>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Sheet1!$D$2:$D$9</c:f>
              <c:numCache>
                <c:formatCode>0%</c:formatCode>
                <c:ptCount val="8"/>
                <c:pt idx="0">
                  <c:v>0.84</c:v>
                </c:pt>
                <c:pt idx="1">
                  <c:v>0.76</c:v>
                </c:pt>
                <c:pt idx="2">
                  <c:v>0.7631578947368421</c:v>
                </c:pt>
                <c:pt idx="3">
                  <c:v>0.8666666666666667</c:v>
                </c:pt>
                <c:pt idx="4">
                  <c:v>0.76</c:v>
                </c:pt>
                <c:pt idx="5">
                  <c:v>0.8</c:v>
                </c:pt>
                <c:pt idx="6">
                  <c:v>0.7631578947368421</c:v>
                </c:pt>
                <c:pt idx="7">
                  <c:v>0.8</c:v>
                </c:pt>
              </c:numCache>
            </c:numRef>
          </c:val>
          <c:extLst>
            <c:ext xmlns:c16="http://schemas.microsoft.com/office/drawing/2014/chart" uri="{C3380CC4-5D6E-409C-BE32-E72D297353CC}">
              <c16:uniqueId val="{00000002-AFDD-48EE-81D8-6E6529F03EFA}"/>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Sheet1!$E$2:$E$9</c:f>
              <c:numCache>
                <c:formatCode>0%</c:formatCode>
                <c:ptCount val="8"/>
                <c:pt idx="0">
                  <c:v>0.95</c:v>
                </c:pt>
                <c:pt idx="1">
                  <c:v>0.95</c:v>
                </c:pt>
                <c:pt idx="2">
                  <c:v>0.9736842105263158</c:v>
                </c:pt>
                <c:pt idx="3">
                  <c:v>0.9333333333333333</c:v>
                </c:pt>
                <c:pt idx="4">
                  <c:v>0.94</c:v>
                </c:pt>
                <c:pt idx="5">
                  <c:v>0.9500000000000001</c:v>
                </c:pt>
                <c:pt idx="6">
                  <c:v>0.94</c:v>
                </c:pt>
                <c:pt idx="7">
                  <c:v>0.9333333333333333</c:v>
                </c:pt>
              </c:numCache>
            </c:numRef>
          </c:val>
          <c:extLst>
            <c:ext xmlns:c16="http://schemas.microsoft.com/office/drawing/2014/chart" uri="{C3380CC4-5D6E-409C-BE32-E72D297353CC}">
              <c16:uniqueId val="{00000003-AFDD-48EE-81D8-6E6529F03EFA}"/>
            </c:ext>
          </c:extLst>
        </c:ser>
        <c:dLbls>
          <c:showLegendKey val="0"/>
          <c:showVal val="0"/>
          <c:showCatName val="0"/>
          <c:showSerName val="0"/>
          <c:showPercent val="0"/>
          <c:showBubbleSize val="0"/>
        </c:dLbls>
        <c:gapWidth val="100"/>
        <c:overlap val="100"/>
        <c:axId val="322530880"/>
        <c:axId val="322531440"/>
      </c:barChart>
      <c:catAx>
        <c:axId val="32253088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1440"/>
        <c:crosses val="autoZero"/>
        <c:auto val="1"/>
        <c:lblAlgn val="ctr"/>
        <c:lblOffset val="100"/>
        <c:tickLblSkip val="1"/>
        <c:tickMarkSkip val="4"/>
        <c:noMultiLvlLbl val="0"/>
      </c:catAx>
      <c:valAx>
        <c:axId val="322531440"/>
        <c:scaling>
          <c:orientation val="minMax"/>
          <c:max val="1.05"/>
          <c:min val="0"/>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088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Sheet1!$B$2:$B$9</c:f>
              <c:numCache>
                <c:formatCode>0%</c:formatCode>
                <c:ptCount val="8"/>
                <c:pt idx="0">
                  <c:v>0.04</c:v>
                </c:pt>
                <c:pt idx="1">
                  <c:v>0.02</c:v>
                </c:pt>
                <c:pt idx="2">
                  <c:v>0.07894736842105263</c:v>
                </c:pt>
                <c:pt idx="3">
                  <c:v>0.13333333333333333</c:v>
                </c:pt>
                <c:pt idx="4">
                  <c:v>0.07</c:v>
                </c:pt>
                <c:pt idx="5">
                  <c:v>0.04</c:v>
                </c:pt>
              </c:numCache>
            </c:numRef>
          </c:val>
          <c:extLst>
            <c:ext xmlns:c16="http://schemas.microsoft.com/office/drawing/2014/chart" uri="{C3380CC4-5D6E-409C-BE32-E72D297353CC}">
              <c16:uniqueId val="{00000000-7A55-4EF5-B9A6-81EB46CD0604}"/>
            </c:ext>
          </c:extLst>
        </c:ser>
        <c:ser>
          <c:idx val="1"/>
          <c:order val="1"/>
          <c:tx>
            <c:strRef>
              <c:f>Sheet1!$C$1</c:f>
              <c:strCache>
                <c:ptCount val="1"/>
                <c:pt idx="0">
                  <c:v>9</c:v>
                </c:pt>
              </c:strCache>
            </c:strRef>
          </c:tx>
          <c:spPr>
            <a:solidFill>
              <a:srgbClr val="59AAF2"/>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Sheet1!$C$2:$C$9</c:f>
              <c:numCache>
                <c:formatCode>0%</c:formatCode>
                <c:ptCount val="8"/>
                <c:pt idx="0">
                  <c:v>0.13</c:v>
                </c:pt>
                <c:pt idx="1">
                  <c:v>0.07</c:v>
                </c:pt>
                <c:pt idx="2">
                  <c:v>0.1052631578947368</c:v>
                </c:pt>
                <c:pt idx="3">
                  <c:v>0.06666666666666667</c:v>
                </c:pt>
                <c:pt idx="4">
                  <c:v>0.16</c:v>
                </c:pt>
                <c:pt idx="5">
                  <c:v>0.2</c:v>
                </c:pt>
                <c:pt idx="6">
                  <c:v>0.2368421052631579</c:v>
                </c:pt>
                <c:pt idx="7">
                  <c:v>0.06666666666666667</c:v>
                </c:pt>
              </c:numCache>
            </c:numRef>
          </c:val>
          <c:extLst>
            <c:ext xmlns:c16="http://schemas.microsoft.com/office/drawing/2014/chart" uri="{C3380CC4-5D6E-409C-BE32-E72D297353CC}">
              <c16:uniqueId val="{00000001-7A55-4EF5-B9A6-81EB46CD0604}"/>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Sheet1!$D$2:$D$9</c:f>
              <c:numCache>
                <c:formatCode>0%</c:formatCode>
                <c:ptCount val="8"/>
                <c:pt idx="0">
                  <c:v>0.73</c:v>
                </c:pt>
                <c:pt idx="1">
                  <c:v>0.89</c:v>
                </c:pt>
                <c:pt idx="2">
                  <c:v>0.8157894736842105</c:v>
                </c:pt>
                <c:pt idx="3">
                  <c:v>0.7333333333333333</c:v>
                </c:pt>
                <c:pt idx="4">
                  <c:v>0.71</c:v>
                </c:pt>
                <c:pt idx="5">
                  <c:v>0.7</c:v>
                </c:pt>
                <c:pt idx="6">
                  <c:v>0.6578947368421053</c:v>
                </c:pt>
                <c:pt idx="7">
                  <c:v>0.7333333333333333</c:v>
                </c:pt>
              </c:numCache>
            </c:numRef>
          </c:val>
          <c:extLst>
            <c:ext xmlns:c16="http://schemas.microsoft.com/office/drawing/2014/chart" uri="{C3380CC4-5D6E-409C-BE32-E72D297353CC}">
              <c16:uniqueId val="{00000002-7A55-4EF5-B9A6-81EB46CD0604}"/>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Sheet1!$E$2:$E$9</c:f>
              <c:numCache>
                <c:formatCode>0%</c:formatCode>
                <c:ptCount val="8"/>
                <c:pt idx="0">
                  <c:v>0.9</c:v>
                </c:pt>
                <c:pt idx="1">
                  <c:v>0.98</c:v>
                </c:pt>
                <c:pt idx="2">
                  <c:v>1.0</c:v>
                </c:pt>
                <c:pt idx="3">
                  <c:v>0.9333333333333333</c:v>
                </c:pt>
                <c:pt idx="4">
                  <c:v>0.94</c:v>
                </c:pt>
                <c:pt idx="5">
                  <c:v>0.94</c:v>
                </c:pt>
                <c:pt idx="6">
                  <c:v>0.9</c:v>
                </c:pt>
                <c:pt idx="7">
                  <c:v>0.7999999999999999</c:v>
                </c:pt>
              </c:numCache>
            </c:numRef>
          </c:val>
          <c:extLst>
            <c:ext xmlns:c16="http://schemas.microsoft.com/office/drawing/2014/chart" uri="{C3380CC4-5D6E-409C-BE32-E72D297353CC}">
              <c16:uniqueId val="{00000003-7A55-4EF5-B9A6-81EB46CD0604}"/>
            </c:ext>
          </c:extLst>
        </c:ser>
        <c:dLbls>
          <c:showLegendKey val="0"/>
          <c:showVal val="0"/>
          <c:showCatName val="0"/>
          <c:showSerName val="0"/>
          <c:showPercent val="0"/>
          <c:showBubbleSize val="0"/>
        </c:dLbls>
        <c:gapWidth val="100"/>
        <c:overlap val="100"/>
        <c:axId val="322535920"/>
        <c:axId val="321858992"/>
      </c:barChart>
      <c:catAx>
        <c:axId val="32253592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1858992"/>
        <c:crosses val="autoZero"/>
        <c:auto val="1"/>
        <c:lblAlgn val="ctr"/>
        <c:lblOffset val="100"/>
        <c:tickLblSkip val="1"/>
        <c:tickMarkSkip val="4"/>
        <c:noMultiLvlLbl val="0"/>
      </c:catAx>
      <c:valAx>
        <c:axId val="32185899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253592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Q1 2025
(N=45)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0.49</c:v>
                </c:pt>
                <c:pt idx="1">
                  <c:v>0.07</c:v>
                </c:pt>
                <c:pt idx="2">
                  <c:v>0.44</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2025
(N=46)</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0.72</c:v>
                </c:pt>
                <c:pt idx="1">
                  <c:v>0.02</c:v>
                </c:pt>
                <c:pt idx="2">
                  <c:v>0.26</c:v>
                </c:pt>
              </c:numCache>
            </c:numRef>
          </c:val>
          <c:extLst>
            <c:ext xmlns:c16="http://schemas.microsoft.com/office/drawing/2014/chart" uri="{C3380CC4-5D6E-409C-BE32-E72D297353CC}">
              <c16:uniqueId val="{00000000-403F-4B8D-87AA-FCD9B97B45F6}"/>
            </c:ext>
          </c:extLst>
        </c:ser>
        <c:ser>
          <c:idx val="2"/>
          <c:order val="2"/>
          <c:tx>
            <c:strRef>
              <c:f>Sheet1!$D$1</c:f>
              <c:strCache>
                <c:ptCount val="1"/>
                <c:pt idx="0">
                  <c:v>Q3 2025
(N=38)</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0.5789473684210527</c:v>
                </c:pt>
                <c:pt idx="1">
                  <c:v>0.07894736842105263</c:v>
                </c:pt>
                <c:pt idx="2">
                  <c:v>0.34210526315789475</c:v>
                </c:pt>
              </c:numCache>
            </c:numRef>
          </c:val>
          <c:extLst>
            <c:ext xmlns:c16="http://schemas.microsoft.com/office/drawing/2014/chart" uri="{C3380CC4-5D6E-409C-BE32-E72D297353CC}">
              <c16:uniqueId val="{00000001-403F-4B8D-87AA-FCD9B97B45F6}"/>
            </c:ext>
          </c:extLst>
        </c:ser>
        <c:ser>
          <c:idx val="3"/>
          <c:order val="3"/>
          <c:tx>
            <c:strRef>
              <c:f>Sheet1!$E$1</c:f>
              <c:strCache>
                <c:ptCount val="1"/>
                <c:pt idx="0">
                  <c:v>Q4 2025
(N=15)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0.6</c:v>
                </c:pt>
                <c:pt idx="1">
                  <c:v>0.06666666666666667</c:v>
                </c:pt>
                <c:pt idx="2">
                  <c:v>0.3333333333333333</c:v>
                </c:pt>
              </c:numCache>
            </c:numRef>
          </c:val>
          <c:extLst>
            <c:ext xmlns:c16="http://schemas.microsoft.com/office/drawing/2014/chart" uri="{C3380CC4-5D6E-409C-BE32-E72D297353CC}">
              <c16:uniqueId val="{00000000-C0F4-4A27-8A6C-4014E18FA6F5}"/>
            </c:ext>
          </c:extLst>
        </c:ser>
        <c:dLbls>
          <c:showLegendKey val="0"/>
          <c:showVal val="0"/>
          <c:showCatName val="0"/>
          <c:showSerName val="0"/>
          <c:showPercent val="0"/>
          <c:showBubbleSize val="0"/>
        </c:dLbls>
        <c:gapWidth val="170"/>
        <c:overlap val="-10"/>
        <c:axId val="323356144"/>
        <c:axId val="323356704"/>
      </c:barChart>
      <c:catAx>
        <c:axId val="32335614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56704"/>
        <c:crosses val="autoZero"/>
        <c:auto val="1"/>
        <c:lblAlgn val="ctr"/>
        <c:lblOffset val="100"/>
        <c:noMultiLvlLbl val="0"/>
      </c:catAx>
      <c:valAx>
        <c:axId val="3233567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6144"/>
        <c:crosses val="autoZero"/>
        <c:crossBetween val="between"/>
      </c:valAx>
      <c:spPr>
        <a:noFill/>
        <a:ln w="21009">
          <a:noFill/>
        </a:ln>
      </c:spPr>
    </c:plotArea>
    <c:legend>
      <c:legendPos val="t"/>
      <c:layout>
        <c:manualLayout>
          <c:xMode val="edge"/>
          <c:yMode val="edge"/>
          <c:x val="0.23160055650938369"/>
          <c:y val="0"/>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Q1 2025
(n=25)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0.8</c:v>
                </c:pt>
                <c:pt idx="1">
                  <c:v>0.16</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2025
(n=34)</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Sheet1!$C$2:$C$3</c:f>
              <c:numCache>
                <c:formatCode>0%</c:formatCode>
                <c:ptCount val="2"/>
                <c:pt idx="0">
                  <c:v>0.94</c:v>
                </c:pt>
                <c:pt idx="1">
                  <c:v>0.06</c:v>
                </c:pt>
              </c:numCache>
            </c:numRef>
          </c:val>
          <c:extLst>
            <c:ext xmlns:c16="http://schemas.microsoft.com/office/drawing/2014/chart" uri="{C3380CC4-5D6E-409C-BE32-E72D297353CC}">
              <c16:uniqueId val="{00000000-EFD2-452A-891A-6A283B55AE1A}"/>
            </c:ext>
          </c:extLst>
        </c:ser>
        <c:ser>
          <c:idx val="2"/>
          <c:order val="2"/>
          <c:tx>
            <c:strRef>
              <c:f>Sheet1!$D$1</c:f>
              <c:strCache>
                <c:ptCount val="1"/>
                <c:pt idx="0">
                  <c:v>Q3 2025
(n=25)</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0.92</c:v>
                </c:pt>
                <c:pt idx="1">
                  <c:v>0.08</c:v>
                </c:pt>
              </c:numCache>
            </c:numRef>
          </c:val>
          <c:extLst>
            <c:ext xmlns:c16="http://schemas.microsoft.com/office/drawing/2014/chart" uri="{C3380CC4-5D6E-409C-BE32-E72D297353CC}">
              <c16:uniqueId val="{00000001-EFD2-452A-891A-6A283B55AE1A}"/>
            </c:ext>
          </c:extLst>
        </c:ser>
        <c:ser>
          <c:idx val="3"/>
          <c:order val="3"/>
          <c:tx>
            <c:strRef>
              <c:f>Sheet1!$E$1</c:f>
              <c:strCache>
                <c:ptCount val="1"/>
                <c:pt idx="0">
                  <c:v>Q4 2025
(n=10)</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Sheet1!$E$2:$E$3</c:f>
              <c:numCache>
                <c:formatCode>0%</c:formatCode>
                <c:ptCount val="2"/>
                <c:pt idx="0">
                  <c:v>0.9</c:v>
                </c:pt>
                <c:pt idx="1">
                  <c:v>0.1</c:v>
                </c:pt>
              </c:numCache>
            </c:numRef>
          </c:val>
          <c:extLst>
            <c:ext xmlns:c16="http://schemas.microsoft.com/office/drawing/2014/chart" uri="{C3380CC4-5D6E-409C-BE32-E72D297353CC}">
              <c16:uniqueId val="{00000000-AF88-4348-8696-5A67F3EFD30E}"/>
            </c:ext>
          </c:extLst>
        </c:ser>
        <c:dLbls>
          <c:dLblPos val="outEnd"/>
          <c:showLegendKey val="0"/>
          <c:showVal val="1"/>
          <c:showCatName val="0"/>
          <c:showSerName val="0"/>
          <c:showPercent val="0"/>
          <c:showBubbleSize val="0"/>
        </c:dLbls>
        <c:gapWidth val="170"/>
        <c:overlap val="-10"/>
        <c:axId val="323359504"/>
        <c:axId val="323360064"/>
      </c:barChart>
      <c:catAx>
        <c:axId val="3233595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60064"/>
        <c:crosses val="autoZero"/>
        <c:auto val="1"/>
        <c:lblAlgn val="ctr"/>
        <c:lblOffset val="100"/>
        <c:noMultiLvlLbl val="0"/>
      </c:catAx>
      <c:valAx>
        <c:axId val="3233600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59504"/>
        <c:crosses val="autoZero"/>
        <c:crossBetween val="between"/>
      </c:valAx>
      <c:spPr>
        <a:noFill/>
        <a:ln w="21009">
          <a:noFill/>
        </a:ln>
      </c:spPr>
    </c:plotArea>
    <c:legend>
      <c:legendPos val="t"/>
      <c:layout>
        <c:manualLayout>
          <c:xMode val="edge"/>
          <c:yMode val="edge"/>
          <c:x val="0.233480255757504"/>
          <c:y val="1.348162984624785E-2"/>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1"/>
              <c:layout>
                <c:manualLayout>
                  <c:x val="2.2556390977443608E-2"/>
                  <c:y val="2.623054085452433E-3"/>
                </c:manualLayout>
              </c:layout>
              <c:spPr>
                <a:noFill/>
                <a:ln w="20289">
                  <a:noFill/>
                </a:ln>
              </c:spPr>
              <c:txPr>
                <a:bodyPr rot="0" spcFirstLastPara="1" vertOverflow="ellipsis" vert="horz" wrap="square" lIns="38100" tIns="19050" rIns="38100" bIns="19050" anchor="ctr" anchorCtr="1">
                  <a:no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4.6127819548872177E-2"/>
                      <c:h val="3.2852562282173738E-2"/>
                    </c:manualLayout>
                  </c15:layout>
                </c:ext>
                <c:ext xmlns:c16="http://schemas.microsoft.com/office/drawing/2014/chart" uri="{C3380CC4-5D6E-409C-BE32-E72D297353CC}">
                  <c16:uniqueId val="{00000000-018F-4FF9-9A33-FC3EE8DA16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Sheet1!$B$2:$B$9</c:f>
              <c:numCache>
                <c:formatCode>0%</c:formatCode>
                <c:ptCount val="8"/>
                <c:pt idx="0">
                  <c:v>0.04</c:v>
                </c:pt>
                <c:pt idx="1">
                  <c:v>0.02</c:v>
                </c:pt>
                <c:pt idx="4">
                  <c:v>0.07</c:v>
                </c:pt>
                <c:pt idx="5">
                  <c:v>0.04</c:v>
                </c:pt>
                <c:pt idx="6">
                  <c:v>0.05263157894736842</c:v>
                </c:pt>
              </c:numCache>
            </c:numRef>
          </c:val>
          <c:extLst>
            <c:ext xmlns:c16="http://schemas.microsoft.com/office/drawing/2014/chart" uri="{C3380CC4-5D6E-409C-BE32-E72D297353CC}">
              <c16:uniqueId val="{00000001-018F-4FF9-9A33-FC3EE8DA1693}"/>
            </c:ext>
          </c:extLst>
        </c:ser>
        <c:ser>
          <c:idx val="1"/>
          <c:order val="1"/>
          <c:tx>
            <c:strRef>
              <c:f>Sheet1!$C$1</c:f>
              <c:strCache>
                <c:ptCount val="1"/>
                <c:pt idx="0">
                  <c:v>9</c:v>
                </c:pt>
              </c:strCache>
            </c:strRef>
          </c:tx>
          <c:spPr>
            <a:solidFill>
              <a:srgbClr val="59AAF2"/>
            </a:solidFill>
            <a:ln w="20289">
              <a:noFill/>
            </a:ln>
          </c:spPr>
          <c:invertIfNegative val="0"/>
          <c:dLbls>
            <c:dLbl>
              <c:idx val="2"/>
              <c:layout>
                <c:manualLayout>
                  <c:x val="7.5187969924812026E-3"/>
                  <c:y val="5.24590163934416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18F-4FF9-9A33-FC3EE8DA1693}"/>
                </c:ext>
              </c:extLst>
            </c:dLbl>
            <c:dLbl>
              <c:idx val="3"/>
              <c:layout>
                <c:manualLayout>
                  <c:x val="1.8796992481203006E-3"/>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18F-4FF9-9A33-FC3EE8DA1693}"/>
                </c:ext>
              </c:extLst>
            </c:dLbl>
            <c:dLbl>
              <c:idx val="7"/>
              <c:layout>
                <c:manualLayout>
                  <c:x val="-1.8796992481203006E-3"/>
                  <c:y val="-5.245901639344358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F8D-704B-BC29-52FCB95B9ED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Sheet1!$C$2:$C$9</c:f>
              <c:numCache>
                <c:formatCode>0%</c:formatCode>
                <c:ptCount val="8"/>
                <c:pt idx="0">
                  <c:v>0.09</c:v>
                </c:pt>
                <c:pt idx="1">
                  <c:v>0.15</c:v>
                </c:pt>
                <c:pt idx="2">
                  <c:v>0.1052631578947368</c:v>
                </c:pt>
                <c:pt idx="4">
                  <c:v>0.16</c:v>
                </c:pt>
                <c:pt idx="5">
                  <c:v>0.13</c:v>
                </c:pt>
                <c:pt idx="6">
                  <c:v>0.1052631578947368</c:v>
                </c:pt>
                <c:pt idx="7">
                  <c:v>0.06666666666666667</c:v>
                </c:pt>
              </c:numCache>
            </c:numRef>
          </c:val>
          <c:extLst>
            <c:ext xmlns:c16="http://schemas.microsoft.com/office/drawing/2014/chart" uri="{C3380CC4-5D6E-409C-BE32-E72D297353CC}">
              <c16:uniqueId val="{00000004-018F-4FF9-9A33-FC3EE8DA1693}"/>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Sheet1!$D$2:$D$9</c:f>
              <c:numCache>
                <c:formatCode>0%</c:formatCode>
                <c:ptCount val="8"/>
                <c:pt idx="0">
                  <c:v>0.8</c:v>
                </c:pt>
                <c:pt idx="1">
                  <c:v>0.8</c:v>
                </c:pt>
                <c:pt idx="2">
                  <c:v>0.868421052631579</c:v>
                </c:pt>
                <c:pt idx="3">
                  <c:v>0.8666666666666667</c:v>
                </c:pt>
                <c:pt idx="4">
                  <c:v>0.71</c:v>
                </c:pt>
                <c:pt idx="5">
                  <c:v>0.78</c:v>
                </c:pt>
                <c:pt idx="6">
                  <c:v>0.8157894736842105</c:v>
                </c:pt>
                <c:pt idx="7">
                  <c:v>0.8666666666666667</c:v>
                </c:pt>
              </c:numCache>
            </c:numRef>
          </c:val>
          <c:extLst>
            <c:ext xmlns:c16="http://schemas.microsoft.com/office/drawing/2014/chart" uri="{C3380CC4-5D6E-409C-BE32-E72D297353CC}">
              <c16:uniqueId val="{00000005-018F-4FF9-9A33-FC3EE8DA1693}"/>
            </c:ext>
          </c:extLst>
        </c:ser>
        <c:ser>
          <c:idx val="3"/>
          <c:order val="3"/>
          <c:tx>
            <c:strRef>
              <c:f>Sheet1!$E$1</c:f>
              <c:strCache>
                <c:ptCount val="1"/>
                <c:pt idx="0">
                  <c:v>sum of displayed values</c:v>
                </c:pt>
              </c:strCache>
            </c:strRef>
          </c:tx>
          <c:spPr>
            <a:noFill/>
          </c:spPr>
          <c:invertIfNegative val="0"/>
          <c:dLbls>
            <c:dLbl>
              <c:idx val="3"/>
              <c:spPr>
                <a:noFill/>
                <a:ln w="20289">
                  <a:noFill/>
                </a:ln>
              </c:spPr>
              <c:txPr>
                <a:bodyPr wrap="square" lIns="38100" tIns="19050" rIns="38100" bIns="19050" anchor="ctr">
                  <a:noAutofit/>
                </a:bodyPr>
                <a:lstStyle/>
                <a:p>
                  <a:pPr>
                    <a:defRPr sz="1118" b="1"/>
                  </a:pPr>
                  <a:endParaRPr lang="en-US"/>
                </a:p>
              </c:txPr>
              <c:dLblPos val="inBase"/>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018F-4FF9-9A33-FC3EE8DA1693}"/>
                </c:ext>
              </c:extLst>
            </c:dLbl>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Sheet1!$E$2:$E$9</c:f>
              <c:numCache>
                <c:formatCode>0%</c:formatCode>
                <c:ptCount val="8"/>
                <c:pt idx="0">
                  <c:v>0.93</c:v>
                </c:pt>
                <c:pt idx="1">
                  <c:v>0.97</c:v>
                </c:pt>
                <c:pt idx="2">
                  <c:v>0.98</c:v>
                </c:pt>
                <c:pt idx="3">
                  <c:v>0.8666666666666667</c:v>
                </c:pt>
                <c:pt idx="4">
                  <c:v>0.94</c:v>
                </c:pt>
                <c:pt idx="5">
                  <c:v>0.9500000000000001</c:v>
                </c:pt>
                <c:pt idx="6">
                  <c:v>0.98</c:v>
                </c:pt>
                <c:pt idx="7">
                  <c:v>0.9333333333333333</c:v>
                </c:pt>
              </c:numCache>
            </c:numRef>
          </c:val>
          <c:extLst>
            <c:ext xmlns:c16="http://schemas.microsoft.com/office/drawing/2014/chart" uri="{C3380CC4-5D6E-409C-BE32-E72D297353CC}">
              <c16:uniqueId val="{00000007-018F-4FF9-9A33-FC3EE8DA1693}"/>
            </c:ext>
          </c:extLst>
        </c:ser>
        <c:dLbls>
          <c:showLegendKey val="0"/>
          <c:showVal val="0"/>
          <c:showCatName val="0"/>
          <c:showSerName val="0"/>
          <c:showPercent val="0"/>
          <c:showBubbleSize val="0"/>
        </c:dLbls>
        <c:gapWidth val="100"/>
        <c:overlap val="100"/>
        <c:axId val="325164528"/>
        <c:axId val="325165088"/>
      </c:barChart>
      <c:catAx>
        <c:axId val="32516452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5088"/>
        <c:crosses val="autoZero"/>
        <c:auto val="1"/>
        <c:lblAlgn val="ctr"/>
        <c:lblOffset val="100"/>
        <c:tickLblSkip val="1"/>
        <c:tickMarkSkip val="4"/>
        <c:noMultiLvlLbl val="0"/>
      </c:catAx>
      <c:valAx>
        <c:axId val="32516508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452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Sheet1!$B$2:$B$9</c:f>
              <c:numCache>
                <c:formatCode>0%</c:formatCode>
                <c:ptCount val="8"/>
                <c:pt idx="0">
                  <c:v>0.04</c:v>
                </c:pt>
                <c:pt idx="2">
                  <c:v>0.02631578947368421</c:v>
                </c:pt>
                <c:pt idx="3">
                  <c:v>0.06666666666666667</c:v>
                </c:pt>
                <c:pt idx="4">
                  <c:v>0.02</c:v>
                </c:pt>
                <c:pt idx="5">
                  <c:v>0.02</c:v>
                </c:pt>
                <c:pt idx="6">
                  <c:v>0.05263157894736842</c:v>
                </c:pt>
                <c:pt idx="7">
                  <c:v>0.06666666666666667</c:v>
                </c:pt>
              </c:numCache>
            </c:numRef>
          </c:val>
          <c:extLst>
            <c:ext xmlns:c16="http://schemas.microsoft.com/office/drawing/2014/chart" uri="{C3380CC4-5D6E-409C-BE32-E72D297353CC}">
              <c16:uniqueId val="{00000000-3F7D-4AEA-A719-67688FBC2FE5}"/>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0"/>
                  <c:y val="-4.901960784313725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D31-FE4B-9EF3-159D96FAEBA1}"/>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Sheet1!$C$2:$C$9</c:f>
              <c:numCache>
                <c:formatCode>0%</c:formatCode>
                <c:ptCount val="8"/>
                <c:pt idx="0">
                  <c:v>0.16</c:v>
                </c:pt>
                <c:pt idx="1">
                  <c:v>0.17</c:v>
                </c:pt>
                <c:pt idx="2">
                  <c:v>0.05263157894736842</c:v>
                </c:pt>
                <c:pt idx="4">
                  <c:v>0.11</c:v>
                </c:pt>
                <c:pt idx="5">
                  <c:v>0.22</c:v>
                </c:pt>
                <c:pt idx="6">
                  <c:v>0.05263157894736842</c:v>
                </c:pt>
                <c:pt idx="7">
                  <c:v>0.06666666666666667</c:v>
                </c:pt>
              </c:numCache>
            </c:numRef>
          </c:val>
          <c:extLst>
            <c:ext xmlns:c16="http://schemas.microsoft.com/office/drawing/2014/chart" uri="{C3380CC4-5D6E-409C-BE32-E72D297353CC}">
              <c16:uniqueId val="{00000001-3F7D-4AEA-A719-67688FBC2FE5}"/>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Sheet1!$D$2:$D$9</c:f>
              <c:numCache>
                <c:formatCode>0%</c:formatCode>
                <c:ptCount val="8"/>
                <c:pt idx="0">
                  <c:v>0.71</c:v>
                </c:pt>
                <c:pt idx="1">
                  <c:v>0.8</c:v>
                </c:pt>
                <c:pt idx="2">
                  <c:v>0.8947368421052632</c:v>
                </c:pt>
                <c:pt idx="3">
                  <c:v>0.8</c:v>
                </c:pt>
                <c:pt idx="4">
                  <c:v>0.76</c:v>
                </c:pt>
                <c:pt idx="5">
                  <c:v>0.74</c:v>
                </c:pt>
                <c:pt idx="6">
                  <c:v>0.8421052631578947</c:v>
                </c:pt>
                <c:pt idx="7">
                  <c:v>0.8</c:v>
                </c:pt>
              </c:numCache>
            </c:numRef>
          </c:val>
          <c:extLst>
            <c:ext xmlns:c16="http://schemas.microsoft.com/office/drawing/2014/chart" uri="{C3380CC4-5D6E-409C-BE32-E72D297353CC}">
              <c16:uniqueId val="{00000002-3F7D-4AEA-A719-67688FBC2FE5}"/>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Q1 2025 
(N=45)</c:v>
                </c:pt>
                <c:pt idx="1">
                  <c:v>Q2 2025
(N=46)</c:v>
                </c:pt>
                <c:pt idx="2">
                  <c:v>Q3 2025
(N=38)</c:v>
                </c:pt>
                <c:pt idx="3">
                  <c:v>Q4 2025
(N=15)</c:v>
                </c:pt>
                <c:pt idx="4">
                  <c:v>Q1 2025 
(N=45)</c:v>
                </c:pt>
                <c:pt idx="5">
                  <c:v>Q2 2025
(N=46)</c:v>
                </c:pt>
                <c:pt idx="6">
                  <c:v>Q3 2025
(N=38)</c:v>
                </c:pt>
                <c:pt idx="7">
                  <c:v>Q4 2025
(N=15)</c:v>
                </c:pt>
              </c:strCache>
            </c:strRef>
          </c:cat>
          <c:val>
            <c:numRef>
              <c:f>Sheet1!$E$2:$E$9</c:f>
              <c:numCache>
                <c:formatCode>0%</c:formatCode>
                <c:ptCount val="8"/>
                <c:pt idx="0">
                  <c:v>0.9099999999999999</c:v>
                </c:pt>
                <c:pt idx="1">
                  <c:v>0.9700000000000001</c:v>
                </c:pt>
                <c:pt idx="2">
                  <c:v>0.9736842105263158</c:v>
                </c:pt>
                <c:pt idx="3">
                  <c:v>0.8666666666666667</c:v>
                </c:pt>
                <c:pt idx="4">
                  <c:v>0.89</c:v>
                </c:pt>
                <c:pt idx="5">
                  <c:v>0.98</c:v>
                </c:pt>
                <c:pt idx="6">
                  <c:v>0.94</c:v>
                </c:pt>
                <c:pt idx="7">
                  <c:v>0.9333333333333333</c:v>
                </c:pt>
              </c:numCache>
            </c:numRef>
          </c:val>
          <c:extLst>
            <c:ext xmlns:c16="http://schemas.microsoft.com/office/drawing/2014/chart" uri="{C3380CC4-5D6E-409C-BE32-E72D297353CC}">
              <c16:uniqueId val="{00000003-3F7D-4AEA-A719-67688FBC2FE5}"/>
            </c:ext>
          </c:extLst>
        </c:ser>
        <c:dLbls>
          <c:showLegendKey val="0"/>
          <c:showVal val="0"/>
          <c:showCatName val="0"/>
          <c:showSerName val="0"/>
          <c:showPercent val="0"/>
          <c:showBubbleSize val="0"/>
        </c:dLbls>
        <c:gapWidth val="100"/>
        <c:overlap val="100"/>
        <c:axId val="325169008"/>
        <c:axId val="325169568"/>
      </c:barChart>
      <c:catAx>
        <c:axId val="325169008"/>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568"/>
        <c:crosses val="autoZero"/>
        <c:auto val="1"/>
        <c:lblAlgn val="ctr"/>
        <c:lblOffset val="100"/>
        <c:tickLblSkip val="1"/>
        <c:tickMarkSkip val="4"/>
        <c:noMultiLvlLbl val="0"/>
      </c:catAx>
      <c:valAx>
        <c:axId val="325169568"/>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169008"/>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6551274041564476"/>
          <c:w val="0.91150512660737548"/>
          <c:h val="0.63488834387504844"/>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0.07</c:v>
                </c:pt>
                <c:pt idx="1">
                  <c:v>0.13</c:v>
                </c:pt>
                <c:pt idx="2">
                  <c:v>0.02631578947368421</c:v>
                </c:pt>
              </c:numCache>
            </c:numRef>
          </c:val>
          <c:extLst>
            <c:ext xmlns:c16="http://schemas.microsoft.com/office/drawing/2014/chart" uri="{C3380CC4-5D6E-409C-BE32-E72D297353CC}">
              <c16:uniqueId val="{00000000-10D9-4C7F-AED0-B6EF4592473B}"/>
            </c:ext>
          </c:extLst>
        </c:ser>
        <c:ser>
          <c:idx val="1"/>
          <c:order val="1"/>
          <c:tx>
            <c:strRef>
              <c:f>Sheet1!$C$1</c:f>
              <c:strCache>
                <c:ptCount val="1"/>
                <c:pt idx="0">
                  <c:v>9</c:v>
                </c:pt>
              </c:strCache>
            </c:strRef>
          </c:tx>
          <c:spPr>
            <a:solidFill>
              <a:srgbClr val="59AAF2"/>
            </a:solidFill>
            <a:ln w="20289">
              <a:noFill/>
            </a:ln>
          </c:spPr>
          <c:invertIfNegative val="0"/>
          <c:dLbls>
            <c:dLbl>
              <c:idx val="3"/>
              <c:layout>
                <c:manualLayout>
                  <c:x val="-1.3784301915450217E-16"/>
                  <c:y val="-5.24590163934426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EB-D641-9D50-B6487A9F6093}"/>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0.22</c:v>
                </c:pt>
                <c:pt idx="1">
                  <c:v>0.17</c:v>
                </c:pt>
                <c:pt idx="2">
                  <c:v>0.07894736842105263</c:v>
                </c:pt>
              </c:numCache>
            </c:numRef>
          </c:val>
          <c:extLst>
            <c:ext xmlns:c16="http://schemas.microsoft.com/office/drawing/2014/chart" uri="{C3380CC4-5D6E-409C-BE32-E72D297353CC}">
              <c16:uniqueId val="{00000001-10D9-4C7F-AED0-B6EF4592473B}"/>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0.6</c:v>
                </c:pt>
                <c:pt idx="1">
                  <c:v>0.65</c:v>
                </c:pt>
                <c:pt idx="2">
                  <c:v>0.7631578947368421</c:v>
                </c:pt>
                <c:pt idx="3">
                  <c:v>0.8666666666666667</c:v>
                </c:pt>
              </c:numCache>
            </c:numRef>
          </c:val>
          <c:extLst>
            <c:ext xmlns:c16="http://schemas.microsoft.com/office/drawing/2014/chart" uri="{C3380CC4-5D6E-409C-BE32-E72D297353CC}">
              <c16:uniqueId val="{00000002-10D9-4C7F-AED0-B6EF4592473B}"/>
            </c:ext>
          </c:extLst>
        </c:ser>
        <c:ser>
          <c:idx val="3"/>
          <c:order val="3"/>
          <c:tx>
            <c:strRef>
              <c:f>Sheet1!$E$1</c:f>
              <c:strCache>
                <c:ptCount val="1"/>
                <c:pt idx="0">
                  <c:v>sum of displayed values</c:v>
                </c:pt>
              </c:strCache>
            </c:strRef>
          </c:tx>
          <c:spPr>
            <a:noFill/>
          </c:spPr>
          <c:invertIfNegative val="0"/>
          <c:dLbls>
            <c:spPr>
              <a:noFill/>
              <a:ln>
                <a:noFill/>
              </a:ln>
              <a:effectLst/>
            </c:spPr>
            <c:txPr>
              <a:bodyPr wrap="square" lIns="38100" tIns="19050" rIns="38100" bIns="19050" anchor="ctr">
                <a:spAutoFit/>
              </a:bodyPr>
              <a:lstStyle/>
              <a:p>
                <a:pPr>
                  <a:defRPr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0.89</c:v>
                </c:pt>
                <c:pt idx="1">
                  <c:v>0.9500000000000001</c:v>
                </c:pt>
                <c:pt idx="2">
                  <c:v>0.868421052631579</c:v>
                </c:pt>
                <c:pt idx="3">
                  <c:v>0.8666666666666667</c:v>
                </c:pt>
              </c:numCache>
            </c:numRef>
          </c:val>
          <c:extLst>
            <c:ext xmlns:c16="http://schemas.microsoft.com/office/drawing/2014/chart" uri="{C3380CC4-5D6E-409C-BE32-E72D297353CC}">
              <c16:uniqueId val="{00000001-48FE-5449-A1D1-20013E34F4E0}"/>
            </c:ext>
          </c:extLst>
        </c:ser>
        <c:dLbls>
          <c:showLegendKey val="0"/>
          <c:showVal val="0"/>
          <c:showCatName val="0"/>
          <c:showSerName val="0"/>
          <c:showPercent val="0"/>
          <c:showBubbleSize val="0"/>
        </c:dLbls>
        <c:gapWidth val="100"/>
        <c:overlap val="100"/>
        <c:axId val="324689200"/>
        <c:axId val="324689760"/>
      </c:barChart>
      <c:catAx>
        <c:axId val="324689200"/>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760"/>
        <c:crosses val="autoZero"/>
        <c:auto val="1"/>
        <c:lblAlgn val="ctr"/>
        <c:lblOffset val="100"/>
        <c:tickLblSkip val="1"/>
        <c:tickMarkSkip val="4"/>
        <c:noMultiLvlLbl val="0"/>
      </c:catAx>
      <c:valAx>
        <c:axId val="324689760"/>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89200"/>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2402359244568112"/>
          <c:h val="4.565173615593132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910321684426678"/>
          <c:w val="0.91406747644859176"/>
          <c:h val="0.79237716802123426"/>
        </c:manualLayout>
      </c:layout>
      <c:barChart>
        <c:barDir val="col"/>
        <c:grouping val="clustered"/>
        <c:varyColors val="0"/>
        <c:ser>
          <c:idx val="0"/>
          <c:order val="0"/>
          <c:tx>
            <c:strRef>
              <c:f>Sheet1!$B$1</c:f>
              <c:strCache>
                <c:ptCount val="1"/>
                <c:pt idx="0">
                  <c:v>Q1 2025
(N=45)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0.42</c:v>
                </c:pt>
                <c:pt idx="1">
                  <c:v>0.09</c:v>
                </c:pt>
                <c:pt idx="2">
                  <c:v>0.49</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2025
(N=46)</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0.52</c:v>
                </c:pt>
                <c:pt idx="1">
                  <c:v>0.09</c:v>
                </c:pt>
                <c:pt idx="2">
                  <c:v>0.39</c:v>
                </c:pt>
              </c:numCache>
            </c:numRef>
          </c:val>
          <c:extLst>
            <c:ext xmlns:c16="http://schemas.microsoft.com/office/drawing/2014/chart" uri="{C3380CC4-5D6E-409C-BE32-E72D297353CC}">
              <c16:uniqueId val="{00000000-2F2C-4AB5-908E-1D7E0E26B6CB}"/>
            </c:ext>
          </c:extLst>
        </c:ser>
        <c:ser>
          <c:idx val="2"/>
          <c:order val="2"/>
          <c:tx>
            <c:strRef>
              <c:f>Sheet1!$D$1</c:f>
              <c:strCache>
                <c:ptCount val="1"/>
                <c:pt idx="0">
                  <c:v>Q3 2025
(N=38)</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Sheet1!$D$2:$D$4</c:f>
              <c:numCache>
                <c:formatCode>0%</c:formatCode>
                <c:ptCount val="3"/>
                <c:pt idx="0">
                  <c:v>0.4473684210526316</c:v>
                </c:pt>
                <c:pt idx="1">
                  <c:v>0.05263157894736842</c:v>
                </c:pt>
                <c:pt idx="2">
                  <c:v>0.5</c:v>
                </c:pt>
              </c:numCache>
            </c:numRef>
          </c:val>
          <c:extLst>
            <c:ext xmlns:c16="http://schemas.microsoft.com/office/drawing/2014/chart" uri="{C3380CC4-5D6E-409C-BE32-E72D297353CC}">
              <c16:uniqueId val="{00000001-2F2C-4AB5-908E-1D7E0E26B6CB}"/>
            </c:ext>
          </c:extLst>
        </c:ser>
        <c:ser>
          <c:idx val="3"/>
          <c:order val="3"/>
          <c:tx>
            <c:strRef>
              <c:f>Sheet1!$E$1</c:f>
              <c:strCache>
                <c:ptCount val="1"/>
                <c:pt idx="0">
                  <c:v>Q4 2025
(N=15)</c:v>
                </c:pt>
              </c:strCache>
            </c:strRef>
          </c:tx>
          <c:spPr>
            <a:solidFill>
              <a:schemeClr val="tx1"/>
            </a:solidFill>
            <a:ln>
              <a:noFill/>
            </a:ln>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Sheet1!$E$2:$E$4</c:f>
              <c:numCache>
                <c:formatCode>0%</c:formatCode>
                <c:ptCount val="3"/>
                <c:pt idx="0">
                  <c:v>0.4</c:v>
                </c:pt>
                <c:pt idx="1">
                  <c:v>0.06666666666666667</c:v>
                </c:pt>
                <c:pt idx="2">
                  <c:v>0.5333333333333333</c:v>
                </c:pt>
              </c:numCache>
            </c:numRef>
          </c:val>
          <c:extLst>
            <c:ext xmlns:c16="http://schemas.microsoft.com/office/drawing/2014/chart" uri="{C3380CC4-5D6E-409C-BE32-E72D297353CC}">
              <c16:uniqueId val="{00000000-A205-4F76-994F-922B6EF4212F}"/>
            </c:ext>
          </c:extLst>
        </c:ser>
        <c:dLbls>
          <c:dLblPos val="outEnd"/>
          <c:showLegendKey val="0"/>
          <c:showVal val="1"/>
          <c:showCatName val="0"/>
          <c:showSerName val="0"/>
          <c:showPercent val="0"/>
          <c:showBubbleSize val="0"/>
        </c:dLbls>
        <c:gapWidth val="170"/>
        <c:overlap val="-10"/>
        <c:axId val="324692560"/>
        <c:axId val="323323104"/>
      </c:barChart>
      <c:catAx>
        <c:axId val="324692560"/>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3104"/>
        <c:crosses val="autoZero"/>
        <c:auto val="1"/>
        <c:lblAlgn val="ctr"/>
        <c:lblOffset val="100"/>
        <c:noMultiLvlLbl val="0"/>
      </c:catAx>
      <c:valAx>
        <c:axId val="32332310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4692560"/>
        <c:crosses val="autoZero"/>
        <c:crossBetween val="between"/>
      </c:valAx>
      <c:spPr>
        <a:noFill/>
        <a:ln w="21009">
          <a:noFill/>
        </a:ln>
      </c:spPr>
    </c:plotArea>
    <c:legend>
      <c:legendPos val="t"/>
      <c:layout>
        <c:manualLayout>
          <c:xMode val="edge"/>
          <c:yMode val="edge"/>
          <c:x val="0.23535995500562429"/>
          <c:y val="3.2355911630994841E-2"/>
          <c:w val="0.42883073826298029"/>
          <c:h val="7.9521659034507239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456840921200637E-2"/>
          <c:y val="0.20439044715892893"/>
          <c:w val="0.91406747644859176"/>
          <c:h val="0.7328884533109119"/>
        </c:manualLayout>
      </c:layout>
      <c:barChart>
        <c:barDir val="col"/>
        <c:grouping val="clustered"/>
        <c:varyColors val="0"/>
        <c:ser>
          <c:idx val="0"/>
          <c:order val="0"/>
          <c:tx>
            <c:strRef>
              <c:f>Sheet1!$B$1</c:f>
              <c:strCache>
                <c:ptCount val="1"/>
                <c:pt idx="0">
                  <c:v>Q1 2025
(n=23)</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Sheet1!$B$2:$B$4</c:f>
              <c:numCache>
                <c:formatCode>0%</c:formatCode>
                <c:ptCount val="3"/>
                <c:pt idx="0">
                  <c:v>0.78</c:v>
                </c:pt>
                <c:pt idx="1">
                  <c:v>0.09</c:v>
                </c:pt>
                <c:pt idx="2">
                  <c:v>0.13</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2025
(n=28)</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Sheet1!$C$2:$C$4</c:f>
              <c:numCache>
                <c:formatCode>0%</c:formatCode>
                <c:ptCount val="3"/>
                <c:pt idx="0">
                  <c:v>0.89</c:v>
                </c:pt>
                <c:pt idx="1">
                  <c:v>0.07</c:v>
                </c:pt>
                <c:pt idx="2">
                  <c:v>0.04</c:v>
                </c:pt>
              </c:numCache>
            </c:numRef>
          </c:val>
          <c:extLst>
            <c:ext xmlns:c16="http://schemas.microsoft.com/office/drawing/2014/chart" uri="{C3380CC4-5D6E-409C-BE32-E72D297353CC}">
              <c16:uniqueId val="{00000000-7664-4622-B159-2555FB87495E}"/>
            </c:ext>
          </c:extLst>
        </c:ser>
        <c:ser>
          <c:idx val="2"/>
          <c:order val="2"/>
          <c:tx>
            <c:strRef>
              <c:f>Sheet1!$D$1</c:f>
              <c:strCache>
                <c:ptCount val="1"/>
                <c:pt idx="0">
                  <c:v>Q3 2025
(n=19)</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Yes</c:v>
                </c:pt>
                <c:pt idx="1">
                  <c:v>No</c:v>
                </c:pt>
                <c:pt idx="2">
                  <c:v>I had no concerns</c:v>
                </c:pt>
              </c:strCache>
            </c:strRef>
          </c:cat>
          <c:val>
            <c:numRef>
              <c:f>Sheet1!$D$2:$D$4</c:f>
              <c:numCache>
                <c:formatCode>0%</c:formatCode>
                <c:ptCount val="3"/>
                <c:pt idx="0">
                  <c:v>0.8421052631578947</c:v>
                </c:pt>
                <c:pt idx="1">
                  <c:v>0.1052631578947368</c:v>
                </c:pt>
                <c:pt idx="2">
                  <c:v>0.05263157894736842</c:v>
                </c:pt>
              </c:numCache>
            </c:numRef>
          </c:val>
          <c:extLst>
            <c:ext xmlns:c16="http://schemas.microsoft.com/office/drawing/2014/chart" uri="{C3380CC4-5D6E-409C-BE32-E72D297353CC}">
              <c16:uniqueId val="{00000001-7664-4622-B159-2555FB87495E}"/>
            </c:ext>
          </c:extLst>
        </c:ser>
        <c:ser>
          <c:idx val="3"/>
          <c:order val="3"/>
          <c:tx>
            <c:strRef>
              <c:f>Sheet1!$E$1</c:f>
              <c:strCache>
                <c:ptCount val="1"/>
                <c:pt idx="0">
                  <c:v>Q4 2025
(n=7)</c:v>
                </c:pt>
              </c:strCache>
            </c:strRef>
          </c:tx>
          <c:spPr>
            <a:solidFill>
              <a:schemeClr val="tx1"/>
            </a:solidFill>
          </c:spPr>
          <c:invertIfNegative val="0"/>
          <c:dPt>
            <c:idx val="0"/>
            <c:invertIfNegative val="0"/>
            <c:bubble3D val="0"/>
            <c:extLst>
              <c:ext xmlns:c16="http://schemas.microsoft.com/office/drawing/2014/chart" uri="{C3380CC4-5D6E-409C-BE32-E72D297353CC}">
                <c16:uniqueId val="{00000000-E746-504A-BA49-89DD2B9F1447}"/>
              </c:ext>
            </c:extLst>
          </c:dPt>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Sheet1!$A$2:$A$4</c:f>
              <c:strCache>
                <c:ptCount val="3"/>
                <c:pt idx="0">
                  <c:v>Yes</c:v>
                </c:pt>
                <c:pt idx="1">
                  <c:v>No</c:v>
                </c:pt>
                <c:pt idx="2">
                  <c:v>I had no concerns</c:v>
                </c:pt>
              </c:strCache>
            </c:strRef>
          </c:cat>
          <c:val>
            <c:numRef>
              <c:f>Sheet1!$E$2:$E$3</c:f>
              <c:numCache>
                <c:formatCode>0%</c:formatCode>
                <c:ptCount val="2"/>
                <c:pt idx="0">
                  <c:v>0.7142857142857143</c:v>
                </c:pt>
                <c:pt idx="1">
                  <c:v>0.2857142857142857</c:v>
                </c:pt>
              </c:numCache>
            </c:numRef>
          </c:val>
          <c:extLst>
            <c:ext xmlns:c16="http://schemas.microsoft.com/office/drawing/2014/chart" uri="{C3380CC4-5D6E-409C-BE32-E72D297353CC}">
              <c16:uniqueId val="{00000001-9A02-4932-A087-5B84C8851181}"/>
            </c:ext>
          </c:extLst>
        </c:ser>
        <c:dLbls>
          <c:dLblPos val="outEnd"/>
          <c:showLegendKey val="0"/>
          <c:showVal val="1"/>
          <c:showCatName val="0"/>
          <c:showSerName val="0"/>
          <c:showPercent val="0"/>
          <c:showBubbleSize val="0"/>
        </c:dLbls>
        <c:gapWidth val="170"/>
        <c:overlap val="-10"/>
        <c:axId val="323325904"/>
        <c:axId val="323326464"/>
      </c:barChart>
      <c:catAx>
        <c:axId val="323325904"/>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3326464"/>
        <c:crosses val="autoZero"/>
        <c:auto val="1"/>
        <c:lblAlgn val="ctr"/>
        <c:lblOffset val="100"/>
        <c:noMultiLvlLbl val="0"/>
      </c:catAx>
      <c:valAx>
        <c:axId val="323326464"/>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3325904"/>
        <c:crosses val="autoZero"/>
        <c:crossBetween val="between"/>
      </c:valAx>
      <c:spPr>
        <a:noFill/>
        <a:ln w="21009">
          <a:noFill/>
        </a:ln>
      </c:spPr>
    </c:plotArea>
    <c:legend>
      <c:legendPos val="t"/>
      <c:layout>
        <c:manualLayout>
          <c:xMode val="edge"/>
          <c:yMode val="edge"/>
          <c:x val="0.19588627079509799"/>
          <c:y val="4.5891399849724172E-2"/>
          <c:w val="0.42764282754129418"/>
          <c:h val="7.9561444989957833E-2"/>
        </c:manualLayout>
      </c:layout>
      <c:overlay val="0"/>
      <c:spPr>
        <a:noFill/>
        <a:ln w="20893">
          <a:noFill/>
        </a:ln>
      </c:spPr>
      <c:txPr>
        <a:bodyPr rot="0" spcFirstLastPara="1" vertOverflow="ellipsis" vert="horz" wrap="square" anchor="ctr" anchorCtr="1"/>
        <a:lstStyle/>
        <a:p>
          <a:pPr>
            <a:defRPr sz="98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855789116876134E-2"/>
          <c:y val="0.18145912847526163"/>
          <c:w val="0.91406747644859176"/>
          <c:h val="0.76002125639023954"/>
        </c:manualLayout>
      </c:layout>
      <c:barChart>
        <c:barDir val="col"/>
        <c:grouping val="clustered"/>
        <c:varyColors val="0"/>
        <c:ser>
          <c:idx val="0"/>
          <c:order val="0"/>
          <c:tx>
            <c:strRef>
              <c:f>Sheet1!$B$1</c:f>
              <c:strCache>
                <c:ptCount val="1"/>
                <c:pt idx="0">
                  <c:v>Q1 2025
(N=45)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Sheet1!$B$2:$B$3</c:f>
              <c:numCache>
                <c:formatCode>0%</c:formatCode>
                <c:ptCount val="2"/>
                <c:pt idx="0">
                  <c:v>0.96</c:v>
                </c:pt>
                <c:pt idx="1">
                  <c:v>0.04</c:v>
                </c:pt>
              </c:numCache>
            </c:numRef>
          </c:val>
          <c:extLst>
            <c:ext xmlns:c16="http://schemas.microsoft.com/office/drawing/2014/chart" uri="{C3380CC4-5D6E-409C-BE32-E72D297353CC}">
              <c16:uniqueId val="{00000000-B3BC-4399-9949-26421AA520BC}"/>
            </c:ext>
          </c:extLst>
        </c:ser>
        <c:ser>
          <c:idx val="1"/>
          <c:order val="1"/>
          <c:tx>
            <c:strRef>
              <c:f>Sheet1!$C$1</c:f>
              <c:strCache>
                <c:ptCount val="1"/>
                <c:pt idx="0">
                  <c:v>Q2 2025
(N=46)</c:v>
                </c:pt>
              </c:strCache>
            </c:strRef>
          </c:tx>
          <c:spPr>
            <a:solidFill>
              <a:srgbClr val="3233CC"/>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Yes</c:v>
                </c:pt>
                <c:pt idx="1">
                  <c:v>No</c:v>
                </c:pt>
              </c:strCache>
            </c:strRef>
          </c:cat>
          <c:val>
            <c:numRef>
              <c:f>Sheet1!$C$2:$C$3</c:f>
              <c:numCache>
                <c:formatCode>0%</c:formatCode>
                <c:ptCount val="2"/>
                <c:pt idx="0">
                  <c:v>0.94</c:v>
                </c:pt>
                <c:pt idx="1">
                  <c:v>0.06</c:v>
                </c:pt>
              </c:numCache>
            </c:numRef>
          </c:val>
          <c:extLst>
            <c:ext xmlns:c16="http://schemas.microsoft.com/office/drawing/2014/chart" uri="{C3380CC4-5D6E-409C-BE32-E72D297353CC}">
              <c16:uniqueId val="{00000001-B3BC-4399-9949-26421AA520BC}"/>
            </c:ext>
          </c:extLst>
        </c:ser>
        <c:ser>
          <c:idx val="2"/>
          <c:order val="2"/>
          <c:tx>
            <c:strRef>
              <c:f>Sheet1!$D$1</c:f>
              <c:strCache>
                <c:ptCount val="1"/>
                <c:pt idx="0">
                  <c:v>Q3 2025
(N=38)</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Sheet1!$D$2:$D$3</c:f>
              <c:numCache>
                <c:formatCode>0%</c:formatCode>
                <c:ptCount val="2"/>
                <c:pt idx="0">
                  <c:v>0.9736842105263158</c:v>
                </c:pt>
                <c:pt idx="1">
                  <c:v>0.02631578947368421</c:v>
                </c:pt>
              </c:numCache>
            </c:numRef>
          </c:val>
          <c:extLst>
            <c:ext xmlns:c16="http://schemas.microsoft.com/office/drawing/2014/chart" uri="{C3380CC4-5D6E-409C-BE32-E72D297353CC}">
              <c16:uniqueId val="{00000002-B3BC-4399-9949-26421AA520BC}"/>
            </c:ext>
          </c:extLst>
        </c:ser>
        <c:ser>
          <c:idx val="3"/>
          <c:order val="3"/>
          <c:tx>
            <c:strRef>
              <c:f>Sheet1!$E$1</c:f>
              <c:strCache>
                <c:ptCount val="1"/>
                <c:pt idx="0">
                  <c:v>Q4 2025
(N=15)</c:v>
                </c:pt>
              </c:strCache>
            </c:strRef>
          </c:tx>
          <c:spPr>
            <a:solidFill>
              <a:schemeClr val="tx1"/>
            </a:solidFill>
          </c:spPr>
          <c:invertIfNegative val="0"/>
          <c:dLbls>
            <c:spPr>
              <a:noFill/>
              <a:ln>
                <a:noFill/>
              </a:ln>
              <a:effectLst/>
            </c:spPr>
            <c:txPr>
              <a:bodyPr wrap="square" lIns="38100" tIns="19050" rIns="38100" bIns="19050" anchor="ctr">
                <a:spAutoFit/>
              </a:bodyPr>
              <a:lstStyle/>
              <a:p>
                <a:pPr>
                  <a:defRPr sz="10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Yes</c:v>
                </c:pt>
                <c:pt idx="1">
                  <c:v>No</c:v>
                </c:pt>
              </c:strCache>
            </c:strRef>
          </c:cat>
          <c:val>
            <c:numRef>
              <c:f>Sheet1!$E$2:$E$2</c:f>
              <c:numCache>
                <c:formatCode>0%</c:formatCode>
                <c:ptCount val="1"/>
                <c:pt idx="0">
                  <c:v>1.0</c:v>
                </c:pt>
              </c:numCache>
            </c:numRef>
          </c:val>
          <c:extLst>
            <c:ext xmlns:c16="http://schemas.microsoft.com/office/drawing/2014/chart" uri="{C3380CC4-5D6E-409C-BE32-E72D297353CC}">
              <c16:uniqueId val="{00000003-B3BC-4399-9949-26421AA520BC}"/>
            </c:ext>
          </c:extLst>
        </c:ser>
        <c:dLbls>
          <c:dLblPos val="outEnd"/>
          <c:showLegendKey val="0"/>
          <c:showVal val="1"/>
          <c:showCatName val="0"/>
          <c:showSerName val="0"/>
          <c:showPercent val="0"/>
          <c:showBubbleSize val="0"/>
        </c:dLbls>
        <c:gapWidth val="90"/>
        <c:overlap val="-10"/>
        <c:axId val="325456592"/>
        <c:axId val="325457152"/>
      </c:barChart>
      <c:catAx>
        <c:axId val="32545659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7152"/>
        <c:crosses val="autoZero"/>
        <c:auto val="1"/>
        <c:lblAlgn val="ctr"/>
        <c:lblOffset val="100"/>
        <c:noMultiLvlLbl val="0"/>
      </c:catAx>
      <c:valAx>
        <c:axId val="32545715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56592"/>
        <c:crosses val="autoZero"/>
        <c:crossBetween val="between"/>
      </c:valAx>
      <c:spPr>
        <a:noFill/>
        <a:ln w="21009">
          <a:noFill/>
        </a:ln>
      </c:spPr>
    </c:plotArea>
    <c:legend>
      <c:legendPos val="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4908531170452E-2"/>
          <c:y val="0.13402485132972361"/>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(N=43)</c:v>
                </c:pt>
                <c:pt idx="1">
                  <c:v>Q2 2025
(N=43)</c:v>
                </c:pt>
                <c:pt idx="2">
                  <c:v>Q3 2025
(N=38)</c:v>
                </c:pt>
                <c:pt idx="3">
                  <c:v>Q4 2025
(N=15)</c:v>
                </c:pt>
              </c:strCache>
            </c:strRef>
          </c:cat>
          <c:val>
            <c:numRef>
              <c:f>Sheet1!$B$2:$B$5</c:f>
              <c:numCache>
                <c:formatCode>0%</c:formatCode>
                <c:ptCount val="4"/>
                <c:pt idx="0">
                  <c:v>0.19</c:v>
                </c:pt>
                <c:pt idx="1">
                  <c:v>0.09</c:v>
                </c:pt>
                <c:pt idx="2">
                  <c:v>0.05405405405405406</c:v>
                </c:pt>
                <c:pt idx="3">
                  <c:v>0.06666666666666667</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(N=43)</c:v>
                </c:pt>
                <c:pt idx="1">
                  <c:v>Q2 2025
(N=43)</c:v>
                </c:pt>
                <c:pt idx="2">
                  <c:v>Q3 2025
(N=38)</c:v>
                </c:pt>
                <c:pt idx="3">
                  <c:v>Q4 2025
(N=15)</c:v>
                </c:pt>
              </c:strCache>
            </c:strRef>
          </c:cat>
          <c:val>
            <c:numRef>
              <c:f>Sheet1!$C$2:$C$5</c:f>
              <c:numCache>
                <c:formatCode>0%</c:formatCode>
                <c:ptCount val="4"/>
                <c:pt idx="0">
                  <c:v>0.09</c:v>
                </c:pt>
                <c:pt idx="1">
                  <c:v>0.12</c:v>
                </c:pt>
                <c:pt idx="2">
                  <c:v>0.1351351351351351</c:v>
                </c:pt>
                <c:pt idx="3">
                  <c:v>0.13333333333333333</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(N=43)</c:v>
                </c:pt>
                <c:pt idx="1">
                  <c:v>Q2 2025
(N=43)</c:v>
                </c:pt>
                <c:pt idx="2">
                  <c:v>Q3 2025
(N=38)</c:v>
                </c:pt>
                <c:pt idx="3">
                  <c:v>Q4 2025
(N=15)</c:v>
                </c:pt>
              </c:strCache>
            </c:strRef>
          </c:cat>
          <c:val>
            <c:numRef>
              <c:f>Sheet1!$D$2:$D$5</c:f>
              <c:numCache>
                <c:formatCode>0%</c:formatCode>
                <c:ptCount val="4"/>
                <c:pt idx="0">
                  <c:v>0.49</c:v>
                </c:pt>
                <c:pt idx="1">
                  <c:v>0.56</c:v>
                </c:pt>
                <c:pt idx="2">
                  <c:v>0.5945945945945946</c:v>
                </c:pt>
                <c:pt idx="3">
                  <c:v>0.5333333333333333</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(N=43)</c:v>
                </c:pt>
                <c:pt idx="1">
                  <c:v>Q2 2025
(N=43)</c:v>
                </c:pt>
                <c:pt idx="2">
                  <c:v>Q3 2025
(N=38)</c:v>
                </c:pt>
                <c:pt idx="3">
                  <c:v>Q4 2025
(N=15)</c:v>
                </c:pt>
              </c:strCache>
            </c:strRef>
          </c:cat>
          <c:val>
            <c:numRef>
              <c:f>Sheet1!$E$2:$E$5</c:f>
              <c:numCache>
                <c:formatCode>0%</c:formatCode>
                <c:ptCount val="4"/>
                <c:pt idx="0">
                  <c:v>0.58</c:v>
                </c:pt>
                <c:pt idx="1">
                  <c:v>0.68</c:v>
                </c:pt>
                <c:pt idx="2">
                  <c:v>0.7837837837837838</c:v>
                </c:pt>
                <c:pt idx="3">
                  <c:v>0.7333333333333334</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300"/>
        <c:overlap val="100"/>
        <c:axId val="325435840"/>
        <c:axId val="325436400"/>
      </c:barChart>
      <c:catAx>
        <c:axId val="3254358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6400"/>
        <c:crosses val="autoZero"/>
        <c:auto val="1"/>
        <c:lblAlgn val="ctr"/>
        <c:lblOffset val="100"/>
        <c:noMultiLvlLbl val="0"/>
      </c:catAx>
      <c:valAx>
        <c:axId val="325436400"/>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54358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0.13</c:v>
                </c:pt>
                <c:pt idx="1">
                  <c:v>0.09</c:v>
                </c:pt>
                <c:pt idx="2">
                  <c:v>0.07894736842105263</c:v>
                </c:pt>
                <c:pt idx="3">
                  <c:v>0.13333333333333333</c:v>
                </c:pt>
              </c:numCache>
            </c:numRef>
          </c:val>
          <c:extLst>
            <c:ext xmlns:c16="http://schemas.microsoft.com/office/drawing/2014/chart" uri="{C3380CC4-5D6E-409C-BE32-E72D297353CC}">
              <c16:uniqueId val="{00000000-9512-4180-AFC8-C9702FFCB6FC}"/>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0.07</c:v>
                </c:pt>
                <c:pt idx="1">
                  <c:v>0.09</c:v>
                </c:pt>
                <c:pt idx="2">
                  <c:v>0.05263157894736842</c:v>
                </c:pt>
                <c:pt idx="3">
                  <c:v>0.06666666666666667</c:v>
                </c:pt>
              </c:numCache>
            </c:numRef>
          </c:val>
          <c:extLst>
            <c:ext xmlns:c16="http://schemas.microsoft.com/office/drawing/2014/chart" uri="{C3380CC4-5D6E-409C-BE32-E72D297353CC}">
              <c16:uniqueId val="{00000001-9512-4180-AFC8-C9702FFCB6FC}"/>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9512-4180-AFC8-C9702FFCB6FC}"/>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0.29</c:v>
                </c:pt>
                <c:pt idx="1">
                  <c:v>0.39</c:v>
                </c:pt>
                <c:pt idx="2">
                  <c:v>0.3684210526315789</c:v>
                </c:pt>
                <c:pt idx="3">
                  <c:v>0.5333333333333333</c:v>
                </c:pt>
              </c:numCache>
            </c:numRef>
          </c:val>
          <c:extLst>
            <c:ext xmlns:c16="http://schemas.microsoft.com/office/drawing/2014/chart" uri="{C3380CC4-5D6E-409C-BE32-E72D297353CC}">
              <c16:uniqueId val="{00000003-9512-4180-AFC8-C9702FFCB6FC}"/>
            </c:ext>
          </c:extLst>
        </c:ser>
        <c:ser>
          <c:idx val="3"/>
          <c:order val="3"/>
          <c:tx>
            <c:strRef>
              <c:f>Sheet1!$E$1</c:f>
              <c:strCache>
                <c:ptCount val="1"/>
                <c:pt idx="0">
                  <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0.49</c:v>
                </c:pt>
                <c:pt idx="1">
                  <c:v>0.5700000000000001</c:v>
                </c:pt>
                <c:pt idx="2">
                  <c:v>0.5</c:v>
                </c:pt>
              </c:numCache>
            </c:numRef>
          </c:val>
          <c:extLst>
            <c:ext xmlns:c16="http://schemas.microsoft.com/office/drawing/2014/chart" uri="{C3380CC4-5D6E-409C-BE32-E72D297353CC}">
              <c16:uniqueId val="{00000004-9512-4180-AFC8-C9702FFCB6FC}"/>
            </c:ext>
          </c:extLst>
        </c:ser>
        <c:ser>
          <c:idx val="4"/>
          <c:order val="4"/>
          <c:tx>
            <c:strRef>
              <c:f>Sheet1!$F$1</c:f>
              <c:strCache>
                <c:ptCount val="1"/>
                <c:pt idx="0">
                  <c:v>sum of displayed values</c:v>
                </c:pt>
              </c:strCache>
            </c:strRef>
          </c:tx>
          <c:spPr>
            <a:noFill/>
          </c:spPr>
          <c:invertIfNegative val="0"/>
          <c:dLbls>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Sheet1!$F$2:$F$5</c:f>
              <c:numCache>
                <c:formatCode>0%</c:formatCode>
                <c:ptCount val="4"/>
                <c:pt idx="3">
                  <c:v>0.7333333333333334</c:v>
                </c:pt>
              </c:numCache>
            </c:numRef>
          </c:val>
          <c:extLst>
            <c:ext xmlns:c16="http://schemas.microsoft.com/office/drawing/2014/chart" uri="{C3380CC4-5D6E-409C-BE32-E72D297353CC}">
              <c16:uniqueId val="{00000004-9512-4180-AFC8-C9702FFCB6FC}"/>
            </c:ext>
          </c:extLst>
        </c:ser>
        <c:dLbls>
          <c:showLegendKey val="0"/>
          <c:showVal val="0"/>
          <c:showCatName val="0"/>
          <c:showSerName val="0"/>
          <c:showPercent val="0"/>
          <c:showBubbleSize val="0"/>
        </c:dLbls>
        <c:gapWidth val="100"/>
        <c:overlap val="100"/>
        <c:axId val="327486640"/>
        <c:axId val="327557024"/>
      </c:barChart>
      <c:catAx>
        <c:axId val="327486640"/>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557024"/>
        <c:crosses val="autoZero"/>
        <c:auto val="1"/>
        <c:lblAlgn val="ctr"/>
        <c:lblOffset val="100"/>
        <c:noMultiLvlLbl val="0"/>
      </c:catAx>
      <c:valAx>
        <c:axId val="327557024"/>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7486640"/>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34156592268071745"/>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614735658042728E-2"/>
          <c:y val="0.18911929779269396"/>
          <c:w val="0.91150512660737548"/>
          <c:h val="0.71619981928488441"/>
        </c:manualLayout>
      </c:layout>
      <c:barChart>
        <c:barDir val="col"/>
        <c:grouping val="stacked"/>
        <c:varyColors val="0"/>
        <c:ser>
          <c:idx val="0"/>
          <c:order val="0"/>
          <c:tx>
            <c:strRef>
              <c:f>Sheet1!$B$1</c:f>
              <c:strCache>
                <c:ptCount val="1"/>
                <c:pt idx="0">
                  <c:v>8</c:v>
                </c:pt>
              </c:strCache>
            </c:strRef>
          </c:tx>
          <c:spPr>
            <a:solidFill>
              <a:srgbClr val="0F6FC6"/>
            </a:solidFill>
            <a:ln w="20289">
              <a:noFill/>
            </a:ln>
          </c:spPr>
          <c:invertIfNegative val="0"/>
          <c:dLbls>
            <c:dLbl>
              <c:idx val="0"/>
              <c:layout>
                <c:manualLayout>
                  <c:x val="-7.5187969924812373E-3"/>
                  <c:y val="-7.868852459016488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17-F346-8221-F06B47BE4C64}"/>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0.04</c:v>
                </c:pt>
                <c:pt idx="1">
                  <c:v>0.07</c:v>
                </c:pt>
                <c:pt idx="2">
                  <c:v>0.02631578947368421</c:v>
                </c:pt>
                <c:pt idx="3">
                  <c:v>0.06666666666666667</c:v>
                </c:pt>
              </c:numCache>
            </c:numRef>
          </c:val>
          <c:extLst>
            <c:ext xmlns:c16="http://schemas.microsoft.com/office/drawing/2014/chart" uri="{C3380CC4-5D6E-409C-BE32-E72D297353CC}">
              <c16:uniqueId val="{00000000-D709-46B7-8D5F-DCA6F61C30BE}"/>
            </c:ext>
          </c:extLst>
        </c:ser>
        <c:ser>
          <c:idx val="1"/>
          <c:order val="1"/>
          <c:tx>
            <c:strRef>
              <c:f>Sheet1!$C$1</c:f>
              <c:strCache>
                <c:ptCount val="1"/>
                <c:pt idx="0">
                  <c:v>9</c:v>
                </c:pt>
              </c:strCache>
            </c:strRef>
          </c:tx>
          <c:spPr>
            <a:solidFill>
              <a:srgbClr val="59AAF2"/>
            </a:solidFill>
            <a:ln w="20289">
              <a:noFill/>
            </a:ln>
          </c:spPr>
          <c:invertIfNegative val="0"/>
          <c:dLbls>
            <c:dLbl>
              <c:idx val="0"/>
              <c:layout>
                <c:manualLayout>
                  <c:x val="2.6315789473684174E-2"/>
                  <c:y val="-1.0491803278688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4A-4C65-939F-A4A7A8555E57}"/>
                </c:ext>
              </c:extLst>
            </c:dLbl>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0.07</c:v>
                </c:pt>
                <c:pt idx="1">
                  <c:v>0.04</c:v>
                </c:pt>
                <c:pt idx="2">
                  <c:v>0.05263157894736842</c:v>
                </c:pt>
                <c:pt idx="3">
                  <c:v>0.06666666666666667</c:v>
                </c:pt>
              </c:numCache>
            </c:numRef>
          </c:val>
          <c:extLst>
            <c:ext xmlns:c16="http://schemas.microsoft.com/office/drawing/2014/chart" uri="{C3380CC4-5D6E-409C-BE32-E72D297353CC}">
              <c16:uniqueId val="{00000001-D709-46B7-8D5F-DCA6F61C30BE}"/>
            </c:ext>
          </c:extLst>
        </c:ser>
        <c:ser>
          <c:idx val="2"/>
          <c:order val="2"/>
          <c:tx>
            <c:strRef>
              <c:f>Sheet1!$D$1</c:f>
              <c:strCache>
                <c:ptCount val="1"/>
                <c:pt idx="0">
                  <c:v>10</c:v>
                </c:pt>
              </c:strCache>
            </c:strRef>
          </c:tx>
          <c:spPr>
            <a:solidFill>
              <a:srgbClr val="0BD0D9"/>
            </a:solidFill>
            <a:ln w="20289">
              <a:noFill/>
            </a:ln>
          </c:spPr>
          <c:invertIfNegative val="0"/>
          <c:dLbls>
            <c:spPr>
              <a:noFill/>
              <a:ln w="20289">
                <a:noFill/>
              </a:ln>
            </c:spPr>
            <c:txPr>
              <a:bodyPr rot="0" spcFirstLastPara="1" vertOverflow="ellipsis" vert="horz" wrap="square" lIns="38100" tIns="19050" rIns="38100" bIns="19050" anchor="ctr" anchorCtr="1">
                <a:spAutoFit/>
              </a:bodyPr>
              <a:lstStyle/>
              <a:p>
                <a:pPr>
                  <a:defRPr sz="955"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0.36</c:v>
                </c:pt>
                <c:pt idx="1">
                  <c:v>0.54</c:v>
                </c:pt>
                <c:pt idx="2">
                  <c:v>0.5526315789473685</c:v>
                </c:pt>
                <c:pt idx="3">
                  <c:v>0.4666666666666667</c:v>
                </c:pt>
              </c:numCache>
            </c:numRef>
          </c:val>
          <c:extLst>
            <c:ext xmlns:c16="http://schemas.microsoft.com/office/drawing/2014/chart" uri="{C3380CC4-5D6E-409C-BE32-E72D297353CC}">
              <c16:uniqueId val="{00000002-D709-46B7-8D5F-DCA6F61C30BE}"/>
            </c:ext>
          </c:extLst>
        </c:ser>
        <c:ser>
          <c:idx val="3"/>
          <c:order val="3"/>
          <c:tx>
            <c:strRef>
              <c:f>Sheet1!$E$1</c:f>
              <c:strCache>
                <c:ptCount val="1"/>
                <c:pt idx="0">
                  <c:v>sum of displayed values</c:v>
                </c:pt>
              </c:strCache>
            </c:strRef>
          </c:tx>
          <c:spPr>
            <a:noFill/>
          </c:spPr>
          <c:invertIfNegative val="0"/>
          <c:dLbls>
            <c:spPr>
              <a:noFill/>
              <a:ln w="20289">
                <a:noFill/>
              </a:ln>
            </c:spPr>
            <c:txPr>
              <a:bodyPr wrap="square" lIns="38100" tIns="19050" rIns="38100" bIns="19050" anchor="ctr">
                <a:spAutoFit/>
              </a:bodyPr>
              <a:lstStyle/>
              <a:p>
                <a:pPr>
                  <a:defRPr sz="1118"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0.47</c:v>
                </c:pt>
                <c:pt idx="1">
                  <c:v>0.65</c:v>
                </c:pt>
                <c:pt idx="2">
                  <c:v>0.6315789473684211</c:v>
                </c:pt>
                <c:pt idx="3">
                  <c:v>0.6</c:v>
                </c:pt>
              </c:numCache>
            </c:numRef>
          </c:val>
          <c:extLst>
            <c:ext xmlns:c16="http://schemas.microsoft.com/office/drawing/2014/chart" uri="{C3380CC4-5D6E-409C-BE32-E72D297353CC}">
              <c16:uniqueId val="{00000003-D709-46B7-8D5F-DCA6F61C30BE}"/>
            </c:ext>
          </c:extLst>
        </c:ser>
        <c:dLbls>
          <c:showLegendKey val="0"/>
          <c:showVal val="0"/>
          <c:showCatName val="0"/>
          <c:showSerName val="0"/>
          <c:showPercent val="0"/>
          <c:showBubbleSize val="0"/>
        </c:dLbls>
        <c:gapWidth val="100"/>
        <c:overlap val="100"/>
        <c:axId val="328273872"/>
        <c:axId val="328274432"/>
      </c:barChart>
      <c:catAx>
        <c:axId val="328273872"/>
        <c:scaling>
          <c:orientation val="minMax"/>
        </c:scaling>
        <c:delete val="0"/>
        <c:axPos val="b"/>
        <c:numFmt formatCode="General" sourceLinked="1"/>
        <c:majorTickMark val="none"/>
        <c:minorTickMark val="none"/>
        <c:tickLblPos val="nextTo"/>
        <c:spPr>
          <a:noFill/>
          <a:ln w="761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4432"/>
        <c:crosses val="autoZero"/>
        <c:auto val="1"/>
        <c:lblAlgn val="ctr"/>
        <c:lblOffset val="100"/>
        <c:tickLblSkip val="1"/>
        <c:tickMarkSkip val="4"/>
        <c:noMultiLvlLbl val="0"/>
      </c:catAx>
      <c:valAx>
        <c:axId val="328274432"/>
        <c:scaling>
          <c:orientation val="minMax"/>
          <c:max val="1"/>
        </c:scaling>
        <c:delete val="0"/>
        <c:axPos val="l"/>
        <c:majorGridlines>
          <c:spPr>
            <a:ln w="7610" cap="flat" cmpd="sng" algn="ctr">
              <a:solidFill>
                <a:schemeClr val="bg1">
                  <a:lumMod val="85000"/>
                </a:schemeClr>
              </a:solidFill>
              <a:round/>
            </a:ln>
            <a:effectLst/>
          </c:spPr>
        </c:majorGridlines>
        <c:numFmt formatCode="0%" sourceLinked="1"/>
        <c:majorTickMark val="none"/>
        <c:minorTickMark val="none"/>
        <c:tickLblPos val="nextTo"/>
        <c:spPr>
          <a:ln w="5072">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328273872"/>
        <c:crosses val="autoZero"/>
        <c:crossBetween val="between"/>
      </c:valAx>
      <c:spPr>
        <a:noFill/>
        <a:ln w="20365">
          <a:noFill/>
        </a:ln>
      </c:spPr>
    </c:plotArea>
    <c:legend>
      <c:legendPos val="b"/>
      <c:legendEntry>
        <c:idx val="3"/>
        <c:delete val="1"/>
      </c:legendEntry>
      <c:layout>
        <c:manualLayout>
          <c:xMode val="edge"/>
          <c:yMode val="edge"/>
          <c:x val="0.37918388490912319"/>
          <c:y val="3.5375964889634695E-2"/>
          <c:w val="0.24125984251968507"/>
          <c:h val="5.0990207756446942E-2"/>
        </c:manualLayout>
      </c:layout>
      <c:overlay val="0"/>
      <c:spPr>
        <a:noFill/>
        <a:ln w="20289">
          <a:noFill/>
        </a:ln>
      </c:spPr>
      <c:txPr>
        <a:bodyPr rot="0" spcFirstLastPara="1" vertOverflow="ellipsis" vert="horz" wrap="square" anchor="ctr" anchorCtr="1"/>
        <a:lstStyle/>
        <a:p>
          <a:pPr>
            <a:defRPr sz="955"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573770724159629"/>
          <c:y val="8.5169299955746389E-2"/>
          <c:w val="0.66537266774435777"/>
          <c:h val="0.87368313618549842"/>
        </c:manualLayout>
      </c:layout>
      <c:barChart>
        <c:barDir val="bar"/>
        <c:grouping val="clustered"/>
        <c:varyColors val="0"/>
        <c:ser>
          <c:idx val="0"/>
          <c:order val="0"/>
          <c:tx>
            <c:strRef>
              <c:f>Sheet1!$B$1</c:f>
              <c:strCache>
                <c:ptCount val="1"/>
                <c:pt idx="0">
                  <c:v>Q4 2025
(N=15)</c:v>
                </c:pt>
              </c:strCache>
            </c:strRef>
          </c:tx>
          <c:spPr>
            <a:solidFill>
              <a:schemeClr val="tx1"/>
            </a:solidFill>
            <a:ln w="21264">
              <a:noFill/>
            </a:ln>
          </c:spPr>
          <c:invertIfNegative val="0"/>
          <c:dLbls>
            <c:dLbl>
              <c:idx val="2"/>
              <c:layout>
                <c:manualLayout>
                  <c:x val="-3.402144788292867E-17"/>
                  <c:y val="3.586236926295630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248-3442-9046-E304B31503DA}"/>
                </c:ext>
              </c:extLst>
            </c:dLbl>
            <c:dLbl>
              <c:idx val="5"/>
              <c:layout>
                <c:manualLayout>
                  <c:x val="-3.402144788292867E-17"/>
                  <c:y val="7.17247385259126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248-3442-9046-E304B31503DA}"/>
                </c:ext>
              </c:extLst>
            </c:dLbl>
            <c:dLbl>
              <c:idx val="8"/>
              <c:layout>
                <c:manualLayout>
                  <c:x val="0"/>
                  <c:y val="7.17247385259126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248-3442-9046-E304B31503DA}"/>
                </c:ext>
              </c:extLst>
            </c:dLbl>
            <c:dLbl>
              <c:idx val="11"/>
              <c:layout>
                <c:manualLayout>
                  <c:x val="-5.5672103293523643E-3"/>
                  <c:y val="5.37935538944344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248-3442-9046-E304B31503DA}"/>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All other</c:v>
                </c:pt>
                <c:pt idx="1">
                  <c:v>Do not know</c:v>
                </c:pt>
                <c:pt idx="2">
                  <c:v>Austin Energy called me</c:v>
                </c:pt>
                <c:pt idx="3">
                  <c:v>I called them</c:v>
                </c:pt>
                <c:pt idx="4">
                  <c:v>Utility Contact Center</c:v>
                </c:pt>
                <c:pt idx="5">
                  <c:v>Austin Energy's website</c:v>
                </c:pt>
                <c:pt idx="6">
                  <c:v>Referred</c:v>
                </c:pt>
                <c:pt idx="7">
                  <c:v>Email</c:v>
                </c:pt>
                <c:pt idx="8">
                  <c:v>Austin 311</c:v>
                </c:pt>
                <c:pt idx="9">
                  <c:v>Utility bill insert/mail</c:v>
                </c:pt>
                <c:pt idx="10">
                  <c:v>Neighborhood event</c:v>
                </c:pt>
                <c:pt idx="11">
                  <c:v>Social sevice agency referral</c:v>
                </c:pt>
                <c:pt idx="12">
                  <c:v>Word of mouth</c:v>
                </c:pt>
                <c:pt idx="13">
                  <c:v>On City's website</c:v>
                </c:pt>
              </c:strCache>
            </c:strRef>
          </c:cat>
          <c:val>
            <c:numRef>
              <c:f>Sheet1!$B$2:$B$15</c:f>
              <c:numCache>
                <c:formatCode>0%</c:formatCode>
                <c:ptCount val="14"/>
                <c:pt idx="0">
                  <c:v>0</c:v>
                </c:pt>
                <c:pt idx="1">
                  <c:v>0</c:v>
                </c:pt>
                <c:pt idx="2">
                  <c:v>0.06666666666666667</c:v>
                </c:pt>
                <c:pt idx="3">
                  <c:v>0.06666666666666667</c:v>
                </c:pt>
                <c:pt idx="4">
                  <c:v>0.26666666666666666</c:v>
                </c:pt>
                <c:pt idx="5">
                  <c:v>0.6</c:v>
                </c:pt>
                <c:pt idx="6">
                  <c:v>0</c:v>
                </c:pt>
                <c:pt idx="7">
                  <c:v>0</c:v>
                </c:pt>
                <c:pt idx="8">
                  <c:v>0</c:v>
                </c:pt>
                <c:pt idx="9">
                  <c:v>0</c:v>
                </c:pt>
                <c:pt idx="10">
                  <c:v>0</c:v>
                </c:pt>
                <c:pt idx="11">
                  <c:v>0</c:v>
                </c:pt>
                <c:pt idx="12">
                  <c:v>0</c:v>
                </c:pt>
                <c:pt idx="13">
                  <c:v>0</c:v>
                </c:pt>
              </c:numCache>
            </c:numRef>
          </c:val>
          <c:extLst>
            <c:ext xmlns:c16="http://schemas.microsoft.com/office/drawing/2014/chart" uri="{C3380CC4-5D6E-409C-BE32-E72D297353CC}">
              <c16:uniqueId val="{00000000-1A54-4880-A35A-174B4980565E}"/>
            </c:ext>
          </c:extLst>
        </c:ser>
        <c:ser>
          <c:idx val="1"/>
          <c:order val="1"/>
          <c:tx>
            <c:strRef>
              <c:f>Sheet1!$C$1</c:f>
              <c:strCache>
                <c:ptCount val="1"/>
                <c:pt idx="0">
                  <c:v>Q3 2025
(N=38)</c:v>
                </c:pt>
              </c:strCache>
            </c:strRef>
          </c:tx>
          <c:spPr>
            <a:solidFill>
              <a:srgbClr val="00CC99"/>
            </a:solidFill>
          </c:spPr>
          <c:invertIfNegative val="0"/>
          <c:dLbls>
            <c:dLbl>
              <c:idx val="0"/>
              <c:layout>
                <c:manualLayout>
                  <c:x val="1.2990157435155516E-2"/>
                  <c:y val="-1.3149383493617114E-16"/>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248-3442-9046-E304B31503DA}"/>
                </c:ext>
              </c:extLst>
            </c:dLbl>
            <c:dLbl>
              <c:idx val="1"/>
              <c:layout>
                <c:manualLayout>
                  <c:x val="2.2268841317409388E-2"/>
                  <c:y val="5.37935538944344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248-3442-9046-E304B31503DA}"/>
                </c:ext>
              </c:extLst>
            </c:dLbl>
            <c:dLbl>
              <c:idx val="2"/>
              <c:layout>
                <c:manualLayout>
                  <c:x val="1.6701630988057093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248-3442-9046-E304B31503DA}"/>
                </c:ext>
              </c:extLst>
            </c:dLbl>
            <c:dLbl>
              <c:idx val="8"/>
              <c:layout>
                <c:manualLayout>
                  <c:x val="7.4229471058031181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248-3442-9046-E304B31503DA}"/>
                </c:ext>
              </c:extLst>
            </c:dLbl>
            <c:dLbl>
              <c:idx val="11"/>
              <c:layout>
                <c:manualLayout>
                  <c:x val="0"/>
                  <c:y val="5.379355389443446E-3"/>
                </c:manualLayout>
              </c:layout>
              <c:spPr>
                <a:noFill/>
                <a:ln>
                  <a:noFill/>
                </a:ln>
                <a:effectLst/>
              </c:spPr>
              <c:txPr>
                <a:bodyPr wrap="square" lIns="38100" tIns="19050" rIns="38100" bIns="19050" anchor="ctr">
                  <a:noAutofit/>
                </a:bodyPr>
                <a:lstStyle/>
                <a:p>
                  <a:pPr>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5.2378097454820478E-2"/>
                      <c:h val="2.1329497095218686E-2"/>
                    </c:manualLayout>
                  </c15:layout>
                </c:ext>
                <c:ext xmlns:c16="http://schemas.microsoft.com/office/drawing/2014/chart" uri="{C3380CC4-5D6E-409C-BE32-E72D297353CC}">
                  <c16:uniqueId val="{00000000-4ACC-0B4F-9C8A-E8D7DEF561C0}"/>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All other</c:v>
                </c:pt>
                <c:pt idx="1">
                  <c:v>Do not know</c:v>
                </c:pt>
                <c:pt idx="2">
                  <c:v>Austin Energy called me</c:v>
                </c:pt>
                <c:pt idx="3">
                  <c:v>I called them</c:v>
                </c:pt>
                <c:pt idx="4">
                  <c:v>Utility Contact Center</c:v>
                </c:pt>
                <c:pt idx="5">
                  <c:v>Austin Energy's website</c:v>
                </c:pt>
                <c:pt idx="6">
                  <c:v>Referred</c:v>
                </c:pt>
                <c:pt idx="7">
                  <c:v>Email</c:v>
                </c:pt>
                <c:pt idx="8">
                  <c:v>Austin 311</c:v>
                </c:pt>
                <c:pt idx="9">
                  <c:v>Utility bill insert/mail</c:v>
                </c:pt>
                <c:pt idx="10">
                  <c:v>Neighborhood event</c:v>
                </c:pt>
                <c:pt idx="11">
                  <c:v>Social sevice agency referral</c:v>
                </c:pt>
                <c:pt idx="12">
                  <c:v>Word of mouth</c:v>
                </c:pt>
                <c:pt idx="13">
                  <c:v>On City's website</c:v>
                </c:pt>
              </c:strCache>
            </c:strRef>
          </c:cat>
          <c:val>
            <c:numRef>
              <c:f>Sheet1!$C$2:$C$15</c:f>
              <c:numCache>
                <c:formatCode>0%</c:formatCode>
                <c:ptCount val="14"/>
                <c:pt idx="0">
                  <c:v>0</c:v>
                </c:pt>
                <c:pt idx="1">
                  <c:v>0</c:v>
                </c:pt>
                <c:pt idx="2">
                  <c:v>0.1842105263157895</c:v>
                </c:pt>
                <c:pt idx="3">
                  <c:v>0</c:v>
                </c:pt>
                <c:pt idx="4">
                  <c:v>0.02631578947368421</c:v>
                </c:pt>
                <c:pt idx="5">
                  <c:v>0.3157894736842105</c:v>
                </c:pt>
                <c:pt idx="6">
                  <c:v>0</c:v>
                </c:pt>
                <c:pt idx="7">
                  <c:v>0.02631578947368421</c:v>
                </c:pt>
                <c:pt idx="8">
                  <c:v>0.05263157894736842</c:v>
                </c:pt>
                <c:pt idx="9">
                  <c:v>0.05263157894736842</c:v>
                </c:pt>
                <c:pt idx="10">
                  <c:v>0.07894736842105263</c:v>
                </c:pt>
                <c:pt idx="11">
                  <c:v>0.07894736842105263</c:v>
                </c:pt>
                <c:pt idx="12">
                  <c:v>0.07894736842105263</c:v>
                </c:pt>
                <c:pt idx="13">
                  <c:v>0.1052631578947368</c:v>
                </c:pt>
              </c:numCache>
            </c:numRef>
          </c:val>
          <c:extLst>
            <c:ext xmlns:c16="http://schemas.microsoft.com/office/drawing/2014/chart" uri="{C3380CC4-5D6E-409C-BE32-E72D297353CC}">
              <c16:uniqueId val="{00000001-1A54-4880-A35A-174B4980565E}"/>
            </c:ext>
          </c:extLst>
        </c:ser>
        <c:ser>
          <c:idx val="2"/>
          <c:order val="2"/>
          <c:tx>
            <c:strRef>
              <c:f>Sheet1!$D$1</c:f>
              <c:strCache>
                <c:ptCount val="1"/>
                <c:pt idx="0">
                  <c:v>Q2 2025
(N=46)</c:v>
                </c:pt>
              </c:strCache>
            </c:strRef>
          </c:tx>
          <c:spPr>
            <a:solidFill>
              <a:srgbClr val="3233CC"/>
            </a:solidFill>
          </c:spPr>
          <c:invertIfNegative val="0"/>
          <c:dLbls>
            <c:dLbl>
              <c:idx val="1"/>
              <c:layout>
                <c:manualLayout>
                  <c:x val="1.2990157435155516E-2"/>
                  <c:y val="-1.793118463147815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248-3442-9046-E304B31503DA}"/>
                </c:ext>
              </c:extLst>
            </c:dLbl>
            <c:dLbl>
              <c:idx val="2"/>
              <c:layout>
                <c:manualLayout>
                  <c:x val="2.0413104540958668E-2"/>
                  <c:y val="-1.7931184631478153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248-3442-9046-E304B31503DA}"/>
                </c:ext>
              </c:extLst>
            </c:dLbl>
            <c:dLbl>
              <c:idx val="5"/>
              <c:layout>
                <c:manualLayout>
                  <c:x val="1.2990157435155516E-2"/>
                  <c:y val="-5.379355389443446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248-3442-9046-E304B31503DA}"/>
                </c:ext>
              </c:extLst>
            </c:dLbl>
            <c:dLbl>
              <c:idx val="8"/>
              <c:layout>
                <c:manualLayout>
                  <c:x val="5.5672103293523643E-3"/>
                  <c:y val="-5.37935538944351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248-3442-9046-E304B31503DA}"/>
                </c:ext>
              </c:extLst>
            </c:dLbl>
            <c:dLbl>
              <c:idx val="10"/>
              <c:layout>
                <c:manualLayout>
                  <c:x val="1.1134420658704729E-2"/>
                  <c:y val="-3.2873458734042784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248-3442-9046-E304B31503DA}"/>
                </c:ext>
              </c:extLst>
            </c:dLbl>
            <c:dLbl>
              <c:idx val="12"/>
              <c:layout>
                <c:manualLayout>
                  <c:x val="5.5672103293522958E-3"/>
                  <c:y val="-3.586236926295630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248-3442-9046-E304B31503DA}"/>
                </c:ext>
              </c:extLst>
            </c:dLbl>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All other</c:v>
                </c:pt>
                <c:pt idx="1">
                  <c:v>Do not know</c:v>
                </c:pt>
                <c:pt idx="2">
                  <c:v>Austin Energy called me</c:v>
                </c:pt>
                <c:pt idx="3">
                  <c:v>I called them</c:v>
                </c:pt>
                <c:pt idx="4">
                  <c:v>Utility Contact Center</c:v>
                </c:pt>
                <c:pt idx="5">
                  <c:v>Austin Energy's website</c:v>
                </c:pt>
                <c:pt idx="6">
                  <c:v>Referred</c:v>
                </c:pt>
                <c:pt idx="7">
                  <c:v>Email</c:v>
                </c:pt>
                <c:pt idx="8">
                  <c:v>Austin 311</c:v>
                </c:pt>
                <c:pt idx="9">
                  <c:v>Utility bill insert/mail</c:v>
                </c:pt>
                <c:pt idx="10">
                  <c:v>Neighborhood event</c:v>
                </c:pt>
                <c:pt idx="11">
                  <c:v>Social sevice agency referral</c:v>
                </c:pt>
                <c:pt idx="12">
                  <c:v>Word of mouth</c:v>
                </c:pt>
                <c:pt idx="13">
                  <c:v>On City's website</c:v>
                </c:pt>
              </c:strCache>
            </c:strRef>
          </c:cat>
          <c:val>
            <c:numRef>
              <c:f>Sheet1!$D$2:$D$15</c:f>
              <c:numCache>
                <c:formatCode>0%</c:formatCode>
                <c:ptCount val="14"/>
                <c:pt idx="0">
                  <c:v>0.02173913043478261</c:v>
                </c:pt>
                <c:pt idx="1">
                  <c:v>0.02173913043478261</c:v>
                </c:pt>
                <c:pt idx="2">
                  <c:v>0</c:v>
                </c:pt>
                <c:pt idx="3">
                  <c:v>0</c:v>
                </c:pt>
                <c:pt idx="4">
                  <c:v>0.08695652173913043</c:v>
                </c:pt>
                <c:pt idx="5">
                  <c:v>0.3478260869565217</c:v>
                </c:pt>
                <c:pt idx="6">
                  <c:v>0</c:v>
                </c:pt>
                <c:pt idx="7">
                  <c:v>0.02173913043478261</c:v>
                </c:pt>
                <c:pt idx="8">
                  <c:v>0</c:v>
                </c:pt>
                <c:pt idx="9">
                  <c:v>0.02173913043478261</c:v>
                </c:pt>
                <c:pt idx="10">
                  <c:v>0.108695652173913</c:v>
                </c:pt>
                <c:pt idx="11">
                  <c:v>0</c:v>
                </c:pt>
                <c:pt idx="12">
                  <c:v>0.108695652173913</c:v>
                </c:pt>
                <c:pt idx="13">
                  <c:v>0.2608695652173913</c:v>
                </c:pt>
              </c:numCache>
            </c:numRef>
          </c:val>
          <c:extLst>
            <c:ext xmlns:c16="http://schemas.microsoft.com/office/drawing/2014/chart" uri="{C3380CC4-5D6E-409C-BE32-E72D297353CC}">
              <c16:uniqueId val="{00000002-1A54-4880-A35A-174B4980565E}"/>
            </c:ext>
          </c:extLst>
        </c:ser>
        <c:ser>
          <c:idx val="3"/>
          <c:order val="3"/>
          <c:tx>
            <c:strRef>
              <c:f>Sheet1!$E$1</c:f>
              <c:strCache>
                <c:ptCount val="1"/>
                <c:pt idx="0">
                  <c:v>Q1 2025
(N=45)</c:v>
                </c:pt>
              </c:strCache>
            </c:strRef>
          </c:tx>
          <c:spPr>
            <a:solidFill>
              <a:srgbClr val="FFC003"/>
            </a:solidFill>
          </c:spPr>
          <c:invertIfNegative val="0"/>
          <c:dLbls>
            <c:dLbl>
              <c:idx val="11"/>
              <c:layout>
                <c:manualLayout>
                  <c:x val="-5.5672103293523643E-3"/>
                  <c:y val="-7.172473852591261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248-3442-9046-E304B31503DA}"/>
                </c:ext>
              </c:extLst>
            </c:dLbl>
            <c:spPr>
              <a:noFill/>
              <a:ln>
                <a:noFill/>
              </a:ln>
              <a:effectLst/>
            </c:spPr>
            <c:txPr>
              <a:bodyPr wrap="square" lIns="38100" tIns="19050" rIns="38100" bIns="19050" anchor="ctr">
                <a:spAutoFit/>
              </a:bodyPr>
              <a:lstStyle/>
              <a:p>
                <a:pPr>
                  <a:defRPr>
                    <a:solidFill>
                      <a:schemeClr val="tx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All other</c:v>
                </c:pt>
                <c:pt idx="1">
                  <c:v>Do not know</c:v>
                </c:pt>
                <c:pt idx="2">
                  <c:v>Austin Energy called me</c:v>
                </c:pt>
                <c:pt idx="3">
                  <c:v>I called them</c:v>
                </c:pt>
                <c:pt idx="4">
                  <c:v>Utility Contact Center</c:v>
                </c:pt>
                <c:pt idx="5">
                  <c:v>Austin Energy's website</c:v>
                </c:pt>
                <c:pt idx="6">
                  <c:v>Referred</c:v>
                </c:pt>
                <c:pt idx="7">
                  <c:v>Email</c:v>
                </c:pt>
                <c:pt idx="8">
                  <c:v>Austin 311</c:v>
                </c:pt>
                <c:pt idx="9">
                  <c:v>Utility bill insert/mail</c:v>
                </c:pt>
                <c:pt idx="10">
                  <c:v>Neighborhood event</c:v>
                </c:pt>
                <c:pt idx="11">
                  <c:v>Social sevice agency referral</c:v>
                </c:pt>
                <c:pt idx="12">
                  <c:v>Word of mouth</c:v>
                </c:pt>
                <c:pt idx="13">
                  <c:v>On City's website</c:v>
                </c:pt>
              </c:strCache>
            </c:strRef>
          </c:cat>
          <c:val>
            <c:numRef>
              <c:f>Sheet1!$E$2:$E$15</c:f>
              <c:numCache>
                <c:formatCode>0%</c:formatCode>
                <c:ptCount val="14"/>
                <c:pt idx="0">
                  <c:v>0</c:v>
                </c:pt>
                <c:pt idx="1">
                  <c:v>0.02222222222222222</c:v>
                </c:pt>
                <c:pt idx="2">
                  <c:v>0.02222222222222222</c:v>
                </c:pt>
                <c:pt idx="3">
                  <c:v>0</c:v>
                </c:pt>
                <c:pt idx="4">
                  <c:v>0.04444444444444445</c:v>
                </c:pt>
                <c:pt idx="5">
                  <c:v>0.5333333333333333</c:v>
                </c:pt>
                <c:pt idx="6">
                  <c:v>0.02222222222222222</c:v>
                </c:pt>
                <c:pt idx="7">
                  <c:v>0.02222222222222222</c:v>
                </c:pt>
                <c:pt idx="8">
                  <c:v>0</c:v>
                </c:pt>
                <c:pt idx="9">
                  <c:v>0.04444444444444445</c:v>
                </c:pt>
                <c:pt idx="10">
                  <c:v>0.02222222222222222</c:v>
                </c:pt>
                <c:pt idx="11">
                  <c:v>0.02222222222222222</c:v>
                </c:pt>
                <c:pt idx="12">
                  <c:v>0.1555555555555556</c:v>
                </c:pt>
                <c:pt idx="13">
                  <c:v>0.08888888888888889</c:v>
                </c:pt>
              </c:numCache>
            </c:numRef>
          </c:val>
          <c:extLst>
            <c:ext xmlns:c16="http://schemas.microsoft.com/office/drawing/2014/chart" uri="{C3380CC4-5D6E-409C-BE32-E72D297353CC}">
              <c16:uniqueId val="{00000001-6163-4778-97B3-26D9A30AFC35}"/>
            </c:ext>
          </c:extLst>
        </c:ser>
        <c:dLbls>
          <c:dLblPos val="outEnd"/>
          <c:showLegendKey val="0"/>
          <c:showVal val="1"/>
          <c:showCatName val="0"/>
          <c:showSerName val="0"/>
          <c:showPercent val="0"/>
          <c:showBubbleSize val="0"/>
        </c:dLbls>
        <c:gapWidth val="275"/>
        <c:overlap val="-10"/>
        <c:axId val="328199696"/>
        <c:axId val="328941696"/>
      </c:barChart>
      <c:catAx>
        <c:axId val="328199696"/>
        <c:scaling>
          <c:orientation val="minMax"/>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8941696"/>
        <c:crosses val="autoZero"/>
        <c:auto val="1"/>
        <c:lblAlgn val="ctr"/>
        <c:lblOffset val="100"/>
        <c:noMultiLvlLbl val="0"/>
      </c:catAx>
      <c:valAx>
        <c:axId val="328941696"/>
        <c:scaling>
          <c:orientation val="minMax"/>
          <c:max val="1"/>
        </c:scaling>
        <c:delete val="0"/>
        <c:axPos val="b"/>
        <c:majorGridlines>
          <c:spPr>
            <a:ln w="7974" cap="flat" cmpd="sng" algn="ctr">
              <a:solidFill>
                <a:schemeClr val="bg1">
                  <a:lumMod val="85000"/>
                </a:schemeClr>
              </a:solidFill>
              <a:round/>
            </a:ln>
            <a:effectLst/>
          </c:spPr>
        </c:majorGridlines>
        <c:numFmt formatCode="0%" sourceLinked="1"/>
        <c:majorTickMark val="none"/>
        <c:minorTickMark val="none"/>
        <c:tickLblPos val="nextTo"/>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8199696"/>
        <c:crosses val="autoZero"/>
        <c:crossBetween val="between"/>
        <c:majorUnit val="0.1"/>
      </c:valAx>
      <c:spPr>
        <a:noFill/>
        <a:ln w="9525">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0"/>
    <c:dispBlanksAs val="gap"/>
    <c:showDLblsOverMax val="0"/>
  </c:chart>
  <c:spPr>
    <a:noFill/>
    <a:ln>
      <a:noFill/>
    </a:ln>
  </c:spPr>
  <c:txPr>
    <a:bodyPr/>
    <a:lstStyle/>
    <a:p>
      <a:pPr>
        <a:defRPr/>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9782281162240637"/>
          <c:y val="6.6470441194850641E-2"/>
          <c:w val="0.66669082533966195"/>
          <c:h val="0.81049806274215719"/>
        </c:manualLayout>
      </c:layout>
      <c:barChart>
        <c:barDir val="bar"/>
        <c:grouping val="clustered"/>
        <c:varyColors val="0"/>
        <c:ser>
          <c:idx val="0"/>
          <c:order val="0"/>
          <c:tx>
            <c:strRef>
              <c:f>Sheet1!$B$1</c:f>
              <c:strCache>
                <c:ptCount val="1"/>
                <c:pt idx="0">
                  <c:v>Q1 2025
(N=45)</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Friends/family/word-of-mouth</c:v>
                </c:pt>
                <c:pt idx="1">
                  <c:v>Utility bill inserts</c:v>
                </c:pt>
                <c:pt idx="2">
                  <c:v>Austin Energy's website</c:v>
                </c:pt>
                <c:pt idx="3">
                  <c:v>AE Customer Assistance Program (CAPS)</c:v>
                </c:pt>
                <c:pt idx="4">
                  <c:v>Mall advertisement</c:v>
                </c:pt>
                <c:pt idx="5">
                  <c:v>Radio</c:v>
                </c:pt>
                <c:pt idx="6">
                  <c:v>Contractors</c:v>
                </c:pt>
                <c:pt idx="7">
                  <c:v>On City’s website</c:v>
                </c:pt>
                <c:pt idx="8">
                  <c:v>Television</c:v>
                </c:pt>
                <c:pt idx="9">
                  <c:v>All other</c:v>
                </c:pt>
              </c:strCache>
            </c:strRef>
          </c:cat>
          <c:val>
            <c:numRef>
              <c:f>Sheet1!$B$2:$B$11</c:f>
              <c:numCache>
                <c:formatCode>0%</c:formatCode>
                <c:ptCount val="10"/>
                <c:pt idx="0">
                  <c:v>0.4</c:v>
                </c:pt>
                <c:pt idx="1">
                  <c:v>0.2</c:v>
                </c:pt>
                <c:pt idx="2">
                  <c:v>0.4</c:v>
                </c:pt>
                <c:pt idx="3">
                  <c:v>0</c:v>
                </c:pt>
                <c:pt idx="4">
                  <c:v>0</c:v>
                </c:pt>
                <c:pt idx="5">
                  <c:v>0</c:v>
                </c:pt>
                <c:pt idx="6">
                  <c:v>0.07</c:v>
                </c:pt>
                <c:pt idx="7">
                  <c:v>0</c:v>
                </c:pt>
                <c:pt idx="8">
                  <c:v>0.02</c:v>
                </c:pt>
                <c:pt idx="9">
                  <c:v>0.07</c:v>
                </c:pt>
              </c:numCache>
            </c:numRef>
          </c:val>
          <c:extLst>
            <c:ext xmlns:c16="http://schemas.microsoft.com/office/drawing/2014/chart" uri="{C3380CC4-5D6E-409C-BE32-E72D297353CC}">
              <c16:uniqueId val="{00000000-CC47-4228-84BB-2FF78CC943F0}"/>
            </c:ext>
          </c:extLst>
        </c:ser>
        <c:ser>
          <c:idx val="1"/>
          <c:order val="1"/>
          <c:tx>
            <c:strRef>
              <c:f>Sheet1!$C$1</c:f>
              <c:strCache>
                <c:ptCount val="1"/>
                <c:pt idx="0">
                  <c:v>Q2 2025
(N=46)</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dLblPos val="out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Sheet1!$A$2:$A$11</c:f>
              <c:strCache>
                <c:ptCount val="10"/>
                <c:pt idx="0">
                  <c:v>Friends/family/word-of-mouth</c:v>
                </c:pt>
                <c:pt idx="1">
                  <c:v>Utility bill inserts</c:v>
                </c:pt>
                <c:pt idx="2">
                  <c:v>Austin Energy's website</c:v>
                </c:pt>
                <c:pt idx="3">
                  <c:v>AE Customer Assistance Program (CAPS)</c:v>
                </c:pt>
                <c:pt idx="4">
                  <c:v>Mall advertisement</c:v>
                </c:pt>
                <c:pt idx="5">
                  <c:v>Radio</c:v>
                </c:pt>
                <c:pt idx="6">
                  <c:v>Contractors</c:v>
                </c:pt>
                <c:pt idx="7">
                  <c:v>On City’s website</c:v>
                </c:pt>
                <c:pt idx="8">
                  <c:v>Television</c:v>
                </c:pt>
                <c:pt idx="9">
                  <c:v>All other</c:v>
                </c:pt>
              </c:strCache>
            </c:strRef>
          </c:cat>
          <c:val>
            <c:numRef>
              <c:f>Sheet1!$C$2:$C$11</c:f>
              <c:numCache>
                <c:formatCode>0%</c:formatCode>
                <c:ptCount val="10"/>
                <c:pt idx="0">
                  <c:v>0.26</c:v>
                </c:pt>
                <c:pt idx="1">
                  <c:v>0.17</c:v>
                </c:pt>
                <c:pt idx="2">
                  <c:v>0.24</c:v>
                </c:pt>
                <c:pt idx="3">
                  <c:v>0.02</c:v>
                </c:pt>
                <c:pt idx="4">
                  <c:v>0</c:v>
                </c:pt>
                <c:pt idx="5">
                  <c:v>0</c:v>
                </c:pt>
                <c:pt idx="6">
                  <c:v>0.02</c:v>
                </c:pt>
                <c:pt idx="7">
                  <c:v>0</c:v>
                </c:pt>
                <c:pt idx="8">
                  <c:v>0</c:v>
                </c:pt>
                <c:pt idx="9">
                  <c:v>0.21</c:v>
                </c:pt>
              </c:numCache>
            </c:numRef>
          </c:val>
          <c:extLst>
            <c:ext xmlns:c16="http://schemas.microsoft.com/office/drawing/2014/chart" uri="{C3380CC4-5D6E-409C-BE32-E72D297353CC}">
              <c16:uniqueId val="{00000001-CC47-4228-84BB-2FF78CC943F0}"/>
            </c:ext>
          </c:extLst>
        </c:ser>
        <c:ser>
          <c:idx val="2"/>
          <c:order val="2"/>
          <c:tx>
            <c:strRef>
              <c:f>Sheet1!$D$1</c:f>
              <c:strCache>
                <c:ptCount val="1"/>
                <c:pt idx="0">
                  <c:v>Q3 2025
(N=38)</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930"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Sheet1!$A$2:$A$11</c:f>
              <c:strCache>
                <c:ptCount val="10"/>
                <c:pt idx="0">
                  <c:v>Friends/family/word-of-mouth</c:v>
                </c:pt>
                <c:pt idx="1">
                  <c:v>Utility bill inserts</c:v>
                </c:pt>
                <c:pt idx="2">
                  <c:v>Austin Energy's website</c:v>
                </c:pt>
                <c:pt idx="3">
                  <c:v>AE Customer Assistance Program (CAPS)</c:v>
                </c:pt>
                <c:pt idx="4">
                  <c:v>Mall advertisement</c:v>
                </c:pt>
                <c:pt idx="5">
                  <c:v>Radio</c:v>
                </c:pt>
                <c:pt idx="6">
                  <c:v>Contractors</c:v>
                </c:pt>
                <c:pt idx="7">
                  <c:v>On City’s website</c:v>
                </c:pt>
                <c:pt idx="8">
                  <c:v>Television</c:v>
                </c:pt>
                <c:pt idx="9">
                  <c:v>All other</c:v>
                </c:pt>
              </c:strCache>
            </c:strRef>
          </c:cat>
          <c:val>
            <c:numRef>
              <c:f>Sheet1!$D$2:$D$11</c:f>
              <c:numCache>
                <c:formatCode>0%</c:formatCode>
                <c:ptCount val="10"/>
                <c:pt idx="0">
                  <c:v>0.3157894736842105</c:v>
                </c:pt>
                <c:pt idx="1">
                  <c:v>0</c:v>
                </c:pt>
                <c:pt idx="2">
                  <c:v>0.2368421052631579</c:v>
                </c:pt>
                <c:pt idx="3">
                  <c:v>0.1052631578947368</c:v>
                </c:pt>
                <c:pt idx="4">
                  <c:v>0.07894736842105263</c:v>
                </c:pt>
                <c:pt idx="5">
                  <c:v>0.02631578947368421</c:v>
                </c:pt>
                <c:pt idx="6">
                  <c:v>0.02631578947368421</c:v>
                </c:pt>
                <c:pt idx="7">
                  <c:v>0.02631578947368421</c:v>
                </c:pt>
                <c:pt idx="8">
                  <c:v>0</c:v>
                </c:pt>
                <c:pt idx="9">
                  <c:v>0.3421052631578947</c:v>
                </c:pt>
              </c:numCache>
            </c:numRef>
          </c:val>
          <c:extLst>
            <c:ext xmlns:c16="http://schemas.microsoft.com/office/drawing/2014/chart" uri="{C3380CC4-5D6E-409C-BE32-E72D297353CC}">
              <c16:uniqueId val="{00000002-CC47-4228-84BB-2FF78CC943F0}"/>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Sheet1!$A$2:$A$11</c:f>
              <c:strCache>
                <c:ptCount val="10"/>
                <c:pt idx="0">
                  <c:v>Friends/family/word-of-mouth</c:v>
                </c:pt>
                <c:pt idx="1">
                  <c:v>Utility bill inserts</c:v>
                </c:pt>
                <c:pt idx="2">
                  <c:v>Austin Energy's website</c:v>
                </c:pt>
                <c:pt idx="3">
                  <c:v>AE Customer Assistance Program (CAPS)</c:v>
                </c:pt>
                <c:pt idx="4">
                  <c:v>Mall advertisement</c:v>
                </c:pt>
                <c:pt idx="5">
                  <c:v>Radio</c:v>
                </c:pt>
                <c:pt idx="6">
                  <c:v>Contractors</c:v>
                </c:pt>
                <c:pt idx="7">
                  <c:v>On City’s website</c:v>
                </c:pt>
                <c:pt idx="8">
                  <c:v>Television</c:v>
                </c:pt>
                <c:pt idx="9">
                  <c:v>All other</c:v>
                </c:pt>
              </c:strCache>
            </c:strRef>
          </c:cat>
          <c:val>
            <c:numRef>
              <c:f>Sheet1!$E$2:$E$11</c:f>
              <c:numCache>
                <c:formatCode>0%</c:formatCode>
                <c:ptCount val="10"/>
                <c:pt idx="0">
                  <c:v>0.4</c:v>
                </c:pt>
                <c:pt idx="1">
                  <c:v>0.13333333333333333</c:v>
                </c:pt>
                <c:pt idx="2">
                  <c:v>0.06666666666666667</c:v>
                </c:pt>
                <c:pt idx="3">
                  <c:v>0.06666666666666667</c:v>
                </c:pt>
                <c:pt idx="4">
                  <c:v>0.0</c:v>
                </c:pt>
                <c:pt idx="5">
                  <c:v>0.0</c:v>
                </c:pt>
                <c:pt idx="6">
                  <c:v>0.0</c:v>
                </c:pt>
                <c:pt idx="7">
                  <c:v>0.0</c:v>
                </c:pt>
                <c:pt idx="8">
                  <c:v>0.0</c:v>
                </c:pt>
                <c:pt idx="9">
                  <c:v>0.3333333333333333</c:v>
                </c:pt>
              </c:numCache>
            </c:numRef>
          </c:val>
          <c:extLst>
            <c:ext xmlns:c16="http://schemas.microsoft.com/office/drawing/2014/chart" uri="{C3380CC4-5D6E-409C-BE32-E72D297353CC}">
              <c16:uniqueId val="{00000000-CD8B-1641-BBD5-074FC08BDAA9}"/>
            </c:ext>
          </c:extLst>
        </c:ser>
        <c:dLbls>
          <c:dLblPos val="outEnd"/>
          <c:showLegendKey val="0"/>
          <c:showVal val="1"/>
          <c:showCatName val="0"/>
          <c:showSerName val="0"/>
          <c:showPercent val="0"/>
          <c:showBubbleSize val="0"/>
        </c:dLbls>
        <c:gapWidth val="62"/>
        <c:axId val="326349696"/>
        <c:axId val="326350256"/>
      </c:barChart>
      <c:catAx>
        <c:axId val="326349696"/>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326350256"/>
        <c:crosses val="autoZero"/>
        <c:auto val="1"/>
        <c:lblAlgn val="ctr"/>
        <c:lblOffset val="50"/>
        <c:noMultiLvlLbl val="0"/>
      </c:catAx>
      <c:valAx>
        <c:axId val="326350256"/>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6349696"/>
        <c:crosses val="autoZero"/>
        <c:crossBetween val="between"/>
        <c:majorUnit val="0.1"/>
      </c:valAx>
      <c:spPr>
        <a:noFill/>
        <a:ln w="21532">
          <a:solidFill>
            <a:schemeClr val="bg1">
              <a:lumMod val="85000"/>
            </a:schemeClr>
          </a:solidFill>
        </a:ln>
      </c:spPr>
    </c:plotArea>
    <c:legend>
      <c:legendPos val="t"/>
      <c:layout>
        <c:manualLayout>
          <c:xMode val="edge"/>
          <c:yMode val="edge"/>
          <c:x val="0.28379621789155274"/>
          <c:y val="7.1445496698930586E-3"/>
          <c:w val="0.4364406273560763"/>
          <c:h val="4.7615298087739032E-2"/>
        </c:manualLayout>
      </c:layou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2151270424362749"/>
          <c:y val="0.14592833876221498"/>
          <c:w val="0.64185411075724963"/>
          <c:h val="0.78987714483572291"/>
        </c:manualLayout>
      </c:layout>
      <c:barChart>
        <c:barDir val="bar"/>
        <c:grouping val="clustered"/>
        <c:varyColors val="0"/>
        <c:ser>
          <c:idx val="0"/>
          <c:order val="0"/>
          <c:tx>
            <c:strRef>
              <c:f>Sheet1!$B$1</c:f>
              <c:strCache>
                <c:ptCount val="1"/>
                <c:pt idx="0">
                  <c:v>Q1 2025
(N=45)</c:v>
                </c:pt>
              </c:strCache>
            </c:strRef>
          </c:tx>
          <c:spPr>
            <a:solidFill>
              <a:srgbClr val="FFC003"/>
            </a:solidFill>
            <a:ln w="21264">
              <a:noFill/>
            </a:ln>
          </c:spPr>
          <c:invertIfNegative val="0"/>
          <c:dLbls>
            <c:spPr>
              <a:noFill/>
              <a:ln w="21264">
                <a:noFill/>
              </a:ln>
            </c:spPr>
            <c:txPr>
              <a:bodyPr rot="0" spcFirstLastPara="1" vertOverflow="ellipsis" vert="horz" wrap="square" lIns="38100" tIns="19050" rIns="38100" bIns="19050" anchor="ctr" anchorCtr="1">
                <a:spAutoFit/>
              </a:bodyPr>
              <a:lstStyle/>
              <a:p>
                <a:pPr>
                  <a:defRPr sz="928"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Sheet1!$B$2:$B$10</c:f>
              <c:numCache>
                <c:formatCode>0%</c:formatCode>
                <c:ptCount val="9"/>
                <c:pt idx="0">
                  <c:v>0.71</c:v>
                </c:pt>
                <c:pt idx="1">
                  <c:v>0.38</c:v>
                </c:pt>
                <c:pt idx="2">
                  <c:v>0.44</c:v>
                </c:pt>
                <c:pt idx="3">
                  <c:v>0.36</c:v>
                </c:pt>
                <c:pt idx="4">
                  <c:v>0</c:v>
                </c:pt>
                <c:pt idx="5">
                  <c:v>0</c:v>
                </c:pt>
                <c:pt idx="6">
                  <c:v>0.09</c:v>
                </c:pt>
                <c:pt idx="7">
                  <c:v>0.07</c:v>
                </c:pt>
                <c:pt idx="8">
                  <c:v>0</c:v>
                </c:pt>
              </c:numCache>
            </c:numRef>
          </c:val>
          <c:extLst>
            <c:ext xmlns:c16="http://schemas.microsoft.com/office/drawing/2014/chart" uri="{C3380CC4-5D6E-409C-BE32-E72D297353CC}">
              <c16:uniqueId val="{00000000-08BA-4719-85C8-FABAF5FAC883}"/>
            </c:ext>
          </c:extLst>
        </c:ser>
        <c:ser>
          <c:idx val="1"/>
          <c:order val="1"/>
          <c:tx>
            <c:strRef>
              <c:f>Sheet1!$C$1</c:f>
              <c:strCache>
                <c:ptCount val="1"/>
                <c:pt idx="0">
                  <c:v>Q2 2025
(N=46)</c:v>
                </c:pt>
              </c:strCache>
            </c:strRef>
          </c:tx>
          <c:spPr>
            <a:solidFill>
              <a:srgbClr val="3233CC"/>
            </a:solidFill>
          </c:spPr>
          <c:invertIfNegative val="0"/>
          <c:dLbls>
            <c:spPr>
              <a:noFill/>
              <a:ln w="21415">
                <a:noFill/>
              </a:ln>
            </c:spPr>
            <c:txPr>
              <a:bodyPr wrap="square" lIns="38100" tIns="19050" rIns="38100" bIns="19050" anchor="ctr">
                <a:spAutoFit/>
              </a:bodyPr>
              <a:lstStyle/>
              <a:p>
                <a:pPr>
                  <a:defRPr sz="928"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Sheet1!$C$2:$C$10</c:f>
              <c:numCache>
                <c:formatCode>0%</c:formatCode>
                <c:ptCount val="9"/>
                <c:pt idx="0">
                  <c:v>0.59</c:v>
                </c:pt>
                <c:pt idx="1">
                  <c:v>0.3</c:v>
                </c:pt>
                <c:pt idx="2">
                  <c:v>0.41</c:v>
                </c:pt>
                <c:pt idx="3">
                  <c:v>0.22</c:v>
                </c:pt>
                <c:pt idx="4">
                  <c:v>0</c:v>
                </c:pt>
                <c:pt idx="5">
                  <c:v>0</c:v>
                </c:pt>
                <c:pt idx="6">
                  <c:v>0.07</c:v>
                </c:pt>
                <c:pt idx="7">
                  <c:v>0.15</c:v>
                </c:pt>
                <c:pt idx="8">
                  <c:v>0.14</c:v>
                </c:pt>
              </c:numCache>
            </c:numRef>
          </c:val>
          <c:extLst>
            <c:ext xmlns:c16="http://schemas.microsoft.com/office/drawing/2014/chart" uri="{C3380CC4-5D6E-409C-BE32-E72D297353CC}">
              <c16:uniqueId val="{00000001-08BA-4719-85C8-FABAF5FAC883}"/>
            </c:ext>
          </c:extLst>
        </c:ser>
        <c:ser>
          <c:idx val="2"/>
          <c:order val="2"/>
          <c:tx>
            <c:strRef>
              <c:f>Sheet1!$D$1</c:f>
              <c:strCache>
                <c:ptCount val="1"/>
                <c:pt idx="0">
                  <c:v>Q3 2025
(N=38)</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930" b="0" i="0" baseline="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Sheet1!$D$2:$D$10</c:f>
              <c:numCache>
                <c:formatCode>0%</c:formatCode>
                <c:ptCount val="9"/>
                <c:pt idx="0">
                  <c:v>0.6842105263157895</c:v>
                </c:pt>
                <c:pt idx="1">
                  <c:v>0.2631578947368421</c:v>
                </c:pt>
                <c:pt idx="2">
                  <c:v>0.2368421052631579</c:v>
                </c:pt>
                <c:pt idx="3">
                  <c:v>0.2105263157894737</c:v>
                </c:pt>
                <c:pt idx="4">
                  <c:v>0.1578947368421053</c:v>
                </c:pt>
                <c:pt idx="5">
                  <c:v>0.07894736842105263</c:v>
                </c:pt>
                <c:pt idx="6">
                  <c:v>0.02631578947368421</c:v>
                </c:pt>
                <c:pt idx="7">
                  <c:v>0</c:v>
                </c:pt>
                <c:pt idx="8">
                  <c:v>0.02631578947368421</c:v>
                </c:pt>
              </c:numCache>
            </c:numRef>
          </c:val>
          <c:extLst>
            <c:ext xmlns:c16="http://schemas.microsoft.com/office/drawing/2014/chart" uri="{C3380CC4-5D6E-409C-BE32-E72D297353CC}">
              <c16:uniqueId val="{00000002-08BA-4719-85C8-FABAF5FAC883}"/>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Sheet1!$A$2:$A$10</c:f>
              <c:strCache>
                <c:ptCount val="9"/>
                <c:pt idx="0">
                  <c:v>Email</c:v>
                </c:pt>
                <c:pt idx="1">
                  <c:v>Text messages</c:v>
                </c:pt>
                <c:pt idx="2">
                  <c:v>Direct mail</c:v>
                </c:pt>
                <c:pt idx="3">
                  <c:v>Austin Energy's website</c:v>
                </c:pt>
                <c:pt idx="4">
                  <c:v>Phone</c:v>
                </c:pt>
                <c:pt idx="5">
                  <c:v>Door hangers</c:v>
                </c:pt>
                <c:pt idx="6">
                  <c:v>Facebook, Twitter, or other Social Media</c:v>
                </c:pt>
                <c:pt idx="7">
                  <c:v>Phone call</c:v>
                </c:pt>
                <c:pt idx="8">
                  <c:v>All other</c:v>
                </c:pt>
              </c:strCache>
            </c:strRef>
          </c:cat>
          <c:val>
            <c:numRef>
              <c:f>Sheet1!$E$2:$E$10</c:f>
              <c:numCache>
                <c:formatCode>0%</c:formatCode>
                <c:ptCount val="9"/>
                <c:pt idx="0">
                  <c:v>0.8</c:v>
                </c:pt>
                <c:pt idx="1">
                  <c:v>0.5333333333333333</c:v>
                </c:pt>
                <c:pt idx="2">
                  <c:v>0.26666666666666666</c:v>
                </c:pt>
                <c:pt idx="3">
                  <c:v>0.26666666666666666</c:v>
                </c:pt>
                <c:pt idx="4">
                  <c:v>0.2</c:v>
                </c:pt>
                <c:pt idx="5">
                  <c:v>0.13333333333333333</c:v>
                </c:pt>
                <c:pt idx="6">
                  <c:v>0.13333333333333333</c:v>
                </c:pt>
                <c:pt idx="7">
                  <c:v>0.0</c:v>
                </c:pt>
                <c:pt idx="8">
                  <c:v>0.0</c:v>
                </c:pt>
              </c:numCache>
            </c:numRef>
          </c:val>
          <c:extLst>
            <c:ext xmlns:c16="http://schemas.microsoft.com/office/drawing/2014/chart" uri="{C3380CC4-5D6E-409C-BE32-E72D297353CC}">
              <c16:uniqueId val="{00000000-B0D9-A94F-BC2E-6C10797E5730}"/>
            </c:ext>
          </c:extLst>
        </c:ser>
        <c:dLbls>
          <c:dLblPos val="outEnd"/>
          <c:showLegendKey val="0"/>
          <c:showVal val="1"/>
          <c:showCatName val="0"/>
          <c:showSerName val="0"/>
          <c:showPercent val="0"/>
          <c:showBubbleSize val="0"/>
        </c:dLbls>
        <c:gapWidth val="170"/>
        <c:overlap val="-10"/>
        <c:axId val="329314400"/>
        <c:axId val="329314960"/>
      </c:barChart>
      <c:catAx>
        <c:axId val="329314400"/>
        <c:scaling>
          <c:orientation val="maxMin"/>
        </c:scaling>
        <c:delete val="0"/>
        <c:axPos val="l"/>
        <c:numFmt formatCode="General" sourceLinked="1"/>
        <c:majorTickMark val="none"/>
        <c:minorTickMark val="none"/>
        <c:tickLblPos val="nextTo"/>
        <c:spPr>
          <a:noFill/>
          <a:ln w="7974"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329314960"/>
        <c:crosses val="autoZero"/>
        <c:auto val="1"/>
        <c:lblAlgn val="ctr"/>
        <c:lblOffset val="100"/>
        <c:noMultiLvlLbl val="0"/>
      </c:catAx>
      <c:valAx>
        <c:axId val="329314960"/>
        <c:scaling>
          <c:orientation val="minMax"/>
          <c:max val="1"/>
        </c:scaling>
        <c:delete val="0"/>
        <c:axPos val="t"/>
        <c:majorGridlines>
          <c:spPr>
            <a:ln w="7974" cap="flat" cmpd="sng" algn="ctr">
              <a:solidFill>
                <a:schemeClr val="bg1">
                  <a:lumMod val="85000"/>
                </a:schemeClr>
              </a:solidFill>
              <a:round/>
            </a:ln>
            <a:effectLst/>
          </c:spPr>
        </c:majorGridlines>
        <c:numFmt formatCode="0%" sourceLinked="1"/>
        <c:majorTickMark val="none"/>
        <c:minorTickMark val="none"/>
        <c:tickLblPos val="high"/>
        <c:spPr>
          <a:ln w="5315">
            <a:solidFill>
              <a:schemeClr val="bg1">
                <a:lumMod val="85000"/>
              </a:schemeClr>
            </a:solidFill>
          </a:ln>
        </c:spPr>
        <c:txPr>
          <a:bodyPr rot="-6000000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crossAx val="329314400"/>
        <c:crosses val="autoZero"/>
        <c:crossBetween val="between"/>
        <c:majorUnit val="0.1"/>
      </c:valAx>
      <c:spPr>
        <a:noFill/>
        <a:ln w="21532">
          <a:solidFill>
            <a:schemeClr val="bg1">
              <a:lumMod val="85000"/>
            </a:schemeClr>
          </a:solidFill>
        </a:ln>
      </c:spPr>
    </c:plotArea>
    <c:legend>
      <c:legendPos val="t"/>
      <c:overlay val="0"/>
      <c:spPr>
        <a:noFill/>
        <a:ln w="21264">
          <a:noFill/>
        </a:ln>
      </c:spPr>
      <c:txPr>
        <a:bodyPr rot="0" spcFirstLastPara="1" vertOverflow="ellipsis" vert="horz" wrap="square" anchor="ctr" anchorCtr="1"/>
        <a:lstStyle/>
        <a:p>
          <a:pPr>
            <a:defRPr sz="1004"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91533702172121E-2"/>
          <c:y val="0.11405596450280849"/>
          <c:w val="0.91150512660737548"/>
          <c:h val="0.7099518325681603"/>
        </c:manualLayout>
      </c:layout>
      <c:barChart>
        <c:barDir val="col"/>
        <c:grouping val="stacked"/>
        <c:varyColors val="0"/>
        <c:ser>
          <c:idx val="0"/>
          <c:order val="0"/>
          <c:tx>
            <c:strRef>
              <c:f>Sheet1!$B$1</c:f>
              <c:strCache>
                <c:ptCount val="1"/>
                <c:pt idx="0">
                  <c:v>8</c:v>
                </c:pt>
              </c:strCache>
            </c:strRef>
          </c:tx>
          <c:spPr>
            <a:solidFill>
              <a:srgbClr val="0070C0"/>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Sheet1!$B$2:$B$5</c:f>
              <c:numCache>
                <c:formatCode>0%</c:formatCode>
                <c:ptCount val="4"/>
                <c:pt idx="0">
                  <c:v>0.18</c:v>
                </c:pt>
                <c:pt idx="1">
                  <c:v>0.24</c:v>
                </c:pt>
                <c:pt idx="2">
                  <c:v>0.2105263157894737</c:v>
                </c:pt>
                <c:pt idx="3">
                  <c:v>0.2</c:v>
                </c:pt>
              </c:numCache>
            </c:numRef>
          </c:val>
          <c:extLst>
            <c:ext xmlns:c16="http://schemas.microsoft.com/office/drawing/2014/chart" uri="{C3380CC4-5D6E-409C-BE32-E72D297353CC}">
              <c16:uniqueId val="{00000000-3743-46B7-9453-554D3F76B7F0}"/>
            </c:ext>
          </c:extLst>
        </c:ser>
        <c:ser>
          <c:idx val="1"/>
          <c:order val="1"/>
          <c:tx>
            <c:strRef>
              <c:f>Sheet1!$C$1</c:f>
              <c:strCache>
                <c:ptCount val="1"/>
                <c:pt idx="0">
                  <c:v>9</c:v>
                </c:pt>
              </c:strCache>
            </c:strRef>
          </c:tx>
          <c:spPr>
            <a:solidFill>
              <a:srgbClr val="59AAF2"/>
            </a:solidFill>
            <a:ln w="20273">
              <a:noFill/>
            </a:ln>
          </c:spPr>
          <c:invertIfNegative val="0"/>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Sheet1!$C$2:$C$5</c:f>
              <c:numCache>
                <c:formatCode>0%</c:formatCode>
                <c:ptCount val="4"/>
                <c:pt idx="0">
                  <c:v>0.2</c:v>
                </c:pt>
                <c:pt idx="1">
                  <c:v>0.11</c:v>
                </c:pt>
                <c:pt idx="2">
                  <c:v>0.07894736842105263</c:v>
                </c:pt>
                <c:pt idx="3">
                  <c:v>0.06666666666666667</c:v>
                </c:pt>
              </c:numCache>
            </c:numRef>
          </c:val>
          <c:extLst>
            <c:ext xmlns:c16="http://schemas.microsoft.com/office/drawing/2014/chart" uri="{C3380CC4-5D6E-409C-BE32-E72D297353CC}">
              <c16:uniqueId val="{00000001-3743-46B7-9453-554D3F76B7F0}"/>
            </c:ext>
          </c:extLst>
        </c:ser>
        <c:ser>
          <c:idx val="2"/>
          <c:order val="2"/>
          <c:tx>
            <c:strRef>
              <c:f>Sheet1!$D$1</c:f>
              <c:strCache>
                <c:ptCount val="1"/>
                <c:pt idx="0">
                  <c:v>10</c:v>
                </c:pt>
              </c:strCache>
            </c:strRef>
          </c:tx>
          <c:spPr>
            <a:solidFill>
              <a:srgbClr val="0BD0D9"/>
            </a:solidFill>
            <a:ln w="20273">
              <a:noFill/>
            </a:ln>
          </c:spPr>
          <c:invertIfNegative val="0"/>
          <c:dPt>
            <c:idx val="0"/>
            <c:invertIfNegative val="0"/>
            <c:bubble3D val="0"/>
            <c:extLst>
              <c:ext xmlns:c16="http://schemas.microsoft.com/office/drawing/2014/chart" uri="{C3380CC4-5D6E-409C-BE32-E72D297353CC}">
                <c16:uniqueId val="{00000002-3743-46B7-9453-554D3F76B7F0}"/>
              </c:ext>
            </c:extLst>
          </c:dPt>
          <c:dLbls>
            <c:spPr>
              <a:noFill/>
              <a:ln w="20273">
                <a:noFill/>
              </a:ln>
            </c:spPr>
            <c:txPr>
              <a:bodyPr rot="0" spcFirstLastPara="1" vertOverflow="ellipsis" vert="horz" wrap="square" lIns="38100" tIns="19050" rIns="38100" bIns="19050" anchor="ctr" anchorCtr="1">
                <a:spAutoFit/>
              </a:bodyPr>
              <a:lstStyle/>
              <a:p>
                <a:pPr>
                  <a:defRPr sz="958"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Sheet1!$D$2:$D$5</c:f>
              <c:numCache>
                <c:formatCode>0%</c:formatCode>
                <c:ptCount val="4"/>
                <c:pt idx="0">
                  <c:v>0.42</c:v>
                </c:pt>
                <c:pt idx="1">
                  <c:v>0.57</c:v>
                </c:pt>
                <c:pt idx="2">
                  <c:v>0.5789473684210527</c:v>
                </c:pt>
                <c:pt idx="3">
                  <c:v>0.6666666666666666</c:v>
                </c:pt>
              </c:numCache>
            </c:numRef>
          </c:val>
          <c:extLst>
            <c:ext xmlns:c16="http://schemas.microsoft.com/office/drawing/2014/chart" uri="{C3380CC4-5D6E-409C-BE32-E72D297353CC}">
              <c16:uniqueId val="{00000003-3743-46B7-9453-554D3F76B7F0}"/>
            </c:ext>
          </c:extLst>
        </c:ser>
        <c:ser>
          <c:idx val="3"/>
          <c:order val="3"/>
          <c:tx>
            <c:strRef>
              <c:f>Sheet1!$E$1</c:f>
              <c:strCache>
                <c:ptCount val="1"/>
                <c:pt idx="0">
                  <c:v>sum of displayed values</c:v>
                </c:pt>
              </c:strCache>
            </c:strRef>
          </c:tx>
          <c:spPr>
            <a:noFill/>
          </c:spPr>
          <c:invertIfNegative val="0"/>
          <c:dLbls>
            <c:dLbl>
              <c:idx val="3"/>
              <c:spPr>
                <a:solidFill>
                  <a:schemeClr val="bg1"/>
                </a:solid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extLst>
                <c:ext xmlns:c16="http://schemas.microsoft.com/office/drawing/2014/chart" uri="{C3380CC4-5D6E-409C-BE32-E72D297353CC}">
                  <c16:uniqueId val="{00000001-6544-4023-BABF-1CA5BD0CCDE0}"/>
                </c:ext>
              </c:extLst>
            </c:dLbl>
            <c:spPr>
              <a:noFill/>
              <a:ln w="20243">
                <a:noFill/>
              </a:ln>
            </c:spPr>
            <c:txPr>
              <a:bodyPr wrap="square" lIns="38100" tIns="19050" rIns="38100" bIns="19050" anchor="ctr">
                <a:spAutoFit/>
              </a:bodyPr>
              <a:lstStyle/>
              <a:p>
                <a:pPr>
                  <a:defRPr sz="1113" b="1"/>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2025
(N=45)</c:v>
                </c:pt>
                <c:pt idx="1">
                  <c:v>Q2 2025
(N=46)</c:v>
                </c:pt>
                <c:pt idx="2">
                  <c:v>Q3 2025
(N=38)</c:v>
                </c:pt>
                <c:pt idx="3">
                  <c:v>Q4 2025
(N=15)</c:v>
                </c:pt>
              </c:strCache>
            </c:strRef>
          </c:cat>
          <c:val>
            <c:numRef>
              <c:f>Sheet1!$E$2:$E$5</c:f>
              <c:numCache>
                <c:formatCode>0%</c:formatCode>
                <c:ptCount val="4"/>
                <c:pt idx="0">
                  <c:v>0.8</c:v>
                </c:pt>
                <c:pt idx="1">
                  <c:v>0.9199999999999999</c:v>
                </c:pt>
                <c:pt idx="2">
                  <c:v>0.868421052631579</c:v>
                </c:pt>
                <c:pt idx="3">
                  <c:v>0.9333333333333333</c:v>
                </c:pt>
              </c:numCache>
            </c:numRef>
          </c:val>
          <c:extLst>
            <c:ext xmlns:c16="http://schemas.microsoft.com/office/drawing/2014/chart" uri="{C3380CC4-5D6E-409C-BE32-E72D297353CC}">
              <c16:uniqueId val="{00000004-3743-46B7-9453-554D3F76B7F0}"/>
            </c:ext>
          </c:extLst>
        </c:ser>
        <c:dLbls>
          <c:showLegendKey val="0"/>
          <c:showVal val="0"/>
          <c:showCatName val="0"/>
          <c:showSerName val="0"/>
          <c:showPercent val="0"/>
          <c:showBubbleSize val="0"/>
        </c:dLbls>
        <c:gapWidth val="100"/>
        <c:overlap val="100"/>
        <c:axId val="265944032"/>
        <c:axId val="265944592"/>
      </c:barChart>
      <c:catAx>
        <c:axId val="265944032"/>
        <c:scaling>
          <c:orientation val="minMax"/>
        </c:scaling>
        <c:delete val="0"/>
        <c:axPos val="b"/>
        <c:numFmt formatCode="General" sourceLinked="1"/>
        <c:majorTickMark val="none"/>
        <c:minorTickMark val="none"/>
        <c:tickLblPos val="nextTo"/>
        <c:spPr>
          <a:noFill/>
          <a:ln w="7601" cap="flat" cmpd="sng" algn="ctr">
            <a:solidFill>
              <a:schemeClr val="tx1">
                <a:lumMod val="15000"/>
                <a:lumOff val="85000"/>
              </a:schemeClr>
            </a:solidFill>
            <a:round/>
          </a:ln>
          <a:effectLst/>
        </c:spPr>
        <c:txPr>
          <a:bodyPr rot="-6000000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crossAx val="265944592"/>
        <c:crosses val="autoZero"/>
        <c:auto val="1"/>
        <c:lblAlgn val="ctr"/>
        <c:lblOffset val="100"/>
        <c:noMultiLvlLbl val="0"/>
      </c:catAx>
      <c:valAx>
        <c:axId val="265944592"/>
        <c:scaling>
          <c:orientation val="minMax"/>
          <c:max val="1"/>
        </c:scaling>
        <c:delete val="0"/>
        <c:axPos val="l"/>
        <c:majorGridlines>
          <c:spPr>
            <a:ln w="7601" cap="flat" cmpd="sng" algn="ctr">
              <a:solidFill>
                <a:schemeClr val="bg1">
                  <a:lumMod val="85000"/>
                </a:schemeClr>
              </a:solidFill>
              <a:round/>
            </a:ln>
            <a:effectLst/>
          </c:spPr>
        </c:majorGridlines>
        <c:numFmt formatCode="0%" sourceLinked="1"/>
        <c:majorTickMark val="none"/>
        <c:minorTickMark val="none"/>
        <c:tickLblPos val="nextTo"/>
        <c:spPr>
          <a:ln w="5070">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65944032"/>
        <c:crosses val="autoZero"/>
        <c:crossBetween val="between"/>
      </c:valAx>
      <c:spPr>
        <a:noFill/>
        <a:ln w="20453">
          <a:noFill/>
        </a:ln>
      </c:spPr>
    </c:plotArea>
    <c:legend>
      <c:legendPos val="b"/>
      <c:legendEntry>
        <c:idx val="3"/>
        <c:delete val="1"/>
      </c:legendEntry>
      <c:layout>
        <c:manualLayout>
          <c:xMode val="edge"/>
          <c:yMode val="edge"/>
          <c:x val="0.36727369605115151"/>
          <c:y val="2.137310269368508E-2"/>
          <c:w val="0.2626185486723559"/>
          <c:h val="5.3390542979002621E-2"/>
        </c:manualLayout>
      </c:layout>
      <c:overlay val="0"/>
      <c:spPr>
        <a:noFill/>
        <a:ln w="20273">
          <a:noFill/>
        </a:ln>
      </c:spPr>
      <c:txPr>
        <a:bodyPr rot="0" spcFirstLastPara="1" vertOverflow="ellipsis" vert="horz" wrap="square" anchor="ctr" anchorCtr="1"/>
        <a:lstStyle/>
        <a:p>
          <a:pPr>
            <a:defRPr sz="958"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userShapes r:id="rId2"/>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6496330288718936"/>
          <c:w val="0.91406747644859176"/>
          <c:h val="0.71673352017526737"/>
        </c:manualLayout>
      </c:layout>
      <c:barChart>
        <c:barDir val="col"/>
        <c:grouping val="clustered"/>
        <c:varyColors val="0"/>
        <c:ser>
          <c:idx val="0"/>
          <c:order val="0"/>
          <c:tx>
            <c:strRef>
              <c:f>Sheet1!$B$1</c:f>
              <c:strCache>
                <c:ptCount val="1"/>
                <c:pt idx="0">
                  <c:v>Q1 2025
(N=45)</c:v>
                </c:pt>
              </c:strCache>
            </c:strRef>
          </c:tx>
          <c:spPr>
            <a:solidFill>
              <a:srgbClr val="FFC003"/>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Income Qualified Assistance</c:v>
                </c:pt>
                <c:pt idx="1">
                  <c:v>Low Income Weatherization </c:v>
                </c:pt>
                <c:pt idx="2">
                  <c:v>Low Income Home Upgrade</c:v>
                </c:pt>
                <c:pt idx="3">
                  <c:v>Don’t know</c:v>
                </c:pt>
              </c:strCache>
            </c:strRef>
          </c:cat>
          <c:val>
            <c:numRef>
              <c:f>Sheet1!$B$2:$B$5</c:f>
              <c:numCache>
                <c:formatCode>0%</c:formatCode>
                <c:ptCount val="4"/>
                <c:pt idx="0">
                  <c:v>0.67</c:v>
                </c:pt>
                <c:pt idx="1">
                  <c:v>0.11</c:v>
                </c:pt>
                <c:pt idx="2">
                  <c:v>0.13</c:v>
                </c:pt>
                <c:pt idx="3">
                  <c:v>0.09</c:v>
                </c:pt>
              </c:numCache>
            </c:numRef>
          </c:val>
          <c:extLst>
            <c:ext xmlns:c16="http://schemas.microsoft.com/office/drawing/2014/chart" uri="{C3380CC4-5D6E-409C-BE32-E72D297353CC}">
              <c16:uniqueId val="{00000000-61F9-024E-9747-766AD4F1AFFF}"/>
            </c:ext>
          </c:extLst>
        </c:ser>
        <c:ser>
          <c:idx val="1"/>
          <c:order val="1"/>
          <c:tx>
            <c:strRef>
              <c:f>Sheet1!$C$1</c:f>
              <c:strCache>
                <c:ptCount val="1"/>
                <c:pt idx="0">
                  <c:v>Q2 2025
(N=46)</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Sheet1!$C$2:$C$5</c:f>
              <c:numCache>
                <c:formatCode>0%</c:formatCode>
                <c:ptCount val="4"/>
                <c:pt idx="0">
                  <c:v>0.57</c:v>
                </c:pt>
                <c:pt idx="1">
                  <c:v>0.17</c:v>
                </c:pt>
                <c:pt idx="2">
                  <c:v>0.15</c:v>
                </c:pt>
                <c:pt idx="3">
                  <c:v>0.11</c:v>
                </c:pt>
              </c:numCache>
            </c:numRef>
          </c:val>
          <c:extLst>
            <c:ext xmlns:c16="http://schemas.microsoft.com/office/drawing/2014/chart" uri="{C3380CC4-5D6E-409C-BE32-E72D297353CC}">
              <c16:uniqueId val="{00000001-61F9-024E-9747-766AD4F1AFFF}"/>
            </c:ext>
          </c:extLst>
        </c:ser>
        <c:ser>
          <c:idx val="2"/>
          <c:order val="2"/>
          <c:tx>
            <c:strRef>
              <c:f>Sheet1!$D$1</c:f>
              <c:strCache>
                <c:ptCount val="1"/>
                <c:pt idx="0">
                  <c:v>Q3 2025
(N=38)</c:v>
                </c:pt>
              </c:strCache>
            </c:strRef>
          </c:tx>
          <c:spPr>
            <a:solidFill>
              <a:srgbClr val="00CC9A"/>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Sheet1!$D$2:$D$5</c:f>
              <c:numCache>
                <c:formatCode>0%</c:formatCode>
                <c:ptCount val="4"/>
                <c:pt idx="0">
                  <c:v>0.4473684210526316</c:v>
                </c:pt>
                <c:pt idx="1">
                  <c:v>0.18421052631578946</c:v>
                </c:pt>
                <c:pt idx="2">
                  <c:v>0.15789473684210525</c:v>
                </c:pt>
                <c:pt idx="3">
                  <c:v>0.21052631578947367</c:v>
                </c:pt>
              </c:numCache>
            </c:numRef>
          </c:val>
          <c:extLst>
            <c:ext xmlns:c16="http://schemas.microsoft.com/office/drawing/2014/chart" uri="{C3380CC4-5D6E-409C-BE32-E72D297353CC}">
              <c16:uniqueId val="{00000001-B751-4C90-854A-A8E428B75CCC}"/>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Sheet1!$A$2:$A$5</c:f>
              <c:strCache>
                <c:ptCount val="4"/>
                <c:pt idx="0">
                  <c:v>Income Qualified Assistance</c:v>
                </c:pt>
                <c:pt idx="1">
                  <c:v>Low Income Weatherization </c:v>
                </c:pt>
                <c:pt idx="2">
                  <c:v>Low Income Home Upgrade</c:v>
                </c:pt>
                <c:pt idx="3">
                  <c:v>Don’t know</c:v>
                </c:pt>
              </c:strCache>
            </c:strRef>
          </c:cat>
          <c:val>
            <c:numRef>
              <c:f>Sheet1!$E$2:$E$5</c:f>
              <c:numCache>
                <c:formatCode>0%</c:formatCode>
                <c:ptCount val="4"/>
                <c:pt idx="0">
                  <c:v>0.4666666666666667</c:v>
                </c:pt>
                <c:pt idx="1">
                  <c:v>0.2</c:v>
                </c:pt>
                <c:pt idx="2">
                  <c:v>0.13333333333333333</c:v>
                </c:pt>
                <c:pt idx="3">
                  <c:v>0.2</c:v>
                </c:pt>
              </c:numCache>
            </c:numRef>
          </c:val>
          <c:extLst>
            <c:ext xmlns:c16="http://schemas.microsoft.com/office/drawing/2014/chart" uri="{C3380CC4-5D6E-409C-BE32-E72D297353CC}">
              <c16:uniqueId val="{00000000-6EEF-6D41-A1A8-CD5836F47C32}"/>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8027396246521818"/>
          <c:y val="7.6970958149027047E-2"/>
          <c:w val="0.43635915576342432"/>
          <c:h val="7.5440547014198278E-2"/>
        </c:manualLayout>
      </c:layout>
      <c:overlay val="0"/>
      <c:spPr>
        <a:noFill/>
        <a:ln w="20893">
          <a:noFill/>
        </a:ln>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55789116876134E-2"/>
          <c:y val="0.14299437278511393"/>
          <c:w val="0.91406747644859176"/>
          <c:h val="0.80532798186218946"/>
        </c:manualLayout>
      </c:layout>
      <c:barChart>
        <c:barDir val="col"/>
        <c:grouping val="clustered"/>
        <c:varyColors val="0"/>
        <c:ser>
          <c:idx val="0"/>
          <c:order val="0"/>
          <c:tx>
            <c:strRef>
              <c:f>Sheet1!$B$1</c:f>
              <c:strCache>
                <c:ptCount val="1"/>
                <c:pt idx="0">
                  <c:v>Q1 2025
(N=45)</c:v>
                </c:pt>
              </c:strCache>
            </c:strRef>
          </c:tx>
          <c:spPr>
            <a:solidFill>
              <a:srgbClr val="FFC000"/>
            </a:solidFill>
            <a:ln w="20893">
              <a:noFill/>
            </a:ln>
          </c:spPr>
          <c:invertIfNegative val="0"/>
          <c:dLbls>
            <c:spPr>
              <a:noFill/>
              <a:ln w="20893">
                <a:noFill/>
              </a:ln>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Sheet1!$B$2:$B$6</c:f>
              <c:numCache>
                <c:formatCode>0%</c:formatCode>
                <c:ptCount val="5"/>
                <c:pt idx="0">
                  <c:v>0.0</c:v>
                </c:pt>
                <c:pt idx="1">
                  <c:v>0.07</c:v>
                </c:pt>
                <c:pt idx="2">
                  <c:v>0.38</c:v>
                </c:pt>
                <c:pt idx="3">
                  <c:v>0.38</c:v>
                </c:pt>
                <c:pt idx="4">
                  <c:v>0.11</c:v>
                </c:pt>
              </c:numCache>
            </c:numRef>
          </c:val>
          <c:extLst>
            <c:ext xmlns:c16="http://schemas.microsoft.com/office/drawing/2014/chart" uri="{C3380CC4-5D6E-409C-BE32-E72D297353CC}">
              <c16:uniqueId val="{00000000-5341-4021-8530-F4858413767C}"/>
            </c:ext>
          </c:extLst>
        </c:ser>
        <c:ser>
          <c:idx val="1"/>
          <c:order val="1"/>
          <c:tx>
            <c:strRef>
              <c:f>Sheet1!$C$1</c:f>
              <c:strCache>
                <c:ptCount val="1"/>
                <c:pt idx="0">
                  <c:v>Q2 2025
(N=46)</c:v>
                </c:pt>
              </c:strCache>
            </c:strRef>
          </c:tx>
          <c:spPr>
            <a:solidFill>
              <a:srgbClr val="3233CC"/>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Sheet1!$C$2:$C$6</c:f>
              <c:numCache>
                <c:formatCode>0%</c:formatCode>
                <c:ptCount val="5"/>
                <c:pt idx="0">
                  <c:v>0.02</c:v>
                </c:pt>
                <c:pt idx="1">
                  <c:v>0.15</c:v>
                </c:pt>
                <c:pt idx="2">
                  <c:v>0.37</c:v>
                </c:pt>
                <c:pt idx="3">
                  <c:v>0.26</c:v>
                </c:pt>
                <c:pt idx="4">
                  <c:v>0.15</c:v>
                </c:pt>
              </c:numCache>
            </c:numRef>
          </c:val>
          <c:extLst>
            <c:ext xmlns:c16="http://schemas.microsoft.com/office/drawing/2014/chart" uri="{C3380CC4-5D6E-409C-BE32-E72D297353CC}">
              <c16:uniqueId val="{00000000-4FB7-49FC-8013-CFDB7B13F269}"/>
            </c:ext>
          </c:extLst>
        </c:ser>
        <c:ser>
          <c:idx val="2"/>
          <c:order val="2"/>
          <c:tx>
            <c:strRef>
              <c:f>Sheet1!$D$1</c:f>
              <c:strCache>
                <c:ptCount val="1"/>
                <c:pt idx="0">
                  <c:v>Q3 2025
(N=38)</c:v>
                </c:pt>
              </c:strCache>
            </c:strRef>
          </c:tx>
          <c:spPr>
            <a:solidFill>
              <a:srgbClr val="00CC99"/>
            </a:solidFill>
          </c:spPr>
          <c:invertIfNegative val="0"/>
          <c:dLbls>
            <c:spPr>
              <a:noFill/>
              <a:ln>
                <a:noFill/>
              </a:ln>
              <a:effectLst/>
            </c:spPr>
            <c:txPr>
              <a:bodyPr wrap="square" lIns="38100" tIns="19050" rIns="38100" bIns="19050" anchor="ctr">
                <a:spAutoFit/>
              </a:bodyPr>
              <a:lstStyle/>
              <a:p>
                <a:pPr>
                  <a:defRPr sz="1000" b="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Poor</c:v>
                </c:pt>
                <c:pt idx="1">
                  <c:v>Fair </c:v>
                </c:pt>
                <c:pt idx="2">
                  <c:v>Good</c:v>
                </c:pt>
                <c:pt idx="3">
                  <c:v>Very Good</c:v>
                </c:pt>
                <c:pt idx="4">
                  <c:v>Excellent</c:v>
                </c:pt>
              </c:strCache>
            </c:strRef>
          </c:cat>
          <c:val>
            <c:numRef>
              <c:f>Sheet1!$D$2:$D$6</c:f>
              <c:numCache>
                <c:formatCode>0%</c:formatCode>
                <c:ptCount val="5"/>
                <c:pt idx="0">
                  <c:v>0.07894736842105263</c:v>
                </c:pt>
                <c:pt idx="1">
                  <c:v>0.1052631578947368</c:v>
                </c:pt>
                <c:pt idx="2">
                  <c:v>0.3157894736842105</c:v>
                </c:pt>
                <c:pt idx="3">
                  <c:v>0.4473684210526316</c:v>
                </c:pt>
                <c:pt idx="4">
                  <c:v>0.05263157894736842</c:v>
                </c:pt>
              </c:numCache>
            </c:numRef>
          </c:val>
          <c:extLst>
            <c:ext xmlns:c16="http://schemas.microsoft.com/office/drawing/2014/chart" uri="{C3380CC4-5D6E-409C-BE32-E72D297353CC}">
              <c16:uniqueId val="{00000000-F266-5348-A6A7-16CF032774A6}"/>
            </c:ext>
          </c:extLst>
        </c:ser>
        <c:ser>
          <c:idx val="3"/>
          <c:order val="3"/>
          <c:tx>
            <c:strRef>
              <c:f>Sheet1!$E$1</c:f>
              <c:strCache>
                <c:ptCount val="1"/>
                <c:pt idx="0">
                  <c:v>Q4 2025
(N=15)</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Poor</c:v>
                </c:pt>
                <c:pt idx="1">
                  <c:v>Fair </c:v>
                </c:pt>
                <c:pt idx="2">
                  <c:v>Good</c:v>
                </c:pt>
                <c:pt idx="3">
                  <c:v>Very Good</c:v>
                </c:pt>
                <c:pt idx="4">
                  <c:v>Excellent</c:v>
                </c:pt>
              </c:strCache>
            </c:strRef>
          </c:cat>
          <c:val>
            <c:numRef>
              <c:f>Sheet1!$E$2:$E$6</c:f>
              <c:numCache>
                <c:formatCode>0%</c:formatCode>
                <c:ptCount val="5"/>
                <c:pt idx="1">
                  <c:v>0.13333333333333333</c:v>
                </c:pt>
                <c:pt idx="2">
                  <c:v>0.26666666666666666</c:v>
                </c:pt>
                <c:pt idx="3">
                  <c:v>0.26666666666666666</c:v>
                </c:pt>
                <c:pt idx="4">
                  <c:v>0.26666666666666666</c:v>
                </c:pt>
              </c:numCache>
            </c:numRef>
          </c:val>
          <c:extLst>
            <c:ext xmlns:c16="http://schemas.microsoft.com/office/drawing/2014/chart" uri="{C3380CC4-5D6E-409C-BE32-E72D297353CC}">
              <c16:uniqueId val="{00000000-9334-5A44-B3DF-AD7141659EB5}"/>
            </c:ext>
          </c:extLst>
        </c:ser>
        <c:dLbls>
          <c:dLblPos val="outEnd"/>
          <c:showLegendKey val="0"/>
          <c:showVal val="1"/>
          <c:showCatName val="0"/>
          <c:showSerName val="0"/>
          <c:showPercent val="0"/>
          <c:showBubbleSize val="0"/>
        </c:dLbls>
        <c:gapWidth val="90"/>
        <c:overlap val="-10"/>
        <c:axId val="272318112"/>
        <c:axId val="272318672"/>
      </c:barChart>
      <c:catAx>
        <c:axId val="272318112"/>
        <c:scaling>
          <c:orientation val="minMax"/>
        </c:scaling>
        <c:delete val="0"/>
        <c:axPos val="b"/>
        <c:numFmt formatCode="General" sourceLinked="1"/>
        <c:majorTickMark val="none"/>
        <c:minorTickMark val="none"/>
        <c:tickLblPos val="nextTo"/>
        <c:spPr>
          <a:noFill/>
          <a:ln w="7816"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672"/>
        <c:crosses val="autoZero"/>
        <c:auto val="1"/>
        <c:lblAlgn val="ctr"/>
        <c:lblOffset val="100"/>
        <c:noMultiLvlLbl val="0"/>
      </c:catAx>
      <c:valAx>
        <c:axId val="272318672"/>
        <c:scaling>
          <c:orientation val="minMax"/>
          <c:max val="1"/>
        </c:scaling>
        <c:delete val="0"/>
        <c:axPos val="l"/>
        <c:majorGridlines>
          <c:spPr>
            <a:ln w="7816" cap="flat" cmpd="sng" algn="ctr">
              <a:solidFill>
                <a:schemeClr val="bg1">
                  <a:lumMod val="85000"/>
                </a:schemeClr>
              </a:solidFill>
              <a:round/>
            </a:ln>
            <a:effectLst/>
          </c:spPr>
        </c:majorGridlines>
        <c:numFmt formatCode="0%" sourceLinked="1"/>
        <c:majorTickMark val="none"/>
        <c:minorTickMark val="none"/>
        <c:tickLblPos val="nextTo"/>
        <c:spPr>
          <a:ln w="5223">
            <a:solidFill>
              <a:schemeClr val="bg1">
                <a:lumMod val="85000"/>
              </a:schemeClr>
            </a:solidFill>
          </a:ln>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272318112"/>
        <c:crosses val="autoZero"/>
        <c:crossBetween val="between"/>
      </c:valAx>
      <c:spPr>
        <a:noFill/>
        <a:ln w="21009">
          <a:noFill/>
        </a:ln>
      </c:spPr>
    </c:plotArea>
    <c:legend>
      <c:legendPos val="t"/>
      <c:layout>
        <c:manualLayout>
          <c:xMode val="edge"/>
          <c:yMode val="edge"/>
          <c:x val="0.2840333609614587"/>
          <c:y val="5.9662775616083012E-2"/>
          <c:w val="0.42883073826298029"/>
          <c:h val="7.650479487729403E-2"/>
        </c:manualLayout>
      </c:layout>
      <c:overlay val="0"/>
      <c:spPr>
        <a:noFill/>
        <a:ln w="20893">
          <a:noFill/>
        </a:ln>
      </c:spPr>
      <c:txPr>
        <a:bodyPr rot="0" spcFirstLastPara="1" vertOverflow="ellipsis" vert="horz" wrap="square" anchor="ctr" anchorCtr="1"/>
        <a:lstStyle/>
        <a:p>
          <a:pPr>
            <a:defRPr sz="983"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2.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4.xml><?xml version="1.0" encoding="utf-8"?>
<c:userShapes xmlns:c="http://schemas.openxmlformats.org/drawingml/2006/chart">
  <cdr:relSizeAnchor xmlns:cdr="http://schemas.openxmlformats.org/drawingml/2006/chartDrawing">
    <cdr:from>
      <cdr:x>0.20677</cdr:x>
      <cdr:y>0.91831</cdr:y>
    </cdr:from>
    <cdr:to>
      <cdr:x>0.38363</cdr:x>
      <cdr:y>1</cdr:y>
    </cdr:to>
    <cdr:sp macro="" textlink="">
      <cdr:nvSpPr>
        <cdr:cNvPr id="2" name="TextBox 1"/>
        <cdr:cNvSpPr txBox="1"/>
      </cdr:nvSpPr>
      <cdr:spPr>
        <a:xfrm xmlns:a="http://schemas.openxmlformats.org/drawingml/2006/main">
          <a:off x="1396999" y="5248123"/>
          <a:ext cx="1194966" cy="46687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pPr algn="ctr"/>
          <a:r>
            <a:rPr lang="en-US" dirty="0">
              <a:solidFill>
                <a:schemeClr val="tx1"/>
              </a:solidFill>
            </a:rPr>
            <a:t>Cleaning up after job </a:t>
          </a:r>
          <a:br>
            <a:rPr lang="en-US" dirty="0">
              <a:solidFill>
                <a:schemeClr val="tx1"/>
              </a:solidFill>
            </a:rPr>
          </a:br>
          <a:r>
            <a:rPr lang="en-US" dirty="0">
              <a:solidFill>
                <a:schemeClr val="tx1"/>
              </a:solidFill>
            </a:rPr>
            <a:t>was complete</a:t>
          </a:r>
          <a:endParaRPr lang="en-US" sz="1100" dirty="0">
            <a:solidFill>
              <a:schemeClr val="tx1"/>
            </a:solidFill>
          </a:endParaRPr>
        </a:p>
      </cdr:txBody>
    </cdr:sp>
  </cdr:relSizeAnchor>
  <cdr:relSizeAnchor xmlns:cdr="http://schemas.openxmlformats.org/drawingml/2006/chartDrawing">
    <cdr:from>
      <cdr:x>0.64662</cdr:x>
      <cdr:y>0.92102</cdr:y>
    </cdr:from>
    <cdr:to>
      <cdr:x>0.8404</cdr:x>
      <cdr:y>1</cdr:y>
    </cdr:to>
    <cdr:sp macro="" textlink="">
      <cdr:nvSpPr>
        <cdr:cNvPr id="12" name="TextBox 1"/>
        <cdr:cNvSpPr txBox="1"/>
      </cdr:nvSpPr>
      <cdr:spPr>
        <a:xfrm xmlns:a="http://schemas.openxmlformats.org/drawingml/2006/main">
          <a:off x="4368799" y="5263629"/>
          <a:ext cx="1309278" cy="45137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57BC7E7C-6C5A-4209-9113-14C2916D7A64}"/>
            </a:ext>
          </a:extLst>
        </cdr:cNvPr>
        <cdr:cNvCxnSpPr/>
      </cdr:nvCxnSpPr>
      <cdr:spPr>
        <a:xfrm xmlns:a="http://schemas.openxmlformats.org/drawingml/2006/main" flipH="1">
          <a:off x="3530599" y="772827"/>
          <a:ext cx="7702" cy="3436231"/>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5.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97950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4133932-E495-4E1A-9472-86E75AE9C1D7}"/>
            </a:ext>
          </a:extLst>
        </cdr:cNvPr>
        <cdr:cNvCxnSpPr/>
      </cdr:nvCxnSpPr>
      <cdr:spPr>
        <a:xfrm xmlns:a="http://schemas.openxmlformats.org/drawingml/2006/main" flipH="1">
          <a:off x="3530599" y="718952"/>
          <a:ext cx="7702" cy="3515095"/>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0.66026</cdr:x>
      <cdr:y>0.92925</cdr:y>
    </cdr:from>
    <cdr:to>
      <cdr:x>0.85404</cdr:x>
      <cdr:y>0.99571</cdr:y>
    </cdr:to>
    <cdr:sp macro="" textlink="">
      <cdr:nvSpPr>
        <cdr:cNvPr id="9" name="TextBox 1"/>
        <cdr:cNvSpPr txBox="1"/>
      </cdr:nvSpPr>
      <cdr:spPr>
        <a:xfrm xmlns:a="http://schemas.openxmlformats.org/drawingml/2006/main">
          <a:off x="4460989" y="4956642"/>
          <a:ext cx="1309255" cy="354498"/>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Promptness/keeping appointments/</a:t>
          </a:r>
        </a:p>
        <a:p xmlns:a="http://schemas.openxmlformats.org/drawingml/2006/main">
          <a:pPr algn="ctr"/>
          <a:r>
            <a:rPr lang="en-US" dirty="0">
              <a:solidFill>
                <a:schemeClr val="tx1"/>
              </a:solidFill>
            </a:rPr>
            <a:t>being on time</a:t>
          </a:r>
          <a:endParaRPr lang="en-US" sz="1100" dirty="0">
            <a:solidFill>
              <a:schemeClr val="tx1"/>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0.19549</cdr:x>
      <cdr:y>0.92567</cdr:y>
    </cdr:from>
    <cdr:to>
      <cdr:x>0.40977</cdr:x>
      <cdr:y>0.99213</cdr:y>
    </cdr:to>
    <cdr:sp macro="" textlink="">
      <cdr:nvSpPr>
        <cdr:cNvPr id="13" name="TextBox 1"/>
        <cdr:cNvSpPr txBox="1"/>
      </cdr:nvSpPr>
      <cdr:spPr>
        <a:xfrm xmlns:a="http://schemas.openxmlformats.org/drawingml/2006/main">
          <a:off x="1320799" y="4481984"/>
          <a:ext cx="1447790"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0.14515</cdr:y>
    </cdr:from>
    <cdr:to>
      <cdr:x>0.5237</cdr:x>
      <cdr:y>0.85484</cdr:y>
    </cdr:to>
    <cdr:cxnSp macro="">
      <cdr:nvCxnSpPr>
        <cdr:cNvPr id="4" name="Straight Connector 3">
          <a:extLst xmlns:a="http://schemas.openxmlformats.org/drawingml/2006/main">
            <a:ext uri="{FF2B5EF4-FFF2-40B4-BE49-F238E27FC236}">
              <a16:creationId xmlns:a16="http://schemas.microsoft.com/office/drawing/2014/main" id="{5D3FF90F-E274-4184-A306-63BF9DC99314}"/>
            </a:ext>
          </a:extLst>
        </cdr:cNvPr>
        <cdr:cNvCxnSpPr/>
      </cdr:nvCxnSpPr>
      <cdr:spPr>
        <a:xfrm xmlns:a="http://schemas.openxmlformats.org/drawingml/2006/main" flipH="1">
          <a:off x="3530599" y="702822"/>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0.91279</cdr:y>
    </cdr:from>
    <cdr:to>
      <cdr:x>0.85291</cdr:x>
      <cdr:y>0.97925</cdr:y>
    </cdr:to>
    <cdr:sp macro="" textlink="">
      <cdr:nvSpPr>
        <cdr:cNvPr id="9" name="TextBox 1"/>
        <cdr:cNvSpPr txBox="1"/>
      </cdr:nvSpPr>
      <cdr:spPr>
        <a:xfrm xmlns:a="http://schemas.openxmlformats.org/drawingml/2006/main">
          <a:off x="4453369"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br>
            <a:rPr lang="en-US" dirty="0">
              <a:solidFill>
                <a:schemeClr val="tx1"/>
              </a:solidFill>
            </a:rPr>
          </a:br>
          <a:r>
            <a:rPr lang="en-US" dirty="0">
              <a:solidFill>
                <a:schemeClr val="tx1"/>
              </a:solidFill>
            </a:rPr>
            <a:t>financial aid programs</a:t>
          </a:r>
          <a:endParaRPr lang="en-US" sz="1100" dirty="0">
            <a:solidFill>
              <a:schemeClr val="tx1"/>
            </a:solidFill>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0.19549</cdr:x>
      <cdr:y>0.93354</cdr:y>
    </cdr:from>
    <cdr:to>
      <cdr:x>0.38927</cdr:x>
      <cdr:y>1</cdr:y>
    </cdr:to>
    <cdr:sp macro="" textlink="">
      <cdr:nvSpPr>
        <cdr:cNvPr id="13" name="TextBox 1"/>
        <cdr:cNvSpPr txBox="1"/>
      </cdr:nvSpPr>
      <cdr:spPr>
        <a:xfrm xmlns:a="http://schemas.openxmlformats.org/drawingml/2006/main">
          <a:off x="1320799" y="4520084"/>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Professional behavior</a:t>
          </a:r>
          <a:endParaRPr lang="en-US" sz="1100" dirty="0">
            <a:solidFill>
              <a:schemeClr val="tx1"/>
            </a:solidFill>
          </a:endParaRPr>
        </a:p>
      </cdr:txBody>
    </cdr:sp>
  </cdr:relSizeAnchor>
  <cdr:relSizeAnchor xmlns:cdr="http://schemas.openxmlformats.org/drawingml/2006/chartDrawing">
    <cdr:from>
      <cdr:x>0.52256</cdr:x>
      <cdr:y>0.15961</cdr:y>
    </cdr:from>
    <cdr:to>
      <cdr:x>0.5237</cdr:x>
      <cdr:y>0.8693</cdr:y>
    </cdr:to>
    <cdr:cxnSp macro="">
      <cdr:nvCxnSpPr>
        <cdr:cNvPr id="4" name="Straight Connector 3">
          <a:extLst xmlns:a="http://schemas.openxmlformats.org/drawingml/2006/main">
            <a:ext uri="{FF2B5EF4-FFF2-40B4-BE49-F238E27FC236}">
              <a16:creationId xmlns:a16="http://schemas.microsoft.com/office/drawing/2014/main" id="{0369F11A-978D-4DDF-AAAA-90D76FB1EB50}"/>
            </a:ext>
          </a:extLst>
        </cdr:cNvPr>
        <cdr:cNvCxnSpPr/>
      </cdr:nvCxnSpPr>
      <cdr:spPr>
        <a:xfrm xmlns:a="http://schemas.openxmlformats.org/drawingml/2006/main" flipH="1">
          <a:off x="3530599" y="772828"/>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0.65913</cdr:x>
      <cdr:y>0.92925</cdr:y>
    </cdr:from>
    <cdr:to>
      <cdr:x>0.85291</cdr:x>
      <cdr:y>0.99571</cdr:y>
    </cdr:to>
    <cdr:sp macro="" textlink="">
      <cdr:nvSpPr>
        <cdr:cNvPr id="9" name="TextBox 1"/>
        <cdr:cNvSpPr txBox="1"/>
      </cdr:nvSpPr>
      <cdr:spPr>
        <a:xfrm xmlns:a="http://schemas.openxmlformats.org/drawingml/2006/main">
          <a:off x="4453369" y="4499302"/>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Overall service provided</a:t>
          </a:r>
          <a:endParaRPr lang="en-US" sz="1100" dirty="0">
            <a:solidFill>
              <a:schemeClr val="tx1"/>
            </a:solidFill>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0.19549</cdr:x>
      <cdr:y>0.92639</cdr:y>
    </cdr:from>
    <cdr:to>
      <cdr:x>0.38927</cdr:x>
      <cdr:y>0.99285</cdr:y>
    </cdr:to>
    <cdr:sp macro="" textlink="">
      <cdr:nvSpPr>
        <cdr:cNvPr id="13" name="TextBox 1"/>
        <cdr:cNvSpPr txBox="1"/>
      </cdr:nvSpPr>
      <cdr:spPr>
        <a:xfrm xmlns:a="http://schemas.openxmlformats.org/drawingml/2006/main">
          <a:off x="1320799" y="4485448"/>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communicate</a:t>
          </a:r>
          <a:endParaRPr lang="en-US" sz="1100" dirty="0">
            <a:solidFill>
              <a:schemeClr val="tx1"/>
            </a:solidFill>
          </a:endParaRPr>
        </a:p>
      </cdr:txBody>
    </cdr:sp>
  </cdr:relSizeAnchor>
  <cdr:relSizeAnchor xmlns:cdr="http://schemas.openxmlformats.org/drawingml/2006/chartDrawing">
    <cdr:from>
      <cdr:x>0.52256</cdr:x>
      <cdr:y>0.15738</cdr:y>
    </cdr:from>
    <cdr:to>
      <cdr:x>0.5237</cdr:x>
      <cdr:y>0.86707</cdr:y>
    </cdr:to>
    <cdr:cxnSp macro="">
      <cdr:nvCxnSpPr>
        <cdr:cNvPr id="4" name="Straight Connector 3">
          <a:extLst xmlns:a="http://schemas.openxmlformats.org/drawingml/2006/main">
            <a:ext uri="{FF2B5EF4-FFF2-40B4-BE49-F238E27FC236}">
              <a16:creationId xmlns:a16="http://schemas.microsoft.com/office/drawing/2014/main" id="{11519020-7276-4512-9CBC-5228B6E06FBD}"/>
            </a:ext>
          </a:extLst>
        </cdr:cNvPr>
        <cdr:cNvCxnSpPr/>
      </cdr:nvCxnSpPr>
      <cdr:spPr>
        <a:xfrm xmlns:a="http://schemas.openxmlformats.org/drawingml/2006/main" flipH="1">
          <a:off x="3530599" y="762000"/>
          <a:ext cx="7702" cy="3436230"/>
        </a:xfrm>
        <a:prstGeom xmlns:a="http://schemas.openxmlformats.org/drawingml/2006/main" prst="line">
          <a:avLst/>
        </a:prstGeom>
        <a:ln xmlns:a="http://schemas.openxmlformats.org/drawingml/2006/main" w="3175">
          <a:solidFill>
            <a:schemeClr val="tx1"/>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0.64662</cdr:x>
      <cdr:y>0.91279</cdr:y>
    </cdr:from>
    <cdr:to>
      <cdr:x>0.8935</cdr:x>
      <cdr:y>1</cdr:y>
    </cdr:to>
    <cdr:sp macro="" textlink="">
      <cdr:nvSpPr>
        <cdr:cNvPr id="9" name="TextBox 1"/>
        <cdr:cNvSpPr txBox="1"/>
      </cdr:nvSpPr>
      <cdr:spPr>
        <a:xfrm xmlns:a="http://schemas.openxmlformats.org/drawingml/2006/main">
          <a:off x="4368799" y="4419615"/>
          <a:ext cx="1668053" cy="42226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Ability to answer questions</a:t>
          </a:r>
        </a:p>
        <a:p xmlns:a="http://schemas.openxmlformats.org/drawingml/2006/main">
          <a:pPr algn="ctr"/>
          <a:r>
            <a:rPr lang="en-US" dirty="0">
              <a:solidFill>
                <a:schemeClr val="tx1"/>
              </a:solidFill>
            </a:rPr>
            <a:t>d</a:t>
          </a:r>
          <a:r>
            <a:rPr lang="en-US" sz="1100" dirty="0">
              <a:solidFill>
                <a:schemeClr val="tx1"/>
              </a:solidFill>
            </a:rPr>
            <a:t>uring the process</a:t>
          </a:r>
        </a:p>
      </cdr:txBody>
    </cdr:sp>
  </cdr:relSizeAnchor>
</c:userShapes>
</file>

<file path=ppt/drawings/drawing9.xml><?xml version="1.0" encoding="utf-8"?>
<c:userShapes xmlns:c="http://schemas.openxmlformats.org/drawingml/2006/chart">
  <cdr:relSizeAnchor xmlns:cdr="http://schemas.openxmlformats.org/drawingml/2006/chartDrawing">
    <cdr:from>
      <cdr:x>0.43257</cdr:x>
      <cdr:y>0.91279</cdr:y>
    </cdr:from>
    <cdr:to>
      <cdr:x>0.62635</cdr:x>
      <cdr:y>0.97925</cdr:y>
    </cdr:to>
    <cdr:sp macro="" textlink="">
      <cdr:nvSpPr>
        <cdr:cNvPr id="13" name="TextBox 1"/>
        <cdr:cNvSpPr txBox="1"/>
      </cdr:nvSpPr>
      <cdr:spPr>
        <a:xfrm xmlns:a="http://schemas.openxmlformats.org/drawingml/2006/main">
          <a:off x="2922645" y="4419600"/>
          <a:ext cx="1309255" cy="321791"/>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dirty="0">
              <a:solidFill>
                <a:schemeClr val="tx1"/>
              </a:solidFill>
            </a:rPr>
            <a:t>Knowledge of weatherization/</a:t>
          </a:r>
        </a:p>
        <a:p xmlns:a="http://schemas.openxmlformats.org/drawingml/2006/main">
          <a:pPr algn="ctr"/>
          <a:r>
            <a:rPr lang="en-US" dirty="0">
              <a:solidFill>
                <a:schemeClr val="tx1"/>
              </a:solidFill>
            </a:rPr>
            <a:t>f</a:t>
          </a:r>
          <a:r>
            <a:rPr lang="en-US" sz="1100" dirty="0">
              <a:solidFill>
                <a:schemeClr val="tx1"/>
              </a:solidFill>
            </a:rPr>
            <a:t>inancial aid </a:t>
          </a:r>
          <a:r>
            <a:rPr lang="en-US" dirty="0">
              <a:solidFill>
                <a:schemeClr val="tx1"/>
              </a:solidFill>
            </a:rPr>
            <a:t>p</a:t>
          </a:r>
          <a:r>
            <a:rPr lang="en-US" sz="1100" dirty="0">
              <a:solidFill>
                <a:schemeClr val="tx1"/>
              </a:solidFill>
            </a:rPr>
            <a:t>rograms</a:t>
          </a:r>
        </a:p>
      </cdr:txBody>
    </cdr:sp>
  </cdr:relSizeAnchor>
</c:userShapes>
</file>

<file path=ppt/drawings/drawing10.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1.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drawings/drawing12.xml><?xml version="1.0" encoding="utf-8"?>
<c:userShapes xmlns:c="http://schemas.openxmlformats.org/drawingml/2006/chart">
  <cdr:relSizeAnchor xmlns:cdr="http://schemas.openxmlformats.org/drawingml/2006/chartDrawing">
    <cdr:from>
      <cdr:x>0.37647</cdr:x>
      <cdr:y>0.74126</cdr:y>
    </cdr:from>
    <cdr:to>
      <cdr:x>0.43214</cdr:x>
      <cdr:y>0.78987</cdr:y>
    </cdr:to>
    <cdr:sp macro="" textlink="">
      <cdr:nvSpPr>
        <cdr:cNvPr id="2" name="TextBox 1">
          <a:extLst xmlns:a="http://schemas.openxmlformats.org/drawingml/2006/main">
            <a:ext uri="{FF2B5EF4-FFF2-40B4-BE49-F238E27FC236}">
              <a16:creationId xmlns:a16="http://schemas.microsoft.com/office/drawing/2014/main" id="{3D7FDD1C-EC69-B94B-B40C-365D2FBE62A5}"/>
            </a:ext>
          </a:extLst>
        </cdr:cNvPr>
        <cdr:cNvSpPr txBox="1"/>
      </cdr:nvSpPr>
      <cdr:spPr>
        <a:xfrm xmlns:a="http://schemas.openxmlformats.org/drawingml/2006/main">
          <a:off x="2576444" y="4648200"/>
          <a:ext cx="381000" cy="304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930" dirty="0"/>
        </a:p>
      </cdr:txBody>
    </cdr:sp>
  </cdr:relSizeAnchor>
</c:userShapes>
</file>

<file path=ppt/drawings/drawing13.xml><?xml version="1.0" encoding="utf-8"?>
<c:userShapes xmlns:c="http://schemas.openxmlformats.org/drawingml/2006/chart">
  <cdr:relSizeAnchor xmlns:cdr="http://schemas.openxmlformats.org/drawingml/2006/chartDrawing">
    <cdr:from>
      <cdr:x>0.49393</cdr:x>
      <cdr:y>0.14034</cdr:y>
    </cdr:from>
    <cdr:to>
      <cdr:x>0.5329</cdr:x>
      <cdr:y>0.19787</cdr:y>
    </cdr:to>
    <cdr:sp macro="" textlink="">
      <cdr:nvSpPr>
        <cdr:cNvPr id="2" name="TextBox 1"/>
        <cdr:cNvSpPr txBox="1"/>
      </cdr:nvSpPr>
      <cdr:spPr>
        <a:xfrm xmlns:a="http://schemas.openxmlformats.org/drawingml/2006/main">
          <a:off x="3923738" y="693720"/>
          <a:ext cx="309573" cy="279132"/>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4"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0179" name="Rectangle 3"/>
          <p:cNvSpPr>
            <a:spLocks noGrp="1" noChangeArrowheads="1"/>
          </p:cNvSpPr>
          <p:nvPr>
            <p:ph type="dt" sz="quarter" idx="1"/>
          </p:nvPr>
        </p:nvSpPr>
        <p:spPr bwMode="auto">
          <a:xfrm>
            <a:off x="5254487" y="1"/>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0180" name="Rectangle 4"/>
          <p:cNvSpPr>
            <a:spLocks noGrp="1" noChangeArrowheads="1"/>
          </p:cNvSpPr>
          <p:nvPr>
            <p:ph type="ftr" sz="quarter" idx="2"/>
          </p:nvPr>
        </p:nvSpPr>
        <p:spPr bwMode="auto">
          <a:xfrm>
            <a:off x="4" y="6665626"/>
            <a:ext cx="4041913" cy="344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30" tIns="45716" rIns="91430" bIns="45716"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2" name="Slide Number Placeholder 1"/>
          <p:cNvSpPr>
            <a:spLocks noGrp="1"/>
          </p:cNvSpPr>
          <p:nvPr>
            <p:ph type="sldNum" sz="quarter" idx="3"/>
          </p:nvPr>
        </p:nvSpPr>
        <p:spPr>
          <a:xfrm>
            <a:off x="5265015" y="6658447"/>
            <a:ext cx="4029282" cy="351957"/>
          </a:xfrm>
          <a:prstGeom prst="rect">
            <a:avLst/>
          </a:prstGeom>
        </p:spPr>
        <p:txBody>
          <a:bodyPr vert="horz" lIns="91430" tIns="45716" rIns="91430" bIns="45716" rtlCol="0" anchor="b"/>
          <a:lstStyle>
            <a:lvl1pPr algn="r">
              <a:defRPr sz="1200"/>
            </a:lvl1pPr>
          </a:lstStyle>
          <a:p>
            <a:pPr>
              <a:defRPr/>
            </a:pPr>
            <a:fld id="{0D6C7A70-31E7-4B49-B3BD-709EDB4CC72D}" type="slidenum">
              <a:rPr lang="en-US"/>
              <a:pPr>
                <a:defRPr/>
              </a:pPr>
              <a:t>‹#›</a:t>
            </a:fld>
            <a:endParaRPr lang="en-US"/>
          </a:p>
        </p:txBody>
      </p:sp>
    </p:spTree>
    <p:extLst>
      <p:ext uri="{BB962C8B-B14F-4D97-AF65-F5344CB8AC3E}">
        <p14:creationId xmlns:p14="http://schemas.microsoft.com/office/powerpoint/2010/main" val="2366716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6"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5" name="Rectangle 3"/>
          <p:cNvSpPr>
            <a:spLocks noGrp="1" noChangeArrowheads="1"/>
          </p:cNvSpPr>
          <p:nvPr>
            <p:ph type="dt" idx="1"/>
          </p:nvPr>
        </p:nvSpPr>
        <p:spPr bwMode="auto">
          <a:xfrm>
            <a:off x="526712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lvl1pPr algn="r" defTabSz="931768">
              <a:defRPr sz="12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662363" y="525463"/>
            <a:ext cx="1971675" cy="26289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1239945" y="3330424"/>
            <a:ext cx="6816518" cy="3154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6"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defTabSz="931768">
              <a:defRPr sz="1200">
                <a:latin typeface="Times New Roman" pitchFamily="18" charset="0"/>
              </a:defRPr>
            </a:lvl1pPr>
          </a:lstStyle>
          <a:p>
            <a:pPr>
              <a:defRPr/>
            </a:pPr>
            <a:endParaRPr lang="en-US"/>
          </a:p>
        </p:txBody>
      </p:sp>
      <p:sp>
        <p:nvSpPr>
          <p:cNvPr id="3079" name="Rectangle 7"/>
          <p:cNvSpPr>
            <a:spLocks noGrp="1" noChangeArrowheads="1"/>
          </p:cNvSpPr>
          <p:nvPr>
            <p:ph type="sldNum" sz="quarter" idx="5"/>
          </p:nvPr>
        </p:nvSpPr>
        <p:spPr bwMode="auto">
          <a:xfrm>
            <a:off x="5267121" y="6659645"/>
            <a:ext cx="4029282" cy="350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8" tIns="46584" rIns="93168" bIns="46584" numCol="1" anchor="b" anchorCtr="0" compatLnSpc="1">
            <a:prstTxWarp prst="textNoShape">
              <a:avLst/>
            </a:prstTxWarp>
          </a:bodyPr>
          <a:lstStyle>
            <a:lvl1pPr algn="r" defTabSz="931768">
              <a:defRPr sz="1200">
                <a:latin typeface="Times New Roman" panose="02020603050405020304" pitchFamily="18" charset="0"/>
              </a:defRPr>
            </a:lvl1pPr>
          </a:lstStyle>
          <a:p>
            <a:pPr>
              <a:defRPr/>
            </a:pPr>
            <a:fld id="{D157A655-42AC-4AB2-B08C-5753FECA8C89}" type="slidenum">
              <a:rPr lang="en-US" altLang="en-US"/>
              <a:pPr>
                <a:defRPr/>
              </a:pPr>
              <a:t>‹#›</a:t>
            </a:fld>
            <a:endParaRPr lang="en-US" altLang="en-US"/>
          </a:p>
        </p:txBody>
      </p:sp>
    </p:spTree>
    <p:extLst>
      <p:ext uri="{BB962C8B-B14F-4D97-AF65-F5344CB8AC3E}">
        <p14:creationId xmlns:p14="http://schemas.microsoft.com/office/powerpoint/2010/main" val="17514554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8F91E9F1-0FF9-4EA2-8489-E500C439DEDC}"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63707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a:t>
            </a:fld>
            <a:endParaRPr lang="en-US" altLang="en-US"/>
          </a:p>
        </p:txBody>
      </p:sp>
    </p:spTree>
    <p:extLst>
      <p:ext uri="{BB962C8B-B14F-4D97-AF65-F5344CB8AC3E}">
        <p14:creationId xmlns:p14="http://schemas.microsoft.com/office/powerpoint/2010/main" val="3469989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a:t>
            </a:fld>
            <a:endParaRPr lang="en-US" altLang="en-US"/>
          </a:p>
        </p:txBody>
      </p:sp>
    </p:spTree>
    <p:extLst>
      <p:ext uri="{BB962C8B-B14F-4D97-AF65-F5344CB8AC3E}">
        <p14:creationId xmlns:p14="http://schemas.microsoft.com/office/powerpoint/2010/main" val="3322774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549062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900580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21</a:t>
            </a:fld>
            <a:endParaRPr lang="en-US" altLang="en-US"/>
          </a:p>
        </p:txBody>
      </p:sp>
    </p:spTree>
    <p:extLst>
      <p:ext uri="{BB962C8B-B14F-4D97-AF65-F5344CB8AC3E}">
        <p14:creationId xmlns:p14="http://schemas.microsoft.com/office/powerpoint/2010/main" val="3681899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157A655-42AC-4AB2-B08C-5753FECA8C89}" type="slidenum">
              <a:rPr lang="en-US" altLang="en-US" smtClean="0"/>
              <a:pPr>
                <a:defRPr/>
              </a:pPr>
              <a:t>31</a:t>
            </a:fld>
            <a:endParaRPr lang="en-US" altLang="en-US"/>
          </a:p>
        </p:txBody>
      </p:sp>
    </p:spTree>
    <p:extLst>
      <p:ext uri="{BB962C8B-B14F-4D97-AF65-F5344CB8AC3E}">
        <p14:creationId xmlns:p14="http://schemas.microsoft.com/office/powerpoint/2010/main" val="26788141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03146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062227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47</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7793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49</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03940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1768">
              <a:defRPr sz="1400">
                <a:solidFill>
                  <a:schemeClr val="tx1"/>
                </a:solidFill>
                <a:latin typeface="Tahoma" panose="020B0604030504040204" pitchFamily="34" charset="0"/>
              </a:defRPr>
            </a:lvl1pPr>
            <a:lvl2pPr marL="742873" indent="-285721" defTabSz="931768">
              <a:defRPr sz="1400">
                <a:solidFill>
                  <a:schemeClr val="tx1"/>
                </a:solidFill>
                <a:latin typeface="Tahoma" panose="020B0604030504040204" pitchFamily="34" charset="0"/>
              </a:defRPr>
            </a:lvl2pPr>
            <a:lvl3pPr marL="1142883" indent="-228577" defTabSz="931768">
              <a:defRPr sz="1400">
                <a:solidFill>
                  <a:schemeClr val="tx1"/>
                </a:solidFill>
                <a:latin typeface="Tahoma" panose="020B0604030504040204" pitchFamily="34" charset="0"/>
              </a:defRPr>
            </a:lvl3pPr>
            <a:lvl4pPr marL="1600036" indent="-228577" defTabSz="931768">
              <a:defRPr sz="1400">
                <a:solidFill>
                  <a:schemeClr val="tx1"/>
                </a:solidFill>
                <a:latin typeface="Tahoma" panose="020B0604030504040204" pitchFamily="34" charset="0"/>
              </a:defRPr>
            </a:lvl4pPr>
            <a:lvl5pPr marL="2057189" indent="-228577" defTabSz="931768">
              <a:defRPr sz="1400">
                <a:solidFill>
                  <a:schemeClr val="tx1"/>
                </a:solidFill>
                <a:latin typeface="Tahoma" panose="020B0604030504040204" pitchFamily="34" charset="0"/>
              </a:defRPr>
            </a:lvl5pPr>
            <a:lvl6pPr marL="2514343" indent="-228577" defTabSz="931768" eaLnBrk="0" fontAlgn="base" hangingPunct="0">
              <a:spcBef>
                <a:spcPct val="0"/>
              </a:spcBef>
              <a:spcAft>
                <a:spcPct val="0"/>
              </a:spcAft>
              <a:defRPr sz="1400">
                <a:solidFill>
                  <a:schemeClr val="tx1"/>
                </a:solidFill>
                <a:latin typeface="Tahoma" panose="020B0604030504040204" pitchFamily="34" charset="0"/>
              </a:defRPr>
            </a:lvl6pPr>
            <a:lvl7pPr marL="2971496" indent="-228577" defTabSz="931768" eaLnBrk="0" fontAlgn="base" hangingPunct="0">
              <a:spcBef>
                <a:spcPct val="0"/>
              </a:spcBef>
              <a:spcAft>
                <a:spcPct val="0"/>
              </a:spcAft>
              <a:defRPr sz="1400">
                <a:solidFill>
                  <a:schemeClr val="tx1"/>
                </a:solidFill>
                <a:latin typeface="Tahoma" panose="020B0604030504040204" pitchFamily="34" charset="0"/>
              </a:defRPr>
            </a:lvl7pPr>
            <a:lvl8pPr marL="3428649" indent="-228577" defTabSz="931768" eaLnBrk="0" fontAlgn="base" hangingPunct="0">
              <a:spcBef>
                <a:spcPct val="0"/>
              </a:spcBef>
              <a:spcAft>
                <a:spcPct val="0"/>
              </a:spcAft>
              <a:defRPr sz="1400">
                <a:solidFill>
                  <a:schemeClr val="tx1"/>
                </a:solidFill>
                <a:latin typeface="Tahoma" panose="020B0604030504040204" pitchFamily="34" charset="0"/>
              </a:defRPr>
            </a:lvl8pPr>
            <a:lvl9pPr marL="3885802" indent="-228577" defTabSz="931768" eaLnBrk="0" fontAlgn="base" hangingPunct="0">
              <a:spcBef>
                <a:spcPct val="0"/>
              </a:spcBef>
              <a:spcAft>
                <a:spcPct val="0"/>
              </a:spcAft>
              <a:defRPr sz="1400">
                <a:solidFill>
                  <a:schemeClr val="tx1"/>
                </a:solidFill>
                <a:latin typeface="Tahoma" panose="020B0604030504040204" pitchFamily="34" charset="0"/>
              </a:defRPr>
            </a:lvl9pPr>
          </a:lstStyle>
          <a:p>
            <a:fld id="{BF7BD0C0-3E28-472D-B356-0A6C0AE0EEB8}" type="slidenum">
              <a:rPr lang="en-US" altLang="en-US" sz="1200">
                <a:latin typeface="Times New Roman" panose="02020603050405020304" pitchFamily="18" charset="0"/>
              </a:rPr>
              <a:pPr/>
              <a:t>52</a:t>
            </a:fld>
            <a:endParaRPr lang="en-US" altLang="en-US" sz="120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4275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p:nvSpPr>
        <p:spPr bwMode="auto">
          <a:xfrm>
            <a:off x="0" y="3048000"/>
            <a:ext cx="6858000" cy="1524000"/>
          </a:xfrm>
          <a:prstGeom prst="rect">
            <a:avLst/>
          </a:prstGeom>
          <a:gradFill flip="none" rotWithShape="1">
            <a:gsLst>
              <a:gs pos="0">
                <a:srgbClr val="004F9E">
                  <a:shade val="30000"/>
                  <a:satMod val="115000"/>
                </a:srgbClr>
              </a:gs>
              <a:gs pos="50000">
                <a:srgbClr val="004F9E">
                  <a:shade val="67500"/>
                  <a:satMod val="115000"/>
                </a:srgbClr>
              </a:gs>
              <a:gs pos="100000">
                <a:srgbClr val="004F9E">
                  <a:shade val="100000"/>
                  <a:satMod val="115000"/>
                </a:srgbClr>
              </a:gs>
            </a:gsLst>
            <a:lin ang="16200000" scaled="1"/>
            <a:tileRect/>
          </a:gradFill>
          <a:ln w="9525">
            <a:solidFill>
              <a:schemeClr val="bg1"/>
            </a:solidFill>
            <a:miter lim="800000"/>
            <a:headEnd/>
            <a:tailEnd/>
          </a:ln>
          <a:effectLst/>
        </p:spPr>
        <p:txBody>
          <a:bodyPr wrap="none" anchor="ctr"/>
          <a:lstStyle>
            <a:lvl1pPr>
              <a:defRPr sz="1400">
                <a:solidFill>
                  <a:schemeClr val="tx1"/>
                </a:solidFill>
                <a:latin typeface="Tahoma" panose="020B0604030504040204" pitchFamily="34" charset="0"/>
              </a:defRPr>
            </a:lvl1pPr>
            <a:lvl2pPr marL="742950" indent="-285750">
              <a:defRPr sz="1400">
                <a:solidFill>
                  <a:schemeClr val="tx1"/>
                </a:solidFill>
                <a:latin typeface="Tahoma" panose="020B0604030504040204" pitchFamily="34" charset="0"/>
              </a:defRPr>
            </a:lvl2pPr>
            <a:lvl3pPr marL="1143000" indent="-228600">
              <a:defRPr sz="1400">
                <a:solidFill>
                  <a:schemeClr val="tx1"/>
                </a:solidFill>
                <a:latin typeface="Tahoma" panose="020B0604030504040204" pitchFamily="34" charset="0"/>
              </a:defRPr>
            </a:lvl3pPr>
            <a:lvl4pPr marL="1600200" indent="-228600">
              <a:defRPr sz="1400">
                <a:solidFill>
                  <a:schemeClr val="tx1"/>
                </a:solidFill>
                <a:latin typeface="Tahoma" panose="020B0604030504040204" pitchFamily="34" charset="0"/>
              </a:defRPr>
            </a:lvl4pPr>
            <a:lvl5pPr marL="2057400" indent="-228600">
              <a:defRPr sz="1400">
                <a:solidFill>
                  <a:schemeClr val="tx1"/>
                </a:solidFill>
                <a:latin typeface="Tahoma" panose="020B0604030504040204" pitchFamily="34" charset="0"/>
              </a:defRPr>
            </a:lvl5pPr>
            <a:lvl6pPr marL="2514600" indent="-228600" eaLnBrk="0" fontAlgn="base" hangingPunct="0">
              <a:spcBef>
                <a:spcPct val="0"/>
              </a:spcBef>
              <a:spcAft>
                <a:spcPct val="0"/>
              </a:spcAft>
              <a:defRPr sz="1400">
                <a:solidFill>
                  <a:schemeClr val="tx1"/>
                </a:solidFill>
                <a:latin typeface="Tahoma" panose="020B0604030504040204" pitchFamily="34" charset="0"/>
              </a:defRPr>
            </a:lvl6pPr>
            <a:lvl7pPr marL="2971800" indent="-228600" eaLnBrk="0" fontAlgn="base" hangingPunct="0">
              <a:spcBef>
                <a:spcPct val="0"/>
              </a:spcBef>
              <a:spcAft>
                <a:spcPct val="0"/>
              </a:spcAft>
              <a:defRPr sz="1400">
                <a:solidFill>
                  <a:schemeClr val="tx1"/>
                </a:solidFill>
                <a:latin typeface="Tahoma" panose="020B0604030504040204" pitchFamily="34" charset="0"/>
              </a:defRPr>
            </a:lvl7pPr>
            <a:lvl8pPr marL="3429000" indent="-228600" eaLnBrk="0" fontAlgn="base" hangingPunct="0">
              <a:spcBef>
                <a:spcPct val="0"/>
              </a:spcBef>
              <a:spcAft>
                <a:spcPct val="0"/>
              </a:spcAft>
              <a:defRPr sz="1400">
                <a:solidFill>
                  <a:schemeClr val="tx1"/>
                </a:solidFill>
                <a:latin typeface="Tahoma" panose="020B0604030504040204" pitchFamily="34" charset="0"/>
              </a:defRPr>
            </a:lvl8pPr>
            <a:lvl9pPr marL="3886200" indent="-228600" eaLnBrk="0" fontAlgn="base" hangingPunct="0">
              <a:spcBef>
                <a:spcPct val="0"/>
              </a:spcBef>
              <a:spcAft>
                <a:spcPct val="0"/>
              </a:spcAft>
              <a:defRPr sz="1400">
                <a:solidFill>
                  <a:schemeClr val="tx1"/>
                </a:solidFill>
                <a:latin typeface="Tahoma" panose="020B0604030504040204" pitchFamily="34" charset="0"/>
              </a:defRPr>
            </a:lvl9pPr>
          </a:lstStyle>
          <a:p>
            <a:pPr>
              <a:defRPr/>
            </a:pPr>
            <a:endParaRPr lang="en-US" altLang="en-US"/>
          </a:p>
        </p:txBody>
      </p:sp>
      <p:sp>
        <p:nvSpPr>
          <p:cNvPr id="4098" name="Rectangle 2"/>
          <p:cNvSpPr>
            <a:spLocks noGrp="1" noChangeArrowheads="1"/>
          </p:cNvSpPr>
          <p:nvPr>
            <p:ph type="ctrTitle"/>
          </p:nvPr>
        </p:nvSpPr>
        <p:spPr>
          <a:xfrm>
            <a:off x="514350" y="3048000"/>
            <a:ext cx="5829300" cy="1524000"/>
          </a:xfrm>
        </p:spPr>
        <p:txBody>
          <a:bodyPr/>
          <a:lstStyle>
            <a:lvl1pPr>
              <a:defRPr>
                <a:solidFill>
                  <a:srgbClr val="FFFFCC"/>
                </a:solidFill>
              </a:defRPr>
            </a:lvl1pPr>
          </a:lstStyle>
          <a:p>
            <a:pPr lvl="0"/>
            <a:r>
              <a:rPr lang="en-US" noProof="0"/>
              <a:t>Click to edit Master title style</a:t>
            </a:r>
          </a:p>
        </p:txBody>
      </p:sp>
      <p:sp>
        <p:nvSpPr>
          <p:cNvPr id="4099" name="Rectangle 3"/>
          <p:cNvSpPr>
            <a:spLocks noGrp="1" noChangeArrowheads="1"/>
          </p:cNvSpPr>
          <p:nvPr>
            <p:ph type="subTitle" idx="1"/>
          </p:nvPr>
        </p:nvSpPr>
        <p:spPr>
          <a:xfrm>
            <a:off x="1028700" y="5181600"/>
            <a:ext cx="4800600" cy="2336800"/>
          </a:xfrm>
        </p:spPr>
        <p:txBody>
          <a:bodyPr/>
          <a:lstStyle>
            <a:lvl1pPr marL="0" indent="0" algn="ctr">
              <a:buFontTx/>
              <a:buNone/>
              <a:defRPr/>
            </a:lvl1pPr>
          </a:lstStyle>
          <a:p>
            <a:pPr lvl="0"/>
            <a:r>
              <a:rPr lang="en-US" noProof="0"/>
              <a:t>Click to edit Master subtitle style</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a:xfrm>
            <a:off x="4914900" y="8331200"/>
            <a:ext cx="1428750" cy="609600"/>
          </a:xfrm>
        </p:spPr>
        <p:txBody>
          <a:bodyPr/>
          <a:lstStyle>
            <a:lvl1pPr>
              <a:defRPr/>
            </a:lvl1pPr>
          </a:lstStyle>
          <a:p>
            <a:pPr>
              <a:defRPr/>
            </a:pPr>
            <a:fld id="{8A84DDC1-3798-4D63-A76C-A9BFAA9C1965}" type="slidenum">
              <a:rPr lang="en-US" altLang="en-US"/>
              <a:pPr>
                <a:defRPr/>
              </a:pPr>
              <a:t>‹#›</a:t>
            </a:fld>
            <a:endParaRPr lang="en-US" altLang="en-US"/>
          </a:p>
        </p:txBody>
      </p:sp>
    </p:spTree>
    <p:extLst>
      <p:ext uri="{BB962C8B-B14F-4D97-AF65-F5344CB8AC3E}">
        <p14:creationId xmlns:p14="http://schemas.microsoft.com/office/powerpoint/2010/main" val="100255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2880DE-8A54-4241-863A-5BEA31560478}" type="slidenum">
              <a:rPr lang="en-US" altLang="en-US"/>
              <a:pPr>
                <a:defRPr/>
              </a:pPr>
              <a:t>‹#›</a:t>
            </a:fld>
            <a:endParaRPr lang="en-US" altLang="en-US"/>
          </a:p>
        </p:txBody>
      </p:sp>
    </p:spTree>
    <p:extLst>
      <p:ext uri="{BB962C8B-B14F-4D97-AF65-F5344CB8AC3E}">
        <p14:creationId xmlns:p14="http://schemas.microsoft.com/office/powerpoint/2010/main" val="111204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338" y="5875338"/>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338" y="3875088"/>
            <a:ext cx="5829300" cy="200025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B9D4755-8934-42FA-98F5-F75640CF5DC6}" type="slidenum">
              <a:rPr lang="en-US" altLang="en-US"/>
              <a:pPr>
                <a:defRPr/>
              </a:pPr>
              <a:t>‹#›</a:t>
            </a:fld>
            <a:endParaRPr lang="en-US" altLang="en-US"/>
          </a:p>
        </p:txBody>
      </p:sp>
    </p:spTree>
    <p:extLst>
      <p:ext uri="{BB962C8B-B14F-4D97-AF65-F5344CB8AC3E}">
        <p14:creationId xmlns:p14="http://schemas.microsoft.com/office/powerpoint/2010/main" val="302838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1435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505200" y="2641600"/>
            <a:ext cx="283845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0584C1D-F39F-4B5F-AD71-B9CF7C341B36}" type="slidenum">
              <a:rPr lang="en-US" altLang="en-US"/>
              <a:pPr>
                <a:defRPr/>
              </a:pPr>
              <a:t>‹#›</a:t>
            </a:fld>
            <a:endParaRPr lang="en-US" altLang="en-US"/>
          </a:p>
        </p:txBody>
      </p:sp>
    </p:spTree>
    <p:extLst>
      <p:ext uri="{BB962C8B-B14F-4D97-AF65-F5344CB8AC3E}">
        <p14:creationId xmlns:p14="http://schemas.microsoft.com/office/powerpoint/2010/main" val="3952614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713"/>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1FD176F5-D366-4F17-AC56-116546327CC8}" type="slidenum">
              <a:rPr lang="en-US" altLang="en-US"/>
              <a:pPr>
                <a:defRPr/>
              </a:pPr>
              <a:t>‹#›</a:t>
            </a:fld>
            <a:endParaRPr lang="en-US" altLang="en-US"/>
          </a:p>
        </p:txBody>
      </p:sp>
    </p:spTree>
    <p:extLst>
      <p:ext uri="{BB962C8B-B14F-4D97-AF65-F5344CB8AC3E}">
        <p14:creationId xmlns:p14="http://schemas.microsoft.com/office/powerpoint/2010/main" val="104315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8B7EA93-73E3-4D44-AB30-F2520CC81B30}" type="slidenum">
              <a:rPr lang="en-US" altLang="en-US"/>
              <a:pPr>
                <a:defRPr/>
              </a:pPr>
              <a:t>‹#›</a:t>
            </a:fld>
            <a:endParaRPr lang="en-US" altLang="en-US"/>
          </a:p>
        </p:txBody>
      </p:sp>
    </p:spTree>
    <p:extLst>
      <p:ext uri="{BB962C8B-B14F-4D97-AF65-F5344CB8AC3E}">
        <p14:creationId xmlns:p14="http://schemas.microsoft.com/office/powerpoint/2010/main" val="1153976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F7849D09-3955-4B40-9799-37A8B489CC9B}" type="slidenum">
              <a:rPr lang="en-US" altLang="en-US"/>
              <a:pPr>
                <a:defRPr/>
              </a:pPr>
              <a:t>‹#›</a:t>
            </a:fld>
            <a:endParaRPr lang="en-US" altLang="en-US"/>
          </a:p>
        </p:txBody>
      </p:sp>
    </p:spTree>
    <p:extLst>
      <p:ext uri="{BB962C8B-B14F-4D97-AF65-F5344CB8AC3E}">
        <p14:creationId xmlns:p14="http://schemas.microsoft.com/office/powerpoint/2010/main" val="347791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3538"/>
            <a:ext cx="2255838"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CA60CF1-35FF-469A-A340-1034D98BD290}" type="slidenum">
              <a:rPr lang="en-US" altLang="en-US"/>
              <a:pPr>
                <a:defRPr/>
              </a:pPr>
              <a:t>‹#›</a:t>
            </a:fld>
            <a:endParaRPr lang="en-US" altLang="en-US"/>
          </a:p>
        </p:txBody>
      </p:sp>
    </p:spTree>
    <p:extLst>
      <p:ext uri="{BB962C8B-B14F-4D97-AF65-F5344CB8AC3E}">
        <p14:creationId xmlns:p14="http://schemas.microsoft.com/office/powerpoint/2010/main" val="909250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613" y="6400800"/>
            <a:ext cx="4114800" cy="755650"/>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A7792CA-3A7A-418E-BD5C-255A89B32E0C}" type="slidenum">
              <a:rPr lang="en-US" altLang="en-US"/>
              <a:pPr>
                <a:defRPr/>
              </a:pPr>
              <a:t>‹#›</a:t>
            </a:fld>
            <a:endParaRPr lang="en-US" altLang="en-US"/>
          </a:p>
        </p:txBody>
      </p:sp>
    </p:spTree>
    <p:extLst>
      <p:ext uri="{BB962C8B-B14F-4D97-AF65-F5344CB8AC3E}">
        <p14:creationId xmlns:p14="http://schemas.microsoft.com/office/powerpoint/2010/main" val="4208668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528CEA3-2B0F-4B3F-A92A-566B95C51EFF}" type="slidenum">
              <a:rPr lang="en-US" altLang="en-US"/>
              <a:pPr>
                <a:defRPr/>
              </a:pPr>
              <a:t>‹#›</a:t>
            </a:fld>
            <a:endParaRPr lang="en-US" altLang="en-US"/>
          </a:p>
        </p:txBody>
      </p:sp>
    </p:spTree>
    <p:extLst>
      <p:ext uri="{BB962C8B-B14F-4D97-AF65-F5344CB8AC3E}">
        <p14:creationId xmlns:p14="http://schemas.microsoft.com/office/powerpoint/2010/main" val="397042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43500" y="0"/>
            <a:ext cx="1714500" cy="812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4991100" cy="812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1C7DA4-DCC9-4163-9CF2-D6F1E3C31094}" type="slidenum">
              <a:rPr lang="en-US" altLang="en-US"/>
              <a:pPr>
                <a:defRPr/>
              </a:pPr>
              <a:t>‹#›</a:t>
            </a:fld>
            <a:endParaRPr lang="en-US" altLang="en-US"/>
          </a:p>
        </p:txBody>
      </p:sp>
    </p:spTree>
    <p:extLst>
      <p:ext uri="{BB962C8B-B14F-4D97-AF65-F5344CB8AC3E}">
        <p14:creationId xmlns:p14="http://schemas.microsoft.com/office/powerpoint/2010/main" val="1085264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Text Placeholder 2"/>
          <p:cNvSpPr>
            <a:spLocks noGrp="1"/>
          </p:cNvSpPr>
          <p:nvPr>
            <p:ph type="body" sz="half" idx="1"/>
          </p:nvPr>
        </p:nvSpPr>
        <p:spPr>
          <a:xfrm>
            <a:off x="514350" y="2641600"/>
            <a:ext cx="283845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3505200" y="26416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505200" y="5461000"/>
            <a:ext cx="283845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43DD9B07-AA93-460D-AC53-C03250F0E407}" type="slidenum">
              <a:rPr lang="en-US" altLang="en-US"/>
              <a:pPr>
                <a:defRPr/>
              </a:pPr>
              <a:t>‹#›</a:t>
            </a:fld>
            <a:endParaRPr lang="en-US" altLang="en-US"/>
          </a:p>
        </p:txBody>
      </p:sp>
    </p:spTree>
    <p:extLst>
      <p:ext uri="{BB962C8B-B14F-4D97-AF65-F5344CB8AC3E}">
        <p14:creationId xmlns:p14="http://schemas.microsoft.com/office/powerpoint/2010/main" val="424524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858000" cy="914400"/>
          </a:xfrm>
        </p:spPr>
        <p:txBody>
          <a:bodyPr/>
          <a:lstStyle/>
          <a:p>
            <a:r>
              <a:rPr lang="en-US"/>
              <a:t>Click to edit Master title style</a:t>
            </a:r>
          </a:p>
        </p:txBody>
      </p:sp>
      <p:sp>
        <p:nvSpPr>
          <p:cNvPr id="3" name="Chart Placeholder 2"/>
          <p:cNvSpPr>
            <a:spLocks noGrp="1"/>
          </p:cNvSpPr>
          <p:nvPr>
            <p:ph type="chart" idx="1"/>
          </p:nvPr>
        </p:nvSpPr>
        <p:spPr>
          <a:xfrm>
            <a:off x="514350" y="2641600"/>
            <a:ext cx="5829300" cy="54864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1971675" y="8461375"/>
            <a:ext cx="2914650" cy="6096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D4A028C-CDC2-4A2D-AAF8-7A609E796AA3}" type="slidenum">
              <a:rPr lang="en-US" altLang="en-US"/>
              <a:pPr>
                <a:defRPr/>
              </a:pPr>
              <a:t>‹#›</a:t>
            </a:fld>
            <a:endParaRPr lang="en-US" altLang="en-US"/>
          </a:p>
        </p:txBody>
      </p:sp>
    </p:spTree>
    <p:extLst>
      <p:ext uri="{BB962C8B-B14F-4D97-AF65-F5344CB8AC3E}">
        <p14:creationId xmlns:p14="http://schemas.microsoft.com/office/powerpoint/2010/main" val="26102115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6858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514350" y="2641600"/>
            <a:ext cx="58293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514350" y="8331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a:defRPr/>
            </a:pPr>
            <a:endParaRPr lang="en-US"/>
          </a:p>
        </p:txBody>
      </p:sp>
      <p:sp>
        <p:nvSpPr>
          <p:cNvPr id="1030" name="Rectangle 6"/>
          <p:cNvSpPr>
            <a:spLocks noGrp="1" noChangeArrowheads="1"/>
          </p:cNvSpPr>
          <p:nvPr>
            <p:ph type="sldNum" sz="quarter" idx="4"/>
          </p:nvPr>
        </p:nvSpPr>
        <p:spPr bwMode="auto">
          <a:xfrm>
            <a:off x="4800600" y="8839200"/>
            <a:ext cx="14287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a:lvl1pPr>
          </a:lstStyle>
          <a:p>
            <a:pPr>
              <a:defRPr/>
            </a:pPr>
            <a:fld id="{76A460A9-FA99-42DB-BF63-0BA535F87850}" type="slidenum">
              <a:rPr lang="en-US" altLang="en-US"/>
              <a:pPr>
                <a:defRPr/>
              </a:pPr>
              <a:t>‹#›</a:t>
            </a:fld>
            <a:endParaRPr lang="en-US" altLang="en-US"/>
          </a:p>
        </p:txBody>
      </p:sp>
      <p:sp>
        <p:nvSpPr>
          <p:cNvPr id="1033" name="Rectangle 9"/>
          <p:cNvSpPr>
            <a:spLocks noChangeArrowheads="1"/>
          </p:cNvSpPr>
          <p:nvPr userDrawn="1"/>
        </p:nvSpPr>
        <p:spPr bwMode="auto">
          <a:xfrm>
            <a:off x="0" y="914400"/>
            <a:ext cx="6858000" cy="76200"/>
          </a:xfrm>
          <a:prstGeom prst="rect">
            <a:avLst/>
          </a:prstGeom>
          <a:gradFill rotWithShape="1">
            <a:gsLst>
              <a:gs pos="0">
                <a:schemeClr val="accent2">
                  <a:gamma/>
                  <a:shade val="46275"/>
                  <a:invGamma/>
                </a:schemeClr>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1034" name="Rectangle 10"/>
          <p:cNvSpPr>
            <a:spLocks noChangeArrowheads="1"/>
          </p:cNvSpPr>
          <p:nvPr userDrawn="1"/>
        </p:nvSpPr>
        <p:spPr bwMode="auto">
          <a:xfrm>
            <a:off x="0" y="8305800"/>
            <a:ext cx="6858000" cy="76200"/>
          </a:xfrm>
          <a:prstGeom prst="rect">
            <a:avLst/>
          </a:prstGeom>
          <a:gradFill rotWithShape="1">
            <a:gsLst>
              <a:gs pos="0">
                <a:schemeClr val="bg2"/>
              </a:gs>
              <a:gs pos="100000">
                <a:schemeClr val="bg2">
                  <a:gamma/>
                  <a:tint val="1921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pic>
        <p:nvPicPr>
          <p:cNvPr id="2" name="Picture 19" descr="COASeal_4C.eps"/>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6251575" y="8543925"/>
            <a:ext cx="5270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p:cNvSpPr txBox="1">
            <a:spLocks noChangeArrowheads="1"/>
          </p:cNvSpPr>
          <p:nvPr userDrawn="1"/>
        </p:nvSpPr>
        <p:spPr bwMode="auto">
          <a:xfrm>
            <a:off x="1971675" y="85344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r>
              <a:rPr lang="en-US" sz="1050"/>
              <a:t>AUSTIN ENERGY INTERNAL</a:t>
            </a:r>
            <a:r>
              <a:rPr lang="en-US" sz="1050" baseline="0"/>
              <a:t> </a:t>
            </a:r>
            <a:r>
              <a:rPr lang="en-US" sz="1050"/>
              <a:t>USE ONLY/</a:t>
            </a:r>
          </a:p>
          <a:p>
            <a:r>
              <a:rPr lang="en-US" sz="1050"/>
              <a:t>NOT FOR EXTERNAL DISTRIBUTION</a:t>
            </a:r>
          </a:p>
        </p:txBody>
      </p:sp>
      <p:sp>
        <p:nvSpPr>
          <p:cNvPr id="11" name="Rectangle 5"/>
          <p:cNvSpPr txBox="1">
            <a:spLocks noChangeArrowheads="1"/>
          </p:cNvSpPr>
          <p:nvPr userDrawn="1"/>
        </p:nvSpPr>
        <p:spPr bwMode="auto">
          <a:xfrm>
            <a:off x="0" y="8559800"/>
            <a:ext cx="291465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ctr" rtl="0" eaLnBrk="0" fontAlgn="base" hangingPunct="0">
              <a:spcBef>
                <a:spcPct val="0"/>
              </a:spcBef>
              <a:spcAft>
                <a:spcPct val="0"/>
              </a:spcAft>
              <a:defRPr sz="1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tx1"/>
                </a:solidFill>
                <a:latin typeface="Tahoma" panose="020B0604030504040204" pitchFamily="34" charset="0"/>
                <a:ea typeface="+mn-ea"/>
                <a:cs typeface="+mn-cs"/>
              </a:defRPr>
            </a:lvl5pPr>
            <a:lvl6pPr marL="2286000" algn="l" defTabSz="914400" rtl="0" eaLnBrk="1" latinLnBrk="0" hangingPunct="1">
              <a:defRPr sz="1400" kern="1200">
                <a:solidFill>
                  <a:schemeClr val="tx1"/>
                </a:solidFill>
                <a:latin typeface="Tahoma" panose="020B0604030504040204" pitchFamily="34" charset="0"/>
                <a:ea typeface="+mn-ea"/>
                <a:cs typeface="+mn-cs"/>
              </a:defRPr>
            </a:lvl6pPr>
            <a:lvl7pPr marL="2743200" algn="l" defTabSz="914400" rtl="0" eaLnBrk="1" latinLnBrk="0" hangingPunct="1">
              <a:defRPr sz="1400" kern="1200">
                <a:solidFill>
                  <a:schemeClr val="tx1"/>
                </a:solidFill>
                <a:latin typeface="Tahoma" panose="020B0604030504040204" pitchFamily="34" charset="0"/>
                <a:ea typeface="+mn-ea"/>
                <a:cs typeface="+mn-cs"/>
              </a:defRPr>
            </a:lvl7pPr>
            <a:lvl8pPr marL="3200400" algn="l" defTabSz="914400" rtl="0" eaLnBrk="1" latinLnBrk="0" hangingPunct="1">
              <a:defRPr sz="1400" kern="1200">
                <a:solidFill>
                  <a:schemeClr val="tx1"/>
                </a:solidFill>
                <a:latin typeface="Tahoma" panose="020B0604030504040204" pitchFamily="34" charset="0"/>
                <a:ea typeface="+mn-ea"/>
                <a:cs typeface="+mn-cs"/>
              </a:defRPr>
            </a:lvl8pPr>
            <a:lvl9pPr marL="3657600" algn="l" defTabSz="914400" rtl="0" eaLnBrk="1" latinLnBrk="0" hangingPunct="1">
              <a:defRPr sz="1400" kern="1200">
                <a:solidFill>
                  <a:schemeClr val="tx1"/>
                </a:solidFill>
                <a:latin typeface="Tahoma" panose="020B0604030504040204" pitchFamily="34" charset="0"/>
                <a:ea typeface="+mn-ea"/>
                <a:cs typeface="+mn-cs"/>
              </a:defRPr>
            </a:lvl9pPr>
          </a:lstStyle>
          <a:p>
            <a:pPr algn="l"/>
            <a:r>
              <a:rPr lang="en-US" sz="1200"/>
              <a:t>www.austinenergy.com</a:t>
            </a:r>
          </a:p>
        </p:txBody>
      </p:sp>
    </p:spTree>
  </p:cSld>
  <p:clrMap bg1="lt1" tx1="dk1" bg2="lt2" tx2="dk2" accent1="accent1" accent2="accent2" accent3="accent3" accent4="accent4" accent5="accent5" accent6="accent6" hlink="hlink" folHlink="folHlink"/>
  <p:sldLayoutIdLst>
    <p:sldLayoutId id="2147483983"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Lst>
  <p:hf hdr="0" ftr="0" dt="0"/>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Tahoma" pitchFamily="34" charset="0"/>
        </a:defRPr>
      </a:lvl2pPr>
      <a:lvl3pPr algn="ctr" rtl="0" eaLnBrk="0" fontAlgn="base" hangingPunct="0">
        <a:spcBef>
          <a:spcPct val="0"/>
        </a:spcBef>
        <a:spcAft>
          <a:spcPct val="0"/>
        </a:spcAft>
        <a:defRPr sz="3200">
          <a:solidFill>
            <a:schemeClr val="tx2"/>
          </a:solidFill>
          <a:latin typeface="Tahoma" pitchFamily="34" charset="0"/>
        </a:defRPr>
      </a:lvl3pPr>
      <a:lvl4pPr algn="ctr" rtl="0" eaLnBrk="0" fontAlgn="base" hangingPunct="0">
        <a:spcBef>
          <a:spcPct val="0"/>
        </a:spcBef>
        <a:spcAft>
          <a:spcPct val="0"/>
        </a:spcAft>
        <a:defRPr sz="3200">
          <a:solidFill>
            <a:schemeClr val="tx2"/>
          </a:solidFill>
          <a:latin typeface="Tahoma" pitchFamily="34" charset="0"/>
        </a:defRPr>
      </a:lvl4pPr>
      <a:lvl5pPr algn="ctr" rtl="0" eaLnBrk="0" fontAlgn="base" hangingPunct="0">
        <a:spcBef>
          <a:spcPct val="0"/>
        </a:spcBef>
        <a:spcAft>
          <a:spcPct val="0"/>
        </a:spcAft>
        <a:defRPr sz="3200">
          <a:solidFill>
            <a:schemeClr val="tx2"/>
          </a:solidFill>
          <a:latin typeface="Tahoma" pitchFamily="34" charset="0"/>
        </a:defRPr>
      </a:lvl5pPr>
      <a:lvl6pPr marL="457200" algn="ctr" rtl="0" eaLnBrk="0" fontAlgn="base" hangingPunct="0">
        <a:spcBef>
          <a:spcPct val="0"/>
        </a:spcBef>
        <a:spcAft>
          <a:spcPct val="0"/>
        </a:spcAft>
        <a:defRPr sz="3200">
          <a:solidFill>
            <a:schemeClr val="tx2"/>
          </a:solidFill>
          <a:latin typeface="Tahoma" pitchFamily="34" charset="0"/>
        </a:defRPr>
      </a:lvl6pPr>
      <a:lvl7pPr marL="914400" algn="ctr" rtl="0" eaLnBrk="0" fontAlgn="base" hangingPunct="0">
        <a:spcBef>
          <a:spcPct val="0"/>
        </a:spcBef>
        <a:spcAft>
          <a:spcPct val="0"/>
        </a:spcAft>
        <a:defRPr sz="3200">
          <a:solidFill>
            <a:schemeClr val="tx2"/>
          </a:solidFill>
          <a:latin typeface="Tahoma" pitchFamily="34" charset="0"/>
        </a:defRPr>
      </a:lvl7pPr>
      <a:lvl8pPr marL="1371600" algn="ctr" rtl="0" eaLnBrk="0" fontAlgn="base" hangingPunct="0">
        <a:spcBef>
          <a:spcPct val="0"/>
        </a:spcBef>
        <a:spcAft>
          <a:spcPct val="0"/>
        </a:spcAft>
        <a:defRPr sz="3200">
          <a:solidFill>
            <a:schemeClr val="tx2"/>
          </a:solidFill>
          <a:latin typeface="Tahoma" pitchFamily="34" charset="0"/>
        </a:defRPr>
      </a:lvl8pPr>
      <a:lvl9pPr marL="1828800" algn="ctr" rtl="0" eaLnBrk="0" fontAlgn="base" hangingPunct="0">
        <a:spcBef>
          <a:spcPct val="0"/>
        </a:spcBef>
        <a:spcAft>
          <a:spcPct val="0"/>
        </a:spcAft>
        <a:defRPr sz="3200">
          <a:solidFill>
            <a:schemeClr val="tx2"/>
          </a:solidFill>
          <a:latin typeface="Tahoma" pitchFamily="34"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emf"/><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chart" Target="../charts/char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chart" Target="../charts/char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19" descr="COASeal_4C.eps"/>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783" y="8410244"/>
            <a:ext cx="558064" cy="558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p:cNvSpPr>
            <a:spLocks noGrp="1" noChangeArrowheads="1"/>
          </p:cNvSpPr>
          <p:nvPr>
            <p:ph type="ctrTitle"/>
          </p:nvPr>
        </p:nvSpPr>
        <p:spPr>
          <a:xfrm>
            <a:off x="228598" y="3036421"/>
            <a:ext cx="6296025" cy="1524000"/>
          </a:xfrm>
        </p:spPr>
        <p:txBody>
          <a:bodyPr/>
          <a:lstStyle/>
          <a:p>
            <a:pPr eaLnBrk="1" hangingPunct="1"/>
            <a:r>
              <a:rPr sz="2800">
                <a:latin typeface="Arial"/>
              </a:rPr>
              <a:t>Low Income Weatherization Survey
FY2025 Q4
</a:t>
            </a:r>
            <a:r>
              <a:rPr sz="1600">
                <a:latin typeface="Arial"/>
              </a:rPr>
              <a:t>March 2026</a:t>
            </a:r>
            <a:endParaRPr lang="en-US" altLang="en-US" sz="1800" b="1" dirty="0">
              <a:solidFill>
                <a:schemeClr val="bg1"/>
              </a:solidFill>
            </a:endParaRPr>
          </a:p>
        </p:txBody>
      </p:sp>
      <p:sp>
        <p:nvSpPr>
          <p:cNvPr id="5123" name="Rectangle 3"/>
          <p:cNvSpPr>
            <a:spLocks noGrp="1" noChangeArrowheads="1"/>
          </p:cNvSpPr>
          <p:nvPr>
            <p:ph type="subTitle" idx="1"/>
          </p:nvPr>
        </p:nvSpPr>
        <p:spPr>
          <a:xfrm>
            <a:off x="976311" y="5511800"/>
            <a:ext cx="4800600" cy="2336800"/>
          </a:xfrm>
        </p:spPr>
        <p:txBody>
          <a:bodyPr/>
          <a:lstStyle/>
          <a:p>
            <a:pPr>
              <a:lnSpc>
                <a:spcPct val="85000"/>
              </a:lnSpc>
              <a:spcBef>
                <a:spcPct val="0"/>
              </a:spcBef>
            </a:pPr>
            <a:r>
              <a:rPr lang="en-US" altLang="en-US" sz="1400">
                <a:latin typeface="Univers 49 Light Ultra Condense" charset="0"/>
              </a:rPr>
              <a:t>Analysis and Report Provided by</a:t>
            </a:r>
            <a:br>
              <a:rPr lang="en-US" altLang="en-US" sz="1400">
                <a:latin typeface="Univers 49 Light Ultra Condense" charset="0"/>
              </a:rPr>
            </a:br>
            <a:r>
              <a:rPr lang="en-US" altLang="en-US" sz="1400">
                <a:latin typeface="Univers 49 Light Ultra Condense" charset="0"/>
              </a:rPr>
              <a:t>Data Analytics &amp; Business Intelligence</a:t>
            </a: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endParaRPr lang="en-US" altLang="en-US" sz="1400">
              <a:latin typeface="Univers 49 Light Ultra Condense" charset="0"/>
            </a:endParaRPr>
          </a:p>
          <a:p>
            <a:pPr>
              <a:lnSpc>
                <a:spcPct val="85000"/>
              </a:lnSpc>
              <a:spcBef>
                <a:spcPct val="0"/>
              </a:spcBef>
            </a:pPr>
            <a:r>
              <a:rPr lang="en-US" altLang="en-US" sz="1200" b="1">
                <a:solidFill>
                  <a:srgbClr val="C00000"/>
                </a:solidFill>
                <a:latin typeface="Arial" panose="020B0604020202020204" pitchFamily="34" charset="0"/>
              </a:rPr>
              <a:t>AUSTIN ENERGY INTERNAL &amp; CONFIDENTIAL INFORMATION</a:t>
            </a:r>
            <a:endParaRPr lang="en-US" altLang="en-US" sz="1200">
              <a:solidFill>
                <a:srgbClr val="C00000"/>
              </a:solidFill>
              <a:latin typeface="Univers 49 Light Ultra Condense"/>
            </a:endParaRPr>
          </a:p>
          <a:p>
            <a:pPr>
              <a:lnSpc>
                <a:spcPct val="85000"/>
              </a:lnSpc>
              <a:spcBef>
                <a:spcPct val="0"/>
              </a:spcBef>
            </a:pPr>
            <a:endParaRPr lang="en-US" altLang="en-US"/>
          </a:p>
        </p:txBody>
      </p:sp>
      <p:sp>
        <p:nvSpPr>
          <p:cNvPr id="7" name="Rectangle 3"/>
          <p:cNvSpPr txBox="1">
            <a:spLocks noChangeArrowheads="1"/>
          </p:cNvSpPr>
          <p:nvPr/>
        </p:nvSpPr>
        <p:spPr bwMode="auto">
          <a:xfrm>
            <a:off x="2041525" y="8782050"/>
            <a:ext cx="48006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0" indent="0" algn="ctr" rtl="0" eaLnBrk="0" fontAlgn="base" hangingPunct="0">
              <a:spcBef>
                <a:spcPct val="20000"/>
              </a:spcBef>
              <a:spcAft>
                <a:spcPct val="0"/>
              </a:spcAft>
              <a:buFontTx/>
              <a:buNone/>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r">
              <a:lnSpc>
                <a:spcPct val="85000"/>
              </a:lnSpc>
              <a:spcBef>
                <a:spcPct val="0"/>
              </a:spcBef>
              <a:defRPr/>
            </a:pPr>
            <a:r>
              <a:rPr lang="en-US" sz="1400" kern="0">
                <a:latin typeface="Univers 49 Light Ultra Condense" charset="0"/>
              </a:rPr>
              <a:t>www.austinenergy.com</a:t>
            </a:r>
            <a:endParaRPr lang="en-US" altLang="en-US" kern="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2488" y="990600"/>
            <a:ext cx="2066925" cy="1257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Key Takeaway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2</a:t>
            </a:fld>
            <a:endParaRPr lang="en-US" altLang="en-US" sz="1400"/>
          </a:p>
        </p:txBody>
      </p:sp>
      <p:sp>
        <p:nvSpPr>
          <p:cNvPr id="3" name="Rounded Rectangle 2">
            <a:extLst>
              <a:ext uri="{FF2B5EF4-FFF2-40B4-BE49-F238E27FC236}">
                <a16:creationId xmlns:a16="http://schemas.microsoft.com/office/drawing/2014/main" id="{D2BDE31D-E5B3-4F4D-AA95-8B7140A6AC78}"/>
              </a:ext>
            </a:extLst>
          </p:cNvPr>
          <p:cNvSpPr/>
          <p:nvPr/>
        </p:nvSpPr>
        <p:spPr bwMode="auto">
          <a:xfrm>
            <a:off x="600075" y="1447800"/>
            <a:ext cx="5657850" cy="3733800"/>
          </a:xfrm>
          <a:prstGeom prst="round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000">
                <a:solidFill>
                  <a:schemeClr val="bg1"/>
                </a:solidFill>
              </a:rPr>
              <a:t>C</a:t>
            </a:r>
            <a:r>
              <a:rPr kumimoji="0" lang="en-US" sz="2000" b="0" i="0" u="none" strike="noStrike" cap="none" normalizeH="0" baseline="0">
                <a:ln>
                  <a:noFill/>
                </a:ln>
                <a:solidFill>
                  <a:schemeClr val="bg1"/>
                </a:solidFill>
                <a:effectLst/>
                <a:latin typeface="Tahoma" pitchFamily="34" charset="0"/>
              </a:rPr>
              <a:t>ustomers overall satisfaction</a:t>
            </a:r>
            <a:r>
              <a:rPr lang="en-US" sz="2000">
                <a:solidFill>
                  <a:schemeClr val="bg1"/>
                </a:solidFill>
              </a:rPr>
              <a:t> </a:t>
            </a:r>
            <a:r>
              <a:rPr kumimoji="0" lang="en-US" sz="2000" b="0" i="0" u="none" strike="noStrike" cap="none" normalizeH="0" baseline="0">
                <a:ln>
                  <a:noFill/>
                </a:ln>
                <a:solidFill>
                  <a:schemeClr val="bg1"/>
                </a:solidFill>
                <a:effectLst/>
                <a:latin typeface="Tahoma" pitchFamily="34" charset="0"/>
              </a:rPr>
              <a:t>with the Weatherization Program and Austin Energy is very favorable. All customers felt there was a need for the Weatherization Program, rated contractors and staff members highly, and would recommend to friends and family members.</a:t>
            </a:r>
            <a:endParaRPr kumimoji="0" lang="en-US" sz="1400" b="0" i="0" u="none" strike="noStrike" cap="none" normalizeH="0" baseline="0">
              <a:ln>
                <a:noFill/>
              </a:ln>
              <a:solidFill>
                <a:schemeClr val="bg1"/>
              </a:solidFill>
              <a:effectLst/>
              <a:latin typeface="Tahoma" pitchFamily="34" charset="0"/>
            </a:endParaRPr>
          </a:p>
        </p:txBody>
      </p:sp>
    </p:spTree>
    <p:extLst>
      <p:ext uri="{BB962C8B-B14F-4D97-AF65-F5344CB8AC3E}">
        <p14:creationId xmlns:p14="http://schemas.microsoft.com/office/powerpoint/2010/main" val="895687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3</a:t>
            </a:fld>
            <a:endParaRPr lang="en-US" altLang="en-US" sz="1400"/>
          </a:p>
        </p:txBody>
      </p:sp>
      <p:sp>
        <p:nvSpPr>
          <p:cNvPr id="7" name="Rectangle 3"/>
          <p:cNvSpPr>
            <a:spLocks noGrp="1" noChangeArrowheads="1"/>
          </p:cNvSpPr>
          <p:nvPr>
            <p:ph type="body" idx="1"/>
          </p:nvPr>
        </p:nvSpPr>
        <p:spPr>
          <a:xfrm>
            <a:off x="228600" y="1104900"/>
            <a:ext cx="6172200" cy="6934200"/>
          </a:xfrm>
        </p:spPr>
        <p:txBody>
          <a:bodyPr/>
          <a:lstStyle/>
          <a:p>
            <a:pPr>
              <a:defRPr/>
            </a:pPr>
            <a:endParaRPr lang="en-US" altLang="en-US" sz="1600" dirty="0">
              <a:ea typeface="Geneva"/>
              <a:cs typeface="Geneva"/>
            </a:endParaRPr>
          </a:p>
          <a:p>
            <a:pPr algn="l"/>
            <a:r>
              <a:rPr sz="1800">
                <a:latin typeface="Tahoma"/>
              </a:rPr>
              <a:t>Customers’ overall satisfaction with Austin Energy’s Weatherization Program remained favorable with a score of 87% for Q4 2025.</a:t>
            </a:r>
          </a:p>
          <a:p>
            <a:pPr algn="l"/>
            <a:r>
              <a:rPr sz="1800">
                <a:latin typeface="Tahoma"/>
              </a:rPr>
              <a:t>Overall satisfaction level with Austin Energy improved to 93% in Q4 2025 from 89% in Q2 2024.</a:t>
            </a:r>
          </a:p>
          <a:p>
            <a:pPr algn="l"/>
            <a:r>
              <a:rPr sz="1800">
                <a:latin typeface="Tahoma"/>
              </a:rPr>
              <a:t>Customers indicated a need for the program and home weatherization assistance.</a:t>
            </a:r>
          </a:p>
          <a:p>
            <a:pPr algn="l"/>
            <a:r>
              <a:rPr sz="1800">
                <a:latin typeface="Tahoma"/>
              </a:rPr>
              <a:t>100% of customers would recommend this program to a friend or family member.</a:t>
            </a:r>
          </a:p>
          <a:p>
            <a:pPr algn="l"/>
            <a:r>
              <a:rPr sz="1800">
                <a:latin typeface="Tahoma"/>
              </a:rPr>
              <a:t>73% of customers appeared to have a high level of understanding when it comes to their utility bill and energy savings.</a:t>
            </a:r>
          </a:p>
        </p:txBody>
      </p:sp>
    </p:spTree>
    <p:extLst>
      <p:ext uri="{BB962C8B-B14F-4D97-AF65-F5344CB8AC3E}">
        <p14:creationId xmlns:p14="http://schemas.microsoft.com/office/powerpoint/2010/main" val="176513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Summary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4</a:t>
            </a:fld>
            <a:endParaRPr lang="en-US" altLang="en-US" sz="1400"/>
          </a:p>
        </p:txBody>
      </p:sp>
      <p:sp>
        <p:nvSpPr>
          <p:cNvPr id="7" name="Rectangle 3"/>
          <p:cNvSpPr>
            <a:spLocks noGrp="1" noChangeArrowheads="1"/>
          </p:cNvSpPr>
          <p:nvPr>
            <p:ph type="body" idx="1"/>
          </p:nvPr>
        </p:nvSpPr>
        <p:spPr>
          <a:xfrm>
            <a:off x="343310" y="1104490"/>
            <a:ext cx="6172200" cy="6934200"/>
          </a:xfrm>
        </p:spPr>
        <p:txBody>
          <a:bodyPr/>
          <a:lstStyle/>
          <a:p>
            <a:pPr marL="0" lvl="0" indent="0" algn="l">
              <a:lnSpc>
                <a:spcPts val="2000"/>
              </a:lnSpc>
              <a:buNone/>
              <a:defRPr/>
            </a:pPr>
            <a:r>
              <a:rPr sz="1800" b="0" i="0">
                <a:solidFill>
                  <a:srgbClr val="000000"/>
                </a:solidFill>
                <a:latin typeface="Tahoma"/>
              </a:rPr>
              <a:t>Overall satisfaction score with energy savings was 73% in Q4 2025, UP/DOWN/UNCHANGED from PREVIOUS QTR% in Q3.</a:t>
            </a:r>
            <a:endParaRPr lang="en-US" altLang="en-US" sz="1800" dirty="0">
              <a:ea typeface="Tahoma"/>
              <a:cs typeface="Geneva"/>
            </a:endParaRPr>
          </a:p>
          <a:p/>
          <a:p>
            <a:pPr algn="l" lvl="0">
              <a:lnSpc>
                <a:spcPts val="2000"/>
              </a:lnSpc>
            </a:pPr>
            <a:r>
              <a:rPr sz="1800" b="0" i="0">
                <a:solidFill>
                  <a:srgbClr val="000000"/>
                </a:solidFill>
                <a:latin typeface="Tahoma"/>
              </a:rPr>
              <a:t>Contractor and customer service ratings remained relatively high for all attributes.</a:t>
            </a:r>
          </a:p>
          <a:p/>
          <a:p>
            <a:pPr algn="l" lvl="0">
              <a:lnSpc>
                <a:spcPts val="2000"/>
              </a:lnSpc>
            </a:pPr>
            <a:r>
              <a:rPr sz="1800" b="0" i="0">
                <a:solidFill>
                  <a:srgbClr val="000000"/>
                </a:solidFill>
                <a:latin typeface="Tahoma"/>
              </a:rPr>
              <a:t>Customers appeared to be satisfied with the follow-up phone calls and indicated that the Austin Energy staff member/contractor did an overall good job on the work done at their homes.</a:t>
            </a:r>
          </a:p>
          <a:p/>
          <a:p>
            <a:pPr algn="l" lvl="0">
              <a:lnSpc>
                <a:spcPts val="2000"/>
              </a:lnSpc>
            </a:pPr>
            <a:r>
              <a:rPr sz="1800" b="0" i="0">
                <a:solidFill>
                  <a:srgbClr val="000000"/>
                </a:solidFill>
                <a:latin typeface="Tahoma"/>
              </a:rPr>
              <a:t>For this quarter, Friends/family/word of mouth, Utility bill inserts, and Austin Energy’s website were the top responses for how customers first learned about the weatherization program.</a:t>
            </a:r>
          </a:p>
          <a:p/>
          <a:p>
            <a:pPr algn="l" lvl="0">
              <a:lnSpc>
                <a:spcPts val="2000"/>
              </a:lnSpc>
            </a:pPr>
            <a:r>
              <a:rPr sz="1800" b="0" i="0">
                <a:solidFill>
                  <a:srgbClr val="000000"/>
                </a:solidFill>
                <a:latin typeface="Tahoma"/>
              </a:rPr>
              <a:t>For this quarter, due to the small sample size, none of the changes can be deemed significant.</a:t>
            </a:r>
          </a:p>
        </p:txBody>
      </p:sp>
    </p:spTree>
    <p:extLst>
      <p:ext uri="{BB962C8B-B14F-4D97-AF65-F5344CB8AC3E}">
        <p14:creationId xmlns:p14="http://schemas.microsoft.com/office/powerpoint/2010/main" val="2916178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Weatherization Program</a:t>
            </a:r>
          </a:p>
        </p:txBody>
      </p:sp>
    </p:spTree>
    <p:extLst>
      <p:ext uri="{BB962C8B-B14F-4D97-AF65-F5344CB8AC3E}">
        <p14:creationId xmlns:p14="http://schemas.microsoft.com/office/powerpoint/2010/main" val="362342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Would Have Weatherized </a:t>
            </a:r>
            <a:br>
              <a:rPr lang="en-US" altLang="en-US">
                <a:ea typeface="MS PGothic" panose="020B0600070205080204" pitchFamily="34" charset="-128"/>
              </a:rPr>
            </a:br>
            <a:r>
              <a:rPr lang="en-US" altLang="en-US">
                <a:ea typeface="MS PGothic" panose="020B0600070205080204" pitchFamily="34" charset="-128"/>
              </a:rPr>
              <a:t>Without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17. Would you have weatherized your home </a:t>
            </a:r>
            <a:r>
              <a:rPr lang="en-US" sz="1100" u="sng">
                <a:latin typeface="+mn-lt"/>
                <a:ea typeface="ＭＳ Ｐゴシック" charset="-128"/>
              </a:rPr>
              <a:t>without</a:t>
            </a:r>
            <a:r>
              <a:rPr lang="en-US" sz="1100">
                <a:latin typeface="+mn-lt"/>
                <a:ea typeface="ＭＳ Ｐゴシック" charset="-128"/>
              </a:rPr>
              <a:t> the assistance of the Austin Energy weatherization program?</a:t>
            </a:r>
          </a:p>
        </p:txBody>
      </p:sp>
      <p:graphicFrame>
        <p:nvGraphicFramePr>
          <p:cNvPr id="3" name="Chart 6"/>
          <p:cNvGraphicFramePr>
            <a:graphicFrameLocks/>
          </p:cNvGraphicFramePr>
          <p:nvPr>
            <p:extLst>
              <p:ext uri="{D42A27DB-BD31-4B8C-83A1-F6EECF244321}">
                <p14:modId xmlns:p14="http://schemas.microsoft.com/office/powerpoint/2010/main" val="249553215"/>
              </p:ext>
            </p:extLst>
          </p:nvPr>
        </p:nvGraphicFramePr>
        <p:xfrm>
          <a:off x="50800" y="1492112"/>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42540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Importance of Customer Assistance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7</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155057359"/>
              </p:ext>
            </p:extLst>
          </p:nvPr>
        </p:nvGraphicFramePr>
        <p:xfrm>
          <a:off x="50800" y="1914849"/>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0818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Important; ‘10’=Very Important.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18. Using a scale of ‘1’ (not important) to ‘10’ (very important), how </a:t>
            </a:r>
            <a:r>
              <a:rPr lang="en-US" sz="1100" b="1" u="sng">
                <a:latin typeface="+mj-lt"/>
                <a:ea typeface="ＭＳ Ｐゴシック" charset="-128"/>
              </a:rPr>
              <a:t>important</a:t>
            </a:r>
            <a:r>
              <a:rPr lang="en-US" sz="1100" b="1">
                <a:latin typeface="+mj-lt"/>
                <a:ea typeface="ＭＳ Ｐゴシック" charset="-128"/>
              </a:rPr>
              <a:t> </a:t>
            </a:r>
            <a:r>
              <a:rPr lang="en-US" sz="1100">
                <a:latin typeface="+mj-lt"/>
                <a:ea typeface="ＭＳ Ｐゴシック" charset="-128"/>
              </a:rPr>
              <a:t>is it to you that Austin Energy offers its customers assistance with home weatherization?</a:t>
            </a:r>
            <a:r>
              <a:rPr lang="en-US" sz="1100" b="1">
                <a:latin typeface="+mj-lt"/>
                <a:ea typeface="ＭＳ Ｐゴシック" charset="-128"/>
              </a:rPr>
              <a:t> </a:t>
            </a:r>
            <a:endParaRPr lang="en-US" sz="1100">
              <a:latin typeface="+mj-lt"/>
              <a:ea typeface="ＭＳ Ｐゴシック" charset="-128"/>
            </a:endParaRPr>
          </a:p>
        </p:txBody>
      </p:sp>
    </p:spTree>
    <p:extLst>
      <p:ext uri="{BB962C8B-B14F-4D97-AF65-F5344CB8AC3E}">
        <p14:creationId xmlns:p14="http://schemas.microsoft.com/office/powerpoint/2010/main" val="193708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Reasons Rated Importance </a:t>
            </a:r>
            <a:br>
              <a:rPr lang="en-US" altLang="en-US">
                <a:ea typeface="MS PGothic" panose="020B0600070205080204" pitchFamily="34" charset="-128"/>
              </a:rPr>
            </a:br>
            <a:r>
              <a:rPr lang="en-US" altLang="en-US">
                <a:ea typeface="MS PGothic" panose="020B0600070205080204" pitchFamily="34" charset="-128"/>
              </a:rPr>
              <a:t>Below an ‘8’</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8</a:t>
            </a:fld>
            <a:endParaRPr lang="en-US" altLang="en-US" sz="1400"/>
          </a:p>
        </p:txBody>
      </p:sp>
      <p:sp>
        <p:nvSpPr>
          <p:cNvPr id="7" name="Text Box 9"/>
          <p:cNvSpPr txBox="1">
            <a:spLocks noChangeArrowheads="1"/>
          </p:cNvSpPr>
          <p:nvPr/>
        </p:nvSpPr>
        <p:spPr bwMode="auto">
          <a:xfrm>
            <a:off x="514655" y="1033626"/>
            <a:ext cx="584647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latin typeface="+mn-lt"/>
                <a:ea typeface="ＭＳ Ｐゴシック" charset="-128"/>
              </a:rPr>
              <a:t>Base: Respondents who rated importance of offering assistance with home weatherization </a:t>
            </a:r>
          </a:p>
          <a:p>
            <a:pPr eaLnBrk="1" hangingPunct="1">
              <a:defRPr/>
            </a:pPr>
            <a:r>
              <a:rPr lang="en-US" sz="1100">
                <a:latin typeface="+mn-lt"/>
                <a:ea typeface="ＭＳ Ｐゴシック" charset="-128"/>
              </a:rPr>
              <a:t>below ‘8’.</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19. Why did you rate the importance below an ‘8’?</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1430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1143000">
                <a:tc>
                  <a:txBody>
                    <a:bodyPr/>
                    <a:lstStyle/>
                    <a:p>
                      <a:pPr algn="l"/>
                      <a:r>
                        <a:rPr sz="1300" b="0" i="0">
                          <a:solidFill>
                            <a:srgbClr val="000000"/>
                          </a:solidFill>
                          <a:latin typeface="Tahoma"/>
                        </a:rPr>
                        <a:t>Weatherization program depending on cost, might be overkill or wasteful. I would need more information to give it a higher score.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1143000">
                <a:tc>
                  <a:txBody>
                    <a:bodyPr/>
                    <a:lstStyle/>
                    <a:p>
                      <a:pPr algn="l"/>
                      <a:r>
                        <a:rPr sz="1300" b="0" i="0">
                          <a:solidFill>
                            <a:srgbClr val="000000"/>
                          </a:solidFill>
                          <a:latin typeface="Tahoma"/>
                        </a:rPr>
                        <a:t>It's important but people came and left mess and weren't very helpful. Damaged MY big shop vac vacuumed wet mastic. F ers. Don't get me started on the hole.</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1143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r>
            </a:tbl>
          </a:graphicData>
        </a:graphic>
      </p:graphicFrame>
    </p:spTree>
    <p:extLst>
      <p:ext uri="{BB962C8B-B14F-4D97-AF65-F5344CB8AC3E}">
        <p14:creationId xmlns:p14="http://schemas.microsoft.com/office/powerpoint/2010/main" val="1736822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Helpfulness of the </a:t>
            </a:r>
            <a:br>
              <a:rPr lang="en-US" altLang="en-US">
                <a:ea typeface="MS PGothic" panose="020B0600070205080204" pitchFamily="34" charset="-128"/>
              </a:rPr>
            </a:br>
            <a:r>
              <a:rPr lang="en-US" altLang="en-US">
                <a:ea typeface="MS PGothic" panose="020B0600070205080204" pitchFamily="34" charset="-128"/>
              </a:rPr>
              <a:t>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9</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619990609"/>
              </p:ext>
            </p:extLst>
          </p:nvPr>
        </p:nvGraphicFramePr>
        <p:xfrm>
          <a:off x="50800" y="16176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7516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‘1’=Not Helpful; ‘10’=Very Helpful.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20. Using a scale of ‘1’ (not helpful) to ‘10’ (very helpful), how </a:t>
            </a:r>
            <a:r>
              <a:rPr lang="en-US" sz="1100" b="1" u="sng">
                <a:latin typeface="+mn-lt"/>
                <a:ea typeface="ＭＳ Ｐゴシック" charset="-128"/>
              </a:rPr>
              <a:t>helpful</a:t>
            </a:r>
            <a:r>
              <a:rPr lang="en-US" sz="1100" b="1">
                <a:latin typeface="+mn-lt"/>
                <a:ea typeface="ＭＳ Ｐゴシック" charset="-128"/>
              </a:rPr>
              <a:t> </a:t>
            </a:r>
            <a:r>
              <a:rPr lang="en-US" sz="1100">
                <a:latin typeface="+mn-lt"/>
                <a:ea typeface="ＭＳ Ｐゴシック" charset="-128"/>
              </a:rPr>
              <a:t>do you think the weatherization done to your home will be in reducing your electricity costs?</a:t>
            </a:r>
          </a:p>
        </p:txBody>
      </p:sp>
    </p:spTree>
    <p:extLst>
      <p:ext uri="{BB962C8B-B14F-4D97-AF65-F5344CB8AC3E}">
        <p14:creationId xmlns:p14="http://schemas.microsoft.com/office/powerpoint/2010/main" val="216709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10</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942636416"/>
              </p:ext>
            </p:extLst>
          </p:nvPr>
        </p:nvGraphicFramePr>
        <p:xfrm>
          <a:off x="50800" y="1414462"/>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325322"/>
            <a:ext cx="1309255" cy="261610"/>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dirty="0"/>
              <a:t>Dust in home</a:t>
            </a:r>
            <a:endParaRPr lang="en-US" sz="1100" dirty="0"/>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32532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Musty/moldy smell </a:t>
            </a:r>
          </a:p>
          <a:p>
            <a:pPr algn="ctr"/>
            <a:r>
              <a:rPr lang="en-US"/>
              <a:t>in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2584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11</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3133234032"/>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295400" y="6317702"/>
            <a:ext cx="16764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dirty="0"/>
              <a:t>Extra moisture</a:t>
            </a:r>
            <a:r>
              <a:rPr lang="en-US" dirty="0"/>
              <a:t>/humidity </a:t>
            </a:r>
          </a:p>
          <a:p>
            <a:pPr algn="ctr"/>
            <a:r>
              <a:rPr lang="en-US" dirty="0"/>
              <a:t>in home</a:t>
            </a:r>
            <a:endParaRPr lang="en-US" sz="1100" dirty="0"/>
          </a:p>
        </p:txBody>
      </p:sp>
      <p:sp>
        <p:nvSpPr>
          <p:cNvPr id="14" name="TextBox 1">
            <a:extLst>
              <a:ext uri="{FF2B5EF4-FFF2-40B4-BE49-F238E27FC236}">
                <a16:creationId xmlns:a16="http://schemas.microsoft.com/office/drawing/2014/main" id="{DD36DF7B-7EE3-4FF0-B83C-9E6BB7AAF85B}"/>
              </a:ext>
            </a:extLst>
          </p:cNvPr>
          <p:cNvSpPr txBox="1"/>
          <p:nvPr/>
        </p:nvSpPr>
        <p:spPr>
          <a:xfrm>
            <a:off x="4419600" y="6317702"/>
            <a:ext cx="15240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Quality indoor lighting</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804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12</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201034435"/>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142442"/>
            <a:ext cx="1447800"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a:t>Quality of natural light/</a:t>
            </a:r>
          </a:p>
          <a:p>
            <a:pPr algn="ctr"/>
            <a:r>
              <a:rPr lang="en-US" sz="1100"/>
              <a:t>light from windows</a:t>
            </a:r>
          </a:p>
        </p:txBody>
      </p:sp>
      <p:sp>
        <p:nvSpPr>
          <p:cNvPr id="14" name="TextBox 1">
            <a:extLst>
              <a:ext uri="{FF2B5EF4-FFF2-40B4-BE49-F238E27FC236}">
                <a16:creationId xmlns:a16="http://schemas.microsoft.com/office/drawing/2014/main" id="{DD36DF7B-7EE3-4FF0-B83C-9E6BB7AAF85B}"/>
              </a:ext>
            </a:extLst>
          </p:cNvPr>
          <p:cNvSpPr txBox="1"/>
          <p:nvPr/>
        </p:nvSpPr>
        <p:spPr>
          <a:xfrm>
            <a:off x="4191000" y="6142442"/>
            <a:ext cx="1752600"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Comfortable temperature </a:t>
            </a:r>
          </a:p>
          <a:p>
            <a:pPr algn="ctr"/>
            <a:r>
              <a:rPr lang="en-US"/>
              <a:t>throughout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4640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13</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3218178816"/>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1447800" y="6317702"/>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dirty="0"/>
              <a:t>Feeling safe in home</a:t>
            </a:r>
          </a:p>
        </p:txBody>
      </p:sp>
      <p:sp>
        <p:nvSpPr>
          <p:cNvPr id="14" name="TextBox 1">
            <a:extLst>
              <a:ext uri="{FF2B5EF4-FFF2-40B4-BE49-F238E27FC236}">
                <a16:creationId xmlns:a16="http://schemas.microsoft.com/office/drawing/2014/main" id="{DD36DF7B-7EE3-4FF0-B83C-9E6BB7AAF85B}"/>
              </a:ext>
            </a:extLst>
          </p:cNvPr>
          <p:cNvSpPr txBox="1"/>
          <p:nvPr/>
        </p:nvSpPr>
        <p:spPr>
          <a:xfrm>
            <a:off x="4495800" y="6317702"/>
            <a:ext cx="1309255" cy="544964"/>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t>Feeling proud of </a:t>
            </a:r>
          </a:p>
          <a:p>
            <a:pPr algn="ctr"/>
            <a:r>
              <a:rPr lang="en-US"/>
              <a:t>your home</a:t>
            </a:r>
            <a:endParaRPr lang="en-US" sz="1100"/>
          </a:p>
        </p:txBody>
      </p:sp>
      <p:cxnSp>
        <p:nvCxnSpPr>
          <p:cNvPr id="15" name="Straight Connector 14">
            <a:extLst>
              <a:ext uri="{FF2B5EF4-FFF2-40B4-BE49-F238E27FC236}">
                <a16:creationId xmlns:a16="http://schemas.microsoft.com/office/drawing/2014/main" id="{80C0ED3B-2DF2-4F5F-909A-13AF7D4A311E}"/>
              </a:ext>
            </a:extLst>
          </p:cNvPr>
          <p:cNvCxnSpPr>
            <a:cxnSpLocks/>
          </p:cNvCxnSpPr>
          <p:nvPr/>
        </p:nvCxnSpPr>
        <p:spPr>
          <a:xfrm>
            <a:off x="3581400" y="1934252"/>
            <a:ext cx="0" cy="400934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2618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438A-C56C-463B-B0CA-35BBC77A2BC1}"/>
              </a:ext>
            </a:extLst>
          </p:cNvPr>
          <p:cNvSpPr>
            <a:spLocks noGrp="1"/>
          </p:cNvSpPr>
          <p:nvPr>
            <p:ph type="title"/>
          </p:nvPr>
        </p:nvSpPr>
        <p:spPr/>
        <p:txBody>
          <a:bodyPr/>
          <a:lstStyle/>
          <a:p>
            <a:r>
              <a:rPr lang="en-US"/>
              <a:t>Changes Since Energy Improvements</a:t>
            </a:r>
          </a:p>
        </p:txBody>
      </p:sp>
      <p:sp>
        <p:nvSpPr>
          <p:cNvPr id="6" name="Slide Number Placeholder 5">
            <a:extLst>
              <a:ext uri="{FF2B5EF4-FFF2-40B4-BE49-F238E27FC236}">
                <a16:creationId xmlns:a16="http://schemas.microsoft.com/office/drawing/2014/main" id="{E92DB064-4285-4576-B6A3-1F3E0C8C69DB}"/>
              </a:ext>
            </a:extLst>
          </p:cNvPr>
          <p:cNvSpPr>
            <a:spLocks noGrp="1"/>
          </p:cNvSpPr>
          <p:nvPr>
            <p:ph type="sldNum" sz="quarter" idx="12"/>
          </p:nvPr>
        </p:nvSpPr>
        <p:spPr/>
        <p:txBody>
          <a:bodyPr/>
          <a:lstStyle/>
          <a:p>
            <a:pPr>
              <a:defRPr/>
            </a:pPr>
            <a:fld id="{43DD9B07-AA93-460D-AC53-C03250F0E407}" type="slidenum">
              <a:rPr lang="en-US" altLang="en-US" smtClean="0"/>
              <a:pPr>
                <a:defRPr/>
              </a:pPr>
              <a:t>14</a:t>
            </a:fld>
            <a:endParaRPr lang="en-US" altLang="en-US"/>
          </a:p>
        </p:txBody>
      </p:sp>
      <p:sp>
        <p:nvSpPr>
          <p:cNvPr id="8" name="Text Box 9">
            <a:extLst>
              <a:ext uri="{FF2B5EF4-FFF2-40B4-BE49-F238E27FC236}">
                <a16:creationId xmlns:a16="http://schemas.microsoft.com/office/drawing/2014/main" id="{1590EE43-92C7-4DC4-A9EE-D4E3DD62DFC6}"/>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9" name="Text Box 6">
            <a:extLst>
              <a:ext uri="{FF2B5EF4-FFF2-40B4-BE49-F238E27FC236}">
                <a16:creationId xmlns:a16="http://schemas.microsoft.com/office/drawing/2014/main" id="{5810E047-B62A-4855-8A49-3C4EE5377FBE}"/>
              </a:ext>
            </a:extLst>
          </p:cNvPr>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14. I am going to read a list of items that may or may not have changed since your energy improvements were complete. Please tell me if each has increased, stayed the same, decreased or was never an issue.</a:t>
            </a:r>
            <a:endParaRPr lang="en-US" sz="1100" b="1">
              <a:latin typeface="+mn-lt"/>
              <a:ea typeface="ＭＳ Ｐゴシック" charset="-128"/>
            </a:endParaRPr>
          </a:p>
        </p:txBody>
      </p:sp>
      <p:graphicFrame>
        <p:nvGraphicFramePr>
          <p:cNvPr id="12" name="Chart 6">
            <a:extLst>
              <a:ext uri="{FF2B5EF4-FFF2-40B4-BE49-F238E27FC236}">
                <a16:creationId xmlns:a16="http://schemas.microsoft.com/office/drawing/2014/main" id="{03878CB7-05D0-42BB-9AB6-57CA08F42584}"/>
              </a:ext>
            </a:extLst>
          </p:cNvPr>
          <p:cNvGraphicFramePr>
            <a:graphicFrameLocks/>
          </p:cNvGraphicFramePr>
          <p:nvPr>
            <p:extLst>
              <p:ext uri="{D42A27DB-BD31-4B8C-83A1-F6EECF244321}">
                <p14:modId xmlns:p14="http://schemas.microsoft.com/office/powerpoint/2010/main" val="1589659687"/>
              </p:ext>
            </p:extLst>
          </p:nvPr>
        </p:nvGraphicFramePr>
        <p:xfrm>
          <a:off x="50800" y="1369529"/>
          <a:ext cx="6756400" cy="541105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
            <a:extLst>
              <a:ext uri="{FF2B5EF4-FFF2-40B4-BE49-F238E27FC236}">
                <a16:creationId xmlns:a16="http://schemas.microsoft.com/office/drawing/2014/main" id="{DD36DF7B-7EE3-4FF0-B83C-9E6BB7AAF85B}"/>
              </a:ext>
            </a:extLst>
          </p:cNvPr>
          <p:cNvSpPr txBox="1"/>
          <p:nvPr/>
        </p:nvSpPr>
        <p:spPr>
          <a:xfrm>
            <a:off x="2803099" y="6370320"/>
            <a:ext cx="1309255" cy="410758"/>
          </a:xfrm>
          <a:prstGeom prst="rect">
            <a:avLst/>
          </a:prstGeom>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1100" dirty="0"/>
              <a:t>Feeling healthy</a:t>
            </a:r>
          </a:p>
        </p:txBody>
      </p:sp>
    </p:spTree>
    <p:extLst>
      <p:ext uri="{BB962C8B-B14F-4D97-AF65-F5344CB8AC3E}">
        <p14:creationId xmlns:p14="http://schemas.microsoft.com/office/powerpoint/2010/main" val="58682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15</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3405464081"/>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475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11. Using a scale of ‘1’ (very dissatisfied) to ‘10’ (very satisfied), how would you rate your satisfaction with the Austin Energy </a:t>
            </a:r>
            <a:r>
              <a:rPr lang="en-US" sz="1100" b="1"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spTree>
    <p:extLst>
      <p:ext uri="{BB962C8B-B14F-4D97-AF65-F5344CB8AC3E}">
        <p14:creationId xmlns:p14="http://schemas.microsoft.com/office/powerpoint/2010/main" val="931391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Increase Satisfaction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16</a:t>
            </a:fld>
            <a:endParaRPr lang="en-US" altLang="en-US" sz="1400"/>
          </a:p>
        </p:txBody>
      </p:sp>
      <p:sp>
        <p:nvSpPr>
          <p:cNvPr id="7" name="Text Box 9"/>
          <p:cNvSpPr txBox="1">
            <a:spLocks noChangeArrowheads="1"/>
          </p:cNvSpPr>
          <p:nvPr/>
        </p:nvSpPr>
        <p:spPr bwMode="auto">
          <a:xfrm>
            <a:off x="514655" y="1033626"/>
            <a:ext cx="588614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rated overall satisfaction with Austin Energy’s Home Weatherization </a:t>
            </a:r>
            <a:br>
              <a:rPr lang="en-US" sz="1100">
                <a:solidFill>
                  <a:schemeClr val="tx2"/>
                </a:solidFill>
                <a:latin typeface="+mn-lt"/>
                <a:ea typeface="ＭＳ Ｐゴシック" charset="-128"/>
              </a:rPr>
            </a:br>
            <a:r>
              <a:rPr lang="en-US" sz="1100">
                <a:solidFill>
                  <a:schemeClr val="tx2"/>
                </a:solidFill>
                <a:latin typeface="+mn-lt"/>
                <a:ea typeface="ＭＳ Ｐゴシック" charset="-128"/>
              </a:rPr>
              <a:t>Program less than ‘8’.</a:t>
            </a:r>
          </a:p>
          <a:p>
            <a:pPr eaLnBrk="1" hangingPunct="1">
              <a:defRPr/>
            </a:pPr>
            <a:r>
              <a:rPr lang="en-US" sz="1100">
                <a:solidFill>
                  <a:schemeClr val="tx2"/>
                </a:solidFill>
                <a:latin typeface="+mn-lt"/>
                <a:ea typeface="ＭＳ Ｐゴシック" charset="-128"/>
              </a:rPr>
              <a:t>Note: Throughout this report, number of mentions may not be equal to the base due to some respondents selecting multiple mentions or not responding to the question.</a:t>
            </a:r>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12. What could be done for you to be more satisfied with the </a:t>
            </a:r>
            <a:r>
              <a:rPr lang="en-US" sz="1100" u="sng">
                <a:latin typeface="+mn-lt"/>
                <a:ea typeface="ＭＳ Ｐゴシック" charset="-128"/>
              </a:rPr>
              <a:t>weatherization program</a:t>
            </a:r>
            <a:r>
              <a:rPr lang="en-US" sz="1100">
                <a:latin typeface="+mn-lt"/>
                <a:ea typeface="ＭＳ Ｐゴシック" charset="-128"/>
              </a:rPr>
              <a:t>? </a:t>
            </a:r>
            <a:endParaRPr lang="en-US" sz="1100" b="1">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5715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571500">
                <a:tc>
                  <a:txBody>
                    <a:bodyPr/>
                    <a:lstStyle/>
                    <a:p>
                      <a:pPr algn="l"/>
                      <a:r>
                        <a:rPr sz="1300" b="0" i="0">
                          <a:solidFill>
                            <a:srgbClr val="000000"/>
                          </a:solidFill>
                          <a:latin typeface="Tahoma"/>
                        </a:rPr>
                        <a:t>Do work correctly the first time</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71500">
                <a:tc>
                  <a:txBody>
                    <a:bodyPr/>
                    <a:lstStyle/>
                    <a:p>
                      <a:pPr algn="l"/>
                      <a:r>
                        <a:rPr sz="1300" b="0" i="0">
                          <a:solidFill>
                            <a:srgbClr val="000000"/>
                          </a:solidFill>
                          <a:latin typeface="Tahoma"/>
                        </a:rPr>
                        <a:t>More oversight of repairs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71500">
                <a:tc>
                  <a:txBody>
                    <a:bodyPr/>
                    <a:lstStyle/>
                    <a:p>
                      <a:pPr algn="l"/>
                      <a:r>
                        <a:rPr sz="1300" b="0" i="0">
                          <a:solidFill>
                            <a:srgbClr val="000000"/>
                          </a:solidFill>
                          <a:latin typeface="Tahoma"/>
                        </a:rPr>
                        <a:t>Return calls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571500">
                <a:tc>
                  <a:txBody>
                    <a:bodyPr/>
                    <a:lstStyle/>
                    <a:p>
                      <a:pPr algn="l"/>
                      <a:r>
                        <a:rPr sz="1300" b="0" i="0">
                          <a:solidFill>
                            <a:srgbClr val="000000"/>
                          </a:solidFill>
                          <a:latin typeface="Tahoma"/>
                        </a:rPr>
                        <a:t>Better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71500">
                <a:tc>
                  <a:txBody>
                    <a:bodyPr/>
                    <a:lstStyle/>
                    <a:p>
                      <a:pPr algn="l"/>
                      <a:r>
                        <a:rPr sz="1300" b="0" i="0">
                          <a:solidFill>
                            <a:srgbClr val="000000"/>
                          </a:solidFill>
                          <a:latin typeface="Tahoma"/>
                        </a:rPr>
                        <a:t>Make sure equipment is good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71500">
                <a:tc>
                  <a:txBody>
                    <a:bodyPr/>
                    <a:lstStyle/>
                    <a:p>
                      <a:pPr algn="l"/>
                      <a:r>
                        <a:rPr sz="1300" b="0" i="0">
                          <a:solidFill>
                            <a:srgbClr val="000000"/>
                          </a:solidFill>
                          <a:latin typeface="Tahoma"/>
                        </a:rPr>
                        <a:t>Nothing</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715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2</a:t>
                      </a:r>
                    </a:p>
                  </a:txBody>
                  <a:tcPr anchor="ctr">
                    <a:solidFill>
                      <a:srgbClr val="5A80B8"/>
                    </a:solidFill>
                  </a:tcPr>
                </a:tc>
                <a:tc>
                  <a:txBody>
                    <a:bodyPr/>
                    <a:lstStyle/>
                    <a:p>
                      <a:pPr algn="ctr"/>
                      <a:r>
                        <a:rPr sz="1300" b="0" i="0">
                          <a:solidFill>
                            <a:srgbClr val="FFFFFF"/>
                          </a:solidFill>
                          <a:latin typeface="Tahoma"/>
                        </a:rPr>
                        <a:t>6</a:t>
                      </a:r>
                    </a:p>
                  </a:txBody>
                  <a:tcPr anchor="ctr">
                    <a:solidFill>
                      <a:srgbClr val="5A80B8"/>
                    </a:solidFill>
                  </a:tcPr>
                </a:tc>
                <a:tc>
                  <a:txBody>
                    <a:bodyPr/>
                    <a:lstStyle/>
                    <a:p>
                      <a:pPr algn="ctr"/>
                      <a:r>
                        <a:rPr sz="1300" b="0" i="0">
                          <a:solidFill>
                            <a:srgbClr val="FFFFFF"/>
                          </a:solidFill>
                          <a:latin typeface="Tahoma"/>
                        </a:rPr>
                        <a:t>3</a:t>
                      </a:r>
                    </a:p>
                  </a:txBody>
                  <a:tcPr anchor="ctr">
                    <a:solidFill>
                      <a:srgbClr val="5A80B8"/>
                    </a:solidFill>
                  </a:tcPr>
                </a:tc>
              </a:tr>
            </a:tbl>
          </a:graphicData>
        </a:graphic>
      </p:graphicFrame>
    </p:spTree>
    <p:extLst>
      <p:ext uri="{BB962C8B-B14F-4D97-AF65-F5344CB8AC3E}">
        <p14:creationId xmlns:p14="http://schemas.microsoft.com/office/powerpoint/2010/main" val="4060658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Would You Recommend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17</a:t>
            </a:fld>
            <a:endParaRPr lang="en-US" altLang="en-US" sz="1400"/>
          </a:p>
        </p:txBody>
      </p:sp>
      <p:sp>
        <p:nvSpPr>
          <p:cNvPr id="9" name="Text Box 6"/>
          <p:cNvSpPr txBox="1">
            <a:spLocks noChangeArrowheads="1"/>
          </p:cNvSpPr>
          <p:nvPr/>
        </p:nvSpPr>
        <p:spPr bwMode="auto">
          <a:xfrm>
            <a:off x="-36443" y="8397323"/>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dirty="0">
                <a:latin typeface="+mn-lt"/>
                <a:ea typeface="ＭＳ Ｐゴシック" charset="-128"/>
              </a:rPr>
              <a:t>15. Would you recommend Austin Energy’s Home Weatherization Program to a friend or family member?</a:t>
            </a:r>
          </a:p>
        </p:txBody>
      </p:sp>
      <p:graphicFrame>
        <p:nvGraphicFramePr>
          <p:cNvPr id="3" name="Chart 6"/>
          <p:cNvGraphicFramePr>
            <a:graphicFrameLocks/>
          </p:cNvGraphicFramePr>
          <p:nvPr>
            <p:extLst>
              <p:ext uri="{D42A27DB-BD31-4B8C-83A1-F6EECF244321}">
                <p14:modId xmlns:p14="http://schemas.microsoft.com/office/powerpoint/2010/main" val="3552314105"/>
              </p:ext>
            </p:extLst>
          </p:nvPr>
        </p:nvGraphicFramePr>
        <p:xfrm>
          <a:off x="50801" y="1352550"/>
          <a:ext cx="6756400" cy="4895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34848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Reasons for Not Recommending Austin Energy’s Home Weatherization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18</a:t>
            </a:fld>
            <a:endParaRPr lang="en-US" altLang="en-US" sz="1400"/>
          </a:p>
        </p:txBody>
      </p:sp>
      <p:sp>
        <p:nvSpPr>
          <p:cNvPr id="7" name="Text Box 9"/>
          <p:cNvSpPr txBox="1">
            <a:spLocks noChangeArrowheads="1"/>
          </p:cNvSpPr>
          <p:nvPr/>
        </p:nvSpPr>
        <p:spPr bwMode="auto">
          <a:xfrm>
            <a:off x="514655" y="1033626"/>
            <a:ext cx="611257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Respondents who would not recommend Austin Energy’s Home Weatherization Program.</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16. Why would you </a:t>
            </a:r>
            <a:r>
              <a:rPr lang="en-US" sz="1100" u="sng">
                <a:latin typeface="+mn-lt"/>
                <a:ea typeface="ＭＳ Ｐゴシック" charset="-128"/>
              </a:rPr>
              <a:t>NOT</a:t>
            </a:r>
            <a:r>
              <a:rPr lang="en-US" sz="1100">
                <a:latin typeface="+mn-lt"/>
                <a:ea typeface="ＭＳ Ｐゴシック" charset="-128"/>
              </a:rPr>
              <a:t> recommend Austin Energy’s Home Weatherization Program to a friend or family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5240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1524000">
                <a:tc>
                  <a:txBody>
                    <a:bodyPr/>
                    <a:lstStyle/>
                    <a:p>
                      <a:pPr algn="l"/>
                      <a:r>
                        <a:rPr sz="1300" b="0" i="0">
                          <a:solidFill>
                            <a:srgbClr val="000000"/>
                          </a:solidFill>
                          <a:latin typeface="Tahoma"/>
                        </a:rPr>
                        <a:t>First experience. Yes! This experience would like to try to forget but reminders keep me aggravated.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152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c>
                  <a:txBody>
                    <a:bodyPr/>
                    <a:lstStyle/>
                    <a:p>
                      <a:pPr algn="ctr"/>
                      <a:r>
                        <a:rPr sz="1300" b="0" i="0">
                          <a:solidFill>
                            <a:srgbClr val="FFFFFF"/>
                          </a:solidFill>
                          <a:latin typeface="Tahoma"/>
                        </a:rPr>
                        <a:t>0</a:t>
                      </a:r>
                    </a:p>
                  </a:txBody>
                  <a:tcPr anchor="ctr">
                    <a:solidFill>
                      <a:srgbClr val="5A80B8"/>
                    </a:solidFill>
                  </a:tcPr>
                </a:tc>
              </a:tr>
            </a:tbl>
          </a:graphicData>
        </a:graphic>
      </p:graphicFrame>
    </p:spTree>
    <p:extLst>
      <p:ext uri="{BB962C8B-B14F-4D97-AF65-F5344CB8AC3E}">
        <p14:creationId xmlns:p14="http://schemas.microsoft.com/office/powerpoint/2010/main" val="4118268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Improvements to </a:t>
            </a:r>
            <a:br>
              <a:rPr lang="en-US" altLang="en-US">
                <a:ea typeface="MS PGothic" panose="020B0600070205080204" pitchFamily="34" charset="-128"/>
              </a:rPr>
            </a:br>
            <a:r>
              <a:rPr lang="en-US" altLang="en-US">
                <a:ea typeface="MS PGothic" panose="020B0600070205080204" pitchFamily="34" charset="-128"/>
              </a:rPr>
              <a:t>the Weatherization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19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25. How could Austin Energy improve its weatherization program?</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285750">
                <a:tc>
                  <a:txBody>
                    <a:bodyPr/>
                    <a:lstStyle/>
                    <a:p>
                      <a:pPr algn="l"/>
                      <a:r>
                        <a:rPr sz="1300" b="0" i="0">
                          <a:solidFill>
                            <a:srgbClr val="000000"/>
                          </a:solidFill>
                          <a:latin typeface="Tahoma"/>
                        </a:rPr>
                        <a:t>Nothing/no changes needed</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85750">
                <a:tc>
                  <a:txBody>
                    <a:bodyPr/>
                    <a:lstStyle/>
                    <a:p>
                      <a:pPr algn="l"/>
                      <a:r>
                        <a:rPr sz="1300" b="0" i="0">
                          <a:solidFill>
                            <a:srgbClr val="000000"/>
                          </a:solidFill>
                          <a:latin typeface="Tahoma"/>
                        </a:rPr>
                        <a:t>Promote, advertise more</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More communication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Better planning, improve budgeting</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Replace doors, windows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Increase water, energy saving options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Enroll more people in program</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Follow-up, Supervise contractor work</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Faster response, shorter wait times</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Have more repair options available</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Use more skilled contractors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Make sure existing house/utilities can support planned changes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c>
                  <a:txBody>
                    <a:bodyPr/>
                    <a:lstStyle/>
                    <a:p>
                      <a:pPr algn="ctr"/>
                      <a:r>
                        <a:rPr sz="13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294807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Customer Service</a:t>
            </a:r>
          </a:p>
        </p:txBody>
      </p:sp>
    </p:spTree>
    <p:extLst>
      <p:ext uri="{BB962C8B-B14F-4D97-AF65-F5344CB8AC3E}">
        <p14:creationId xmlns:p14="http://schemas.microsoft.com/office/powerpoint/2010/main" val="1463876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21</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021715359"/>
              </p:ext>
            </p:extLst>
          </p:nvPr>
        </p:nvGraphicFramePr>
        <p:xfrm>
          <a:off x="50801" y="1371600"/>
          <a:ext cx="6756400" cy="57150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a:t>
            </a:r>
            <a:r>
              <a:rPr lang="en-US" sz="1100">
                <a:latin typeface="+mj-lt"/>
                <a:ea typeface="ＭＳ Ｐゴシック" charset="-128"/>
              </a:rPr>
              <a:t> ‘</a:t>
            </a:r>
            <a:r>
              <a:rPr lang="en-US" sz="1100">
                <a:latin typeface="+mn-lt"/>
                <a:ea typeface="ＭＳ Ｐゴシック" charset="-128"/>
              </a:rPr>
              <a:t>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1990225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22</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2658517009"/>
              </p:ext>
            </p:extLst>
          </p:nvPr>
        </p:nvGraphicFramePr>
        <p:xfrm>
          <a:off x="50801" y="1447800"/>
          <a:ext cx="6756400" cy="5334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057961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Contractor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23</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442611896"/>
              </p:ext>
            </p:extLst>
          </p:nvPr>
        </p:nvGraphicFramePr>
        <p:xfrm>
          <a:off x="50800" y="152539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 Please tell me how you would rate the </a:t>
            </a:r>
            <a:r>
              <a:rPr lang="en-US" sz="1100" b="1" u="sng">
                <a:latin typeface="+mn-lt"/>
                <a:ea typeface="ＭＳ Ｐゴシック" charset="-128"/>
              </a:rPr>
              <a:t>contractor</a:t>
            </a:r>
            <a:r>
              <a:rPr lang="en-US" sz="1100">
                <a:latin typeface="+mn-lt"/>
                <a:ea typeface="ＭＳ Ｐゴシック" charset="-128"/>
              </a:rPr>
              <a:t> who performed the weatherization on your home, using a scale of ‘1’ to ‘10’, where ‘1’ is extremely poor and ‘10’ is outstanding. </a:t>
            </a:r>
            <a:endParaRPr lang="en-US" sz="1100" b="1">
              <a:latin typeface="+mn-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450368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a:t>
            </a:r>
            <a:br>
              <a:rPr lang="en-US" altLang="en-US">
                <a:ea typeface="MS PGothic" panose="020B0600070205080204" pitchFamily="34" charset="-128"/>
              </a:rPr>
            </a:br>
            <a:r>
              <a:rPr lang="en-US" altLang="en-US">
                <a:ea typeface="MS PGothic" panose="020B0600070205080204" pitchFamily="34" charset="-128"/>
              </a:rPr>
              <a:t>From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24</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4. Did the contractor follow-up on any concerns you had with the work done on your home?</a:t>
            </a:r>
          </a:p>
        </p:txBody>
      </p:sp>
      <p:graphicFrame>
        <p:nvGraphicFramePr>
          <p:cNvPr id="3" name="Chart 6"/>
          <p:cNvGraphicFramePr>
            <a:graphicFrameLocks/>
          </p:cNvGraphicFramePr>
          <p:nvPr>
            <p:extLst>
              <p:ext uri="{D42A27DB-BD31-4B8C-83A1-F6EECF244321}">
                <p14:modId xmlns:p14="http://schemas.microsoft.com/office/powerpoint/2010/main" val="1205218191"/>
              </p:ext>
            </p:extLst>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180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ea typeface="MS PGothic" panose="020B0600070205080204" pitchFamily="34" charset="-128"/>
              </a:rPr>
              <a:t>Satisfaction with Contractor </a:t>
            </a:r>
            <a:br>
              <a:rPr lang="en-US" altLang="en-US" dirty="0">
                <a:ea typeface="MS PGothic" panose="020B0600070205080204" pitchFamily="34" charset="-128"/>
              </a:rPr>
            </a:br>
            <a:r>
              <a:rPr lang="en-US" altLang="en-US" dirty="0">
                <a:ea typeface="MS PGothic" panose="020B0600070205080204" pitchFamily="34" charset="-128"/>
              </a:rPr>
              <a:t>Follow-Up </a:t>
            </a:r>
            <a:endParaRPr lang="en-US" altLang="en-US" dirty="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5. Did the contractor follow-up to your satisfaction?</a:t>
            </a:r>
          </a:p>
        </p:txBody>
      </p:sp>
      <p:graphicFrame>
        <p:nvGraphicFramePr>
          <p:cNvPr id="3" name="Chart 6"/>
          <p:cNvGraphicFramePr>
            <a:graphicFrameLocks/>
          </p:cNvGraphicFramePr>
          <p:nvPr>
            <p:extLst>
              <p:ext uri="{D42A27DB-BD31-4B8C-83A1-F6EECF244321}">
                <p14:modId xmlns:p14="http://schemas.microsoft.com/office/powerpoint/2010/main" val="2709663958"/>
              </p:ext>
            </p:extLst>
          </p:nvPr>
        </p:nvGraphicFramePr>
        <p:xfrm>
          <a:off x="50800" y="1570292"/>
          <a:ext cx="6756400" cy="471011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spTree>
    <p:extLst>
      <p:ext uri="{BB962C8B-B14F-4D97-AF65-F5344CB8AC3E}">
        <p14:creationId xmlns:p14="http://schemas.microsoft.com/office/powerpoint/2010/main" val="536744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Improvements to Follow-Up Concerns with the Contractor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26</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6. What could the contractor have done to improve the follow-up to your concerns regarding the work done on your home?</a:t>
            </a:r>
            <a:endParaRPr lang="en-US" sz="1100" b="1">
              <a:latin typeface="+mn-lt"/>
              <a:ea typeface="ＭＳ Ｐゴシック" charset="-128"/>
            </a:endParaRPr>
          </a:p>
        </p:txBody>
      </p:sp>
      <p:sp>
        <p:nvSpPr>
          <p:cNvPr id="6"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the contractor.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7620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762000">
                <a:tc>
                  <a:txBody>
                    <a:bodyPr/>
                    <a:lstStyle/>
                    <a:p>
                      <a:pPr algn="l"/>
                      <a:r>
                        <a:rPr sz="1300" b="0" i="0">
                          <a:solidFill>
                            <a:srgbClr val="000000"/>
                          </a:solidFill>
                          <a:latin typeface="Tahoma"/>
                        </a:rPr>
                        <a:t>Followed up, reviewed work</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762000">
                <a:tc>
                  <a:txBody>
                    <a:bodyPr/>
                    <a:lstStyle/>
                    <a:p>
                      <a:pPr algn="l"/>
                      <a:r>
                        <a:rPr sz="1300" b="0" i="0">
                          <a:solidFill>
                            <a:srgbClr val="000000"/>
                          </a:solidFill>
                          <a:latin typeface="Tahoma"/>
                        </a:rPr>
                        <a:t>Complete work correctly, properly</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Cleaned up mess, repaired damage they caused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Job completed very well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22</a:t>
                      </a:r>
                    </a:p>
                  </a:txBody>
                  <a:tcPr anchor="ctr">
                    <a:solidFill>
                      <a:srgbClr val="5A80B8"/>
                    </a:solidFill>
                  </a:tcPr>
                </a:tc>
                <a:tc>
                  <a:txBody>
                    <a:bodyPr/>
                    <a:lstStyle/>
                    <a:p>
                      <a:pPr algn="ctr"/>
                      <a:r>
                        <a:rPr sz="1300" b="0" i="0">
                          <a:solidFill>
                            <a:srgbClr val="FFFFFF"/>
                          </a:solidFill>
                          <a:latin typeface="Tahoma"/>
                        </a:rPr>
                        <a:t>33</a:t>
                      </a:r>
                    </a:p>
                  </a:txBody>
                  <a:tcPr anchor="ctr">
                    <a:solidFill>
                      <a:srgbClr val="5A80B8"/>
                    </a:solidFill>
                  </a:tcPr>
                </a:tc>
                <a:tc>
                  <a:txBody>
                    <a:bodyPr/>
                    <a:lstStyle/>
                    <a:p>
                      <a:pPr algn="ctr"/>
                      <a:r>
                        <a:rPr sz="1300" b="0" i="0">
                          <a:solidFill>
                            <a:srgbClr val="FFFFFF"/>
                          </a:solidFill>
                          <a:latin typeface="Tahoma"/>
                        </a:rPr>
                        <a:t>22</a:t>
                      </a:r>
                    </a:p>
                  </a:txBody>
                  <a:tcPr anchor="ctr">
                    <a:solidFill>
                      <a:srgbClr val="5A80B8"/>
                    </a:solidFill>
                  </a:tcPr>
                </a:tc>
                <a:tc>
                  <a:txBody>
                    <a:bodyPr/>
                    <a:lstStyle/>
                    <a:p>
                      <a:pPr algn="ctr"/>
                      <a:r>
                        <a:rPr sz="1300" b="0"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582837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27</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464065700"/>
              </p:ext>
            </p:extLst>
          </p:nvPr>
        </p:nvGraphicFramePr>
        <p:xfrm>
          <a:off x="50800" y="1656195"/>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1 of 3</a:t>
            </a:r>
          </a:p>
        </p:txBody>
      </p:sp>
    </p:spTree>
    <p:extLst>
      <p:ext uri="{BB962C8B-B14F-4D97-AF65-F5344CB8AC3E}">
        <p14:creationId xmlns:p14="http://schemas.microsoft.com/office/powerpoint/2010/main" val="3264405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28</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59849343"/>
              </p:ext>
            </p:extLst>
          </p:nvPr>
        </p:nvGraphicFramePr>
        <p:xfrm>
          <a:off x="50800" y="1525390"/>
          <a:ext cx="6756400" cy="5181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2 of 3</a:t>
            </a:r>
          </a:p>
        </p:txBody>
      </p:sp>
    </p:spTree>
    <p:extLst>
      <p:ext uri="{BB962C8B-B14F-4D97-AF65-F5344CB8AC3E}">
        <p14:creationId xmlns:p14="http://schemas.microsoft.com/office/powerpoint/2010/main" val="2707875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Customer Service Ratings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29</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3775509940"/>
              </p:ext>
            </p:extLst>
          </p:nvPr>
        </p:nvGraphicFramePr>
        <p:xfrm>
          <a:off x="50801" y="13716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49904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‘1’=Extremely Poor; ‘10’=Outstanding. Only ‘8’, ‘9’, ‘10’ ratings shown.</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j-lt"/>
                <a:ea typeface="ＭＳ Ｐゴシック" charset="-128"/>
              </a:rPr>
              <a:t>7. Please tell me how you would rate the Austin Energy </a:t>
            </a:r>
            <a:r>
              <a:rPr lang="en-US" sz="1100" b="1" u="sng">
                <a:latin typeface="+mj-lt"/>
                <a:ea typeface="ＭＳ Ｐゴシック" charset="-128"/>
              </a:rPr>
              <a:t>staff member</a:t>
            </a:r>
            <a:r>
              <a:rPr lang="en-US" sz="1100">
                <a:latin typeface="+mj-lt"/>
                <a:ea typeface="ＭＳ Ｐゴシック" charset="-128"/>
              </a:rPr>
              <a:t> who assisted you during the weatherization of your home, using a scale of ‘1’ to ‘10’, where ‘1’ is extremely poor and ‘10’ is outstanding.</a:t>
            </a:r>
            <a:endParaRPr lang="en-US" sz="1100" b="1">
              <a:latin typeface="+mj-lt"/>
              <a:ea typeface="ＭＳ Ｐゴシック" charset="-128"/>
            </a:endParaRPr>
          </a:p>
        </p:txBody>
      </p:sp>
      <p:sp>
        <p:nvSpPr>
          <p:cNvPr id="8" name="TextBox 2"/>
          <p:cNvSpPr txBox="1">
            <a:spLocks noChangeArrowheads="1"/>
          </p:cNvSpPr>
          <p:nvPr/>
        </p:nvSpPr>
        <p:spPr bwMode="auto">
          <a:xfrm>
            <a:off x="5813425" y="1394585"/>
            <a:ext cx="9300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cs typeface="Geneva"/>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Geneva"/>
                <a:cs typeface="Geneva"/>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Geneva"/>
                <a:cs typeface="Geneva"/>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Geneva"/>
                <a:cs typeface="Geneva"/>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Geneva"/>
                <a:cs typeface="Geneva"/>
              </a:defRPr>
            </a:lvl9pPr>
          </a:lstStyle>
          <a:p>
            <a:pPr>
              <a:spcBef>
                <a:spcPct val="0"/>
              </a:spcBef>
              <a:buFontTx/>
              <a:buNone/>
            </a:pPr>
            <a:r>
              <a:rPr lang="en-US" altLang="en-US" sz="1100">
                <a:latin typeface="+mn-lt"/>
              </a:rPr>
              <a:t>Chart 3 of 3</a:t>
            </a:r>
          </a:p>
        </p:txBody>
      </p:sp>
    </p:spTree>
    <p:extLst>
      <p:ext uri="{BB962C8B-B14F-4D97-AF65-F5344CB8AC3E}">
        <p14:creationId xmlns:p14="http://schemas.microsoft.com/office/powerpoint/2010/main" val="3057168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Received a Follow-Up From </a:t>
            </a:r>
            <a:br>
              <a:rPr lang="en-US" altLang="en-US">
                <a:ea typeface="MS PGothic" panose="020B0600070205080204" pitchFamily="34" charset="-128"/>
              </a:rPr>
            </a:br>
            <a:r>
              <a:rPr lang="en-US" altLang="en-US">
                <a:ea typeface="MS PGothic" panose="020B0600070205080204" pitchFamily="34" charset="-128"/>
              </a:rPr>
              <a:t>Austin Energy Staff Member</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30</a:t>
            </a:fld>
            <a:endParaRPr lang="en-US" altLang="en-US" sz="1400"/>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8. Did the Austin Energy staff member follow up on any concerns you had with the work done on your home? </a:t>
            </a:r>
          </a:p>
        </p:txBody>
      </p:sp>
      <p:graphicFrame>
        <p:nvGraphicFramePr>
          <p:cNvPr id="3" name="Chart 6"/>
          <p:cNvGraphicFramePr>
            <a:graphicFrameLocks/>
          </p:cNvGraphicFramePr>
          <p:nvPr>
            <p:extLst>
              <p:ext uri="{D42A27DB-BD31-4B8C-83A1-F6EECF244321}">
                <p14:modId xmlns:p14="http://schemas.microsoft.com/office/powerpoint/2010/main" val="790447207"/>
              </p:ext>
            </p:extLst>
          </p:nvPr>
        </p:nvGraphicFramePr>
        <p:xfrm>
          <a:off x="50800" y="1475503"/>
          <a:ext cx="6756400"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47420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ea typeface="MS PGothic" panose="020B0600070205080204" pitchFamily="34" charset="-128"/>
              </a:rPr>
              <a:t>Satisfaction with Staff Follow-Up </a:t>
            </a:r>
            <a:endParaRPr lang="en-US" altLang="en-US" dirty="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31</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9. Did the Austin Energy staff member follow up to your satisfaction?</a:t>
            </a:r>
          </a:p>
        </p:txBody>
      </p:sp>
      <p:graphicFrame>
        <p:nvGraphicFramePr>
          <p:cNvPr id="3" name="Chart 6"/>
          <p:cNvGraphicFramePr>
            <a:graphicFrameLocks/>
          </p:cNvGraphicFramePr>
          <p:nvPr>
            <p:extLst>
              <p:ext uri="{D42A27DB-BD31-4B8C-83A1-F6EECF244321}">
                <p14:modId xmlns:p14="http://schemas.microsoft.com/office/powerpoint/2010/main" val="978730071"/>
              </p:ext>
            </p:extLst>
          </p:nvPr>
        </p:nvGraphicFramePr>
        <p:xfrm>
          <a:off x="50800" y="1447800"/>
          <a:ext cx="6756400" cy="469669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spTree>
    <p:extLst>
      <p:ext uri="{BB962C8B-B14F-4D97-AF65-F5344CB8AC3E}">
        <p14:creationId xmlns:p14="http://schemas.microsoft.com/office/powerpoint/2010/main" val="2421798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3000">
                <a:ea typeface="MS PGothic" panose="020B0600070205080204" pitchFamily="34" charset="-128"/>
              </a:rPr>
              <a:t>Improvements to Follow-Up Concerns with Austin Energy Staff Member</a:t>
            </a:r>
            <a:endParaRPr lang="en-US" altLang="en-US" sz="30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32</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10. What could the Austin Energy staff member have done to improve the follow-up to your concerns regarding the work done on your home?</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Base: Those who received a follow-up from an Austin Energy staff member.</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7620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762000">
                <a:tc>
                  <a:txBody>
                    <a:bodyPr/>
                    <a:lstStyle/>
                    <a:p>
                      <a:pPr algn="l"/>
                      <a:r>
                        <a:rPr sz="1300" b="0" i="0">
                          <a:solidFill>
                            <a:srgbClr val="000000"/>
                          </a:solidFill>
                          <a:latin typeface="Tahoma"/>
                        </a:rPr>
                        <a:t>Follow up after a few month to check on work performed</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762000">
                <a:tc>
                  <a:txBody>
                    <a:bodyPr/>
                    <a:lstStyle/>
                    <a:p>
                      <a:pPr algn="l"/>
                      <a:r>
                        <a:rPr sz="1300" b="0" i="0">
                          <a:solidFill>
                            <a:srgbClr val="000000"/>
                          </a:solidFill>
                          <a:latin typeface="Tahoma"/>
                        </a:rPr>
                        <a:t>Improve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762000">
                <a:tc>
                  <a:txBody>
                    <a:bodyPr/>
                    <a:lstStyle/>
                    <a:p>
                      <a:pPr algn="l"/>
                      <a:r>
                        <a:rPr sz="1300" b="0" i="0">
                          <a:solidFill>
                            <a:srgbClr val="000000"/>
                          </a:solidFill>
                          <a:latin typeface="Tahoma"/>
                        </a:rPr>
                        <a:t>Complete repair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300" b="0" i="0">
                          <a:solidFill>
                            <a:srgbClr val="000000"/>
                          </a:solidFill>
                          <a:latin typeface="Tahoma"/>
                        </a:rPr>
                        <a:t>Don’t know</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762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300" b="0" i="0">
                          <a:solidFill>
                            <a:srgbClr val="FFFFFF"/>
                          </a:solidFill>
                          <a:latin typeface="Tahoma"/>
                        </a:rPr>
                        <a:t>19</a:t>
                      </a:r>
                    </a:p>
                  </a:txBody>
                  <a:tcPr anchor="ctr">
                    <a:solidFill>
                      <a:srgbClr val="5A80B8"/>
                    </a:solidFill>
                  </a:tcPr>
                </a:tc>
                <a:tc>
                  <a:txBody>
                    <a:bodyPr/>
                    <a:lstStyle/>
                    <a:p>
                      <a:pPr algn="ctr"/>
                      <a:r>
                        <a:rPr sz="1300" b="0" i="0">
                          <a:solidFill>
                            <a:srgbClr val="FFFFFF"/>
                          </a:solidFill>
                          <a:latin typeface="Tahoma"/>
                        </a:rPr>
                        <a:t>24</a:t>
                      </a:r>
                    </a:p>
                  </a:txBody>
                  <a:tcPr anchor="ctr">
                    <a:solidFill>
                      <a:srgbClr val="5A80B8"/>
                    </a:solidFill>
                  </a:tcPr>
                </a:tc>
                <a:tc>
                  <a:txBody>
                    <a:bodyPr/>
                    <a:lstStyle/>
                    <a:p>
                      <a:pPr algn="ctr"/>
                      <a:r>
                        <a:rPr sz="1300" b="0" i="0">
                          <a:solidFill>
                            <a:srgbClr val="FFFFFF"/>
                          </a:solidFill>
                          <a:latin typeface="Tahoma"/>
                        </a:rPr>
                        <a:t>17</a:t>
                      </a:r>
                    </a:p>
                  </a:txBody>
                  <a:tcPr anchor="ctr">
                    <a:solidFill>
                      <a:srgbClr val="5A80B8"/>
                    </a:solidFill>
                  </a:tcPr>
                </a:tc>
                <a:tc>
                  <a:txBody>
                    <a:bodyPr/>
                    <a:lstStyle/>
                    <a:p>
                      <a:pPr algn="ctr"/>
                      <a:r>
                        <a:rPr sz="1300" b="0"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34331458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Experience with Those Who Weatherized Your Home</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33</a:t>
            </a:fld>
            <a:endParaRPr lang="en-US" altLang="en-US" sz="1400"/>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dirty="0">
                <a:latin typeface="+mn-lt"/>
                <a:ea typeface="ＭＳ Ｐゴシック" charset="-128"/>
              </a:rPr>
              <a:t>13. Was there anything about your experience with the people who weatherized your home that you would like to share with Austin Energy?</a:t>
            </a:r>
            <a:endParaRPr lang="en-US" sz="1100" b="1" dirty="0">
              <a:latin typeface="+mn-lt"/>
              <a:ea typeface="ＭＳ Ｐゴシック" charset="-128"/>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285750">
                <a:tc>
                  <a:txBody>
                    <a:bodyPr/>
                    <a:lstStyle/>
                    <a:p>
                      <a:pPr algn="l"/>
                      <a:r>
                        <a:rPr sz="1300" b="0" i="0">
                          <a:solidFill>
                            <a:srgbClr val="000000"/>
                          </a:solidFill>
                          <a:latin typeface="Tahoma"/>
                        </a:rPr>
                        <a:t>Satisfied with work, no complaints</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285750">
                <a:tc>
                  <a:txBody>
                    <a:bodyPr/>
                    <a:lstStyle/>
                    <a:p>
                      <a:pPr algn="l"/>
                      <a:r>
                        <a:rPr sz="1300" b="0" i="0">
                          <a:solidFill>
                            <a:srgbClr val="000000"/>
                          </a:solidFill>
                          <a:latin typeface="Tahoma"/>
                        </a:rPr>
                        <a:t>Patient, kind, nice, friendly, caring, polite employee</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85750">
                <a:tc>
                  <a:txBody>
                    <a:bodyPr/>
                    <a:lstStyle/>
                    <a:p>
                      <a:pPr algn="l"/>
                      <a:r>
                        <a:rPr sz="1300" b="0" i="0">
                          <a:solidFill>
                            <a:srgbClr val="000000"/>
                          </a:solidFill>
                          <a:latin typeface="Tahoma"/>
                        </a:rPr>
                        <a:t>Nothing/no changes</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0" i="0">
                          <a:solidFill>
                            <a:srgbClr val="000000"/>
                          </a:solidFill>
                          <a:latin typeface="Tahoma"/>
                        </a:rPr>
                        <a:t>Provided helpful information, knowledgeable</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Quick, punctual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Did not leave area clean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85750">
                <a:tc>
                  <a:txBody>
                    <a:bodyPr/>
                    <a:lstStyle/>
                    <a:p>
                      <a:pPr algn="l"/>
                      <a:r>
                        <a:rPr sz="1300" b="0" i="0">
                          <a:solidFill>
                            <a:srgbClr val="000000"/>
                          </a:solidFill>
                          <a:latin typeface="Tahoma"/>
                        </a:rPr>
                        <a:t>Professional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Incomplete job, items or issues not addressed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Cleaned up after themselves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Good communication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Appreciate program, service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Not knowledgeable/not done properly</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Need more information about work completed</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8575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28575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c>
                  <a:txBody>
                    <a:bodyPr/>
                    <a:lstStyle/>
                    <a:p>
                      <a:pPr algn="ctr"/>
                      <a:r>
                        <a:rPr sz="13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2288660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Energy Savings</a:t>
            </a:r>
          </a:p>
        </p:txBody>
      </p:sp>
    </p:spTree>
    <p:extLst>
      <p:ext uri="{BB962C8B-B14F-4D97-AF65-F5344CB8AC3E}">
        <p14:creationId xmlns:p14="http://schemas.microsoft.com/office/powerpoint/2010/main" val="3725993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Pays the Utility Bills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35</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21. Are you the one in your household who pays the utility bills?</a:t>
            </a:r>
          </a:p>
        </p:txBody>
      </p:sp>
      <p:graphicFrame>
        <p:nvGraphicFramePr>
          <p:cNvPr id="3" name="Chart 6"/>
          <p:cNvGraphicFramePr>
            <a:graphicFrameLocks/>
          </p:cNvGraphicFramePr>
          <p:nvPr>
            <p:extLst>
              <p:ext uri="{D42A27DB-BD31-4B8C-83A1-F6EECF244321}">
                <p14:modId xmlns:p14="http://schemas.microsoft.com/office/powerpoint/2010/main" val="243134745"/>
              </p:ext>
            </p:extLst>
          </p:nvPr>
        </p:nvGraphicFramePr>
        <p:xfrm>
          <a:off x="152399" y="1276350"/>
          <a:ext cx="6477001" cy="47101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7367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Level of Understanding with </a:t>
            </a:r>
            <a:br>
              <a:rPr lang="en-US" altLang="en-US">
                <a:ea typeface="MS PGothic" panose="020B0600070205080204" pitchFamily="34" charset="-128"/>
              </a:rPr>
            </a:br>
            <a:r>
              <a:rPr lang="en-US" altLang="en-US">
                <a:ea typeface="MS PGothic" panose="020B0600070205080204" pitchFamily="34" charset="-128"/>
              </a:rPr>
              <a:t>Utility Bill and Energy Savings </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36</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863810444"/>
              </p:ext>
            </p:extLst>
          </p:nvPr>
        </p:nvGraphicFramePr>
        <p:xfrm>
          <a:off x="66905" y="1524000"/>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8609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‘1’=No Understanding; ‘10’=Understand Completely. Only ‘8’, ‘9’, ‘10’ ratings shown.</a:t>
            </a:r>
          </a:p>
          <a:p>
            <a:pPr eaLnBrk="1" hangingPunct="1">
              <a:defRPr/>
            </a:pPr>
            <a:r>
              <a:rPr lang="en-US" sz="1100">
                <a:solidFill>
                  <a:schemeClr val="tx2"/>
                </a:solidFill>
                <a:latin typeface="+mn-lt"/>
                <a:ea typeface="ＭＳ Ｐゴシック" charset="-128"/>
              </a:rPr>
              <a:t>Base: Those who pay utility bills in household. </a:t>
            </a:r>
            <a:endParaRPr lang="en-US" sz="1100">
              <a:latin typeface="+mn-lt"/>
              <a:cs typeface="Helvetica"/>
            </a:endParaRPr>
          </a:p>
        </p:txBody>
      </p:sp>
      <p:sp>
        <p:nvSpPr>
          <p:cNvPr id="9" name="Text Box 6"/>
          <p:cNvSpPr txBox="1">
            <a:spLocks noChangeArrowheads="1"/>
          </p:cNvSpPr>
          <p:nvPr/>
        </p:nvSpPr>
        <p:spPr bwMode="auto">
          <a:xfrm>
            <a:off x="-36443" y="8384071"/>
            <a:ext cx="658964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22. Using a scale of ‘1’ (</a:t>
            </a:r>
            <a:r>
              <a:rPr lang="en-US" sz="1100">
                <a:solidFill>
                  <a:schemeClr val="tx2"/>
                </a:solidFill>
                <a:ea typeface="ＭＳ Ｐゴシック" charset="-128"/>
              </a:rPr>
              <a:t>No Understanding</a:t>
            </a:r>
            <a:r>
              <a:rPr lang="en-US" sz="1100">
                <a:latin typeface="+mn-lt"/>
                <a:ea typeface="ＭＳ Ｐゴシック" charset="-128"/>
              </a:rPr>
              <a:t>) to ‘10’ (</a:t>
            </a:r>
            <a:r>
              <a:rPr lang="en-US" sz="1100">
                <a:solidFill>
                  <a:schemeClr val="tx2"/>
                </a:solidFill>
                <a:ea typeface="ＭＳ Ｐゴシック" charset="-128"/>
              </a:rPr>
              <a:t>Understand Completely</a:t>
            </a:r>
            <a:r>
              <a:rPr lang="en-US" sz="1100">
                <a:latin typeface="+mn-lt"/>
                <a:ea typeface="ＭＳ Ｐゴシック" charset="-128"/>
              </a:rPr>
              <a:t>),</a:t>
            </a:r>
            <a:r>
              <a:rPr lang="en-US" sz="1100" b="1">
                <a:latin typeface="+mn-lt"/>
                <a:ea typeface="ＭＳ Ｐゴシック" charset="-128"/>
              </a:rPr>
              <a:t> </a:t>
            </a:r>
            <a:r>
              <a:rPr lang="en-US" sz="1100">
                <a:latin typeface="+mn-lt"/>
                <a:ea typeface="ＭＳ Ｐゴシック" charset="-128"/>
              </a:rPr>
              <a:t>what is your level of understanding your utility bill and the energy savings related to home improvements?</a:t>
            </a:r>
          </a:p>
        </p:txBody>
      </p:sp>
    </p:spTree>
    <p:extLst>
      <p:ext uri="{BB962C8B-B14F-4D97-AF65-F5344CB8AC3E}">
        <p14:creationId xmlns:p14="http://schemas.microsoft.com/office/powerpoint/2010/main" val="2516289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What Energy Savings Mean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37</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23. What does energy savings mean to you?</a:t>
            </a:r>
            <a:endParaRPr lang="en-US" sz="1100" b="1">
              <a:latin typeface="+mn-lt"/>
              <a:ea typeface="ＭＳ Ｐゴシック" charset="-128"/>
            </a:endParaRPr>
          </a:p>
        </p:txBody>
      </p:sp>
      <p:sp>
        <p:nvSpPr>
          <p:cNvPr id="7" name="Text Box 9"/>
          <p:cNvSpPr txBox="1">
            <a:spLocks noChangeArrowheads="1"/>
          </p:cNvSpPr>
          <p:nvPr/>
        </p:nvSpPr>
        <p:spPr bwMode="auto">
          <a:xfrm>
            <a:off x="514655" y="1033626"/>
            <a:ext cx="544572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pay utility bills in household.</a:t>
            </a:r>
          </a:p>
          <a:p>
            <a:pPr eaLnBrk="1" hangingPunct="1">
              <a:defRPr/>
            </a:pPr>
            <a:r>
              <a:rPr lang="en-US" sz="1100">
                <a:solidFill>
                  <a:schemeClr val="tx2"/>
                </a:solidFill>
                <a:latin typeface="+mn-lt"/>
                <a:ea typeface="ＭＳ Ｐゴシック" charset="-128"/>
              </a:rPr>
              <a:t>Note: Number of mentions add up to more than the base due to multiple responses.</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457200">
                <a:tc>
                  <a:txBody>
                    <a:bodyPr/>
                    <a:lstStyle/>
                    <a:p>
                      <a:pPr algn="ct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tc>
                  <a:txBody>
                    <a:bodyPr/>
                    <a:lstStyle/>
                    <a:p>
                      <a:pPr algn="ctr"/>
                      <a:r>
                        <a:rPr sz="1300" b="1" i="0">
                          <a:solidFill>
                            <a:srgbClr val="FFFFFF"/>
                          </a:solidFill>
                          <a:latin typeface="Tahoma"/>
                        </a:rPr>
                        <a:t>Q4 2025</a:t>
                      </a:r>
                    </a:p>
                  </a:txBody>
                  <a:tcPr anchor="ctr">
                    <a:solidFill>
                      <a:srgbClr val="5A80B8"/>
                    </a:solidFill>
                  </a:tcPr>
                </a:tc>
              </a:tr>
              <a:tr h="457200">
                <a:tc>
                  <a:txBody>
                    <a:bodyPr/>
                    <a:lstStyle/>
                    <a:p>
                      <a:pPr algn="l"/>
                      <a:r>
                        <a:rPr sz="1300" b="0" i="0">
                          <a:solidFill>
                            <a:srgbClr val="000000"/>
                          </a:solidFill>
                          <a:latin typeface="Tahoma"/>
                        </a:rPr>
                        <a:t>Saving money on my utility bill</a:t>
                      </a:r>
                    </a:p>
                  </a:txBody>
                  <a:tcPr anchor="ctr">
                    <a:solidFill>
                      <a:srgbClr val="E0E5F0"/>
                    </a:solidFill>
                  </a:tcPr>
                </a:tc>
                <a:tc>
                  <a:txBody>
                    <a:bodyPr/>
                    <a:lstStyle/>
                    <a:p>
                      <a:pPr algn="ctr"/>
                      <a:r>
                        <a:rPr sz="1300" b="0" i="0">
                          <a:solidFill>
                            <a:srgbClr val="000000"/>
                          </a:solidFill>
                          <a:latin typeface="Tahoma"/>
                        </a:rPr>
                        <a:t>40</a:t>
                      </a:r>
                    </a:p>
                  </a:txBody>
                  <a:tcPr anchor="ctr">
                    <a:solidFill>
                      <a:srgbClr val="E0E5F0"/>
                    </a:solidFill>
                  </a:tcPr>
                </a:tc>
                <a:tc>
                  <a:txBody>
                    <a:bodyPr/>
                    <a:lstStyle/>
                    <a:p>
                      <a:pPr algn="ctr"/>
                      <a:r>
                        <a:rPr sz="1300" b="0" i="0">
                          <a:solidFill>
                            <a:srgbClr val="000000"/>
                          </a:solidFill>
                          <a:latin typeface="Tahoma"/>
                        </a:rPr>
                        <a:t>42</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14</a:t>
                      </a:r>
                    </a:p>
                  </a:txBody>
                  <a:tcPr anchor="ctr">
                    <a:solidFill>
                      <a:srgbClr val="E0E5F0"/>
                    </a:solidFill>
                  </a:tcPr>
                </a:tc>
              </a:tr>
              <a:tr h="457200">
                <a:tc>
                  <a:txBody>
                    <a:bodyPr/>
                    <a:lstStyle/>
                    <a:p>
                      <a:pPr algn="l"/>
                      <a:r>
                        <a:rPr sz="1300" b="0" i="0">
                          <a:solidFill>
                            <a:srgbClr val="000000"/>
                          </a:solidFill>
                          <a:latin typeface="Tahoma"/>
                        </a:rPr>
                        <a:t>Saving energy and/or water</a:t>
                      </a:r>
                    </a:p>
                  </a:txBody>
                  <a:tcPr anchor="ctr">
                    <a:solidFill>
                      <a:srgbClr val="E0E5F0"/>
                    </a:solidFill>
                  </a:tcPr>
                </a:tc>
                <a:tc>
                  <a:txBody>
                    <a:bodyPr/>
                    <a:lstStyle/>
                    <a:p>
                      <a:pPr algn="ctr"/>
                      <a:r>
                        <a:rPr sz="1300" b="0" i="0">
                          <a:solidFill>
                            <a:srgbClr val="000000"/>
                          </a:solidFill>
                          <a:latin typeface="Tahoma"/>
                        </a:rPr>
                        <a:t>31</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12</a:t>
                      </a:r>
                    </a:p>
                  </a:txBody>
                  <a:tcPr anchor="ctr">
                    <a:solidFill>
                      <a:srgbClr val="E0E5F0"/>
                    </a:solidFill>
                  </a:tcPr>
                </a:tc>
              </a:tr>
              <a:tr h="457200">
                <a:tc>
                  <a:txBody>
                    <a:bodyPr/>
                    <a:lstStyle/>
                    <a:p>
                      <a:pPr algn="l"/>
                      <a:r>
                        <a:rPr sz="1300" b="0" i="0">
                          <a:solidFill>
                            <a:srgbClr val="000000"/>
                          </a:solidFill>
                          <a:latin typeface="Tahoma"/>
                        </a:rPr>
                        <a:t>Feeling more comfortable in my home</a:t>
                      </a:r>
                    </a:p>
                  </a:txBody>
                  <a:tcPr anchor="ctr">
                    <a:solidFill>
                      <a:srgbClr val="E0E5F0"/>
                    </a:solidFill>
                  </a:tcPr>
                </a:tc>
                <a:tc>
                  <a:txBody>
                    <a:bodyPr/>
                    <a:lstStyle/>
                    <a:p>
                      <a:pPr algn="ctr"/>
                      <a:r>
                        <a:rPr sz="1300" b="0" i="0">
                          <a:solidFill>
                            <a:srgbClr val="000000"/>
                          </a:solidFill>
                          <a:latin typeface="Tahoma"/>
                        </a:rPr>
                        <a:t>30</a:t>
                      </a:r>
                    </a:p>
                  </a:txBody>
                  <a:tcPr anchor="ctr">
                    <a:solidFill>
                      <a:srgbClr val="E0E5F0"/>
                    </a:solidFill>
                  </a:tcPr>
                </a:tc>
                <a:tc>
                  <a:txBody>
                    <a:bodyPr/>
                    <a:lstStyle/>
                    <a:p>
                      <a:pPr algn="ctr"/>
                      <a:r>
                        <a:rPr sz="1300" b="0" i="0">
                          <a:solidFill>
                            <a:srgbClr val="000000"/>
                          </a:solidFill>
                          <a:latin typeface="Tahoma"/>
                        </a:rPr>
                        <a:t>19</a:t>
                      </a:r>
                    </a:p>
                  </a:txBody>
                  <a:tcPr anchor="ctr">
                    <a:solidFill>
                      <a:srgbClr val="E0E5F0"/>
                    </a:solidFill>
                  </a:tcPr>
                </a:tc>
                <a:tc>
                  <a:txBody>
                    <a:bodyPr/>
                    <a:lstStyle/>
                    <a:p>
                      <a:pPr algn="ctr"/>
                      <a:r>
                        <a:rPr sz="1300" b="0" i="0">
                          <a:solidFill>
                            <a:srgbClr val="000000"/>
                          </a:solidFill>
                          <a:latin typeface="Tahoma"/>
                        </a:rPr>
                        <a:t>24</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r>
              <a:tr h="457200">
                <a:tc>
                  <a:txBody>
                    <a:bodyPr/>
                    <a:lstStyle/>
                    <a:p>
                      <a:pPr algn="l"/>
                      <a:r>
                        <a:rPr sz="1300" b="0" i="0">
                          <a:solidFill>
                            <a:srgbClr val="000000"/>
                          </a:solidFill>
                          <a:latin typeface="Tahoma"/>
                        </a:rPr>
                        <a:t>Using less energy and/or water</a:t>
                      </a:r>
                    </a:p>
                  </a:txBody>
                  <a:tcPr anchor="ctr">
                    <a:solidFill>
                      <a:srgbClr val="E0E5F0"/>
                    </a:solidFill>
                  </a:tcPr>
                </a:tc>
                <a:tc>
                  <a:txBody>
                    <a:bodyPr/>
                    <a:lstStyle/>
                    <a:p>
                      <a:pPr algn="ctr"/>
                      <a:r>
                        <a:rPr sz="1300" b="0" i="0">
                          <a:solidFill>
                            <a:srgbClr val="000000"/>
                          </a:solidFill>
                          <a:latin typeface="Tahoma"/>
                        </a:rPr>
                        <a:t>35</a:t>
                      </a:r>
                    </a:p>
                  </a:txBody>
                  <a:tcPr anchor="ctr">
                    <a:solidFill>
                      <a:srgbClr val="E0E5F0"/>
                    </a:solidFill>
                  </a:tcPr>
                </a:tc>
                <a:tc>
                  <a:txBody>
                    <a:bodyPr/>
                    <a:lstStyle/>
                    <a:p>
                      <a:pPr algn="ctr"/>
                      <a:r>
                        <a:rPr sz="1300" b="0" i="0">
                          <a:solidFill>
                            <a:srgbClr val="000000"/>
                          </a:solidFill>
                          <a:latin typeface="Tahoma"/>
                        </a:rPr>
                        <a:t>23</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r>
              <a:tr h="457200">
                <a:tc>
                  <a:txBody>
                    <a:bodyPr/>
                    <a:lstStyle/>
                    <a:p>
                      <a:pPr algn="l"/>
                      <a:r>
                        <a:rPr sz="1300" b="0" i="0">
                          <a:solidFill>
                            <a:srgbClr val="000000"/>
                          </a:solidFill>
                          <a:latin typeface="Tahoma"/>
                        </a:rPr>
                        <a:t>Knowing I am doing my part for the planet</a:t>
                      </a:r>
                    </a:p>
                  </a:txBody>
                  <a:tcPr anchor="ctr">
                    <a:solidFill>
                      <a:srgbClr val="E0E5F0"/>
                    </a:solidFill>
                  </a:tcPr>
                </a:tc>
                <a:tc>
                  <a:txBody>
                    <a:bodyPr/>
                    <a:lstStyle/>
                    <a:p>
                      <a:pPr algn="ctr"/>
                      <a:r>
                        <a:rPr sz="1300" b="0" i="0">
                          <a:solidFill>
                            <a:srgbClr val="000000"/>
                          </a:solidFill>
                          <a:latin typeface="Tahoma"/>
                        </a:rPr>
                        <a:t>25</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20</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r>
              <a:tr h="457200">
                <a:tc>
                  <a:txBody>
                    <a:bodyPr/>
                    <a:lstStyle/>
                    <a:p>
                      <a:pPr algn="l"/>
                      <a:r>
                        <a:rPr sz="1300" b="0" i="0">
                          <a:solidFill>
                            <a:srgbClr val="000000"/>
                          </a:solidFill>
                          <a:latin typeface="Tahoma"/>
                        </a:rPr>
                        <a:t>Participating in/using renewable energy</a:t>
                      </a:r>
                    </a:p>
                  </a:txBody>
                  <a:tcPr anchor="ctr">
                    <a:solidFill>
                      <a:srgbClr val="E0E5F0"/>
                    </a:solidFill>
                  </a:tcPr>
                </a:tc>
                <a:tc>
                  <a:txBody>
                    <a:bodyPr/>
                    <a:lstStyle/>
                    <a:p>
                      <a:pPr algn="ctr"/>
                      <a:r>
                        <a:rPr sz="1300" b="0" i="0">
                          <a:solidFill>
                            <a:srgbClr val="000000"/>
                          </a:solidFill>
                          <a:latin typeface="Tahoma"/>
                        </a:rPr>
                        <a:t>22</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14</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457200">
                <a:tc>
                  <a:txBody>
                    <a:bodyPr/>
                    <a:lstStyle/>
                    <a:p>
                      <a:pPr algn="l"/>
                      <a:r>
                        <a:rPr sz="1300" b="0" i="0">
                          <a:solidFill>
                            <a:srgbClr val="000000"/>
                          </a:solidFill>
                          <a:latin typeface="Tahoma"/>
                        </a:rPr>
                        <a:t>Setting my thermostat at a higher temperature</a:t>
                      </a:r>
                    </a:p>
                  </a:txBody>
                  <a:tcPr anchor="ctr">
                    <a:solidFill>
                      <a:srgbClr val="E0E5F0"/>
                    </a:solidFill>
                  </a:tcPr>
                </a:tc>
                <a:tc>
                  <a:txBody>
                    <a:bodyPr/>
                    <a:lstStyle/>
                    <a:p>
                      <a:pPr algn="ctr"/>
                      <a:r>
                        <a:rPr sz="1300" b="0" i="0">
                          <a:solidFill>
                            <a:srgbClr val="000000"/>
                          </a:solidFill>
                          <a:latin typeface="Tahoma"/>
                        </a:rPr>
                        <a:t>21</a:t>
                      </a:r>
                    </a:p>
                  </a:txBody>
                  <a:tcPr anchor="ctr">
                    <a:solidFill>
                      <a:srgbClr val="E0E5F0"/>
                    </a:solidFill>
                  </a:tcPr>
                </a:tc>
                <a:tc>
                  <a:txBody>
                    <a:bodyPr/>
                    <a:lstStyle/>
                    <a:p>
                      <a:pPr algn="ctr"/>
                      <a:r>
                        <a:rPr sz="1300" b="0" i="0">
                          <a:solidFill>
                            <a:srgbClr val="000000"/>
                          </a:solidFill>
                          <a:latin typeface="Tahoma"/>
                        </a:rPr>
                        <a:t>13</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r>
              <a:tr h="4572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4572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37</a:t>
                      </a:r>
                    </a:p>
                  </a:txBody>
                  <a:tcPr anchor="ctr">
                    <a:solidFill>
                      <a:srgbClr val="5A80B8"/>
                    </a:solidFill>
                  </a:tcPr>
                </a:tc>
                <a:tc>
                  <a:txBody>
                    <a:bodyPr/>
                    <a:lstStyle/>
                    <a:p>
                      <a:pPr algn="ctr"/>
                      <a:r>
                        <a:rPr sz="13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1077575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Amount </a:t>
            </a:r>
            <a:br>
              <a:rPr lang="en-US" altLang="en-US">
                <a:ea typeface="MS PGothic" panose="020B0600070205080204" pitchFamily="34" charset="-128"/>
              </a:rPr>
            </a:br>
            <a:r>
              <a:rPr lang="en-US" altLang="en-US">
                <a:ea typeface="MS PGothic" panose="020B0600070205080204" pitchFamily="34" charset="-128"/>
              </a:rPr>
              <a:t>of Energy Savings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116487849"/>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Those who pay utility bills in household. </a:t>
            </a:r>
          </a:p>
        </p:txBody>
      </p:sp>
      <p:sp>
        <p:nvSpPr>
          <p:cNvPr id="9" name="Text Box 6"/>
          <p:cNvSpPr txBox="1">
            <a:spLocks noChangeArrowheads="1"/>
          </p:cNvSpPr>
          <p:nvPr/>
        </p:nvSpPr>
        <p:spPr bwMode="auto">
          <a:xfrm>
            <a:off x="-36443" y="8384071"/>
            <a:ext cx="6265793"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24. Using a scale of ‘1’ (very dissatisfied) to ‘10’ (very satisfied),</a:t>
            </a:r>
            <a:r>
              <a:rPr lang="en-US" sz="1100" b="1">
                <a:latin typeface="+mn-lt"/>
                <a:ea typeface="ＭＳ Ｐゴシック" charset="-128"/>
              </a:rPr>
              <a:t> </a:t>
            </a:r>
            <a:r>
              <a:rPr lang="en-US" sz="1100">
                <a:latin typeface="+mn-lt"/>
                <a:ea typeface="ＭＳ Ｐゴシック" charset="-128"/>
              </a:rPr>
              <a:t>overall how </a:t>
            </a:r>
            <a:r>
              <a:rPr lang="en-US" sz="1100" b="1" u="sng">
                <a:latin typeface="+mn-lt"/>
                <a:ea typeface="ＭＳ Ｐゴシック" charset="-128"/>
              </a:rPr>
              <a:t>satisfied</a:t>
            </a:r>
            <a:r>
              <a:rPr lang="en-US" sz="1100" b="1">
                <a:latin typeface="+mn-lt"/>
                <a:ea typeface="ＭＳ Ｐゴシック" charset="-128"/>
              </a:rPr>
              <a:t> </a:t>
            </a:r>
            <a:r>
              <a:rPr lang="en-US" sz="1100">
                <a:latin typeface="+mn-lt"/>
                <a:ea typeface="ＭＳ Ｐゴシック" charset="-128"/>
              </a:rPr>
              <a:t>are you with the amount of energy savings you are seeing on your bill since your energy improvements were completed? </a:t>
            </a:r>
          </a:p>
        </p:txBody>
      </p:sp>
    </p:spTree>
    <p:extLst>
      <p:ext uri="{BB962C8B-B14F-4D97-AF65-F5344CB8AC3E}">
        <p14:creationId xmlns:p14="http://schemas.microsoft.com/office/powerpoint/2010/main" val="36843086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Suggested Energy-Efficiency Improvement</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39</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26. If there was one thing Austin Energy could do to help you save energy, what would it be?</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68941">
                <a:tc>
                  <a:txBody>
                    <a:bodyPr/>
                    <a:lstStyle/>
                    <a:p>
                      <a:pPr algn="ct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tc>
                  <a:txBody>
                    <a:bodyPr/>
                    <a:lstStyle/>
                    <a:p>
                      <a:pPr algn="ctr"/>
                      <a:r>
                        <a:rPr sz="1300" b="1" i="0">
                          <a:solidFill>
                            <a:srgbClr val="FFFFFF"/>
                          </a:solidFill>
                          <a:latin typeface="Tahoma"/>
                        </a:rPr>
                        <a:t>Q4 2025</a:t>
                      </a:r>
                    </a:p>
                  </a:txBody>
                  <a:tcPr anchor="ctr">
                    <a:solidFill>
                      <a:srgbClr val="5A80B8"/>
                    </a:solidFill>
                  </a:tcPr>
                </a:tc>
              </a:tr>
              <a:tr h="268941">
                <a:tc>
                  <a:txBody>
                    <a:bodyPr/>
                    <a:lstStyle/>
                    <a:p>
                      <a:pPr algn="l"/>
                      <a:r>
                        <a:rPr sz="1300" b="0" i="0">
                          <a:solidFill>
                            <a:srgbClr val="000000"/>
                          </a:solidFill>
                          <a:latin typeface="Tahoma"/>
                        </a:rPr>
                        <a:t>Lower rates</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68941">
                <a:tc>
                  <a:txBody>
                    <a:bodyPr/>
                    <a:lstStyle/>
                    <a:p>
                      <a:pPr algn="l"/>
                      <a:r>
                        <a:rPr sz="1300" b="0" i="0">
                          <a:solidFill>
                            <a:srgbClr val="000000"/>
                          </a:solidFill>
                          <a:latin typeface="Tahoma"/>
                        </a:rPr>
                        <a:t>Replace windows</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68941">
                <a:tc>
                  <a:txBody>
                    <a:bodyPr/>
                    <a:lstStyle/>
                    <a:p>
                      <a:pPr algn="l"/>
                      <a:r>
                        <a:rPr sz="1300" b="0" i="0">
                          <a:solidFill>
                            <a:srgbClr val="000000"/>
                          </a:solidFill>
                          <a:latin typeface="Tahoma"/>
                        </a:rPr>
                        <a:t>Show ways to lower energy costs</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68941">
                <a:tc>
                  <a:txBody>
                    <a:bodyPr/>
                    <a:lstStyle/>
                    <a:p>
                      <a:pPr algn="l"/>
                      <a:r>
                        <a:rPr sz="1300" b="0" i="0">
                          <a:solidFill>
                            <a:srgbClr val="000000"/>
                          </a:solidFill>
                          <a:latin typeface="Tahoma"/>
                        </a:rPr>
                        <a:t>Bigger rebates, more rebates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68941">
                <a:tc>
                  <a:txBody>
                    <a:bodyPr/>
                    <a:lstStyle/>
                    <a:p>
                      <a:pPr algn="l"/>
                      <a:r>
                        <a:rPr sz="1300" b="0" i="0">
                          <a:solidFill>
                            <a:srgbClr val="000000"/>
                          </a:solidFill>
                          <a:latin typeface="Tahoma"/>
                        </a:rPr>
                        <a:t>Better quality workmanship, better quality repair</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68941">
                <a:tc>
                  <a:txBody>
                    <a:bodyPr/>
                    <a:lstStyle/>
                    <a:p>
                      <a:pPr algn="l"/>
                      <a:r>
                        <a:rPr sz="1300" b="0" i="0">
                          <a:solidFill>
                            <a:srgbClr val="000000"/>
                          </a:solidFill>
                          <a:latin typeface="Tahoma"/>
                        </a:rPr>
                        <a:t>Solar screens, panels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Provide insulation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Pay bill for me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Solar screens/panels</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Replace, repair roof</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Replace appliances</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Replace, repair doors</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268941">
                <a:tc>
                  <a:txBody>
                    <a:bodyPr/>
                    <a:lstStyle/>
                    <a:p>
                      <a:pPr algn="l"/>
                      <a:r>
                        <a:rPr sz="1300" b="0" i="0">
                          <a:solidFill>
                            <a:srgbClr val="000000"/>
                          </a:solidFill>
                          <a:latin typeface="Tahoma"/>
                        </a:rPr>
                        <a:t>Nothing/no suggestions</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10</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r>
              <a:tr h="268941">
                <a:tc>
                  <a:txBody>
                    <a:bodyPr/>
                    <a:lstStyle/>
                    <a:p>
                      <a:pPr algn="l"/>
                      <a:r>
                        <a:rPr sz="1300" b="0" i="0">
                          <a:solidFill>
                            <a:srgbClr val="000000"/>
                          </a:solidFill>
                          <a:latin typeface="Tahoma"/>
                        </a:rPr>
                        <a:t>Do not know, unsure</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268941">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268944">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c>
                  <a:txBody>
                    <a:bodyPr/>
                    <a:lstStyle/>
                    <a:p>
                      <a:pPr algn="ctr"/>
                      <a:r>
                        <a:rPr sz="13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28530122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Satisfaction with Austin Energy’s Customer Assistance Program</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40</a:t>
            </a:fld>
            <a:endParaRPr lang="en-US" altLang="en-US" sz="1400"/>
          </a:p>
        </p:txBody>
      </p:sp>
      <p:graphicFrame>
        <p:nvGraphicFramePr>
          <p:cNvPr id="3" name="Content Placeholder 10"/>
          <p:cNvGraphicFramePr>
            <a:graphicFrameLocks noGrp="1"/>
          </p:cNvGraphicFramePr>
          <p:nvPr>
            <p:ph idx="1"/>
            <p:extLst>
              <p:ext uri="{D42A27DB-BD31-4B8C-83A1-F6EECF244321}">
                <p14:modId xmlns:p14="http://schemas.microsoft.com/office/powerpoint/2010/main" val="948545140"/>
              </p:ext>
            </p:extLst>
          </p:nvPr>
        </p:nvGraphicFramePr>
        <p:xfrm>
          <a:off x="50800" y="1447800"/>
          <a:ext cx="6756400" cy="484187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623920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a:p>
            <a:pPr eaLnBrk="1" hangingPunct="1">
              <a:defRPr/>
            </a:pPr>
            <a:r>
              <a:rPr lang="en-US" sz="1100">
                <a:solidFill>
                  <a:schemeClr val="tx2"/>
                </a:solidFill>
                <a:latin typeface="+mn-lt"/>
                <a:ea typeface="ＭＳ Ｐゴシック" charset="-128"/>
              </a:rPr>
              <a:t>Base: Respondents who have received financial assistance from Austin Energy to pay electric bill.</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27. How would you rate your satisfaction with the Austin Energy financial assistance program, which provides financial aid for paying electric bills to qualified customers?</a:t>
            </a:r>
            <a:endParaRPr lang="en-US" sz="1100" b="1">
              <a:latin typeface="+mn-lt"/>
              <a:ea typeface="ＭＳ Ｐゴシック" charset="-128"/>
            </a:endParaRPr>
          </a:p>
        </p:txBody>
      </p:sp>
    </p:spTree>
    <p:extLst>
      <p:ext uri="{BB962C8B-B14F-4D97-AF65-F5344CB8AC3E}">
        <p14:creationId xmlns:p14="http://schemas.microsoft.com/office/powerpoint/2010/main" val="1843428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z="2800">
                <a:ea typeface="MS PGothic" panose="020B0600070205080204" pitchFamily="34" charset="-128"/>
              </a:rPr>
              <a:t>Suggested Improvements for Austin Energy’s Customer Assistance Program</a:t>
            </a:r>
            <a:endParaRPr lang="en-US" altLang="en-US" sz="280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41</a:t>
            </a:fld>
            <a:endParaRPr lang="en-US" altLang="en-US" sz="1400"/>
          </a:p>
        </p:txBody>
      </p:sp>
      <p:sp>
        <p:nvSpPr>
          <p:cNvPr id="7" name="Text Box 9"/>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Base: Those who rated Austin Energy’s financial assistance program less than ‘8’.</a:t>
            </a:r>
          </a:p>
        </p:txBody>
      </p:sp>
      <p:sp>
        <p:nvSpPr>
          <p:cNvPr id="9" name="Text Box 6"/>
          <p:cNvSpPr txBox="1">
            <a:spLocks noChangeArrowheads="1"/>
          </p:cNvSpPr>
          <p:nvPr/>
        </p:nvSpPr>
        <p:spPr bwMode="auto">
          <a:xfrm>
            <a:off x="-36443" y="8384071"/>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28. What could be done for you to be more satisfied with the Austin Energy financial assistance program?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508000">
                <a:tc>
                  <a:txBody>
                    <a:bodyPr/>
                    <a:lstStyle/>
                    <a:p>
                      <a:pPr algn="ctr"/>
                    </a:p>
                  </a:txBody>
                  <a:tcPr anchor="ctr">
                    <a:solidFill>
                      <a:srgbClr val="5A80B8"/>
                    </a:solidFill>
                  </a:tcPr>
                </a:tc>
                <a:tc>
                  <a:txBody>
                    <a:bodyPr/>
                    <a:lstStyle/>
                    <a:p>
                      <a:pPr algn="ctr"/>
                      <a:r>
                        <a:rPr sz="1300" b="1" i="0">
                          <a:solidFill>
                            <a:srgbClr val="FFFFFF"/>
                          </a:solidFill>
                          <a:latin typeface="Tahoma"/>
                        </a:rPr>
                        <a:t>Q1 2025</a:t>
                      </a:r>
                    </a:p>
                  </a:txBody>
                  <a:tcPr anchor="ctr">
                    <a:solidFill>
                      <a:srgbClr val="5A80B8"/>
                    </a:solidFill>
                  </a:tcPr>
                </a:tc>
                <a:tc>
                  <a:txBody>
                    <a:bodyPr/>
                    <a:lstStyle/>
                    <a:p>
                      <a:pPr algn="ctr"/>
                      <a:r>
                        <a:rPr sz="1300" b="1" i="0">
                          <a:solidFill>
                            <a:srgbClr val="FFFFFF"/>
                          </a:solidFill>
                          <a:latin typeface="Tahoma"/>
                        </a:rPr>
                        <a:t>Q2 2025</a:t>
                      </a:r>
                    </a:p>
                  </a:txBody>
                  <a:tcPr anchor="ctr">
                    <a:solidFill>
                      <a:srgbClr val="5A80B8"/>
                    </a:solidFill>
                  </a:tcPr>
                </a:tc>
                <a:tc>
                  <a:txBody>
                    <a:bodyPr/>
                    <a:lstStyle/>
                    <a:p>
                      <a:pPr algn="ctr"/>
                      <a:r>
                        <a:rPr sz="1300" b="1" i="0">
                          <a:solidFill>
                            <a:srgbClr val="FFFFFF"/>
                          </a:solidFill>
                          <a:latin typeface="Tahoma"/>
                        </a:rPr>
                        <a:t>Q3 2025</a:t>
                      </a:r>
                    </a:p>
                  </a:txBody>
                  <a:tcPr anchor="ctr">
                    <a:solidFill>
                      <a:srgbClr val="5A80B8"/>
                    </a:solidFill>
                  </a:tcPr>
                </a:tc>
                <a:tc>
                  <a:txBody>
                    <a:bodyPr/>
                    <a:lstStyle/>
                    <a:p>
                      <a:pPr algn="ctr"/>
                      <a:r>
                        <a:rPr sz="1300" b="1" i="0">
                          <a:solidFill>
                            <a:srgbClr val="FFFFFF"/>
                          </a:solidFill>
                          <a:latin typeface="Tahoma"/>
                        </a:rPr>
                        <a:t>Q4 2025</a:t>
                      </a:r>
                    </a:p>
                  </a:txBody>
                  <a:tcPr anchor="ctr">
                    <a:solidFill>
                      <a:srgbClr val="5A80B8"/>
                    </a:solidFill>
                  </a:tcPr>
                </a:tc>
              </a:tr>
              <a:tr h="508000">
                <a:tc>
                  <a:txBody>
                    <a:bodyPr/>
                    <a:lstStyle/>
                    <a:p>
                      <a:pPr algn="l"/>
                      <a:r>
                        <a:rPr sz="1300" b="0" i="0">
                          <a:solidFill>
                            <a:srgbClr val="000000"/>
                          </a:solidFill>
                          <a:latin typeface="Tahoma"/>
                        </a:rPr>
                        <a:t>More communication, more information</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Increase energy savings, lower bill</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Complete repairs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Do follow ups with the customers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Nothing, satisfied</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508000">
                <a:tc>
                  <a:txBody>
                    <a:bodyPr/>
                    <a:lstStyle/>
                    <a:p>
                      <a:pPr algn="l"/>
                      <a:r>
                        <a:rPr sz="1300" b="0" i="0">
                          <a:solidFill>
                            <a:srgbClr val="000000"/>
                          </a:solidFill>
                          <a:latin typeface="Tahoma"/>
                        </a:rPr>
                        <a:t>Do not know, not familiar with program</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5080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5080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3</a:t>
                      </a:r>
                    </a:p>
                  </a:txBody>
                  <a:tcPr anchor="ctr">
                    <a:solidFill>
                      <a:srgbClr val="5A80B8"/>
                    </a:solidFill>
                  </a:tcPr>
                </a:tc>
                <a:tc>
                  <a:txBody>
                    <a:bodyPr/>
                    <a:lstStyle/>
                    <a:p>
                      <a:pPr algn="ctr"/>
                      <a:r>
                        <a:rPr sz="1300" b="1" i="0">
                          <a:solidFill>
                            <a:srgbClr val="FFFFFF"/>
                          </a:solidFill>
                          <a:latin typeface="Tahoma"/>
                        </a:rPr>
                        <a:t>1</a:t>
                      </a:r>
                    </a:p>
                  </a:txBody>
                  <a:tcPr anchor="ctr">
                    <a:solidFill>
                      <a:srgbClr val="5A80B8"/>
                    </a:solidFill>
                  </a:tcPr>
                </a:tc>
                <a:tc>
                  <a:txBody>
                    <a:bodyPr/>
                    <a:lstStyle/>
                    <a:p>
                      <a:pPr algn="ctr"/>
                      <a:r>
                        <a:rPr sz="1300" b="1" i="0">
                          <a:solidFill>
                            <a:srgbClr val="FFFFFF"/>
                          </a:solidFill>
                          <a:latin typeface="Tahoma"/>
                        </a:rPr>
                        <a:t>3</a:t>
                      </a:r>
                    </a:p>
                  </a:txBody>
                  <a:tcPr anchor="ctr">
                    <a:solidFill>
                      <a:srgbClr val="5A80B8"/>
                    </a:solidFill>
                  </a:tcPr>
                </a:tc>
                <a:tc>
                  <a:txBody>
                    <a:bodyPr/>
                    <a:lstStyle/>
                    <a:p>
                      <a:pPr algn="ctr"/>
                      <a:r>
                        <a:rPr sz="1300" b="1" i="0">
                          <a:solidFill>
                            <a:srgbClr val="FFFFFF"/>
                          </a:solidFill>
                          <a:latin typeface="Tahoma"/>
                        </a:rPr>
                        <a:t>6</a:t>
                      </a:r>
                    </a:p>
                  </a:txBody>
                  <a:tcPr anchor="ctr">
                    <a:solidFill>
                      <a:srgbClr val="5A80B8"/>
                    </a:solidFill>
                  </a:tcPr>
                </a:tc>
              </a:tr>
            </a:tbl>
          </a:graphicData>
        </a:graphic>
      </p:graphicFrame>
    </p:spTree>
    <p:extLst>
      <p:ext uri="{BB962C8B-B14F-4D97-AF65-F5344CB8AC3E}">
        <p14:creationId xmlns:p14="http://schemas.microsoft.com/office/powerpoint/2010/main" val="3304716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Communication</a:t>
            </a:r>
          </a:p>
        </p:txBody>
      </p:sp>
    </p:spTree>
    <p:extLst>
      <p:ext uri="{BB962C8B-B14F-4D97-AF65-F5344CB8AC3E}">
        <p14:creationId xmlns:p14="http://schemas.microsoft.com/office/powerpoint/2010/main" val="3542962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cs typeface="Geneva"/>
              </a:rPr>
              <a:t>Communication Regarding Low Income Weatherization</a:t>
            </a:r>
            <a:endParaRPr lang="en-US" altLang="en-US" dirty="0"/>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43</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1. How did you first make contact with Austin Energy about receiving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3444495478"/>
              </p:ext>
            </p:extLst>
          </p:nvPr>
        </p:nvGraphicFramePr>
        <p:xfrm>
          <a:off x="14356" y="1107919"/>
          <a:ext cx="6843643" cy="70826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036062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How First Learned About Weatherization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44</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 How did you learn that Austin Energy can provide free home weatherization?</a:t>
            </a:r>
            <a:endParaRPr lang="en-US" sz="1100" b="1">
              <a:latin typeface="+mn-lt"/>
              <a:ea typeface="ＭＳ Ｐゴシック" charset="-128"/>
            </a:endParaRP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1492509349"/>
              </p:ext>
            </p:extLst>
          </p:nvPr>
        </p:nvGraphicFramePr>
        <p:xfrm>
          <a:off x="38166" y="1021421"/>
          <a:ext cx="6781667" cy="8001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6488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Best Method for Communication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45</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29. What is the best way for Austin Energy to communicate with you about energy-related topics? </a:t>
            </a:r>
          </a:p>
        </p:txBody>
      </p:sp>
      <p:graphicFrame>
        <p:nvGraphicFramePr>
          <p:cNvPr id="2" name="Content Placeholder 8"/>
          <p:cNvGraphicFramePr>
            <a:graphicFrameLocks noGrp="1"/>
          </p:cNvGraphicFramePr>
          <p:nvPr>
            <p:ph idx="1"/>
            <p:extLst>
              <p:ext uri="{D42A27DB-BD31-4B8C-83A1-F6EECF244321}">
                <p14:modId xmlns:p14="http://schemas.microsoft.com/office/powerpoint/2010/main" val="1044708978"/>
              </p:ext>
            </p:extLst>
          </p:nvPr>
        </p:nvGraphicFramePr>
        <p:xfrm>
          <a:off x="114300" y="1371600"/>
          <a:ext cx="6629399" cy="627067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75746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Types of Useful Information</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46</a:t>
            </a:fld>
            <a:endParaRPr lang="en-US" altLang="en-US" sz="1400"/>
          </a:p>
        </p:txBody>
      </p:sp>
      <p:sp>
        <p:nvSpPr>
          <p:cNvPr id="9" name="Text Box 6"/>
          <p:cNvSpPr txBox="1">
            <a:spLocks noChangeArrowheads="1"/>
          </p:cNvSpPr>
          <p:nvPr/>
        </p:nvSpPr>
        <p:spPr bwMode="auto">
          <a:xfrm>
            <a:off x="-36443" y="8384071"/>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30. What types of information</a:t>
            </a:r>
            <a:r>
              <a:rPr lang="en-US" sz="1100" b="1">
                <a:latin typeface="+mn-lt"/>
                <a:ea typeface="ＭＳ Ｐゴシック" charset="-128"/>
              </a:rPr>
              <a:t> </a:t>
            </a:r>
            <a:r>
              <a:rPr lang="en-US" sz="1100">
                <a:latin typeface="+mn-lt"/>
                <a:ea typeface="ＭＳ Ｐゴシック" charset="-128"/>
              </a:rPr>
              <a:t>would you find useful? </a:t>
            </a: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04800">
                <a:tc>
                  <a:txBody>
                    <a:bodyPr/>
                    <a:lstStyle/>
                    <a:p>
                      <a:pPr algn="ctr"/>
                    </a:p>
                  </a:txBody>
                  <a:tcPr anchor="ctr">
                    <a:solidFill>
                      <a:srgbClr val="5A80B8"/>
                    </a:solidFill>
                  </a:tcPr>
                </a:tc>
                <a:tc>
                  <a:txBody>
                    <a:bodyPr/>
                    <a:lstStyle/>
                    <a:p>
                      <a:pPr algn="ctr"/>
                      <a:r>
                        <a:rPr sz="1400" b="1" i="0">
                          <a:solidFill>
                            <a:srgbClr val="FFFFFF"/>
                          </a:solidFill>
                          <a:latin typeface="Tahoma"/>
                        </a:rPr>
                        <a:t>Q1 2025</a:t>
                      </a:r>
                    </a:p>
                  </a:txBody>
                  <a:tcPr anchor="ctr">
                    <a:solidFill>
                      <a:srgbClr val="5A80B8"/>
                    </a:solidFill>
                  </a:tcPr>
                </a:tc>
                <a:tc>
                  <a:txBody>
                    <a:bodyPr/>
                    <a:lstStyle/>
                    <a:p>
                      <a:pPr algn="ctr"/>
                      <a:r>
                        <a:rPr sz="1400" b="1" i="0">
                          <a:solidFill>
                            <a:srgbClr val="FFFFFF"/>
                          </a:solidFill>
                          <a:latin typeface="Tahoma"/>
                        </a:rPr>
                        <a:t>Q2 2025</a:t>
                      </a:r>
                    </a:p>
                  </a:txBody>
                  <a:tcPr anchor="ctr">
                    <a:solidFill>
                      <a:srgbClr val="5A80B8"/>
                    </a:solidFill>
                  </a:tcPr>
                </a:tc>
                <a:tc>
                  <a:txBody>
                    <a:bodyPr/>
                    <a:lstStyle/>
                    <a:p>
                      <a:pPr algn="ctr"/>
                      <a:r>
                        <a:rPr sz="1400" b="1" i="0">
                          <a:solidFill>
                            <a:srgbClr val="FFFFFF"/>
                          </a:solidFill>
                          <a:latin typeface="Tahoma"/>
                        </a:rPr>
                        <a:t>Q3 2025</a:t>
                      </a:r>
                    </a:p>
                  </a:txBody>
                  <a:tcPr anchor="ctr">
                    <a:solidFill>
                      <a:srgbClr val="5A80B8"/>
                    </a:solidFill>
                  </a:tcPr>
                </a:tc>
                <a:tc>
                  <a:txBody>
                    <a:bodyPr/>
                    <a:lstStyle/>
                    <a:p>
                      <a:pPr algn="ctr"/>
                      <a:r>
                        <a:rPr sz="1400" b="1" i="0">
                          <a:solidFill>
                            <a:srgbClr val="FFFFFF"/>
                          </a:solidFill>
                          <a:latin typeface="Tahoma"/>
                        </a:rPr>
                        <a:t>Q4 2025</a:t>
                      </a:r>
                    </a:p>
                  </a:txBody>
                  <a:tcPr anchor="ctr">
                    <a:solidFill>
                      <a:srgbClr val="5A80B8"/>
                    </a:solidFill>
                  </a:tcPr>
                </a:tc>
              </a:tr>
              <a:tr h="304800">
                <a:tc>
                  <a:txBody>
                    <a:bodyPr/>
                    <a:lstStyle/>
                    <a:p>
                      <a:pPr algn="l"/>
                      <a:r>
                        <a:rPr sz="1300" b="0" i="0">
                          <a:solidFill>
                            <a:srgbClr val="000000"/>
                          </a:solidFill>
                          <a:latin typeface="Tahoma"/>
                        </a:rPr>
                        <a:t>Tips on reducing energy and water costs</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13</a:t>
                      </a:r>
                    </a:p>
                  </a:txBody>
                  <a:tcPr anchor="ctr">
                    <a:solidFill>
                      <a:srgbClr val="E0E5F0"/>
                    </a:solidFill>
                  </a:tcPr>
                </a:tc>
                <a:tc>
                  <a:txBody>
                    <a:bodyPr/>
                    <a:lstStyle/>
                    <a:p>
                      <a:pPr algn="ctr"/>
                      <a:r>
                        <a:rPr sz="1300" b="0" i="0">
                          <a:solidFill>
                            <a:srgbClr val="000000"/>
                          </a:solidFill>
                          <a:latin typeface="Tahoma"/>
                        </a:rPr>
                        <a:t>8</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304800">
                <a:tc>
                  <a:txBody>
                    <a:bodyPr/>
                    <a:lstStyle/>
                    <a:p>
                      <a:pPr algn="l"/>
                      <a:r>
                        <a:rPr sz="1300" b="0" i="0">
                          <a:solidFill>
                            <a:srgbClr val="000000"/>
                          </a:solidFill>
                          <a:latin typeface="Tahoma"/>
                        </a:rPr>
                        <a:t>General information</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r>
              <a:tr h="304800">
                <a:tc>
                  <a:txBody>
                    <a:bodyPr/>
                    <a:lstStyle/>
                    <a:p>
                      <a:pPr algn="l"/>
                      <a:r>
                        <a:rPr sz="1300" b="0" i="0">
                          <a:solidFill>
                            <a:srgbClr val="000000"/>
                          </a:solidFill>
                          <a:latin typeface="Tahoma"/>
                        </a:rPr>
                        <a:t>Any new programs or recaps of old programs</a:t>
                      </a:r>
                    </a:p>
                  </a:txBody>
                  <a:tcPr anchor="ctr">
                    <a:solidFill>
                      <a:srgbClr val="E0E5F0"/>
                    </a:solidFill>
                  </a:tcPr>
                </a:tc>
                <a:tc>
                  <a:txBody>
                    <a:bodyPr/>
                    <a:lstStyle/>
                    <a:p>
                      <a:pPr algn="ctr"/>
                      <a:r>
                        <a:rPr sz="1300" b="0" i="0">
                          <a:solidFill>
                            <a:srgbClr val="000000"/>
                          </a:solidFill>
                          <a:latin typeface="Tahoma"/>
                        </a:rPr>
                        <a:t>18</a:t>
                      </a:r>
                    </a:p>
                  </a:txBody>
                  <a:tcPr anchor="ctr">
                    <a:solidFill>
                      <a:srgbClr val="E0E5F0"/>
                    </a:solidFill>
                  </a:tcPr>
                </a:tc>
                <a:tc>
                  <a:txBody>
                    <a:bodyPr/>
                    <a:lstStyle/>
                    <a:p>
                      <a:pPr algn="ctr"/>
                      <a:r>
                        <a:rPr sz="1300" b="0" i="0">
                          <a:solidFill>
                            <a:srgbClr val="000000"/>
                          </a:solidFill>
                          <a:latin typeface="Tahoma"/>
                        </a:rPr>
                        <a:t>9</a:t>
                      </a:r>
                    </a:p>
                  </a:txBody>
                  <a:tcPr anchor="ctr">
                    <a:solidFill>
                      <a:srgbClr val="E0E5F0"/>
                    </a:solidFill>
                  </a:tcPr>
                </a:tc>
                <a:tc>
                  <a:txBody>
                    <a:bodyPr/>
                    <a:lstStyle/>
                    <a:p>
                      <a:pPr algn="ctr"/>
                      <a:r>
                        <a:rPr sz="1300" b="0" i="0">
                          <a:solidFill>
                            <a:srgbClr val="000000"/>
                          </a:solidFill>
                          <a:latin typeface="Tahoma"/>
                        </a:rPr>
                        <a:t>11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300" b="0" i="0">
                          <a:solidFill>
                            <a:srgbClr val="000000"/>
                          </a:solidFill>
                          <a:latin typeface="Tahoma"/>
                        </a:rPr>
                        <a:t>Maintaining, weatherizing, repairing home</a:t>
                      </a:r>
                    </a:p>
                  </a:txBody>
                  <a:tcPr anchor="ctr">
                    <a:solidFill>
                      <a:srgbClr val="E0E5F0"/>
                    </a:solidFill>
                  </a:tcPr>
                </a:tc>
                <a:tc>
                  <a:txBody>
                    <a:bodyPr/>
                    <a:lstStyle/>
                    <a:p>
                      <a:pPr algn="ctr"/>
                      <a:r>
                        <a:rPr sz="1300" b="0" i="0">
                          <a:solidFill>
                            <a:srgbClr val="000000"/>
                          </a:solidFill>
                          <a:latin typeface="Tahoma"/>
                        </a:rPr>
                        <a:t>3</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300" b="0" i="0">
                          <a:solidFill>
                            <a:srgbClr val="000000"/>
                          </a:solidFill>
                          <a:latin typeface="Tahoma"/>
                        </a:rPr>
                        <a:t>Power outages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300" b="0" i="0">
                          <a:solidFill>
                            <a:srgbClr val="000000"/>
                          </a:solidFill>
                          <a:latin typeface="Tahoma"/>
                        </a:rPr>
                        <a:t>Rate changes</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r>
              <a:tr h="304800">
                <a:tc>
                  <a:txBody>
                    <a:bodyPr/>
                    <a:lstStyle/>
                    <a:p>
                      <a:pPr algn="l"/>
                      <a:r>
                        <a:rPr sz="1300" b="0" i="0">
                          <a:solidFill>
                            <a:srgbClr val="000000"/>
                          </a:solidFill>
                          <a:latin typeface="Tahoma"/>
                        </a:rPr>
                        <a:t>Anything useful</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Learning how to get assistance</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Usage information</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Communicate details of what is being repaired</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No complaints, nothing</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6</a:t>
                      </a:r>
                    </a:p>
                  </a:txBody>
                  <a:tcPr anchor="ctr">
                    <a:solidFill>
                      <a:srgbClr val="E0E5F0"/>
                    </a:solidFill>
                  </a:tcPr>
                </a:tc>
                <a:tc>
                  <a:txBody>
                    <a:bodyPr/>
                    <a:lstStyle/>
                    <a:p>
                      <a:pPr algn="ctr"/>
                      <a:r>
                        <a:rPr sz="1300" b="0" i="0">
                          <a:solidFill>
                            <a:srgbClr val="000000"/>
                          </a:solidFill>
                          <a:latin typeface="Tahoma"/>
                        </a:rPr>
                        <a:t>7</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0" i="0">
                          <a:solidFill>
                            <a:srgbClr val="000000"/>
                          </a:solidFill>
                          <a:latin typeface="Tahoma"/>
                        </a:rPr>
                        <a:t>Do not know</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5</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r>
              <a:tr h="304800">
                <a:tc>
                  <a:txBody>
                    <a:bodyPr/>
                    <a:lstStyle/>
                    <a:p>
                      <a:pPr algn="l"/>
                      <a:r>
                        <a:rPr sz="1300" b="0" i="0">
                          <a:solidFill>
                            <a:srgbClr val="000000"/>
                          </a:solidFill>
                          <a:latin typeface="Tahoma"/>
                        </a:rPr>
                        <a:t>All other</a:t>
                      </a:r>
                    </a:p>
                  </a:txBody>
                  <a:tcPr anchor="ctr">
                    <a:solidFill>
                      <a:srgbClr val="E0E5F0"/>
                    </a:solidFill>
                  </a:tcPr>
                </a:tc>
                <a:tc>
                  <a:txBody>
                    <a:bodyPr/>
                    <a:lstStyle/>
                    <a:p>
                      <a:pPr algn="ctr"/>
                      <a:r>
                        <a:rPr sz="1300" b="0" i="0">
                          <a:solidFill>
                            <a:srgbClr val="000000"/>
                          </a:solidFill>
                          <a:latin typeface="Tahoma"/>
                        </a:rPr>
                        <a:t>4</a:t>
                      </a:r>
                    </a:p>
                  </a:txBody>
                  <a:tcPr anchor="ctr">
                    <a:solidFill>
                      <a:srgbClr val="E0E5F0"/>
                    </a:solidFill>
                  </a:tcPr>
                </a:tc>
                <a:tc>
                  <a:txBody>
                    <a:bodyPr/>
                    <a:lstStyle/>
                    <a:p>
                      <a:pPr algn="ctr"/>
                      <a:r>
                        <a:rPr sz="1300" b="0" i="0">
                          <a:solidFill>
                            <a:srgbClr val="000000"/>
                          </a:solidFill>
                          <a:latin typeface="Tahoma"/>
                        </a:rPr>
                        <a:t>1</a:t>
                      </a:r>
                    </a:p>
                  </a:txBody>
                  <a:tcPr anchor="ctr">
                    <a:solidFill>
                      <a:srgbClr val="E0E5F0"/>
                    </a:solidFill>
                  </a:tcPr>
                </a:tc>
                <a:tc>
                  <a:txBody>
                    <a:bodyPr/>
                    <a:lstStyle/>
                    <a:p>
                      <a:pPr algn="ctr"/>
                      <a:r>
                        <a:rPr sz="1300" b="0" i="0">
                          <a:solidFill>
                            <a:srgbClr val="000000"/>
                          </a:solidFill>
                          <a:latin typeface="Tahoma"/>
                        </a:rPr>
                        <a:t>2</a:t>
                      </a:r>
                    </a:p>
                  </a:txBody>
                  <a:tcPr anchor="ctr">
                    <a:solidFill>
                      <a:srgbClr val="E0E5F0"/>
                    </a:solidFill>
                  </a:tcPr>
                </a:tc>
                <a:tc>
                  <a:txBody>
                    <a:bodyPr/>
                    <a:lstStyle/>
                    <a:p>
                      <a:pPr algn="ctr"/>
                      <a:r>
                        <a:rPr sz="1300" b="0" i="0">
                          <a:solidFill>
                            <a:srgbClr val="000000"/>
                          </a:solidFill>
                          <a:latin typeface="Tahoma"/>
                        </a:rPr>
                        <a:t>0</a:t>
                      </a:r>
                    </a:p>
                  </a:txBody>
                  <a:tcPr anchor="ctr">
                    <a:solidFill>
                      <a:srgbClr val="E0E5F0"/>
                    </a:solidFill>
                  </a:tcPr>
                </a:tc>
              </a:tr>
              <a:tr h="304800">
                <a:tc>
                  <a:txBody>
                    <a:bodyPr/>
                    <a:lstStyle/>
                    <a:p>
                      <a:pPr algn="l"/>
                      <a:r>
                        <a:rPr sz="1300" b="1" i="0">
                          <a:solidFill>
                            <a:srgbClr val="FFFFFF"/>
                          </a:solidFill>
                          <a:latin typeface="Tahoma"/>
                        </a:rPr>
                        <a:t>Base:</a:t>
                      </a:r>
                    </a:p>
                  </a:txBody>
                  <a:tcPr anchor="ctr">
                    <a:solidFill>
                      <a:srgbClr val="5A80B8"/>
                    </a:solidFill>
                  </a:tcPr>
                </a:tc>
                <a:tc>
                  <a:txBody>
                    <a:bodyPr/>
                    <a:lstStyle/>
                    <a:p>
                      <a:pPr algn="ctr"/>
                      <a:r>
                        <a:rPr sz="1300" b="1" i="0">
                          <a:solidFill>
                            <a:srgbClr val="FFFFFF"/>
                          </a:solidFill>
                          <a:latin typeface="Tahoma"/>
                        </a:rPr>
                        <a:t>45</a:t>
                      </a:r>
                    </a:p>
                  </a:txBody>
                  <a:tcPr anchor="ctr">
                    <a:solidFill>
                      <a:srgbClr val="5A80B8"/>
                    </a:solidFill>
                  </a:tcPr>
                </a:tc>
                <a:tc>
                  <a:txBody>
                    <a:bodyPr/>
                    <a:lstStyle/>
                    <a:p>
                      <a:pPr algn="ctr"/>
                      <a:r>
                        <a:rPr sz="1300" b="1" i="0">
                          <a:solidFill>
                            <a:srgbClr val="FFFFFF"/>
                          </a:solidFill>
                          <a:latin typeface="Tahoma"/>
                        </a:rPr>
                        <a:t>46</a:t>
                      </a:r>
                    </a:p>
                  </a:txBody>
                  <a:tcPr anchor="ctr">
                    <a:solidFill>
                      <a:srgbClr val="5A80B8"/>
                    </a:solidFill>
                  </a:tcPr>
                </a:tc>
                <a:tc>
                  <a:txBody>
                    <a:bodyPr/>
                    <a:lstStyle/>
                    <a:p>
                      <a:pPr algn="ctr"/>
                      <a:r>
                        <a:rPr sz="1300" b="1" i="0">
                          <a:solidFill>
                            <a:srgbClr val="FFFFFF"/>
                          </a:solidFill>
                          <a:latin typeface="Tahoma"/>
                        </a:rPr>
                        <a:t>38</a:t>
                      </a:r>
                    </a:p>
                  </a:txBody>
                  <a:tcPr anchor="ctr">
                    <a:solidFill>
                      <a:srgbClr val="5A80B8"/>
                    </a:solidFill>
                  </a:tcPr>
                </a:tc>
                <a:tc>
                  <a:txBody>
                    <a:bodyPr/>
                    <a:lstStyle/>
                    <a:p>
                      <a:pPr algn="ctr"/>
                      <a:r>
                        <a:rPr sz="13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842515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Relationship with </a:t>
            </a:r>
            <a:br>
              <a:rPr lang="en-US" altLang="en-US">
                <a:solidFill>
                  <a:schemeClr val="bg1"/>
                </a:solidFill>
              </a:rPr>
            </a:br>
            <a:r>
              <a:rPr lang="en-US" altLang="en-US">
                <a:solidFill>
                  <a:schemeClr val="bg1"/>
                </a:solidFill>
              </a:rPr>
              <a:t>Austin Energy</a:t>
            </a:r>
          </a:p>
        </p:txBody>
      </p:sp>
    </p:spTree>
    <p:extLst>
      <p:ext uri="{BB962C8B-B14F-4D97-AF65-F5344CB8AC3E}">
        <p14:creationId xmlns:p14="http://schemas.microsoft.com/office/powerpoint/2010/main" val="6511725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Overall Satisfaction with </a:t>
            </a:r>
            <a:br>
              <a:rPr lang="en-US" altLang="en-US">
                <a:ea typeface="MS PGothic" panose="020B0600070205080204" pitchFamily="34" charset="-128"/>
              </a:rPr>
            </a:br>
            <a:r>
              <a:rPr lang="en-US" altLang="en-US">
                <a:ea typeface="MS PGothic" panose="020B0600070205080204" pitchFamily="34" charset="-128"/>
              </a:rPr>
              <a:t>Austin Energy</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48</a:t>
            </a:fld>
            <a:endParaRPr lang="en-US" altLang="en-US" sz="1400"/>
          </a:p>
        </p:txBody>
      </p:sp>
      <p:graphicFrame>
        <p:nvGraphicFramePr>
          <p:cNvPr id="2" name="Content Placeholder 10"/>
          <p:cNvGraphicFramePr>
            <a:graphicFrameLocks/>
          </p:cNvGraphicFramePr>
          <p:nvPr>
            <p:extLst>
              <p:ext uri="{D42A27DB-BD31-4B8C-83A1-F6EECF244321}">
                <p14:modId xmlns:p14="http://schemas.microsoft.com/office/powerpoint/2010/main" val="822532988"/>
              </p:ext>
            </p:extLst>
          </p:nvPr>
        </p:nvGraphicFramePr>
        <p:xfrm>
          <a:off x="50800" y="1414463"/>
          <a:ext cx="6756400" cy="508793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 Box 9"/>
          <p:cNvSpPr txBox="1">
            <a:spLocks noChangeArrowheads="1"/>
          </p:cNvSpPr>
          <p:nvPr/>
        </p:nvSpPr>
        <p:spPr bwMode="auto">
          <a:xfrm>
            <a:off x="514655" y="1033626"/>
            <a:ext cx="51635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100">
                <a:solidFill>
                  <a:schemeClr val="tx2"/>
                </a:solidFill>
                <a:latin typeface="+mn-lt"/>
                <a:ea typeface="ＭＳ Ｐゴシック" charset="-128"/>
              </a:rPr>
              <a:t>Scale: ‘1’=Very Dissatisfied; ‘10’=Very Satisfied. Only ‘8’, ‘9’, ‘10’ ratings shown.</a:t>
            </a:r>
          </a:p>
        </p:txBody>
      </p:sp>
      <p:sp>
        <p:nvSpPr>
          <p:cNvPr id="9" name="Text Box 6"/>
          <p:cNvSpPr txBox="1">
            <a:spLocks noChangeArrowheads="1"/>
          </p:cNvSpPr>
          <p:nvPr/>
        </p:nvSpPr>
        <p:spPr bwMode="auto">
          <a:xfrm>
            <a:off x="-36444" y="8403949"/>
            <a:ext cx="6265793" cy="43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31. Using a scale of ‘1’ (very dissatisfied) to ‘10’ (very satisfied), how satisfied are you with Austin Energy? </a:t>
            </a:r>
          </a:p>
        </p:txBody>
      </p:sp>
    </p:spTree>
    <p:extLst>
      <p:ext uri="{BB962C8B-B14F-4D97-AF65-F5344CB8AC3E}">
        <p14:creationId xmlns:p14="http://schemas.microsoft.com/office/powerpoint/2010/main" val="289171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Low Income Weatherization Program Names</a:t>
            </a:r>
          </a:p>
        </p:txBody>
      </p:sp>
    </p:spTree>
    <p:extLst>
      <p:ext uri="{BB962C8B-B14F-4D97-AF65-F5344CB8AC3E}">
        <p14:creationId xmlns:p14="http://schemas.microsoft.com/office/powerpoint/2010/main" val="3257287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p:cNvSpPr txBox="1">
            <a:spLocks noChangeArrowheads="1"/>
          </p:cNvSpPr>
          <p:nvPr/>
        </p:nvSpPr>
        <p:spPr bwMode="auto">
          <a:xfrm>
            <a:off x="-36443" y="8397323"/>
            <a:ext cx="62657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D11. Based on your experience in the weatherization program, what phrase do you think would best describes the program?</a:t>
            </a:r>
          </a:p>
        </p:txBody>
      </p:sp>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Tahoma"/>
                <a:ea typeface="+mn-ea"/>
                <a:cs typeface="+mn-cs"/>
              </a:rPr>
              <a:t>Note: New question asked in Q1_2020.</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8" name="Chart 6">
            <a:extLst>
              <a:ext uri="{FF2B5EF4-FFF2-40B4-BE49-F238E27FC236}">
                <a16:creationId xmlns:a16="http://schemas.microsoft.com/office/drawing/2014/main" id="{D0FBFEC8-5A55-DB4F-983D-4FA422FEBD5A}"/>
              </a:ext>
            </a:extLst>
          </p:cNvPr>
          <p:cNvGraphicFramePr>
            <a:graphicFrameLocks/>
          </p:cNvGraphicFramePr>
          <p:nvPr>
            <p:extLst>
              <p:ext uri="{D42A27DB-BD31-4B8C-83A1-F6EECF244321}">
                <p14:modId xmlns:p14="http://schemas.microsoft.com/office/powerpoint/2010/main" val="1264944263"/>
              </p:ext>
            </p:extLst>
          </p:nvPr>
        </p:nvGraphicFramePr>
        <p:xfrm>
          <a:off x="50800" y="1306226"/>
          <a:ext cx="6756400" cy="50332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5507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D68E-4E15-C974-687E-A22DDB06FA8F}"/>
            </a:ext>
          </a:extLst>
        </p:cNvPr>
        <p:cNvGrpSpPr/>
        <p:nvPr/>
      </p:nvGrpSpPr>
      <p:grpSpPr>
        <a:xfrm>
          <a:off x="0" y="0"/>
          <a:ext cx="0" cy="0"/>
          <a:chOff x="0" y="0"/>
          <a:chExt cx="0" cy="0"/>
        </a:xfrm>
      </p:grpSpPr>
      <p:sp>
        <p:nvSpPr>
          <p:cNvPr id="23554" name="Rectangle 2">
            <a:extLst>
              <a:ext uri="{FF2B5EF4-FFF2-40B4-BE49-F238E27FC236}">
                <a16:creationId xmlns:a16="http://schemas.microsoft.com/office/drawing/2014/main" id="{FAA0034F-0B6A-7800-937E-F6422CF01C8A}"/>
              </a:ext>
            </a:extLst>
          </p:cNvPr>
          <p:cNvSpPr>
            <a:spLocks noGrp="1" noChangeArrowheads="1"/>
          </p:cNvSpPr>
          <p:nvPr>
            <p:ph type="title"/>
          </p:nvPr>
        </p:nvSpPr>
        <p:spPr/>
        <p:txBody>
          <a:bodyPr/>
          <a:lstStyle/>
          <a:p>
            <a:r>
              <a:rPr lang="en-US" altLang="en-US">
                <a:ea typeface="MS PGothic" panose="020B0600070205080204" pitchFamily="34" charset="-128"/>
              </a:rPr>
              <a:t>Possible Low Income Weatherization Program Names</a:t>
            </a:r>
            <a:endParaRPr lang="en-US" altLang="en-US"/>
          </a:p>
        </p:txBody>
      </p:sp>
      <p:sp>
        <p:nvSpPr>
          <p:cNvPr id="23555" name="Slide Number Placeholder 7">
            <a:extLst>
              <a:ext uri="{FF2B5EF4-FFF2-40B4-BE49-F238E27FC236}">
                <a16:creationId xmlns:a16="http://schemas.microsoft.com/office/drawing/2014/main" id="{EBAE5B3E-AAC8-6D27-6F83-C5F766ABAE96}"/>
              </a:ext>
            </a:extLst>
          </p:cNvPr>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A17699D5-621E-4864-8F0F-9AFA162DB490}" type="slidenum">
              <a:rPr kumimoji="0" lang="en-US" altLang="en-US" sz="14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4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9" name="Text Box 6">
            <a:extLst>
              <a:ext uri="{FF2B5EF4-FFF2-40B4-BE49-F238E27FC236}">
                <a16:creationId xmlns:a16="http://schemas.microsoft.com/office/drawing/2014/main" id="{3BCC2D12-B9AC-0658-4D8A-5A5AF8FBA931}"/>
              </a:ext>
            </a:extLst>
          </p:cNvPr>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100" dirty="0">
                <a:solidFill>
                  <a:srgbClr val="000000"/>
                </a:solidFill>
                <a:latin typeface="Tahoma"/>
                <a:ea typeface="ＭＳ Ｐゴシック" charset="-128"/>
              </a:rPr>
              <a:t>D12</a:t>
            </a:r>
            <a:r>
              <a:rPr kumimoji="0" lang="en-US" sz="1100" b="0" i="0" u="none" strike="noStrike" kern="1200" cap="none" spc="0" normalizeH="0" baseline="0" noProof="0" dirty="0">
                <a:ln>
                  <a:noFill/>
                </a:ln>
                <a:solidFill>
                  <a:srgbClr val="000000"/>
                </a:solidFill>
                <a:effectLst/>
                <a:uLnTx/>
                <a:uFillTx/>
                <a:latin typeface="Tahoma"/>
                <a:ea typeface="ＭＳ Ｐゴシック" charset="-128"/>
                <a:cs typeface="+mn-cs"/>
              </a:rPr>
              <a:t>. Are there other words you think best describe the program to other potential participants?</a:t>
            </a:r>
          </a:p>
        </p:txBody>
      </p:sp>
      <p:sp>
        <p:nvSpPr>
          <p:cNvPr id="6" name="Text Box 9">
            <a:extLst>
              <a:ext uri="{FF2B5EF4-FFF2-40B4-BE49-F238E27FC236}">
                <a16:creationId xmlns:a16="http://schemas.microsoft.com/office/drawing/2014/main" id="{38E927CF-0DF7-088E-5D02-28620C95D4CD}"/>
              </a:ext>
            </a:extLst>
          </p:cNvPr>
          <p:cNvSpPr txBox="1">
            <a:spLocks noChangeArrowheads="1"/>
          </p:cNvSpPr>
          <p:nvPr/>
        </p:nvSpPr>
        <p:spPr bwMode="auto">
          <a:xfrm>
            <a:off x="490336" y="1167381"/>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100">
                <a:solidFill>
                  <a:srgbClr val="000000"/>
                </a:solidFill>
                <a:latin typeface="Tahoma"/>
              </a:rPr>
              <a:t>*New format (descriptive categories) starting in Q1_2025. </a:t>
            </a:r>
            <a:endParaRPr kumimoji="0" lang="en-US" sz="1100" b="0" i="0" u="none" strike="noStrike" kern="1200" cap="none" spc="0" normalizeH="0" baseline="0" noProof="0">
              <a:ln>
                <a:noFill/>
              </a:ln>
              <a:solidFill>
                <a:srgbClr val="000000"/>
              </a:solidFill>
              <a:effectLst/>
              <a:uLnTx/>
              <a:uFillTx/>
              <a:latin typeface="Tahoma"/>
              <a:ea typeface="+mn-ea"/>
              <a:cs typeface="Helvetica"/>
            </a:endParaRPr>
          </a:p>
        </p:txBody>
      </p:sp>
      <p:graphicFrame>
        <p:nvGraphicFramePr>
          <p:cNvPr id="23556" name="Table 23555"/>
          <p:cNvGraphicFramePr>
            <a:graphicFrameLocks noGrp="1"/>
          </p:cNvGraphicFramePr>
          <p:nvPr/>
        </p:nvGraphicFramePr>
        <p:xfrm>
          <a:off x="457200" y="1554480"/>
          <a:ext cx="5943600" cy="4572000"/>
        </p:xfrm>
        <a:graphic>
          <a:graphicData uri="http://schemas.openxmlformats.org/drawingml/2006/table">
            <a:tbl>
              <a:tblPr firstRow="1" bandRow="1">
                <a:tableStyleId>{5C22544A-7EE6-4342-B048-85BDC9FD1C3A}</a:tableStyleId>
              </a:tblPr>
              <a:tblGrid>
                <a:gridCol w="2971800"/>
                <a:gridCol w="2971800"/>
              </a:tblGrid>
              <a:tr h="268941">
                <a:tc>
                  <a:txBody>
                    <a:bodyPr/>
                    <a:lstStyle/>
                    <a:p>
                      <a:pPr algn="ct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68941">
                <a:tc>
                  <a:txBody>
                    <a:bodyPr/>
                    <a:lstStyle/>
                    <a:p>
                      <a:pPr algn="l"/>
                      <a:r>
                        <a:rPr sz="1200" b="0" i="0">
                          <a:solidFill>
                            <a:srgbClr val="000000"/>
                          </a:solidFill>
                          <a:latin typeface="Tahoma"/>
                        </a:rPr>
                        <a:t>Just improvement of your home</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No I think low income upgrade is pretty clear.</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Using the words no cost, low cost or free. Ours was fully covered but I don't know if it always is.</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If you're over a certain age and your income isn't necessarily low, but you're trying to live on social security, it's very helpful.</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Nothing comes to mind.</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Worth doing. Even if you're a renter you can do it.</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If you took income based out of the whole thing.</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I think income qualified weatherization assistance would make it more specific.</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Home weather readiness program.</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No, that sums it up.</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I don't know.</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1">
                <a:tc>
                  <a:txBody>
                    <a:bodyPr/>
                    <a:lstStyle/>
                    <a:p>
                      <a:pPr algn="l"/>
                      <a:r>
                        <a:rPr sz="1200" b="0" i="0">
                          <a:solidFill>
                            <a:srgbClr val="000000"/>
                          </a:solidFill>
                          <a:latin typeface="Tahoma"/>
                        </a:rPr>
                        <a:t>I think not</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68944">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3059073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r>
              <a:rPr lang="en-US" altLang="en-US">
                <a:solidFill>
                  <a:schemeClr val="bg1"/>
                </a:solidFill>
              </a:rPr>
              <a:t>Demographics</a:t>
            </a:r>
          </a:p>
        </p:txBody>
      </p:sp>
    </p:spTree>
    <p:extLst>
      <p:ext uri="{BB962C8B-B14F-4D97-AF65-F5344CB8AC3E}">
        <p14:creationId xmlns:p14="http://schemas.microsoft.com/office/powerpoint/2010/main" val="3504147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53</a:t>
            </a:fld>
            <a:endParaRPr lang="en-US" altLang="en-US" sz="1400"/>
          </a:p>
        </p:txBody>
      </p:sp>
      <p:graphicFrame>
        <p:nvGraphicFramePr>
          <p:cNvPr id="23558"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381000">
                <a:tc>
                  <a:txBody>
                    <a:bodyPr/>
                    <a:lstStyle/>
                    <a:p>
                      <a:pPr algn="ctr"/>
                      <a:r>
                        <a:rPr sz="1200" b="1" i="0">
                          <a:solidFill>
                            <a:srgbClr val="FFFFFF"/>
                          </a:solidFill>
                          <a:latin typeface="Tahoma"/>
                        </a:rPr>
                        <a:t>Gender</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381000">
                <a:tc>
                  <a:txBody>
                    <a:bodyPr/>
                    <a:lstStyle/>
                    <a:p>
                      <a:pPr algn="l"/>
                      <a:r>
                        <a:rPr sz="1200" b="0" i="0">
                          <a:solidFill>
                            <a:srgbClr val="000000"/>
                          </a:solidFill>
                          <a:latin typeface="Tahoma"/>
                        </a:rPr>
                        <a:t>Male</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45%</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r>
              <a:tr h="381000">
                <a:tc>
                  <a:txBody>
                    <a:bodyPr/>
                    <a:lstStyle/>
                    <a:p>
                      <a:pPr algn="l"/>
                      <a:r>
                        <a:rPr sz="1200" b="0" i="0">
                          <a:solidFill>
                            <a:srgbClr val="000000"/>
                          </a:solidFill>
                          <a:latin typeface="Tahoma"/>
                        </a:rPr>
                        <a:t>Female</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tc>
                  <a:txBody>
                    <a:bodyPr/>
                    <a:lstStyle/>
                    <a:p>
                      <a:pPr algn="ctr"/>
                      <a:r>
                        <a:rPr sz="1200" b="0" i="0">
                          <a:solidFill>
                            <a:srgbClr val="000000"/>
                          </a:solidFill>
                          <a:latin typeface="Tahoma"/>
                        </a:rPr>
                        <a:t>76%</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73%</a:t>
                      </a:r>
                    </a:p>
                  </a:txBody>
                  <a:tcPr anchor="ctr">
                    <a:solidFill>
                      <a:srgbClr val="E0E5F0"/>
                    </a:solidFill>
                  </a:tcPr>
                </a:tc>
              </a:tr>
              <a:tr h="381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381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381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graphicFrame>
        <p:nvGraphicFramePr>
          <p:cNvPr id="23559"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54000">
                <a:tc>
                  <a:txBody>
                    <a:bodyPr/>
                    <a:lstStyle/>
                    <a:p>
                      <a:pPr algn="ctr"/>
                      <a:r>
                        <a:rPr sz="1200" b="1" i="0">
                          <a:solidFill>
                            <a:srgbClr val="FFFFFF"/>
                          </a:solidFill>
                          <a:latin typeface="Tahoma"/>
                        </a:rPr>
                        <a:t>Age</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54000">
                <a:tc>
                  <a:txBody>
                    <a:bodyPr/>
                    <a:lstStyle/>
                    <a:p>
                      <a:pPr algn="l"/>
                      <a:r>
                        <a:rPr sz="1200" b="0" i="0">
                          <a:solidFill>
                            <a:srgbClr val="000000"/>
                          </a:solidFill>
                          <a:latin typeface="Tahoma"/>
                        </a:rPr>
                        <a:t>25 to 34</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54000">
                <a:tc>
                  <a:txBody>
                    <a:bodyPr/>
                    <a:lstStyle/>
                    <a:p>
                      <a:pPr algn="l"/>
                      <a:r>
                        <a:rPr sz="1200" b="0" i="0">
                          <a:solidFill>
                            <a:srgbClr val="000000"/>
                          </a:solidFill>
                          <a:latin typeface="Tahoma"/>
                        </a:rPr>
                        <a:t>35 to 44</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r>
              <a:tr h="254000">
                <a:tc>
                  <a:txBody>
                    <a:bodyPr/>
                    <a:lstStyle/>
                    <a:p>
                      <a:pPr algn="l"/>
                      <a:r>
                        <a:rPr sz="1200" b="0" i="0">
                          <a:solidFill>
                            <a:srgbClr val="000000"/>
                          </a:solidFill>
                          <a:latin typeface="Tahoma"/>
                        </a:rPr>
                        <a:t>45 to 54</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54000">
                <a:tc>
                  <a:txBody>
                    <a:bodyPr/>
                    <a:lstStyle/>
                    <a:p>
                      <a:pPr algn="l"/>
                      <a:r>
                        <a:rPr sz="1200" b="0" i="0">
                          <a:solidFill>
                            <a:srgbClr val="000000"/>
                          </a:solidFill>
                          <a:latin typeface="Tahoma"/>
                        </a:rPr>
                        <a:t>55 to 64</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r>
              <a:tr h="254000">
                <a:tc>
                  <a:txBody>
                    <a:bodyPr/>
                    <a:lstStyle/>
                    <a:p>
                      <a:pPr algn="l"/>
                      <a:r>
                        <a:rPr sz="1200" b="0" i="0">
                          <a:solidFill>
                            <a:srgbClr val="000000"/>
                          </a:solidFill>
                          <a:latin typeface="Tahoma"/>
                        </a:rPr>
                        <a:t>65 years or older</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59%</a:t>
                      </a:r>
                    </a:p>
                  </a:txBody>
                  <a:tcPr anchor="ctr">
                    <a:solidFill>
                      <a:srgbClr val="E0E5F0"/>
                    </a:solidFill>
                  </a:tcPr>
                </a:tc>
                <a:tc>
                  <a:txBody>
                    <a:bodyPr/>
                    <a:lstStyle/>
                    <a:p>
                      <a:pPr algn="ctr"/>
                      <a:r>
                        <a:rPr sz="1200" b="0" i="0">
                          <a:solidFill>
                            <a:srgbClr val="000000"/>
                          </a:solidFill>
                          <a:latin typeface="Tahoma"/>
                        </a:rPr>
                        <a:t>37%</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6941998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54</a:t>
            </a:fld>
            <a:endParaRPr lang="en-US" altLang="en-US" sz="1400"/>
          </a:p>
        </p:txBody>
      </p:sp>
      <p:graphicFrame>
        <p:nvGraphicFramePr>
          <p:cNvPr id="23556" name="Table 3"/>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28600">
                <a:tc>
                  <a:txBody>
                    <a:bodyPr/>
                    <a:lstStyle/>
                    <a:p>
                      <a:pPr algn="ctr"/>
                      <a:r>
                        <a:rPr sz="1200" b="1" i="0">
                          <a:solidFill>
                            <a:srgbClr val="FFFFFF"/>
                          </a:solidFill>
                          <a:latin typeface="Tahoma"/>
                        </a:rPr>
                        <a:t>Ethnicity</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28600">
                <a:tc>
                  <a:txBody>
                    <a:bodyPr/>
                    <a:lstStyle/>
                    <a:p>
                      <a:pPr algn="l"/>
                      <a:r>
                        <a:rPr sz="1200" b="0" i="0">
                          <a:solidFill>
                            <a:srgbClr val="000000"/>
                          </a:solidFill>
                          <a:latin typeface="Tahoma"/>
                        </a:rPr>
                        <a:t>White</a:t>
                      </a:r>
                    </a:p>
                  </a:txBody>
                  <a:tcPr anchor="ctr">
                    <a:solidFill>
                      <a:srgbClr val="E0E5F0"/>
                    </a:solidFill>
                  </a:tcPr>
                </a:tc>
                <a:tc>
                  <a:txBody>
                    <a:bodyPr/>
                    <a:lstStyle/>
                    <a:p>
                      <a:pPr algn="ctr"/>
                      <a:r>
                        <a:rPr sz="1200" b="0" i="0">
                          <a:solidFill>
                            <a:srgbClr val="000000"/>
                          </a:solidFill>
                          <a:latin typeface="Tahoma"/>
                        </a:rPr>
                        <a:t>51%</a:t>
                      </a:r>
                    </a:p>
                  </a:txBody>
                  <a:tcPr anchor="ctr">
                    <a:solidFill>
                      <a:srgbClr val="E0E5F0"/>
                    </a:solidFill>
                  </a:tcPr>
                </a:tc>
                <a:tc>
                  <a:txBody>
                    <a:bodyPr/>
                    <a:lstStyle/>
                    <a:p>
                      <a:pPr algn="ctr"/>
                      <a:r>
                        <a:rPr sz="1200" b="0" i="0">
                          <a:solidFill>
                            <a:srgbClr val="000000"/>
                          </a:solidFill>
                          <a:latin typeface="Tahoma"/>
                        </a:rPr>
                        <a:t>46%</a:t>
                      </a:r>
                    </a:p>
                  </a:txBody>
                  <a:tcPr anchor="ctr">
                    <a:solidFill>
                      <a:srgbClr val="E0E5F0"/>
                    </a:solidFill>
                  </a:tcPr>
                </a:tc>
                <a:tc>
                  <a:txBody>
                    <a:bodyPr/>
                    <a:lstStyle/>
                    <a:p>
                      <a:pPr algn="ctr"/>
                      <a:r>
                        <a:rPr sz="1200" b="0" i="0">
                          <a:solidFill>
                            <a:srgbClr val="000000"/>
                          </a:solidFill>
                          <a:latin typeface="Tahoma"/>
                        </a:rPr>
                        <a:t>47%</a:t>
                      </a:r>
                    </a:p>
                  </a:txBody>
                  <a:tcPr anchor="ctr">
                    <a:solidFill>
                      <a:srgbClr val="E0E5F0"/>
                    </a:solidFill>
                  </a:tcPr>
                </a:tc>
                <a:tc>
                  <a:txBody>
                    <a:bodyPr/>
                    <a:lstStyle/>
                    <a:p>
                      <a:pPr algn="ctr"/>
                      <a:r>
                        <a:rPr sz="1200" b="0" i="0">
                          <a:solidFill>
                            <a:srgbClr val="000000"/>
                          </a:solidFill>
                          <a:latin typeface="Tahoma"/>
                        </a:rPr>
                        <a:t>40%</a:t>
                      </a:r>
                    </a:p>
                  </a:txBody>
                  <a:tcPr anchor="ctr">
                    <a:solidFill>
                      <a:srgbClr val="E0E5F0"/>
                    </a:solidFill>
                  </a:tcPr>
                </a:tc>
              </a:tr>
              <a:tr h="228600">
                <a:tc>
                  <a:txBody>
                    <a:bodyPr/>
                    <a:lstStyle/>
                    <a:p>
                      <a:pPr algn="l"/>
                      <a:r>
                        <a:rPr sz="1200" b="0" i="0">
                          <a:solidFill>
                            <a:srgbClr val="000000"/>
                          </a:solidFill>
                          <a:latin typeface="Tahoma"/>
                        </a:rPr>
                        <a:t>Hispanic</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r>
              <a:tr h="228600">
                <a:tc>
                  <a:txBody>
                    <a:bodyPr/>
                    <a:lstStyle/>
                    <a:p>
                      <a:pPr algn="l"/>
                      <a:r>
                        <a:rPr sz="1200" b="0" i="0">
                          <a:solidFill>
                            <a:srgbClr val="000000"/>
                          </a:solidFill>
                          <a:latin typeface="Tahoma"/>
                        </a:rPr>
                        <a:t>African American</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r>
              <a:tr h="228600">
                <a:tc>
                  <a:txBody>
                    <a:bodyPr/>
                    <a:lstStyle/>
                    <a:p>
                      <a:pPr algn="l"/>
                      <a:r>
                        <a:rPr sz="1200" b="0" i="0">
                          <a:solidFill>
                            <a:srgbClr val="000000"/>
                          </a:solidFill>
                          <a:latin typeface="Tahoma"/>
                        </a:rPr>
                        <a:t>Two or more races</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Asian or Pacific Islander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Aleutian, Eskimo, or American Indian</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r h="228600">
                <a:tc>
                  <a:txBody>
                    <a:bodyPr/>
                    <a:lstStyle/>
                    <a:p/>
                  </a:txBody>
                  <a:tcPr/>
                </a:tc>
                <a:tc>
                  <a:txBody>
                    <a:bodyPr/>
                    <a:lstStyle/>
                    <a:p/>
                  </a:txBody>
                  <a:tcPr/>
                </a:tc>
                <a:tc>
                  <a:txBody>
                    <a:bodyPr/>
                    <a:lstStyle/>
                    <a:p/>
                  </a:txBody>
                  <a:tcPr/>
                </a:tc>
                <a:tc>
                  <a:txBody>
                    <a:bodyPr/>
                    <a:lstStyle/>
                    <a:p/>
                  </a:txBody>
                  <a:tcPr/>
                </a:tc>
                <a:tc>
                  <a:txBody>
                    <a:bodyPr/>
                    <a:lstStyle/>
                    <a:p/>
                  </a:txBody>
                  <a:tcPr/>
                </a:tc>
              </a:tr>
            </a:tbl>
          </a:graphicData>
        </a:graphic>
      </p:graphicFrame>
    </p:spTree>
    <p:extLst>
      <p:ext uri="{BB962C8B-B14F-4D97-AF65-F5344CB8AC3E}">
        <p14:creationId xmlns:p14="http://schemas.microsoft.com/office/powerpoint/2010/main" val="3785370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55</a:t>
            </a:fld>
            <a:endParaRPr lang="en-US" altLang="en-US" sz="1400"/>
          </a:p>
        </p:txBody>
      </p:sp>
      <p:graphicFrame>
        <p:nvGraphicFramePr>
          <p:cNvPr id="23558"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85750">
                <a:tc>
                  <a:txBody>
                    <a:bodyPr/>
                    <a:lstStyle/>
                    <a:p>
                      <a:pPr algn="ctr"/>
                      <a:r>
                        <a:rPr sz="1200" b="1" i="0">
                          <a:solidFill>
                            <a:srgbClr val="FFFFFF"/>
                          </a:solidFill>
                          <a:latin typeface="Tahoma"/>
                        </a:rPr>
                        <a:t>Education</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85750">
                <a:tc>
                  <a:txBody>
                    <a:bodyPr/>
                    <a:lstStyle/>
                    <a:p>
                      <a:pPr algn="l"/>
                      <a:r>
                        <a:rPr sz="1200" b="0" i="0">
                          <a:solidFill>
                            <a:srgbClr val="000000"/>
                          </a:solidFill>
                          <a:latin typeface="Tahoma"/>
                        </a:rPr>
                        <a:t>Some high school</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85750">
                <a:tc>
                  <a:txBody>
                    <a:bodyPr/>
                    <a:lstStyle/>
                    <a:p>
                      <a:pPr algn="l"/>
                      <a:r>
                        <a:rPr sz="1200" b="0" i="0">
                          <a:solidFill>
                            <a:srgbClr val="000000"/>
                          </a:solidFill>
                          <a:latin typeface="Tahoma"/>
                        </a:rPr>
                        <a:t>Graduated high school</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85750">
                <a:tc>
                  <a:txBody>
                    <a:bodyPr/>
                    <a:lstStyle/>
                    <a:p>
                      <a:pPr algn="l"/>
                      <a:r>
                        <a:rPr sz="1200" b="0" i="0">
                          <a:solidFill>
                            <a:srgbClr val="000000"/>
                          </a:solidFill>
                          <a:latin typeface="Tahoma"/>
                        </a:rPr>
                        <a:t>Some college</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29%</a:t>
                      </a:r>
                    </a:p>
                  </a:txBody>
                  <a:tcPr anchor="ctr">
                    <a:solidFill>
                      <a:srgbClr val="E0E5F0"/>
                    </a:solidFill>
                  </a:tcPr>
                </a:tc>
                <a:tc>
                  <a:txBody>
                    <a:bodyPr/>
                    <a:lstStyle/>
                    <a:p>
                      <a:pPr algn="ctr"/>
                      <a:r>
                        <a:rPr sz="1200" b="0" i="0">
                          <a:solidFill>
                            <a:srgbClr val="000000"/>
                          </a:solidFill>
                          <a:latin typeface="Tahoma"/>
                        </a:rPr>
                        <a:t>47%</a:t>
                      </a:r>
                    </a:p>
                  </a:txBody>
                  <a:tcPr anchor="ctr">
                    <a:solidFill>
                      <a:srgbClr val="E0E5F0"/>
                    </a:solidFill>
                  </a:tcPr>
                </a:tc>
              </a:tr>
              <a:tr h="285750">
                <a:tc>
                  <a:txBody>
                    <a:bodyPr/>
                    <a:lstStyle/>
                    <a:p>
                      <a:pPr algn="l"/>
                      <a:r>
                        <a:rPr sz="1200" b="0" i="0">
                          <a:solidFill>
                            <a:srgbClr val="000000"/>
                          </a:solidFill>
                          <a:latin typeface="Tahoma"/>
                        </a:rPr>
                        <a:t>Graduated college</a:t>
                      </a:r>
                    </a:p>
                  </a:txBody>
                  <a:tcPr anchor="ctr">
                    <a:solidFill>
                      <a:srgbClr val="E0E5F0"/>
                    </a:solidFill>
                  </a:tcPr>
                </a:tc>
                <a:tc>
                  <a:txBody>
                    <a:bodyPr/>
                    <a:lstStyle/>
                    <a:p>
                      <a:pPr algn="ctr"/>
                      <a:r>
                        <a:rPr sz="1200" b="0" i="0">
                          <a:solidFill>
                            <a:srgbClr val="000000"/>
                          </a:solidFill>
                          <a:latin typeface="Tahoma"/>
                        </a:rPr>
                        <a:t>42%</a:t>
                      </a:r>
                    </a:p>
                  </a:txBody>
                  <a:tcPr anchor="ctr">
                    <a:solidFill>
                      <a:srgbClr val="E0E5F0"/>
                    </a:solidFill>
                  </a:tcPr>
                </a:tc>
                <a:tc>
                  <a:txBody>
                    <a:bodyPr/>
                    <a:lstStyle/>
                    <a:p>
                      <a:pPr algn="ctr"/>
                      <a:r>
                        <a:rPr sz="1200" b="0" i="0">
                          <a:solidFill>
                            <a:srgbClr val="000000"/>
                          </a:solidFill>
                          <a:latin typeface="Tahoma"/>
                        </a:rPr>
                        <a:t>35%</a:t>
                      </a:r>
                    </a:p>
                  </a:txBody>
                  <a:tcPr anchor="ctr">
                    <a:solidFill>
                      <a:srgbClr val="E0E5F0"/>
                    </a:solidFill>
                  </a:tcPr>
                </a:tc>
                <a:tc>
                  <a:txBody>
                    <a:bodyPr/>
                    <a:lstStyle/>
                    <a:p>
                      <a:pPr algn="ctr"/>
                      <a:r>
                        <a:rPr sz="1200" b="0" i="0">
                          <a:solidFill>
                            <a:srgbClr val="000000"/>
                          </a:solidFill>
                          <a:latin typeface="Tahoma"/>
                        </a:rPr>
                        <a:t>39%</a:t>
                      </a:r>
                    </a:p>
                  </a:txBody>
                  <a:tcPr anchor="ctr">
                    <a:solidFill>
                      <a:srgbClr val="E0E5F0"/>
                    </a:solidFill>
                  </a:tcPr>
                </a:tc>
                <a:tc>
                  <a:txBody>
                    <a:bodyPr/>
                    <a:lstStyle/>
                    <a:p>
                      <a:pPr algn="ctr"/>
                      <a:r>
                        <a:rPr sz="1200" b="0" i="0">
                          <a:solidFill>
                            <a:srgbClr val="000000"/>
                          </a:solidFill>
                          <a:latin typeface="Tahoma"/>
                        </a:rPr>
                        <a:t>27%</a:t>
                      </a:r>
                    </a:p>
                  </a:txBody>
                  <a:tcPr anchor="ctr">
                    <a:solidFill>
                      <a:srgbClr val="E0E5F0"/>
                    </a:solidFill>
                  </a:tcPr>
                </a:tc>
              </a:tr>
              <a:tr h="285750">
                <a:tc>
                  <a:txBody>
                    <a:bodyPr/>
                    <a:lstStyle/>
                    <a:p>
                      <a:pPr algn="l"/>
                      <a:r>
                        <a:rPr sz="1200" b="0" i="0">
                          <a:solidFill>
                            <a:srgbClr val="000000"/>
                          </a:solidFill>
                          <a:latin typeface="Tahoma"/>
                        </a:rPr>
                        <a:t>Post-graduate work</a:t>
                      </a:r>
                    </a:p>
                  </a:txBody>
                  <a:tcPr anchor="ctr">
                    <a:solidFill>
                      <a:srgbClr val="E0E5F0"/>
                    </a:solidFill>
                  </a:tcPr>
                </a:tc>
                <a:tc>
                  <a:txBody>
                    <a:bodyPr/>
                    <a:lstStyle/>
                    <a:p>
                      <a:pPr algn="ctr"/>
                      <a:r>
                        <a:rPr sz="1200" b="0" i="0">
                          <a:solidFill>
                            <a:srgbClr val="000000"/>
                          </a:solidFill>
                          <a:latin typeface="Tahoma"/>
                        </a:rPr>
                        <a:t>18%</a:t>
                      </a:r>
                    </a:p>
                  </a:txBody>
                  <a:tcPr anchor="ctr">
                    <a:solidFill>
                      <a:srgbClr val="E0E5F0"/>
                    </a:solidFill>
                  </a:tcPr>
                </a:tc>
                <a:tc>
                  <a:txBody>
                    <a:bodyPr/>
                    <a:lstStyle/>
                    <a:p>
                      <a:pPr algn="ctr"/>
                      <a:r>
                        <a:rPr sz="1200" b="0" i="0">
                          <a:solidFill>
                            <a:srgbClr val="000000"/>
                          </a:solidFill>
                          <a:latin typeface="Tahoma"/>
                        </a:rPr>
                        <a:t>20%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8575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8575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graphicFrame>
        <p:nvGraphicFramePr>
          <p:cNvPr id="23559" name="Table 5"/>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457200">
                <a:tc>
                  <a:txBody>
                    <a:bodyPr/>
                    <a:lstStyle/>
                    <a:p>
                      <a:pPr algn="ctr"/>
                      <a:r>
                        <a:rPr sz="1200" b="1" i="0">
                          <a:solidFill>
                            <a:srgbClr val="FFFFFF"/>
                          </a:solidFill>
                          <a:latin typeface="Tahoma"/>
                        </a:rPr>
                        <a:t>Have Anyone Under the Age of 18 Living In Home</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457200">
                <a:tc>
                  <a:txBody>
                    <a:bodyPr/>
                    <a:lstStyle/>
                    <a:p>
                      <a:pPr algn="l"/>
                      <a:r>
                        <a:rPr sz="1200" b="0" i="0">
                          <a:solidFill>
                            <a:srgbClr val="000000"/>
                          </a:solidFill>
                          <a:latin typeface="Tahoma"/>
                        </a:rPr>
                        <a:t>Yes</a:t>
                      </a:r>
                    </a:p>
                  </a:txBody>
                  <a:tcPr anchor="ctr">
                    <a:solidFill>
                      <a:srgbClr val="E0E5F0"/>
                    </a:solidFill>
                  </a:tcPr>
                </a:tc>
                <a:tc>
                  <a:txBody>
                    <a:bodyPr/>
                    <a:lstStyle/>
                    <a:p>
                      <a:pPr algn="ctr"/>
                      <a:r>
                        <a:rPr sz="1200" b="0" i="0">
                          <a:solidFill>
                            <a:srgbClr val="000000"/>
                          </a:solidFill>
                          <a:latin typeface="Tahoma"/>
                        </a:rPr>
                        <a:t>24%</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457200">
                <a:tc>
                  <a:txBody>
                    <a:bodyPr/>
                    <a:lstStyle/>
                    <a:p>
                      <a:pPr algn="l"/>
                      <a:r>
                        <a:rPr sz="1200" b="0" i="0">
                          <a:solidFill>
                            <a:srgbClr val="000000"/>
                          </a:solidFill>
                          <a:latin typeface="Tahoma"/>
                        </a:rPr>
                        <a:t>No</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tc>
                  <a:txBody>
                    <a:bodyPr/>
                    <a:lstStyle/>
                    <a:p>
                      <a:pPr algn="ctr"/>
                      <a:r>
                        <a:rPr sz="1200" b="0" i="0">
                          <a:solidFill>
                            <a:srgbClr val="000000"/>
                          </a:solidFill>
                          <a:latin typeface="Tahoma"/>
                        </a:rPr>
                        <a:t>85%</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tc>
                  <a:txBody>
                    <a:bodyPr/>
                    <a:lstStyle/>
                    <a:p>
                      <a:pPr algn="ctr"/>
                      <a:r>
                        <a:rPr sz="1200" b="0" i="0">
                          <a:solidFill>
                            <a:srgbClr val="000000"/>
                          </a:solidFill>
                          <a:latin typeface="Tahoma"/>
                        </a:rPr>
                        <a:t>80%</a:t>
                      </a:r>
                    </a:p>
                  </a:txBody>
                  <a:tcPr anchor="ctr">
                    <a:solidFill>
                      <a:srgbClr val="E0E5F0"/>
                    </a:solidFill>
                  </a:tcPr>
                </a:tc>
              </a:tr>
              <a:tr h="4572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4572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26349974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56</a:t>
            </a:fld>
            <a:endParaRPr lang="en-US" altLang="en-US" sz="1400"/>
          </a:p>
        </p:txBody>
      </p:sp>
      <p:graphicFrame>
        <p:nvGraphicFramePr>
          <p:cNvPr id="23558"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28600">
                <a:tc>
                  <a:txBody>
                    <a:bodyPr/>
                    <a:lstStyle/>
                    <a:p>
                      <a:pPr algn="ctr"/>
                      <a:r>
                        <a:rPr sz="1200" b="1" i="0">
                          <a:solidFill>
                            <a:srgbClr val="FFFFFF"/>
                          </a:solidFill>
                          <a:latin typeface="Tahoma"/>
                        </a:rPr>
                        <a:t>Years Lived In Residence</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28600">
                <a:tc>
                  <a:txBody>
                    <a:bodyPr/>
                    <a:lstStyle/>
                    <a:p>
                      <a:pPr algn="l"/>
                      <a:r>
                        <a:rPr sz="1200" b="0" i="0">
                          <a:solidFill>
                            <a:srgbClr val="000000"/>
                          </a:solidFill>
                          <a:latin typeface="Tahoma"/>
                        </a:rPr>
                        <a:t>Less than 1 year</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0" i="0">
                          <a:solidFill>
                            <a:srgbClr val="000000"/>
                          </a:solidFill>
                          <a:latin typeface="Tahoma"/>
                        </a:rPr>
                        <a:t>1 to 2 years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28600">
                <a:tc>
                  <a:txBody>
                    <a:bodyPr/>
                    <a:lstStyle/>
                    <a:p>
                      <a:pPr algn="l"/>
                      <a:r>
                        <a:rPr sz="1200" b="0" i="0">
                          <a:solidFill>
                            <a:srgbClr val="000000"/>
                          </a:solidFill>
                          <a:latin typeface="Tahoma"/>
                        </a:rPr>
                        <a:t>3 to 5 years</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286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286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26%</a:t>
                      </a:r>
                    </a:p>
                  </a:txBody>
                  <a:tcPr anchor="ctr">
                    <a:solidFill>
                      <a:srgbClr val="E0E5F0"/>
                    </a:solidFill>
                  </a:tcPr>
                </a:tc>
                <a:tc>
                  <a:txBody>
                    <a:bodyPr/>
                    <a:lstStyle/>
                    <a:p>
                      <a:pPr algn="ctr"/>
                      <a:r>
                        <a:rPr sz="1200" b="0" i="0">
                          <a:solidFill>
                            <a:srgbClr val="000000"/>
                          </a:solidFill>
                          <a:latin typeface="Tahoma"/>
                        </a:rPr>
                        <a:t>21%</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286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286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56%</a:t>
                      </a:r>
                    </a:p>
                  </a:txBody>
                  <a:tcPr anchor="ctr">
                    <a:solidFill>
                      <a:srgbClr val="E0E5F0"/>
                    </a:solidFill>
                  </a:tcPr>
                </a:tc>
                <a:tc>
                  <a:txBody>
                    <a:bodyPr/>
                    <a:lstStyle/>
                    <a:p>
                      <a:pPr algn="ctr"/>
                      <a:r>
                        <a:rPr sz="1200" b="0" i="0">
                          <a:solidFill>
                            <a:srgbClr val="000000"/>
                          </a:solidFill>
                          <a:latin typeface="Tahoma"/>
                        </a:rPr>
                        <a:t>33%</a:t>
                      </a:r>
                    </a:p>
                  </a:txBody>
                  <a:tcPr anchor="ctr">
                    <a:solidFill>
                      <a:srgbClr val="E0E5F0"/>
                    </a:solidFill>
                  </a:tcPr>
                </a:tc>
                <a:tc>
                  <a:txBody>
                    <a:bodyPr/>
                    <a:lstStyle/>
                    <a:p>
                      <a:pPr algn="ctr"/>
                      <a:r>
                        <a:rPr sz="1200" b="0" i="0">
                          <a:solidFill>
                            <a:srgbClr val="000000"/>
                          </a:solidFill>
                          <a:latin typeface="Tahoma"/>
                        </a:rPr>
                        <a:t>34%</a:t>
                      </a:r>
                    </a:p>
                  </a:txBody>
                  <a:tcPr anchor="ctr">
                    <a:solidFill>
                      <a:srgbClr val="E0E5F0"/>
                    </a:solidFill>
                  </a:tcPr>
                </a:tc>
                <a:tc>
                  <a:txBody>
                    <a:bodyPr/>
                    <a:lstStyle/>
                    <a:p>
                      <a:pPr algn="ctr"/>
                      <a:r>
                        <a:rPr sz="1200" b="0" i="0">
                          <a:solidFill>
                            <a:srgbClr val="000000"/>
                          </a:solidFill>
                          <a:latin typeface="Tahoma"/>
                        </a:rPr>
                        <a:t>47%</a:t>
                      </a:r>
                    </a:p>
                  </a:txBody>
                  <a:tcPr anchor="ctr">
                    <a:solidFill>
                      <a:srgbClr val="E0E5F0"/>
                    </a:solidFill>
                  </a:tcPr>
                </a:tc>
              </a:tr>
              <a:tr h="2286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286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graphicFrame>
        <p:nvGraphicFramePr>
          <p:cNvPr id="23559" name="Table 2"/>
          <p:cNvGraphicFramePr>
            <a:graphicFrameLocks noGrp="1"/>
          </p:cNvGraphicFramePr>
          <p:nvPr/>
        </p:nvGraphicFramePr>
        <p:xfrm>
          <a:off x="457200" y="411480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254000">
                <a:tc>
                  <a:txBody>
                    <a:bodyPr/>
                    <a:lstStyle/>
                    <a:p>
                      <a:pPr algn="ctr"/>
                      <a:r>
                        <a:rPr sz="1200" b="1" i="0">
                          <a:solidFill>
                            <a:srgbClr val="FFFFFF"/>
                          </a:solidFill>
                          <a:latin typeface="Tahoma"/>
                        </a:rPr>
                        <a:t>Years Lived In Austin</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254000">
                <a:tc>
                  <a:txBody>
                    <a:bodyPr/>
                    <a:lstStyle/>
                    <a:p>
                      <a:pPr algn="l"/>
                      <a:r>
                        <a:rPr sz="1200" b="0" i="0">
                          <a:solidFill>
                            <a:srgbClr val="000000"/>
                          </a:solidFill>
                          <a:latin typeface="Tahoma"/>
                        </a:rPr>
                        <a:t>1 to 5 years</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6 to 10 years</a:t>
                      </a:r>
                    </a:p>
                  </a:txBody>
                  <a:tcPr anchor="ctr">
                    <a:solidFill>
                      <a:srgbClr val="E0E5F0"/>
                    </a:solidFill>
                  </a:tcPr>
                </a:tc>
                <a:tc>
                  <a:txBody>
                    <a:bodyPr/>
                    <a:lstStyle/>
                    <a:p>
                      <a:pPr algn="ctr"/>
                      <a:r>
                        <a:rPr sz="1200" b="0" i="0">
                          <a:solidFill>
                            <a:srgbClr val="000000"/>
                          </a:solidFill>
                          <a:latin typeface="Tahoma"/>
                        </a:rPr>
                        <a:t>4%</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254000">
                <a:tc>
                  <a:txBody>
                    <a:bodyPr/>
                    <a:lstStyle/>
                    <a:p>
                      <a:pPr algn="l"/>
                      <a:r>
                        <a:rPr sz="1200" b="0" i="0">
                          <a:solidFill>
                            <a:srgbClr val="000000"/>
                          </a:solidFill>
                          <a:latin typeface="Tahoma"/>
                        </a:rPr>
                        <a:t>11 to 15 years</a:t>
                      </a:r>
                    </a:p>
                  </a:txBody>
                  <a:tcPr anchor="ctr">
                    <a:solidFill>
                      <a:srgbClr val="E0E5F0"/>
                    </a:solidFill>
                  </a:tcPr>
                </a:tc>
                <a:tc>
                  <a:txBody>
                    <a:bodyPr/>
                    <a:lstStyle/>
                    <a:p>
                      <a:pPr algn="ctr"/>
                      <a:r>
                        <a:rPr sz="1200" b="0" i="0">
                          <a:solidFill>
                            <a:srgbClr val="000000"/>
                          </a:solidFill>
                          <a:latin typeface="Tahoma"/>
                        </a:rPr>
                        <a:t>9%</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c>
                  <a:txBody>
                    <a:bodyPr/>
                    <a:lstStyle/>
                    <a:p>
                      <a:pPr algn="ctr"/>
                      <a:r>
                        <a:rPr sz="1200" b="0" i="0">
                          <a:solidFill>
                            <a:srgbClr val="000000"/>
                          </a:solidFill>
                          <a:latin typeface="Tahoma"/>
                        </a:rPr>
                        <a:t>11%</a:t>
                      </a:r>
                    </a:p>
                  </a:txBody>
                  <a:tcPr anchor="ctr">
                    <a:solidFill>
                      <a:srgbClr val="E0E5F0"/>
                    </a:solidFill>
                  </a:tcPr>
                </a:tc>
                <a:tc>
                  <a:txBody>
                    <a:bodyPr/>
                    <a:lstStyle/>
                    <a:p>
                      <a:pPr algn="ctr"/>
                      <a:r>
                        <a:rPr sz="1200" b="0" i="0">
                          <a:solidFill>
                            <a:srgbClr val="000000"/>
                          </a:solidFill>
                          <a:latin typeface="Tahoma"/>
                        </a:rPr>
                        <a:t>13%</a:t>
                      </a:r>
                    </a:p>
                  </a:txBody>
                  <a:tcPr anchor="ctr">
                    <a:solidFill>
                      <a:srgbClr val="E0E5F0"/>
                    </a:solidFill>
                  </a:tcPr>
                </a:tc>
              </a:tr>
              <a:tr h="254000">
                <a:tc>
                  <a:txBody>
                    <a:bodyPr/>
                    <a:lstStyle/>
                    <a:p>
                      <a:pPr algn="l"/>
                      <a:r>
                        <a:rPr sz="1200" b="0" i="0">
                          <a:solidFill>
                            <a:srgbClr val="000000"/>
                          </a:solidFill>
                          <a:latin typeface="Tahoma"/>
                        </a:rPr>
                        <a:t>16 to 20 years</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More than 20 years</a:t>
                      </a:r>
                    </a:p>
                  </a:txBody>
                  <a:tcPr anchor="ctr">
                    <a:solidFill>
                      <a:srgbClr val="E0E5F0"/>
                    </a:solidFill>
                  </a:tcPr>
                </a:tc>
                <a:tc>
                  <a:txBody>
                    <a:bodyPr/>
                    <a:lstStyle/>
                    <a:p>
                      <a:pPr algn="ctr"/>
                      <a:r>
                        <a:rPr sz="1200" b="0" i="0">
                          <a:solidFill>
                            <a:srgbClr val="000000"/>
                          </a:solidFill>
                          <a:latin typeface="Tahoma"/>
                        </a:rPr>
                        <a:t>65%</a:t>
                      </a:r>
                    </a:p>
                  </a:txBody>
                  <a:tcPr anchor="ctr">
                    <a:solidFill>
                      <a:srgbClr val="E0E5F0"/>
                    </a:solidFill>
                  </a:tcPr>
                </a:tc>
                <a:tc>
                  <a:txBody>
                    <a:bodyPr/>
                    <a:lstStyle/>
                    <a:p>
                      <a:pPr algn="ctr"/>
                      <a:r>
                        <a:rPr sz="1200" b="0" i="0">
                          <a:solidFill>
                            <a:srgbClr val="000000"/>
                          </a:solidFill>
                          <a:latin typeface="Tahoma"/>
                        </a:rPr>
                        <a:t>65%</a:t>
                      </a:r>
                    </a:p>
                  </a:txBody>
                  <a:tcPr anchor="ctr">
                    <a:solidFill>
                      <a:srgbClr val="E0E5F0"/>
                    </a:solidFill>
                  </a:tcPr>
                </a:tc>
                <a:tc>
                  <a:txBody>
                    <a:bodyPr/>
                    <a:lstStyle/>
                    <a:p>
                      <a:pPr algn="ctr"/>
                      <a:r>
                        <a:rPr sz="1200" b="0" i="0">
                          <a:solidFill>
                            <a:srgbClr val="000000"/>
                          </a:solidFill>
                          <a:latin typeface="Tahoma"/>
                        </a:rPr>
                        <a:t>74%</a:t>
                      </a:r>
                    </a:p>
                  </a:txBody>
                  <a:tcPr anchor="ctr">
                    <a:solidFill>
                      <a:srgbClr val="E0E5F0"/>
                    </a:solidFill>
                  </a:tcPr>
                </a:tc>
                <a:tc>
                  <a:txBody>
                    <a:bodyPr/>
                    <a:lstStyle/>
                    <a:p>
                      <a:pPr algn="ctr"/>
                      <a:r>
                        <a:rPr sz="1200" b="0" i="0">
                          <a:solidFill>
                            <a:srgbClr val="000000"/>
                          </a:solidFill>
                          <a:latin typeface="Tahoma"/>
                        </a:rPr>
                        <a:t>80%</a:t>
                      </a:r>
                    </a:p>
                  </a:txBody>
                  <a:tcPr anchor="ctr">
                    <a:solidFill>
                      <a:srgbClr val="E0E5F0"/>
                    </a:solidFill>
                  </a:tcPr>
                </a:tc>
              </a:tr>
              <a:tr h="254000">
                <a:tc>
                  <a:txBody>
                    <a:bodyPr/>
                    <a:lstStyle/>
                    <a:p>
                      <a:pPr algn="l"/>
                      <a:r>
                        <a:rPr sz="1200" b="0" i="0">
                          <a:solidFill>
                            <a:srgbClr val="000000"/>
                          </a:solidFill>
                          <a:latin typeface="Tahoma"/>
                        </a:rPr>
                        <a:t>Prefer not to respond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0" i="0">
                          <a:solidFill>
                            <a:srgbClr val="000000"/>
                          </a:solidFill>
                          <a:latin typeface="Tahoma"/>
                        </a:rPr>
                        <a:t>Refused</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25400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45</a:t>
                      </a:r>
                    </a:p>
                  </a:txBody>
                  <a:tcPr anchor="ctr">
                    <a:solidFill>
                      <a:srgbClr val="5A80B8"/>
                    </a:solidFill>
                  </a:tcPr>
                </a:tc>
                <a:tc>
                  <a:txBody>
                    <a:bodyPr/>
                    <a:lstStyle/>
                    <a:p>
                      <a:pPr algn="ctr"/>
                      <a:r>
                        <a:rPr sz="1200" b="1" i="0">
                          <a:solidFill>
                            <a:srgbClr val="FFFFFF"/>
                          </a:solidFill>
                          <a:latin typeface="Tahoma"/>
                        </a:rPr>
                        <a:t>46</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3418297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57</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1"/>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42875">
                <a:tc>
                  <a:txBody>
                    <a:bodyPr/>
                    <a:lstStyle/>
                    <a:p>
                      <a:pPr algn="ctr"/>
                      <a:r>
                        <a:rPr sz="1200" b="1" i="0">
                          <a:solidFill>
                            <a:srgbClr val="FFFFFF"/>
                          </a:solidFill>
                          <a:latin typeface="Tahoma"/>
                        </a:rPr>
                        <a:t>Physical Health Not Good In the Past 30 Days</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142875">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53%</a:t>
                      </a:r>
                    </a:p>
                  </a:txBody>
                  <a:tcPr anchor="ctr">
                    <a:solidFill>
                      <a:srgbClr val="E0E5F0"/>
                    </a:solidFill>
                  </a:tcPr>
                </a:tc>
                <a:tc>
                  <a:txBody>
                    <a:bodyPr/>
                    <a:lstStyle/>
                    <a:p>
                      <a:pPr algn="ctr"/>
                      <a:r>
                        <a:rPr sz="1200" b="0" i="0">
                          <a:solidFill>
                            <a:srgbClr val="000000"/>
                          </a:solidFill>
                          <a:latin typeface="Tahoma"/>
                        </a:rPr>
                        <a:t>49%</a:t>
                      </a:r>
                    </a:p>
                  </a:txBody>
                  <a:tcPr anchor="ctr">
                    <a:solidFill>
                      <a:srgbClr val="E0E5F0"/>
                    </a:solidFill>
                  </a:tcPr>
                </a:tc>
                <a:tc>
                  <a:txBody>
                    <a:bodyPr/>
                    <a:lstStyle/>
                    <a:p>
                      <a:pPr algn="ctr"/>
                      <a:r>
                        <a:rPr sz="1200" b="0" i="0">
                          <a:solidFill>
                            <a:srgbClr val="000000"/>
                          </a:solidFill>
                          <a:latin typeface="Tahoma"/>
                        </a:rPr>
                        <a:t>61%</a:t>
                      </a:r>
                    </a:p>
                  </a:txBody>
                  <a:tcPr anchor="ctr">
                    <a:solidFill>
                      <a:srgbClr val="E0E5F0"/>
                    </a:solidFill>
                  </a:tcPr>
                </a:tc>
                <a:tc>
                  <a:txBody>
                    <a:bodyPr/>
                    <a:lstStyle/>
                    <a:p>
                      <a:pPr algn="ctr"/>
                      <a:r>
                        <a:rPr sz="1200" b="0" i="0">
                          <a:solidFill>
                            <a:srgbClr val="000000"/>
                          </a:solidFill>
                          <a:latin typeface="Tahoma"/>
                        </a:rPr>
                        <a:t>54%</a:t>
                      </a:r>
                    </a:p>
                  </a:txBody>
                  <a:tcPr anchor="ctr">
                    <a:solidFill>
                      <a:srgbClr val="E0E5F0"/>
                    </a:solidFill>
                  </a:tcPr>
                </a:tc>
              </a:tr>
              <a:tr h="142875">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17%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r>
              <a:tr h="142875">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142875">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15%</a:t>
                      </a:r>
                    </a:p>
                  </a:txBody>
                  <a:tcPr anchor="ctr">
                    <a:solidFill>
                      <a:srgbClr val="E0E5F0"/>
                    </a:solidFill>
                  </a:tcPr>
                </a:tc>
              </a:tr>
              <a:tr h="142875">
                <a:tc>
                  <a:txBody>
                    <a:bodyPr/>
                    <a:lstStyle/>
                    <a:p>
                      <a:pPr algn="l"/>
                      <a:r>
                        <a:rPr sz="1200" b="0" i="0">
                          <a:solidFill>
                            <a:srgbClr val="000000"/>
                          </a:solidFill>
                          <a:latin typeface="Tahoma"/>
                        </a:rPr>
                        <a:t>8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12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14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r>
              <a:tr h="142875">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21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25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16%</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42875">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41</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33313889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cs typeface="Geneva"/>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58</a:t>
            </a:fld>
            <a:endParaRPr lang="en-US" altLang="en-US" sz="1400"/>
          </a:p>
        </p:txBody>
      </p:sp>
      <p:sp>
        <p:nvSpPr>
          <p:cNvPr id="6" name="Text Box 9">
            <a:extLst>
              <a:ext uri="{FF2B5EF4-FFF2-40B4-BE49-F238E27FC236}">
                <a16:creationId xmlns:a16="http://schemas.microsoft.com/office/drawing/2014/main" id="{6D019F6C-3653-4DC9-9A8B-DF15F8956AB9}"/>
              </a:ext>
            </a:extLst>
          </p:cNvPr>
          <p:cNvSpPr txBox="1">
            <a:spLocks noChangeArrowheads="1"/>
          </p:cNvSpPr>
          <p:nvPr/>
        </p:nvSpPr>
        <p:spPr bwMode="auto">
          <a:xfrm>
            <a:off x="514655" y="1033626"/>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graphicFrame>
        <p:nvGraphicFramePr>
          <p:cNvPr id="23556" name="Table 2"/>
          <p:cNvGraphicFramePr>
            <a:graphicFrameLocks noGrp="1"/>
          </p:cNvGraphicFramePr>
          <p:nvPr/>
        </p:nvGraphicFramePr>
        <p:xfrm>
          <a:off x="457200" y="1554480"/>
          <a:ext cx="5943600" cy="2286000"/>
        </p:xfrm>
        <a:graphic>
          <a:graphicData uri="http://schemas.openxmlformats.org/drawingml/2006/table">
            <a:tbl>
              <a:tblPr firstRow="1" bandRow="1">
                <a:tableStyleId>{5C22544A-7EE6-4342-B048-85BDC9FD1C3A}</a:tableStyleId>
              </a:tblPr>
              <a:tblGrid>
                <a:gridCol w="1188720"/>
                <a:gridCol w="1188720"/>
                <a:gridCol w="1188720"/>
                <a:gridCol w="1188720"/>
                <a:gridCol w="1188720"/>
              </a:tblGrid>
              <a:tr h="134470">
                <a:tc>
                  <a:txBody>
                    <a:bodyPr/>
                    <a:lstStyle/>
                    <a:p>
                      <a:pPr algn="ctr"/>
                      <a:r>
                        <a:rPr sz="1200" b="1" i="0">
                          <a:solidFill>
                            <a:srgbClr val="FFFFFF"/>
                          </a:solidFill>
                          <a:latin typeface="Tahoma"/>
                        </a:rPr>
                        <a:t>Mental Health Not Good In the Past 30 Days</a:t>
                      </a:r>
                    </a:p>
                  </a:txBody>
                  <a:tcPr anchor="ctr">
                    <a:solidFill>
                      <a:srgbClr val="5A80B8"/>
                    </a:solidFill>
                  </a:tcPr>
                </a:tc>
                <a:tc>
                  <a:txBody>
                    <a:bodyPr/>
                    <a:lstStyle/>
                    <a:p>
                      <a:pPr algn="ctr"/>
                      <a:r>
                        <a:rPr sz="1200" b="1" i="0">
                          <a:solidFill>
                            <a:srgbClr val="FFFFFF"/>
                          </a:solidFill>
                          <a:latin typeface="Tahoma"/>
                        </a:rPr>
                        <a:t>Q1 2025</a:t>
                      </a:r>
                    </a:p>
                  </a:txBody>
                  <a:tcPr anchor="ctr">
                    <a:solidFill>
                      <a:srgbClr val="5A80B8"/>
                    </a:solidFill>
                  </a:tcPr>
                </a:tc>
                <a:tc>
                  <a:txBody>
                    <a:bodyPr/>
                    <a:lstStyle/>
                    <a:p>
                      <a:pPr algn="ctr"/>
                      <a:r>
                        <a:rPr sz="1200" b="1" i="0">
                          <a:solidFill>
                            <a:srgbClr val="FFFFFF"/>
                          </a:solidFill>
                          <a:latin typeface="Tahoma"/>
                        </a:rPr>
                        <a:t>Q2 2025</a:t>
                      </a:r>
                    </a:p>
                  </a:txBody>
                  <a:tcPr anchor="ctr">
                    <a:solidFill>
                      <a:srgbClr val="5A80B8"/>
                    </a:solidFill>
                  </a:tcPr>
                </a:tc>
                <a:tc>
                  <a:txBody>
                    <a:bodyPr/>
                    <a:lstStyle/>
                    <a:p>
                      <a:pPr algn="ctr"/>
                      <a:r>
                        <a:rPr sz="1200" b="1" i="0">
                          <a:solidFill>
                            <a:srgbClr val="FFFFFF"/>
                          </a:solidFill>
                          <a:latin typeface="Tahoma"/>
                        </a:rPr>
                        <a:t>Q3 2025</a:t>
                      </a:r>
                    </a:p>
                  </a:txBody>
                  <a:tcPr anchor="ctr">
                    <a:solidFill>
                      <a:srgbClr val="5A80B8"/>
                    </a:solidFill>
                  </a:tcPr>
                </a:tc>
                <a:tc>
                  <a:txBody>
                    <a:bodyPr/>
                    <a:lstStyle/>
                    <a:p>
                      <a:pPr algn="ctr"/>
                      <a:r>
                        <a:rPr sz="1200" b="1" i="0">
                          <a:solidFill>
                            <a:srgbClr val="FFFFFF"/>
                          </a:solidFill>
                          <a:latin typeface="Tahoma"/>
                        </a:rPr>
                        <a:t>Q4 2025</a:t>
                      </a:r>
                    </a:p>
                  </a:txBody>
                  <a:tcPr anchor="ctr">
                    <a:solidFill>
                      <a:srgbClr val="5A80B8"/>
                    </a:solidFill>
                  </a:tcPr>
                </a:tc>
              </a:tr>
              <a:tr h="134470">
                <a:tc>
                  <a:txBody>
                    <a:bodyPr/>
                    <a:lstStyle/>
                    <a:p>
                      <a:pPr algn="l"/>
                      <a:r>
                        <a:rPr sz="1200" b="0" i="0">
                          <a:solidFill>
                            <a:srgbClr val="000000"/>
                          </a:solidFill>
                          <a:latin typeface="Tahoma"/>
                        </a:rPr>
                        <a:t>0 times</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tc>
                  <a:txBody>
                    <a:bodyPr/>
                    <a:lstStyle/>
                    <a:p>
                      <a:pPr algn="ctr"/>
                      <a:r>
                        <a:rPr sz="1200" b="0" i="0">
                          <a:solidFill>
                            <a:srgbClr val="000000"/>
                          </a:solidFill>
                          <a:latin typeface="Tahoma"/>
                        </a:rPr>
                        <a:t>61%</a:t>
                      </a:r>
                    </a:p>
                  </a:txBody>
                  <a:tcPr anchor="ctr">
                    <a:solidFill>
                      <a:srgbClr val="E0E5F0"/>
                    </a:solidFill>
                  </a:tcPr>
                </a:tc>
                <a:tc>
                  <a:txBody>
                    <a:bodyPr/>
                    <a:lstStyle/>
                    <a:p>
                      <a:pPr algn="ctr"/>
                      <a:r>
                        <a:rPr sz="1200" b="0" i="0">
                          <a:solidFill>
                            <a:srgbClr val="000000"/>
                          </a:solidFill>
                          <a:latin typeface="Tahoma"/>
                        </a:rPr>
                        <a:t>62%</a:t>
                      </a:r>
                    </a:p>
                  </a:txBody>
                  <a:tcPr anchor="ctr">
                    <a:solidFill>
                      <a:srgbClr val="E0E5F0"/>
                    </a:solidFill>
                  </a:tcPr>
                </a:tc>
                <a:tc>
                  <a:txBody>
                    <a:bodyPr/>
                    <a:lstStyle/>
                    <a:p>
                      <a:pPr algn="ctr"/>
                      <a:r>
                        <a:rPr sz="1200" b="0" i="0">
                          <a:solidFill>
                            <a:srgbClr val="000000"/>
                          </a:solidFill>
                          <a:latin typeface="Tahoma"/>
                        </a:rPr>
                        <a:t>71%</a:t>
                      </a:r>
                    </a:p>
                  </a:txBody>
                  <a:tcPr anchor="ctr">
                    <a:solidFill>
                      <a:srgbClr val="E0E5F0"/>
                    </a:solidFill>
                  </a:tcPr>
                </a:tc>
              </a:tr>
              <a:tr h="134470">
                <a:tc>
                  <a:txBody>
                    <a:bodyPr/>
                    <a:lstStyle/>
                    <a:p>
                      <a:pPr algn="l"/>
                      <a:r>
                        <a:rPr sz="1200" b="0" i="0">
                          <a:solidFill>
                            <a:srgbClr val="000000"/>
                          </a:solidFill>
                          <a:latin typeface="Tahoma"/>
                        </a:rPr>
                        <a:t>1 time</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2 times</a:t>
                      </a:r>
                    </a:p>
                  </a:txBody>
                  <a:tcPr anchor="ctr">
                    <a:solidFill>
                      <a:srgbClr val="E0E5F0"/>
                    </a:solidFill>
                  </a:tcPr>
                </a:tc>
                <a:tc>
                  <a:txBody>
                    <a:bodyPr/>
                    <a:lstStyle/>
                    <a:p>
                      <a:pPr algn="ctr"/>
                      <a:r>
                        <a:rPr sz="1200" b="0" i="0">
                          <a:solidFill>
                            <a:srgbClr val="000000"/>
                          </a:solidFill>
                          <a:latin typeface="Tahoma"/>
                        </a:rPr>
                        <a:t>8%</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34470">
                <a:tc>
                  <a:txBody>
                    <a:bodyPr/>
                    <a:lstStyle/>
                    <a:p>
                      <a:pPr algn="l"/>
                      <a:r>
                        <a:rPr sz="1200" b="0" i="0">
                          <a:solidFill>
                            <a:srgbClr val="000000"/>
                          </a:solidFill>
                          <a:latin typeface="Tahoma"/>
                        </a:rPr>
                        <a:t>3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34470">
                <a:tc>
                  <a:txBody>
                    <a:bodyPr/>
                    <a:lstStyle/>
                    <a:p>
                      <a:pPr algn="l"/>
                      <a:r>
                        <a:rPr sz="1200" b="0" i="0">
                          <a:solidFill>
                            <a:srgbClr val="000000"/>
                          </a:solidFill>
                          <a:latin typeface="Tahoma"/>
                        </a:rPr>
                        <a:t>4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5 times</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2%</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34470">
                <a:tc>
                  <a:txBody>
                    <a:bodyPr/>
                    <a:lstStyle/>
                    <a:p>
                      <a:pPr algn="l"/>
                      <a:r>
                        <a:rPr sz="1200" b="0" i="0">
                          <a:solidFill>
                            <a:srgbClr val="000000"/>
                          </a:solidFill>
                          <a:latin typeface="Tahoma"/>
                        </a:rPr>
                        <a:t>6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7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9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10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14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r>
              <a:tr h="134470">
                <a:tc>
                  <a:txBody>
                    <a:bodyPr/>
                    <a:lstStyle/>
                    <a:p>
                      <a:pPr algn="l"/>
                      <a:r>
                        <a:rPr sz="1200" b="0" i="0">
                          <a:solidFill>
                            <a:srgbClr val="000000"/>
                          </a:solidFill>
                          <a:latin typeface="Tahoma"/>
                        </a:rPr>
                        <a:t>15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20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5%</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29 times</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70">
                <a:tc>
                  <a:txBody>
                    <a:bodyPr/>
                    <a:lstStyle/>
                    <a:p>
                      <a:pPr algn="l"/>
                      <a:r>
                        <a:rPr sz="1200" b="0" i="0">
                          <a:solidFill>
                            <a:srgbClr val="000000"/>
                          </a:solidFill>
                          <a:latin typeface="Tahoma"/>
                        </a:rPr>
                        <a:t>30 times</a:t>
                      </a:r>
                    </a:p>
                  </a:txBody>
                  <a:tcPr anchor="ctr">
                    <a:solidFill>
                      <a:srgbClr val="E0E5F0"/>
                    </a:solidFill>
                  </a:tcPr>
                </a:tc>
                <a:tc>
                  <a:txBody>
                    <a:bodyPr/>
                    <a:lstStyle/>
                    <a:p>
                      <a:pPr algn="ctr"/>
                      <a:r>
                        <a:rPr sz="1200" b="0" i="0">
                          <a:solidFill>
                            <a:srgbClr val="000000"/>
                          </a:solidFill>
                          <a:latin typeface="Tahoma"/>
                        </a:rPr>
                        <a:t>3%</a:t>
                      </a:r>
                    </a:p>
                  </a:txBody>
                  <a:tcPr anchor="ctr">
                    <a:solidFill>
                      <a:srgbClr val="E0E5F0"/>
                    </a:solidFill>
                  </a:tcPr>
                </a:tc>
                <a:tc>
                  <a:txBody>
                    <a:bodyPr/>
                    <a:lstStyle/>
                    <a:p>
                      <a:pPr algn="ctr"/>
                      <a:r>
                        <a:rPr sz="1200" b="0" i="0">
                          <a:solidFill>
                            <a:srgbClr val="000000"/>
                          </a:solidFill>
                          <a:latin typeface="Tahoma"/>
                        </a:rPr>
                        <a:t>10%</a:t>
                      </a:r>
                    </a:p>
                  </a:txBody>
                  <a:tcPr anchor="ctr">
                    <a:solidFill>
                      <a:srgbClr val="E0E5F0"/>
                    </a:solidFill>
                  </a:tcPr>
                </a:tc>
                <a:tc>
                  <a:txBody>
                    <a:bodyPr/>
                    <a:lstStyle/>
                    <a:p>
                      <a:pPr algn="ctr"/>
                      <a:r>
                        <a:rPr sz="1200" b="0" i="0">
                          <a:solidFill>
                            <a:srgbClr val="000000"/>
                          </a:solidFill>
                          <a:latin typeface="Tahoma"/>
                        </a:rPr>
                        <a:t>7%</a:t>
                      </a:r>
                    </a:p>
                  </a:txBody>
                  <a:tcPr anchor="ctr">
                    <a:solidFill>
                      <a:srgbClr val="E0E5F0"/>
                    </a:solidFill>
                  </a:tcPr>
                </a:tc>
                <a:tc>
                  <a:txBody>
                    <a:bodyPr/>
                    <a:lstStyle/>
                    <a:p>
                      <a:pPr algn="ctr"/>
                      <a:r>
                        <a:rPr sz="1200" b="0" i="0">
                          <a:solidFill>
                            <a:srgbClr val="000000"/>
                          </a:solidFill>
                          <a:latin typeface="Tahoma"/>
                        </a:rPr>
                        <a:t>0%</a:t>
                      </a:r>
                    </a:p>
                  </a:txBody>
                  <a:tcPr anchor="ctr">
                    <a:solidFill>
                      <a:srgbClr val="E0E5F0"/>
                    </a:solidFill>
                  </a:tcPr>
                </a:tc>
              </a:tr>
              <a:tr h="134480">
                <a:tc>
                  <a:txBody>
                    <a:bodyPr/>
                    <a:lstStyle/>
                    <a:p>
                      <a:pPr algn="l"/>
                      <a:r>
                        <a:rPr sz="1200" b="1" i="0">
                          <a:solidFill>
                            <a:srgbClr val="FFFFFF"/>
                          </a:solidFill>
                          <a:latin typeface="Tahoma"/>
                        </a:rPr>
                        <a:t>Base:</a:t>
                      </a:r>
                    </a:p>
                  </a:txBody>
                  <a:tcPr anchor="ctr">
                    <a:solidFill>
                      <a:srgbClr val="5A80B8"/>
                    </a:solidFill>
                  </a:tcPr>
                </a:tc>
                <a:tc>
                  <a:txBody>
                    <a:bodyPr/>
                    <a:lstStyle/>
                    <a:p>
                      <a:pPr algn="ctr"/>
                      <a:r>
                        <a:rPr sz="1200" b="1" i="0">
                          <a:solidFill>
                            <a:srgbClr val="FFFFFF"/>
                          </a:solidFill>
                          <a:latin typeface="Tahoma"/>
                        </a:rPr>
                        <a:t>39</a:t>
                      </a:r>
                    </a:p>
                  </a:txBody>
                  <a:tcPr anchor="ctr">
                    <a:solidFill>
                      <a:srgbClr val="5A80B8"/>
                    </a:solidFill>
                  </a:tcPr>
                </a:tc>
                <a:tc>
                  <a:txBody>
                    <a:bodyPr/>
                    <a:lstStyle/>
                    <a:p>
                      <a:pPr algn="ctr"/>
                      <a:r>
                        <a:rPr sz="1200" b="1" i="0">
                          <a:solidFill>
                            <a:srgbClr val="FFFFFF"/>
                          </a:solidFill>
                          <a:latin typeface="Tahoma"/>
                        </a:rPr>
                        <a:t>41</a:t>
                      </a:r>
                    </a:p>
                  </a:txBody>
                  <a:tcPr anchor="ctr">
                    <a:solidFill>
                      <a:srgbClr val="5A80B8"/>
                    </a:solidFill>
                  </a:tcPr>
                </a:tc>
                <a:tc>
                  <a:txBody>
                    <a:bodyPr/>
                    <a:lstStyle/>
                    <a:p>
                      <a:pPr algn="ctr"/>
                      <a:r>
                        <a:rPr sz="1200" b="1" i="0">
                          <a:solidFill>
                            <a:srgbClr val="FFFFFF"/>
                          </a:solidFill>
                          <a:latin typeface="Tahoma"/>
                        </a:rPr>
                        <a:t>38</a:t>
                      </a:r>
                    </a:p>
                  </a:txBody>
                  <a:tcPr anchor="ctr">
                    <a:solidFill>
                      <a:srgbClr val="5A80B8"/>
                    </a:solidFill>
                  </a:tcPr>
                </a:tc>
                <a:tc>
                  <a:txBody>
                    <a:bodyPr/>
                    <a:lstStyle/>
                    <a:p>
                      <a:pPr algn="ctr"/>
                      <a:r>
                        <a:rPr sz="1200" b="1" i="0">
                          <a:solidFill>
                            <a:srgbClr val="FFFFFF"/>
                          </a:solidFill>
                          <a:latin typeface="Tahoma"/>
                        </a:rPr>
                        <a:t>15</a:t>
                      </a:r>
                    </a:p>
                  </a:txBody>
                  <a:tcPr anchor="ctr">
                    <a:solidFill>
                      <a:srgbClr val="5A80B8"/>
                    </a:solidFill>
                  </a:tcPr>
                </a:tc>
              </a:tr>
            </a:tbl>
          </a:graphicData>
        </a:graphic>
      </p:graphicFrame>
    </p:spTree>
    <p:extLst>
      <p:ext uri="{BB962C8B-B14F-4D97-AF65-F5344CB8AC3E}">
        <p14:creationId xmlns:p14="http://schemas.microsoft.com/office/powerpoint/2010/main" val="15876760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Demographics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59</a:t>
            </a:fld>
            <a:endParaRPr lang="en-US" altLang="en-US" sz="1400"/>
          </a:p>
        </p:txBody>
      </p:sp>
      <p:sp>
        <p:nvSpPr>
          <p:cNvPr id="9" name="Text Box 6"/>
          <p:cNvSpPr txBox="1">
            <a:spLocks noChangeArrowheads="1"/>
          </p:cNvSpPr>
          <p:nvPr/>
        </p:nvSpPr>
        <p:spPr bwMode="auto">
          <a:xfrm>
            <a:off x="-36443" y="8397323"/>
            <a:ext cx="62657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US" sz="1100">
                <a:latin typeface="+mn-lt"/>
                <a:ea typeface="ＭＳ Ｐゴシック" charset="-128"/>
              </a:rPr>
              <a:t>D8. In general, which of the following describes your health?</a:t>
            </a:r>
          </a:p>
        </p:txBody>
      </p:sp>
      <p:graphicFrame>
        <p:nvGraphicFramePr>
          <p:cNvPr id="3" name="Chart 6"/>
          <p:cNvGraphicFramePr>
            <a:graphicFrameLocks/>
          </p:cNvGraphicFramePr>
          <p:nvPr>
            <p:extLst>
              <p:ext uri="{D42A27DB-BD31-4B8C-83A1-F6EECF244321}">
                <p14:modId xmlns:p14="http://schemas.microsoft.com/office/powerpoint/2010/main" val="3481043043"/>
              </p:ext>
            </p:extLst>
          </p:nvPr>
        </p:nvGraphicFramePr>
        <p:xfrm>
          <a:off x="50800" y="1521023"/>
          <a:ext cx="6756400" cy="489585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Box 9">
            <a:extLst>
              <a:ext uri="{FF2B5EF4-FFF2-40B4-BE49-F238E27FC236}">
                <a16:creationId xmlns:a16="http://schemas.microsoft.com/office/drawing/2014/main" id="{B9AD7EDA-9E08-4B7B-9374-EB151C8D76CC}"/>
              </a:ext>
            </a:extLst>
          </p:cNvPr>
          <p:cNvSpPr txBox="1">
            <a:spLocks noChangeArrowheads="1"/>
          </p:cNvSpPr>
          <p:nvPr/>
        </p:nvSpPr>
        <p:spPr bwMode="auto">
          <a:xfrm>
            <a:off x="514655" y="1033790"/>
            <a:ext cx="588614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100">
                <a:latin typeface="+mj-lt"/>
              </a:rPr>
              <a:t>Note: New question asked in Q3_2019.</a:t>
            </a:r>
            <a:endParaRPr lang="en-US" sz="1100">
              <a:latin typeface="+mj-lt"/>
              <a:cs typeface="Helvetica"/>
            </a:endParaRPr>
          </a:p>
        </p:txBody>
      </p:sp>
      <p:sp>
        <p:nvSpPr>
          <p:cNvPr id="2" name="TextBox 1">
            <a:extLst>
              <a:ext uri="{FF2B5EF4-FFF2-40B4-BE49-F238E27FC236}">
                <a16:creationId xmlns:a16="http://schemas.microsoft.com/office/drawing/2014/main" id="{7975BBDD-AFD7-AB44-82B5-472A7D418D5D}"/>
              </a:ext>
            </a:extLst>
          </p:cNvPr>
          <p:cNvSpPr txBox="1"/>
          <p:nvPr/>
        </p:nvSpPr>
        <p:spPr>
          <a:xfrm>
            <a:off x="1543050" y="1384671"/>
            <a:ext cx="3771900" cy="338554"/>
          </a:xfrm>
          <a:prstGeom prst="rect">
            <a:avLst/>
          </a:prstGeom>
          <a:noFill/>
        </p:spPr>
        <p:txBody>
          <a:bodyPr wrap="square" rtlCol="0">
            <a:spAutoFit/>
          </a:bodyPr>
          <a:lstStyle/>
          <a:p>
            <a:pPr algn="ctr"/>
            <a:r>
              <a:rPr lang="en-US" sz="1600"/>
              <a:t>How would you describe your health?</a:t>
            </a:r>
          </a:p>
        </p:txBody>
      </p:sp>
    </p:spTree>
    <p:extLst>
      <p:ext uri="{BB962C8B-B14F-4D97-AF65-F5344CB8AC3E}">
        <p14:creationId xmlns:p14="http://schemas.microsoft.com/office/powerpoint/2010/main" val="15135797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cs typeface="Geneva" charset="0"/>
              </a:rPr>
              <a:t>Methodology</a:t>
            </a:r>
            <a:endParaRPr lang="en-US" altLang="en-US"/>
          </a:p>
        </p:txBody>
      </p:sp>
      <p:sp>
        <p:nvSpPr>
          <p:cNvPr id="22531"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C4BA1BC5-BEE8-4DD2-BE40-F4F3961136E2}" type="slidenum">
              <a:rPr lang="en-US" altLang="en-US" sz="1400" smtClean="0"/>
              <a:pPr>
                <a:spcBef>
                  <a:spcPct val="0"/>
                </a:spcBef>
                <a:buFontTx/>
                <a:buNone/>
              </a:pPr>
              <a:t>60</a:t>
            </a:fld>
            <a:endParaRPr lang="en-US" altLang="en-US" sz="1400"/>
          </a:p>
        </p:txBody>
      </p:sp>
      <p:sp>
        <p:nvSpPr>
          <p:cNvPr id="22532" name="Rectangle 3"/>
          <p:cNvSpPr>
            <a:spLocks noGrp="1" noChangeArrowheads="1"/>
          </p:cNvSpPr>
          <p:nvPr>
            <p:ph type="body" idx="1"/>
          </p:nvPr>
        </p:nvSpPr>
        <p:spPr>
          <a:xfrm>
            <a:off x="419100" y="1219200"/>
            <a:ext cx="6019800" cy="4916354"/>
          </a:xfrm>
        </p:spPr>
        <p:txBody>
          <a:bodyPr/>
          <a:lstStyle/>
          <a:p>
            <a:r>
              <a:rPr lang="en-US" sz="1800" dirty="0">
                <a:cs typeface="Tahoma"/>
              </a:rPr>
              <a:t>Creative Consumer Research (CCR) mailed an invitation to complete the survey online to Low Income Weatherization customers. This invitation included a $1 bill.</a:t>
            </a:r>
            <a:endParaRPr lang="en-US" dirty="0">
              <a:cs typeface="Tahoma"/>
            </a:endParaRPr>
          </a:p>
          <a:p>
            <a:r>
              <a:rPr lang="en-US" sz="1800" dirty="0">
                <a:ea typeface="Tahoma"/>
                <a:cs typeface="Tahoma"/>
              </a:rPr>
              <a:t>Of those who received an invitation, 38 contacts completed the survey, and the average survey length was 17 minutes.</a:t>
            </a:r>
            <a:endParaRPr lang="en-US" dirty="0">
              <a:ea typeface="Tahoma"/>
              <a:cs typeface="Tahoma"/>
            </a:endParaRPr>
          </a:p>
          <a:p>
            <a:pPr>
              <a:spcBef>
                <a:spcPts val="600"/>
              </a:spcBef>
            </a:pPr>
            <a:r>
              <a:rPr lang="en-US" altLang="en-US" sz="1800" dirty="0">
                <a:ea typeface="Geneva"/>
                <a:cs typeface="Geneva"/>
              </a:rPr>
              <a:t>Throughout this report there are instances where, for a variety of reasons, respondents did not answer a question, which resulted in very small base sizes. The tables containing low base sizes are reported as the number of respondents answering the questions, not the percentage.</a:t>
            </a:r>
          </a:p>
          <a:p>
            <a:pPr>
              <a:spcBef>
                <a:spcPts val="600"/>
              </a:spcBef>
            </a:pPr>
            <a:r>
              <a:rPr lang="en-US" altLang="en-US" sz="1800" dirty="0">
                <a:ea typeface="Geneva"/>
                <a:cs typeface="Geneva"/>
              </a:rPr>
              <a:t>For reference throughout the report, a ‘Top Box’ score is the percentage of ‘8’, ‘9’, and ‘10’ scores on a </a:t>
            </a:r>
            <a:br>
              <a:rPr lang="en-US" altLang="en-US" sz="1800" dirty="0">
                <a:ea typeface="Geneva"/>
                <a:cs typeface="Geneva"/>
              </a:rPr>
            </a:br>
            <a:r>
              <a:rPr lang="en-US" altLang="en-US" sz="1800" dirty="0">
                <a:ea typeface="Geneva"/>
                <a:cs typeface="Geneva"/>
              </a:rPr>
              <a:t>10-point scale.</a:t>
            </a:r>
          </a:p>
          <a:p>
            <a:pPr marL="0" indent="0">
              <a:buNone/>
            </a:pPr>
            <a:r>
              <a:rPr lang="en-US" altLang="en-US" sz="1800" dirty="0">
                <a:ea typeface="Geneva"/>
                <a:cs typeface="Geneva"/>
              </a:rPr>
              <a:t> </a:t>
            </a:r>
          </a:p>
          <a:p>
            <a:endParaRPr lang="en-US" altLang="en-US" sz="1800" dirty="0">
              <a:ea typeface="Geneva"/>
              <a:cs typeface="Geneva"/>
            </a:endParaRPr>
          </a:p>
          <a:p>
            <a:pPr marL="0" indent="0">
              <a:buNone/>
            </a:pPr>
            <a:endParaRPr lang="en-US" altLang="en-US" sz="1800" dirty="0">
              <a:ea typeface="MS PGothic" panose="020B0600070205080204" pitchFamily="34" charset="-128"/>
            </a:endParaRPr>
          </a:p>
          <a:p>
            <a:pPr marL="0" indent="0">
              <a:buNone/>
            </a:pPr>
            <a:endParaRPr lang="en-US" altLang="en-US" sz="1800" dirty="0">
              <a:ea typeface="MS PGothic" panose="020B0600070205080204" pitchFamily="34" charset="-128"/>
              <a:cs typeface="Geneva"/>
            </a:endParaRPr>
          </a:p>
        </p:txBody>
      </p:sp>
    </p:spTree>
    <p:extLst>
      <p:ext uri="{BB962C8B-B14F-4D97-AF65-F5344CB8AC3E}">
        <p14:creationId xmlns:p14="http://schemas.microsoft.com/office/powerpoint/2010/main" val="17274110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ea typeface="MS PGothic" panose="020B0600070205080204" pitchFamily="34" charset="-128"/>
              </a:rPr>
              <a:t>Contact Us</a:t>
            </a:r>
            <a:endParaRPr lang="en-US" altLang="en-US"/>
          </a:p>
        </p:txBody>
      </p:sp>
      <p:sp>
        <p:nvSpPr>
          <p:cNvPr id="23555" name="Slide Number Placeholder 7"/>
          <p:cNvSpPr>
            <a:spLocks noGrp="1"/>
          </p:cNvSpPr>
          <p:nvPr>
            <p:ph type="sldNum" sz="quarter" idx="12"/>
          </p:nvPr>
        </p:nvSpPr>
        <p:spPr>
          <a:noFill/>
        </p:spPr>
        <p:txBody>
          <a:bodyPr/>
          <a:lstStyle>
            <a:lvl1pPr>
              <a:spcBef>
                <a:spcPct val="20000"/>
              </a:spcBef>
              <a:buChar char="•"/>
              <a:defRPr sz="1600">
                <a:solidFill>
                  <a:schemeClr val="tx1"/>
                </a:solidFill>
                <a:latin typeface="Tahoma" panose="020B0604030504040204" pitchFamily="34" charset="0"/>
              </a:defRPr>
            </a:lvl1pPr>
            <a:lvl2pPr marL="742950" indent="-285750">
              <a:spcBef>
                <a:spcPct val="20000"/>
              </a:spcBef>
              <a:buChar char="–"/>
              <a:defRPr sz="1400">
                <a:solidFill>
                  <a:schemeClr val="tx1"/>
                </a:solidFill>
                <a:latin typeface="Tahoma" panose="020B0604030504040204" pitchFamily="34" charset="0"/>
              </a:defRPr>
            </a:lvl2pPr>
            <a:lvl3pPr marL="1143000" indent="-228600">
              <a:spcBef>
                <a:spcPct val="20000"/>
              </a:spcBef>
              <a:buChar char="•"/>
              <a:defRPr sz="12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17699D5-621E-4864-8F0F-9AFA162DB490}" type="slidenum">
              <a:rPr lang="en-US" altLang="en-US" sz="1400" smtClean="0"/>
              <a:pPr>
                <a:spcBef>
                  <a:spcPct val="0"/>
                </a:spcBef>
                <a:buFontTx/>
                <a:buNone/>
              </a:pPr>
              <a:t>61</a:t>
            </a:fld>
            <a:endParaRPr lang="en-US" altLang="en-US" sz="1400"/>
          </a:p>
        </p:txBody>
      </p:sp>
      <p:sp>
        <p:nvSpPr>
          <p:cNvPr id="7" name="Rectangle 3"/>
          <p:cNvSpPr>
            <a:spLocks noGrp="1" noChangeArrowheads="1"/>
          </p:cNvSpPr>
          <p:nvPr>
            <p:ph type="body" idx="1"/>
          </p:nvPr>
        </p:nvSpPr>
        <p:spPr>
          <a:xfrm>
            <a:off x="361950" y="2990850"/>
            <a:ext cx="6134100" cy="3162300"/>
          </a:xfrm>
        </p:spPr>
        <p:txBody>
          <a:bodyPr anchor="ctr"/>
          <a:lstStyle/>
          <a:p>
            <a:pPr algn="ctr" eaLnBrk="1" hangingPunct="1">
              <a:buClr>
                <a:srgbClr val="353535"/>
              </a:buClr>
              <a:buFontTx/>
              <a:buNone/>
            </a:pP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 Kennedy</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Brian.Kennedy@austinenergy.com</a:t>
            </a:r>
            <a:br>
              <a:rPr lang="en-US" altLang="en-US" sz="2200">
                <a:latin typeface="Helvetica" panose="020B0604020202020204" pitchFamily="34" charset="0"/>
                <a:cs typeface="Helvetica" panose="020B0604020202020204" pitchFamily="34" charset="0"/>
              </a:rPr>
            </a:br>
            <a:r>
              <a:rPr lang="en-US" altLang="en-US" sz="2200">
                <a:latin typeface="Helvetica" panose="020B0604020202020204" pitchFamily="34" charset="0"/>
                <a:cs typeface="Helvetica" panose="020B0604020202020204" pitchFamily="34" charset="0"/>
              </a:rPr>
              <a:t>512-322-6053</a:t>
            </a:r>
          </a:p>
        </p:txBody>
      </p:sp>
    </p:spTree>
    <p:extLst>
      <p:ext uri="{BB962C8B-B14F-4D97-AF65-F5344CB8AC3E}">
        <p14:creationId xmlns:p14="http://schemas.microsoft.com/office/powerpoint/2010/main" val="357595772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B65558C4126594098843BB8409C1AC7" ma:contentTypeVersion="7" ma:contentTypeDescription="Create a new document." ma:contentTypeScope="" ma:versionID="3752edeb00482d7ee82ad143f51a55ad">
  <xsd:schema xmlns:xsd="http://www.w3.org/2001/XMLSchema" xmlns:xs="http://www.w3.org/2001/XMLSchema" xmlns:p="http://schemas.microsoft.com/office/2006/metadata/properties" xmlns:ns3="a1993117-620a-45ca-b1ce-648217e8dca2" xmlns:ns4="1cfa4720-0a9b-4001-ba70-f0bfcb19b73b" targetNamespace="http://schemas.microsoft.com/office/2006/metadata/properties" ma:root="true" ma:fieldsID="0e3ddd33553d45c3c2d459412a9171c4" ns3:_="" ns4:_="">
    <xsd:import namespace="a1993117-620a-45ca-b1ce-648217e8dca2"/>
    <xsd:import namespace="1cfa4720-0a9b-4001-ba70-f0bfcb19b73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993117-620a-45ca-b1ce-648217e8dc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fa4720-0a9b-4001-ba70-f0bfcb19b73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4F1C09-2BBC-44B7-BCE1-32D172598C3D}">
  <ds:schemaRefs>
    <ds:schemaRef ds:uri="1cfa4720-0a9b-4001-ba70-f0bfcb19b73b"/>
    <ds:schemaRef ds:uri="a1993117-620a-45ca-b1ce-648217e8dc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DFEB8F1-3F6B-4FFF-B0A9-DF70FE4F0C2E}">
  <ds:schemaRefs>
    <ds:schemaRef ds:uri="1cfa4720-0a9b-4001-ba70-f0bfcb19b73b"/>
    <ds:schemaRef ds:uri="a1993117-620a-45ca-b1ce-648217e8dc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0D050B2-3251-403C-968B-F8C9227395F9}">
  <ds:schemaRefs>
    <ds:schemaRef ds:uri="http://schemas.microsoft.com/sharepoint/v3/contenttype/forms"/>
  </ds:schemaRefs>
</ds:datastoreItem>
</file>

<file path=docMetadata/LabelInfo.xml><?xml version="1.0" encoding="utf-8"?>
<clbl:labelList xmlns:clbl="http://schemas.microsoft.com/office/2020/mipLabelMetadata">
  <clbl:label id="{d08aee54-23a1-44bc-928c-69bab9445b32}" enabled="0" method="" siteId="{d08aee54-23a1-44bc-928c-69bab9445b32}" removed="1"/>
</clbl:labelList>
</file>

<file path=docProps/app.xml><?xml version="1.0" encoding="utf-8"?>
<Properties xmlns="http://schemas.openxmlformats.org/officeDocument/2006/extended-properties" xmlns:vt="http://schemas.openxmlformats.org/officeDocument/2006/docPropsVTypes">
  <Template/>
  <TotalTime>3223</TotalTime>
  <Words>4984</Words>
  <Application>Microsoft Macintosh PowerPoint</Application>
  <PresentationFormat>On-screen Show (4:3)</PresentationFormat>
  <Paragraphs>1393</Paragraphs>
  <Slides>61</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MS PGothic</vt:lpstr>
      <vt:lpstr>MS PGothic</vt:lpstr>
      <vt:lpstr>Arial</vt:lpstr>
      <vt:lpstr>Geneva</vt:lpstr>
      <vt:lpstr>Helvetica</vt:lpstr>
      <vt:lpstr>Tahoma</vt:lpstr>
      <vt:lpstr>Times New Roman</vt:lpstr>
      <vt:lpstr>Univers 49 Light Ultra Condense</vt:lpstr>
      <vt:lpstr>Default Design</vt:lpstr>
      <vt:lpstr>Low Income Weatherization Survey
FY2025 Q3
   December 2025</vt:lpstr>
      <vt:lpstr>Key Takeaway</vt:lpstr>
      <vt:lpstr>Summary</vt:lpstr>
      <vt:lpstr>Summary</vt:lpstr>
      <vt:lpstr>Weatherization Program</vt:lpstr>
      <vt:lpstr>Would Have Weatherized  Without Assistance</vt:lpstr>
      <vt:lpstr>Importance of Customer Assistance</vt:lpstr>
      <vt:lpstr>Reasons Rated Importance  Below an ‘8’</vt:lpstr>
      <vt:lpstr>Helpfulness of the  Weatherization Program</vt:lpstr>
      <vt:lpstr>Changes Since Energy Improvements</vt:lpstr>
      <vt:lpstr>Changes Since Energy Improvements</vt:lpstr>
      <vt:lpstr>Changes Since Energy Improvements</vt:lpstr>
      <vt:lpstr>Changes Since Energy Improvements</vt:lpstr>
      <vt:lpstr>Changes Since Energy Improvements</vt:lpstr>
      <vt:lpstr>Overall Satisfaction with Weatherization Program</vt:lpstr>
      <vt:lpstr>Suggested Improvements to Increase Satisfaction Ratings</vt:lpstr>
      <vt:lpstr>Would You Recommend Austin Energy’s Home Weatherization Program</vt:lpstr>
      <vt:lpstr>Reasons for Not Recommending Austin Energy’s Home Weatherization Program</vt:lpstr>
      <vt:lpstr>Suggested Improvements to  the Weatherization Program</vt:lpstr>
      <vt:lpstr>Customer Service</vt:lpstr>
      <vt:lpstr>Contractor Ratings</vt:lpstr>
      <vt:lpstr>Contractor Ratings</vt:lpstr>
      <vt:lpstr>Contractor Ratings</vt:lpstr>
      <vt:lpstr>Received a Follow-Up  From the Contractor</vt:lpstr>
      <vt:lpstr>Satisfaction with Contractor  Follow-Up </vt:lpstr>
      <vt:lpstr>Improvements to Follow-Up Concerns with the Contractor</vt:lpstr>
      <vt:lpstr>Customer Service Ratings</vt:lpstr>
      <vt:lpstr>Customer Service Ratings</vt:lpstr>
      <vt:lpstr>Customer Service Ratings</vt:lpstr>
      <vt:lpstr>Received a Follow-Up From  Austin Energy Staff Member</vt:lpstr>
      <vt:lpstr>Satisfaction with Staff Follow-Up </vt:lpstr>
      <vt:lpstr>Improvements to Follow-Up Concerns with Austin Energy Staff Member</vt:lpstr>
      <vt:lpstr>Experience with Those Who Weatherized Your Home</vt:lpstr>
      <vt:lpstr>Energy Savings</vt:lpstr>
      <vt:lpstr>Pays the Utility Bills</vt:lpstr>
      <vt:lpstr>Level of Understanding with  Utility Bill and Energy Savings </vt:lpstr>
      <vt:lpstr>What Energy Savings Mean</vt:lpstr>
      <vt:lpstr>Satisfaction with Amount  of Energy Savings</vt:lpstr>
      <vt:lpstr>Suggested Energy-Efficiency Improvement</vt:lpstr>
      <vt:lpstr>Satisfaction with Austin Energy’s Customer Assistance Program</vt:lpstr>
      <vt:lpstr>Suggested Improvements for Austin Energy’s Customer Assistance Program</vt:lpstr>
      <vt:lpstr>Communication</vt:lpstr>
      <vt:lpstr>Communication Regarding Low Income Weatherization</vt:lpstr>
      <vt:lpstr>How First Learned About Weatherization</vt:lpstr>
      <vt:lpstr>Best Method for Communication</vt:lpstr>
      <vt:lpstr>Types of Useful Information</vt:lpstr>
      <vt:lpstr>Relationship with  Austin Energy</vt:lpstr>
      <vt:lpstr>Overall Satisfaction with  Austin Energy</vt:lpstr>
      <vt:lpstr>Low Income Weatherization Program Names</vt:lpstr>
      <vt:lpstr>Possible Low Income Weatherization Program Names</vt:lpstr>
      <vt:lpstr>Possible Low Income Weatherization Program Names</vt:lpstr>
      <vt:lpstr>Demographics</vt:lpstr>
      <vt:lpstr>Demographics</vt:lpstr>
      <vt:lpstr>Demographics</vt:lpstr>
      <vt:lpstr>Demographics</vt:lpstr>
      <vt:lpstr>Demographics</vt:lpstr>
      <vt:lpstr>Demographics</vt:lpstr>
      <vt:lpstr>Demographics</vt:lpstr>
      <vt:lpstr>Demographics</vt:lpstr>
      <vt:lpstr>Methodology</vt:lpstr>
      <vt:lpstr>Contact Us</vt:lpstr>
    </vt:vector>
  </TitlesOfParts>
  <Manager/>
  <Company>ccr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Austin Energy _ LIW</dc:title>
  <dc:subject/>
  <dc:creator>Richard Cisneros</dc:creator>
  <cp:keywords>Austin Energy</cp:keywords>
  <dc:description/>
  <cp:lastModifiedBy>pat escalona</cp:lastModifiedBy>
  <cp:revision>29</cp:revision>
  <cp:lastPrinted>2025-12-10T19:29:18Z</cp:lastPrinted>
  <dcterms:created xsi:type="dcterms:W3CDTF">2004-11-29T14:50:58Z</dcterms:created>
  <dcterms:modified xsi:type="dcterms:W3CDTF">2025-12-14T13:06:49Z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0x0101005B65558C4126594098843BB8409C1AC7</vt:lpwstr>
  </property>
</Properties>
</file>