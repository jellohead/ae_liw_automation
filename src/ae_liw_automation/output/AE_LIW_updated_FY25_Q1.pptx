
<file path=[Content_Types].xml><?xml version="1.0" encoding="utf-8"?>
<Types xmlns="http://schemas.openxmlformats.org/package/2006/content-types">
  <Default Extension="emf" ContentType="image/x-emf"/>
  <Default Extension="gif" ContentType="image/gif"/>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drawings/drawing3.xml" ContentType="application/vnd.openxmlformats-officedocument.drawingml.chartshapes+xml"/>
  <Override PartName="/ppt/charts/chart10.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1.xml" ContentType="application/vnd.openxmlformats-officedocument.drawingml.chart+xml"/>
  <Override PartName="/ppt/drawings/drawing4.xml" ContentType="application/vnd.openxmlformats-officedocument.drawingml.chartshapes+xml"/>
  <Override PartName="/ppt/charts/chart12.xml" ContentType="application/vnd.openxmlformats-officedocument.drawingml.chart+xml"/>
  <Override PartName="/ppt/drawings/drawing5.xml" ContentType="application/vnd.openxmlformats-officedocument.drawingml.chartshapes+xml"/>
  <Override PartName="/ppt/charts/chart13.xml" ContentType="application/vnd.openxmlformats-officedocument.drawingml.chart+xml"/>
  <Override PartName="/ppt/drawings/drawing6.xml" ContentType="application/vnd.openxmlformats-officedocument.drawingml.chartshapes+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drawings/drawing7.xml" ContentType="application/vnd.openxmlformats-officedocument.drawingml.chartshapes+xml"/>
  <Override PartName="/ppt/charts/chart17.xml" ContentType="application/vnd.openxmlformats-officedocument.drawingml.chart+xml"/>
  <Override PartName="/ppt/drawings/drawing8.xml" ContentType="application/vnd.openxmlformats-officedocument.drawingml.chartshapes+xml"/>
  <Override PartName="/ppt/charts/chart18.xml" ContentType="application/vnd.openxmlformats-officedocument.drawingml.chart+xml"/>
  <Override PartName="/ppt/drawings/drawing9.xml" ContentType="application/vnd.openxmlformats-officedocument.drawingml.chartshapes+xml"/>
  <Override PartName="/ppt/charts/chart19.xml" ContentType="application/vnd.openxmlformats-officedocument.drawingml.chart+xml"/>
  <Override PartName="/ppt/notesSlides/notesSlide7.xml" ContentType="application/vnd.openxmlformats-officedocument.presentationml.notesSlide+xml"/>
  <Override PartName="/ppt/charts/chart20.xml" ContentType="application/vnd.openxmlformats-officedocument.drawingml.chart+xml"/>
  <Override PartName="/ppt/notesSlides/notesSlide8.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drawings/drawing10.xml" ContentType="application/vnd.openxmlformats-officedocument.drawingml.chartshapes+xml"/>
  <Override PartName="/ppt/charts/chart23.xml" ContentType="application/vnd.openxmlformats-officedocument.drawingml.chart+xml"/>
  <Override PartName="/ppt/drawings/drawing11.xml" ContentType="application/vnd.openxmlformats-officedocument.drawingml.chartshapes+xml"/>
  <Override PartName="/ppt/charts/chart24.xml" ContentType="application/vnd.openxmlformats-officedocument.drawingml.chart+xml"/>
  <Override PartName="/ppt/notesSlides/notesSlide9.xml" ContentType="application/vnd.openxmlformats-officedocument.presentationml.notesSlide+xml"/>
  <Override PartName="/ppt/charts/chart25.xml" ContentType="application/vnd.openxmlformats-officedocument.drawingml.chart+xml"/>
  <Override PartName="/ppt/drawings/drawing12.xml" ContentType="application/vnd.openxmlformats-officedocument.drawingml.chartshapes+xml"/>
  <Override PartName="/ppt/charts/chart26.xml" ContentType="application/vnd.openxmlformats-officedocument.drawingml.chart+xml"/>
  <Override PartName="/ppt/charts/chart27.xml" ContentType="application/vnd.openxmlformats-officedocument.drawingml.chart+xml"/>
  <Override PartName="/ppt/notesSlides/notesSlide10.xml" ContentType="application/vnd.openxmlformats-officedocument.presentationml.notesSlide+xml"/>
  <Override PartName="/ppt/charts/chart28.xml" ContentType="application/vnd.openxmlformats-officedocument.drawingml.chart+xml"/>
  <Override PartName="/ppt/drawings/drawing13.xml" ContentType="application/vnd.openxmlformats-officedocument.drawingml.chartshapes+xml"/>
  <Override PartName="/ppt/notesSlides/notesSlide11.xml" ContentType="application/vnd.openxmlformats-officedocument.presentationml.notesSlide+xml"/>
  <Override PartName="/ppt/charts/chart29.xml" ContentType="application/vnd.openxmlformats-officedocument.drawingml.chart+xml"/>
  <Override PartName="/ppt/notesSlides/notesSlide12.xml" ContentType="application/vnd.openxmlformats-officedocument.presentationml.notesSlide+xml"/>
  <Override PartName="/ppt/charts/chart30.xml" ContentType="application/vnd.openxmlformats-officedocument.drawingml.chart+xml"/>
  <Override PartName="/ppt/comments/modernComment_254_66F63346.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9"/>
  </p:notesMasterIdLst>
  <p:handoutMasterIdLst>
    <p:handoutMasterId r:id="rId70"/>
  </p:handoutMasterIdLst>
  <p:sldIdLst>
    <p:sldId id="474" r:id="rId5"/>
    <p:sldId id="689" r:id="rId6"/>
    <p:sldId id="662" r:id="rId7"/>
    <p:sldId id="661" r:id="rId8"/>
    <p:sldId id="616" r:id="rId9"/>
    <p:sldId id="700" r:id="rId10"/>
    <p:sldId id="690" r:id="rId11"/>
    <p:sldId id="619" r:id="rId12"/>
    <p:sldId id="620" r:id="rId13"/>
    <p:sldId id="691" r:id="rId14"/>
    <p:sldId id="680" r:id="rId15"/>
    <p:sldId id="686" r:id="rId16"/>
    <p:sldId id="682" r:id="rId17"/>
    <p:sldId id="683" r:id="rId18"/>
    <p:sldId id="695" r:id="rId19"/>
    <p:sldId id="622" r:id="rId20"/>
    <p:sldId id="696" r:id="rId21"/>
    <p:sldId id="624" r:id="rId22"/>
    <p:sldId id="625" r:id="rId23"/>
    <p:sldId id="626" r:id="rId24"/>
    <p:sldId id="694" r:id="rId25"/>
    <p:sldId id="628" r:id="rId26"/>
    <p:sldId id="629" r:id="rId27"/>
    <p:sldId id="702" r:id="rId28"/>
    <p:sldId id="703" r:id="rId29"/>
    <p:sldId id="665" r:id="rId30"/>
    <p:sldId id="630" r:id="rId31"/>
    <p:sldId id="631" r:id="rId32"/>
    <p:sldId id="632" r:id="rId33"/>
    <p:sldId id="704" r:id="rId34"/>
    <p:sldId id="705" r:id="rId35"/>
    <p:sldId id="668" r:id="rId36"/>
    <p:sldId id="633" r:id="rId37"/>
    <p:sldId id="634" r:id="rId38"/>
    <p:sldId id="706" r:id="rId39"/>
    <p:sldId id="669" r:id="rId40"/>
    <p:sldId id="670" r:id="rId41"/>
    <p:sldId id="636" r:id="rId42"/>
    <p:sldId id="637" r:id="rId43"/>
    <p:sldId id="638" r:id="rId44"/>
    <p:sldId id="639" r:id="rId45"/>
    <p:sldId id="640" r:id="rId46"/>
    <p:sldId id="697" r:id="rId47"/>
    <p:sldId id="643" r:id="rId48"/>
    <p:sldId id="645" r:id="rId49"/>
    <p:sldId id="647" r:id="rId50"/>
    <p:sldId id="615" r:id="rId51"/>
    <p:sldId id="608" r:id="rId52"/>
    <p:sldId id="678" r:id="rId53"/>
    <p:sldId id="677" r:id="rId54"/>
    <p:sldId id="708" r:id="rId55"/>
    <p:sldId id="699" r:id="rId56"/>
    <p:sldId id="698" r:id="rId57"/>
    <p:sldId id="707" r:id="rId58"/>
    <p:sldId id="648" r:id="rId59"/>
    <p:sldId id="649" r:id="rId60"/>
    <p:sldId id="672" r:id="rId61"/>
    <p:sldId id="650" r:id="rId62"/>
    <p:sldId id="656" r:id="rId63"/>
    <p:sldId id="673" r:id="rId64"/>
    <p:sldId id="687" r:id="rId65"/>
    <p:sldId id="676" r:id="rId66"/>
    <p:sldId id="596" r:id="rId67"/>
    <p:sldId id="659" r:id="rId68"/>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8F3"/>
    <a:srgbClr val="4F81BD"/>
    <a:srgbClr val="DDE7F2"/>
    <a:srgbClr val="FFC003"/>
    <a:srgbClr val="00CC99"/>
    <a:srgbClr val="3233CC"/>
    <a:srgbClr val="00CC9A"/>
    <a:srgbClr val="FFC000"/>
    <a:srgbClr val="0F6FC6"/>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788E0-DD99-394A-976F-F781DC18E593}" v="4" dt="2025-12-11T19:50:11.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284"/>
    <p:restoredTop sz="94694"/>
  </p:normalViewPr>
  <p:slideViewPr>
    <p:cSldViewPr snapToGrid="0">
      <p:cViewPr varScale="1">
        <p:scale>
          <a:sx n="100" d="100"/>
          <a:sy n="100" d="100"/>
        </p:scale>
        <p:origin x="168" y="576"/>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 escalona" userId="9d691d3bd590836a" providerId="LiveId" clId="{5B771B3E-A80B-565C-A31D-48307992B49D}"/>
    <pc:docChg chg="modSld">
      <pc:chgData name="pat escalona" userId="9d691d3bd590836a" providerId="LiveId" clId="{5B771B3E-A80B-565C-A31D-48307992B49D}" dt="2025-12-11T19:50:11.253" v="3" actId="27918"/>
      <pc:docMkLst>
        <pc:docMk/>
      </pc:docMkLst>
      <pc:sldChg chg="mod">
        <pc:chgData name="pat escalona" userId="9d691d3bd590836a" providerId="LiveId" clId="{5B771B3E-A80B-565C-A31D-48307992B49D}" dt="2025-12-11T19:49:58.451" v="1" actId="27918"/>
        <pc:sldMkLst>
          <pc:docMk/>
          <pc:sldMk cId="3475746221" sldId="645"/>
        </pc:sldMkLst>
      </pc:sldChg>
      <pc:sldChg chg="mod">
        <pc:chgData name="pat escalona" userId="9d691d3bd590836a" providerId="LiveId" clId="{5B771B3E-A80B-565C-A31D-48307992B49D}" dt="2025-12-11T19:50:11.253" v="3" actId="27918"/>
        <pc:sldMkLst>
          <pc:docMk/>
          <pc:sldMk cId="2803606299" sldId="69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2" Type="http://schemas.openxmlformats.org/officeDocument/2006/relationships/chartUserShapes" Target="../drawings/drawing10.xml"/><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2" Type="http://schemas.openxmlformats.org/officeDocument/2006/relationships/chartUserShapes" Target="../drawings/drawing11.xml"/><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2" Type="http://schemas.openxmlformats.org/officeDocument/2006/relationships/chartUserShapes" Target="../drawings/drawing12.xml"/><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2" Type="http://schemas.openxmlformats.org/officeDocument/2006/relationships/chartUserShapes" Target="../drawings/drawing13.xml"/><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0.25</c:v>
                </c:pt>
                <c:pt idx="1">
                  <c:v>0.75</c:v>
                </c:pt>
                <c:pt idx="2">
                  <c:v>0</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Q3 2024
(N=19)</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0.15789473684210525</c:v>
                </c:pt>
                <c:pt idx="1">
                  <c:v>0.84210526315789469</c:v>
                </c:pt>
                <c:pt idx="2">
                  <c:v>0</c:v>
                </c:pt>
              </c:numCache>
            </c:numRef>
          </c:val>
          <c:extLst>
            <c:ext xmlns:c16="http://schemas.microsoft.com/office/drawing/2014/chart" uri="{C3380CC4-5D6E-409C-BE32-E72D297353CC}">
              <c16:uniqueId val="{00000001-5341-4021-8530-F4858413767C}"/>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Sheet1!$D$2:$D$3</c:f>
              <c:numCache>
                <c:formatCode>0%</c:formatCode>
                <c:ptCount val="2"/>
                <c:pt idx="0">
                  <c:v>0.24242424242424243</c:v>
                </c:pt>
                <c:pt idx="1">
                  <c:v>0.75757575757575757</c:v>
                </c:pt>
              </c:numCache>
            </c:numRef>
          </c:val>
          <c:extLst>
            <c:ext xmlns:c16="http://schemas.microsoft.com/office/drawing/2014/chart" uri="{C3380CC4-5D6E-409C-BE32-E72D297353CC}">
              <c16:uniqueId val="{00000002-5341-4021-8530-F4858413767C}"/>
            </c:ext>
          </c:extLst>
        </c:ser>
        <c:ser>
          <c:idx val="3"/>
          <c:order val="3"/>
          <c:tx>
            <c:strRef>
              <c:f>Sheet1!$E$1</c:f>
              <c:strCache>
                <c:ptCount val="1"/>
                <c:pt idx="0">
                  <c:v>Q1 2025
(N=45)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Sheet1!$E$2:$E$4</c:f>
              <c:numCache>
                <c:formatCode>0%</c:formatCode>
                <c:ptCount val="3"/>
                <c:pt idx="0">
                  <c:v>6.6666666666666666E-2</c:v>
                </c:pt>
                <c:pt idx="1">
                  <c:v>0.8</c:v>
                </c:pt>
                <c:pt idx="2">
                  <c:v>0.13333333333333333</c:v>
                </c:pt>
              </c:numCache>
            </c:numRef>
          </c:val>
          <c:extLst>
            <c:ext xmlns:c16="http://schemas.microsoft.com/office/drawing/2014/chart" uri="{C3380CC4-5D6E-409C-BE32-E72D297353CC}">
              <c16:uniqueId val="{00000003-5341-4021-8530-F4858413767C}"/>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Sheet1!$B$2:$B$5</c:f>
              <c:numCache>
                <c:formatCode>0%</c:formatCode>
                <c:ptCount val="4"/>
                <c:pt idx="0">
                  <c:v>4.5454545454545463E-2</c:v>
                </c:pt>
                <c:pt idx="1">
                  <c:v>5.2631578947368418E-2</c:v>
                </c:pt>
                <c:pt idx="3">
                  <c:v>2.2222222222222223E-2</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Sheet1!$C$2:$C$5</c:f>
              <c:numCache>
                <c:formatCode>General</c:formatCode>
                <c:ptCount val="4"/>
                <c:pt idx="0" formatCode="0%">
                  <c:v>4.5454545454545463E-2</c:v>
                </c:pt>
                <c:pt idx="3" formatCode="0%">
                  <c:v>4.4444444444444446E-2</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Sheet1!$D$2:$D$5</c:f>
              <c:numCache>
                <c:formatCode>0%</c:formatCode>
                <c:ptCount val="4"/>
                <c:pt idx="0">
                  <c:v>0.86363636363636365</c:v>
                </c:pt>
                <c:pt idx="1">
                  <c:v>0.94736842105263153</c:v>
                </c:pt>
                <c:pt idx="2">
                  <c:v>0.94</c:v>
                </c:pt>
                <c:pt idx="3">
                  <c:v>0.91111111111111109</c:v>
                </c:pt>
              </c:numCache>
            </c:numRef>
          </c:val>
          <c:extLst>
            <c:ext xmlns:c16="http://schemas.microsoft.com/office/drawing/2014/chart" uri="{C3380CC4-5D6E-409C-BE32-E72D297353CC}">
              <c16:uniqueId val="{00000006-B9B0-4EA2-8CFB-1195A0386E81}"/>
            </c:ext>
          </c:extLst>
        </c:ser>
        <c:ser>
          <c:idx val="3"/>
          <c:order val="3"/>
          <c:tx>
            <c:strRef>
              <c:f>Sheet1!$E$1</c:f>
              <c:strCache>
                <c:ptCount val="1"/>
                <c:pt idx="0">
                  <c:v>sum of displayed values</c:v>
                </c:pt>
              </c:strCache>
            </c:strRef>
          </c:tx>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Sheet1!$E$2:$E$5</c:f>
              <c:numCache>
                <c:formatCode>0%</c:formatCode>
                <c:ptCount val="4"/>
                <c:pt idx="0">
                  <c:v>0.96</c:v>
                </c:pt>
                <c:pt idx="1">
                  <c:v>1</c:v>
                </c:pt>
                <c:pt idx="2">
                  <c:v>0.94</c:v>
                </c:pt>
                <c:pt idx="3">
                  <c:v>0.97777777777777775</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13">
                  <c:v>Q1 2025
(N=45)</c:v>
                </c:pt>
              </c:strCache>
            </c:strRef>
          </c:cat>
          <c:val>
            <c:numRef>
              <c:f>Sheet1!$B$2:$B$15</c:f>
              <c:numCache>
                <c:formatCode>0%</c:formatCode>
                <c:ptCount val="14"/>
                <c:pt idx="0">
                  <c:v>9.0909090909090925E-2</c:v>
                </c:pt>
                <c:pt idx="1">
                  <c:v>0.10526315789473684</c:v>
                </c:pt>
                <c:pt idx="2">
                  <c:v>0.12121212121212122</c:v>
                </c:pt>
                <c:pt idx="13">
                  <c:v>0.1111111111111111</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13">
                  <c:v>Q1 2025
(N=45)</c:v>
                </c:pt>
              </c:strCache>
            </c:strRef>
          </c:cat>
          <c:val>
            <c:numRef>
              <c:f>Sheet1!$C$2:$C$15</c:f>
              <c:numCache>
                <c:formatCode>0%</c:formatCode>
                <c:ptCount val="14"/>
                <c:pt idx="0">
                  <c:v>2.2727272727272731E-2</c:v>
                </c:pt>
                <c:pt idx="1">
                  <c:v>0.10526315789473684</c:v>
                </c:pt>
                <c:pt idx="2">
                  <c:v>6.0606060606060608E-2</c:v>
                </c:pt>
                <c:pt idx="13">
                  <c:v>0.1111111111111111</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13">
                  <c:v>Q1 2025
(N=45)</c:v>
                </c:pt>
              </c:strCache>
            </c:strRef>
          </c:cat>
          <c:val>
            <c:numRef>
              <c:f>Sheet1!$D$2:$D$15</c:f>
              <c:numCache>
                <c:formatCode>0%</c:formatCode>
                <c:ptCount val="14"/>
                <c:pt idx="0">
                  <c:v>0.61363636363636365</c:v>
                </c:pt>
                <c:pt idx="1">
                  <c:v>0.47368421052631576</c:v>
                </c:pt>
                <c:pt idx="2">
                  <c:v>0.48484848484848486</c:v>
                </c:pt>
                <c:pt idx="13">
                  <c:v>0.51111111111111107</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13">
                  <c:v>Q1 2025
(N=45)</c:v>
                </c:pt>
              </c:strCache>
            </c:strRef>
          </c:cat>
          <c:val>
            <c:numRef>
              <c:f>Sheet1!$E$2:$E$15</c:f>
              <c:numCache>
                <c:formatCode>0%</c:formatCode>
                <c:ptCount val="14"/>
                <c:pt idx="0">
                  <c:v>0.72</c:v>
                </c:pt>
                <c:pt idx="1">
                  <c:v>0.69</c:v>
                </c:pt>
                <c:pt idx="2">
                  <c:v>0.66</c:v>
                </c:pt>
              </c:numCache>
            </c:numRef>
          </c:val>
          <c:extLst>
            <c:ext xmlns:c16="http://schemas.microsoft.com/office/drawing/2014/chart" uri="{C3380CC4-5D6E-409C-BE32-E72D297353CC}">
              <c16:uniqueId val="{00000004-BA82-4646-B133-ACCBD878F7F2}"/>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Q2 2024
(N=44)</c:v>
                </c:pt>
                <c:pt idx="1">
                  <c:v>Q3 2024
(N=19)</c:v>
                </c:pt>
                <c:pt idx="2">
                  <c:v>Q4 2024
(N=33)</c:v>
                </c:pt>
                <c:pt idx="13">
                  <c:v>Q1 2025
(N=45)</c:v>
                </c:pt>
              </c:strCache>
            </c:strRef>
          </c:cat>
          <c:val>
            <c:numRef>
              <c:f>Sheet1!$F$2:$F$15</c:f>
              <c:numCache>
                <c:formatCode>General</c:formatCode>
                <c:ptCount val="14"/>
                <c:pt idx="13" formatCode="0%">
                  <c:v>0.73333333333333328</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0</c:v>
                </c:pt>
                <c:pt idx="1">
                  <c:v>12</c:v>
                </c:pt>
                <c:pt idx="2">
                  <c:v>18</c:v>
                </c:pt>
                <c:pt idx="3">
                  <c:v>13</c:v>
                </c:pt>
                <c:pt idx="4">
                  <c:v>0</c:v>
                </c:pt>
                <c:pt idx="5">
                  <c:v>8</c:v>
                </c:pt>
                <c:pt idx="6">
                  <c:v>4</c:v>
                </c:pt>
                <c:pt idx="7">
                  <c:v>31</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c:v>
                </c:pt>
                <c:pt idx="1">
                  <c:v>5</c:v>
                </c:pt>
                <c:pt idx="2">
                  <c:v>10</c:v>
                </c:pt>
                <c:pt idx="3">
                  <c:v>3</c:v>
                </c:pt>
                <c:pt idx="4">
                  <c:v>2</c:v>
                </c:pt>
                <c:pt idx="5">
                  <c:v>2</c:v>
                </c:pt>
                <c:pt idx="6">
                  <c:v>2</c:v>
                </c:pt>
                <c:pt idx="7">
                  <c:v>13</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Q4 2024
(N=33)</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2</c:v>
                </c:pt>
                <c:pt idx="1">
                  <c:v>14</c:v>
                </c:pt>
                <c:pt idx="2">
                  <c:v>11</c:v>
                </c:pt>
                <c:pt idx="3">
                  <c:v>6</c:v>
                </c:pt>
                <c:pt idx="4">
                  <c:v>1</c:v>
                </c:pt>
                <c:pt idx="5">
                  <c:v>5</c:v>
                </c:pt>
                <c:pt idx="6">
                  <c:v>6</c:v>
                </c:pt>
                <c:pt idx="7">
                  <c:v>20</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2</c:v>
                </c:pt>
                <c:pt idx="1">
                  <c:v>15</c:v>
                </c:pt>
                <c:pt idx="2">
                  <c:v>15</c:v>
                </c:pt>
                <c:pt idx="3">
                  <c:v>8</c:v>
                </c:pt>
                <c:pt idx="4">
                  <c:v>0</c:v>
                </c:pt>
                <c:pt idx="5">
                  <c:v>6</c:v>
                </c:pt>
                <c:pt idx="6">
                  <c:v>6</c:v>
                </c:pt>
                <c:pt idx="7">
                  <c:v>30</c:v>
                </c:pt>
              </c:numCache>
            </c:numRef>
          </c:val>
          <c:extLst>
            <c:ext xmlns:c16="http://schemas.microsoft.com/office/drawing/2014/chart" uri="{C3380CC4-5D6E-409C-BE32-E72D297353CC}">
              <c16:uniqueId val="{00000005-228A-4467-BB3A-D385FE43A01E}"/>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2</c:v>
                </c:pt>
                <c:pt idx="1">
                  <c:v>10</c:v>
                </c:pt>
                <c:pt idx="2">
                  <c:v>9</c:v>
                </c:pt>
                <c:pt idx="3">
                  <c:v>18</c:v>
                </c:pt>
                <c:pt idx="4">
                  <c:v>24</c:v>
                </c:pt>
                <c:pt idx="5">
                  <c:v>11</c:v>
                </c:pt>
                <c:pt idx="6">
                  <c:v>1</c:v>
                </c:pt>
                <c:pt idx="7">
                  <c:v>7</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4</c:v>
                </c:pt>
                <c:pt idx="1">
                  <c:v>5</c:v>
                </c:pt>
                <c:pt idx="2">
                  <c:v>3</c:v>
                </c:pt>
                <c:pt idx="3">
                  <c:v>7</c:v>
                </c:pt>
                <c:pt idx="4">
                  <c:v>9</c:v>
                </c:pt>
                <c:pt idx="5">
                  <c:v>6</c:v>
                </c:pt>
                <c:pt idx="6">
                  <c:v>1</c:v>
                </c:pt>
                <c:pt idx="7">
                  <c:v>3</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Q4 2024
(N=33)</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3</c:v>
                </c:pt>
                <c:pt idx="1">
                  <c:v>4</c:v>
                </c:pt>
                <c:pt idx="2">
                  <c:v>13</c:v>
                </c:pt>
                <c:pt idx="3">
                  <c:v>11</c:v>
                </c:pt>
                <c:pt idx="4">
                  <c:v>9</c:v>
                </c:pt>
                <c:pt idx="5">
                  <c:v>15</c:v>
                </c:pt>
                <c:pt idx="6">
                  <c:v>2</c:v>
                </c:pt>
                <c:pt idx="7">
                  <c:v>6</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c:v>
                </c:pt>
                <c:pt idx="1">
                  <c:v>11</c:v>
                </c:pt>
                <c:pt idx="2">
                  <c:v>10</c:v>
                </c:pt>
                <c:pt idx="3">
                  <c:v>18</c:v>
                </c:pt>
                <c:pt idx="4">
                  <c:v>7</c:v>
                </c:pt>
                <c:pt idx="5">
                  <c:v>20</c:v>
                </c:pt>
                <c:pt idx="6">
                  <c:v>1</c:v>
                </c:pt>
                <c:pt idx="7">
                  <c:v>16</c:v>
                </c:pt>
              </c:numCache>
            </c:numRef>
          </c:val>
          <c:extLst>
            <c:ext xmlns:c16="http://schemas.microsoft.com/office/drawing/2014/chart" uri="{C3380CC4-5D6E-409C-BE32-E72D297353CC}">
              <c16:uniqueId val="{00000005-6C66-4CAF-81AB-F70542D9BDB7}"/>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8</c:v>
                </c:pt>
                <c:pt idx="1">
                  <c:v>16</c:v>
                </c:pt>
                <c:pt idx="2">
                  <c:v>10</c:v>
                </c:pt>
                <c:pt idx="3">
                  <c:v>9</c:v>
                </c:pt>
                <c:pt idx="4">
                  <c:v>34</c:v>
                </c:pt>
                <c:pt idx="5">
                  <c:v>7</c:v>
                </c:pt>
                <c:pt idx="6">
                  <c:v>0</c:v>
                </c:pt>
                <c:pt idx="7">
                  <c:v>1</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c:v>
                </c:pt>
                <c:pt idx="1">
                  <c:v>14</c:v>
                </c:pt>
                <c:pt idx="2">
                  <c:v>1</c:v>
                </c:pt>
                <c:pt idx="3">
                  <c:v>3</c:v>
                </c:pt>
                <c:pt idx="4">
                  <c:v>15</c:v>
                </c:pt>
                <c:pt idx="5">
                  <c:v>4</c:v>
                </c:pt>
                <c:pt idx="6">
                  <c:v>0</c:v>
                </c:pt>
                <c:pt idx="7">
                  <c:v>0</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Q4 2024
(N=33)</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1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3</c:v>
                </c:pt>
                <c:pt idx="1">
                  <c:v>19</c:v>
                </c:pt>
                <c:pt idx="2">
                  <c:v>4</c:v>
                </c:pt>
                <c:pt idx="3">
                  <c:v>6</c:v>
                </c:pt>
                <c:pt idx="4">
                  <c:v>22</c:v>
                </c:pt>
                <c:pt idx="5">
                  <c:v>8</c:v>
                </c:pt>
                <c:pt idx="6">
                  <c:v>3</c:v>
                </c:pt>
                <c:pt idx="7">
                  <c:v>0</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Q1 2025
(N=45)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3</c:v>
                </c:pt>
                <c:pt idx="1">
                  <c:v>23</c:v>
                </c:pt>
                <c:pt idx="2">
                  <c:v>3</c:v>
                </c:pt>
                <c:pt idx="3">
                  <c:v>14</c:v>
                </c:pt>
                <c:pt idx="4">
                  <c:v>33</c:v>
                </c:pt>
                <c:pt idx="5">
                  <c:v>6</c:v>
                </c:pt>
                <c:pt idx="6">
                  <c:v>1</c:v>
                </c:pt>
                <c:pt idx="7">
                  <c:v>3</c:v>
                </c:pt>
              </c:numCache>
            </c:numRef>
          </c:val>
          <c:extLst>
            <c:ext xmlns:c16="http://schemas.microsoft.com/office/drawing/2014/chart" uri="{C3380CC4-5D6E-409C-BE32-E72D297353CC}">
              <c16:uniqueId val="{00000000-4866-694C-B315-C018B2EC4AE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11</c:v>
                </c:pt>
                <c:pt idx="1">
                  <c:v>11</c:v>
                </c:pt>
                <c:pt idx="2">
                  <c:v>1</c:v>
                </c:pt>
                <c:pt idx="3">
                  <c:v>21</c:v>
                </c:pt>
                <c:pt idx="4">
                  <c:v>29</c:v>
                </c:pt>
                <c:pt idx="5">
                  <c:v>6</c:v>
                </c:pt>
                <c:pt idx="6">
                  <c:v>2</c:v>
                </c:pt>
                <c:pt idx="7">
                  <c:v>6</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7</c:v>
                </c:pt>
                <c:pt idx="1">
                  <c:v>5</c:v>
                </c:pt>
                <c:pt idx="2">
                  <c:v>0</c:v>
                </c:pt>
                <c:pt idx="3">
                  <c:v>7</c:v>
                </c:pt>
                <c:pt idx="4">
                  <c:v>13</c:v>
                </c:pt>
                <c:pt idx="5">
                  <c:v>2</c:v>
                </c:pt>
                <c:pt idx="6">
                  <c:v>1</c:v>
                </c:pt>
                <c:pt idx="7">
                  <c:v>2</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Q4 2024
(N=33)</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6</c:v>
                </c:pt>
                <c:pt idx="1">
                  <c:v>16</c:v>
                </c:pt>
                <c:pt idx="2">
                  <c:v>1</c:v>
                </c:pt>
                <c:pt idx="3">
                  <c:v>9</c:v>
                </c:pt>
                <c:pt idx="4">
                  <c:v>20</c:v>
                </c:pt>
                <c:pt idx="5">
                  <c:v>11</c:v>
                </c:pt>
                <c:pt idx="6">
                  <c:v>0</c:v>
                </c:pt>
                <c:pt idx="7">
                  <c:v>1</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7</c:v>
                </c:pt>
                <c:pt idx="1">
                  <c:v>14</c:v>
                </c:pt>
                <c:pt idx="2">
                  <c:v>1</c:v>
                </c:pt>
                <c:pt idx="3">
                  <c:v>23</c:v>
                </c:pt>
                <c:pt idx="4">
                  <c:v>29</c:v>
                </c:pt>
                <c:pt idx="5">
                  <c:v>10</c:v>
                </c:pt>
                <c:pt idx="6">
                  <c:v>1</c:v>
                </c:pt>
                <c:pt idx="7">
                  <c:v>5</c:v>
                </c:pt>
              </c:numCache>
            </c:numRef>
          </c:val>
          <c:extLst>
            <c:ext xmlns:c16="http://schemas.microsoft.com/office/drawing/2014/chart" uri="{C3380CC4-5D6E-409C-BE32-E72D297353CC}">
              <c16:uniqueId val="{00000003-A189-4DD3-B104-E94BF8E7B46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17</c:v>
                </c:pt>
                <c:pt idx="1">
                  <c:v>12</c:v>
                </c:pt>
                <c:pt idx="2">
                  <c:v>4</c:v>
                </c:pt>
                <c:pt idx="3">
                  <c:v>9</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Q3 2024
(N=19)</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9</c:v>
                </c:pt>
                <c:pt idx="1">
                  <c:v>5</c:v>
                </c:pt>
                <c:pt idx="2">
                  <c:v>0</c:v>
                </c:pt>
                <c:pt idx="3">
                  <c:v>5</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Q4 2024
(N=33)</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16</c:v>
                </c:pt>
                <c:pt idx="1">
                  <c:v>7</c:v>
                </c:pt>
                <c:pt idx="2">
                  <c:v>0</c:v>
                </c:pt>
                <c:pt idx="3">
                  <c:v>9</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Q1 2025
(N=45)</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11</c:v>
                </c:pt>
                <c:pt idx="1">
                  <c:v>18</c:v>
                </c:pt>
                <c:pt idx="2">
                  <c:v>1</c:v>
                </c:pt>
                <c:pt idx="3">
                  <c:v>14</c:v>
                </c:pt>
              </c:numCache>
            </c:numRef>
          </c:val>
          <c:extLst>
            <c:ext xmlns:c16="http://schemas.microsoft.com/office/drawing/2014/chart" uri="{C3380CC4-5D6E-409C-BE32-E72D297353CC}">
              <c16:uniqueId val="{00000005-2D8F-4DC4-8B87-B0638A575DEB}"/>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20">
                  <c:v>Q1 2025
(N=45)</c:v>
                </c:pt>
              </c:strCache>
            </c:strRef>
          </c:cat>
          <c:val>
            <c:numRef>
              <c:f>Sheet1!$B$2:$B$22</c:f>
              <c:numCache>
                <c:formatCode>0%</c:formatCode>
                <c:ptCount val="21"/>
                <c:pt idx="0">
                  <c:v>6.8181818181818177E-2</c:v>
                </c:pt>
                <c:pt idx="1">
                  <c:v>5.2631578947368418E-2</c:v>
                </c:pt>
                <c:pt idx="20">
                  <c:v>8.8888888888888892E-2</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20">
                  <c:v>Q1 2025
(N=45)</c:v>
                </c:pt>
              </c:strCache>
            </c:strRef>
          </c:cat>
          <c:val>
            <c:numRef>
              <c:f>Sheet1!$C$2:$C$22</c:f>
              <c:numCache>
                <c:formatCode>General</c:formatCode>
                <c:ptCount val="21"/>
                <c:pt idx="2" formatCode="0%">
                  <c:v>6.0606060606060608E-2</c:v>
                </c:pt>
                <c:pt idx="20" formatCode="0%">
                  <c:v>0.1111111111111111</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20">
                  <c:v>Q1 2025
(N=45)</c:v>
                </c:pt>
              </c:strCache>
            </c:strRef>
          </c:cat>
          <c:val>
            <c:numRef>
              <c:f>Sheet1!$D$2:$D$22</c:f>
              <c:numCache>
                <c:formatCode>0%</c:formatCode>
                <c:ptCount val="21"/>
                <c:pt idx="0">
                  <c:v>0.93181818181818177</c:v>
                </c:pt>
                <c:pt idx="1">
                  <c:v>0.89473684210526316</c:v>
                </c:pt>
                <c:pt idx="2">
                  <c:v>0.81818181818181834</c:v>
                </c:pt>
                <c:pt idx="20">
                  <c:v>0.75555555555555554</c:v>
                </c:pt>
              </c:numCache>
            </c:numRef>
          </c:val>
          <c:extLst>
            <c:ext xmlns:c16="http://schemas.microsoft.com/office/drawing/2014/chart" uri="{C3380CC4-5D6E-409C-BE32-E72D297353CC}">
              <c16:uniqueId val="{00000003-33C6-46D0-A451-9992BB76C127}"/>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20">
                  <c:v>Q1 2025
(N=45)</c:v>
                </c:pt>
              </c:strCache>
            </c:strRef>
          </c:cat>
          <c:val>
            <c:numRef>
              <c:f>Sheet1!$E$2:$E$22</c:f>
              <c:numCache>
                <c:formatCode>0%</c:formatCode>
                <c:ptCount val="21"/>
                <c:pt idx="0">
                  <c:v>1</c:v>
                </c:pt>
                <c:pt idx="1">
                  <c:v>0.95</c:v>
                </c:pt>
                <c:pt idx="2">
                  <c:v>0.88</c:v>
                </c:pt>
              </c:numCache>
            </c:numRef>
          </c:val>
          <c:extLst>
            <c:ext xmlns:c16="http://schemas.microsoft.com/office/drawing/2014/chart" uri="{C3380CC4-5D6E-409C-BE32-E72D297353CC}">
              <c16:uniqueId val="{00000004-33C6-46D0-A451-9992BB76C127}"/>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Sheet1!$A$2:$A$22</c:f>
              <c:strCache>
                <c:ptCount val="21"/>
                <c:pt idx="0">
                  <c:v>Q2 2024
(N=44)</c:v>
                </c:pt>
                <c:pt idx="1">
                  <c:v>Q3 2024
(N=19)</c:v>
                </c:pt>
                <c:pt idx="2">
                  <c:v>Q4 2024
(N=33)</c:v>
                </c:pt>
                <c:pt idx="20">
                  <c:v>Q1 2025
(N=45)</c:v>
                </c:pt>
              </c:strCache>
            </c:strRef>
          </c:cat>
          <c:val>
            <c:numRef>
              <c:f>Sheet1!$F$2:$F$22</c:f>
              <c:numCache>
                <c:formatCode>General</c:formatCode>
                <c:ptCount val="21"/>
                <c:pt idx="20" formatCode="0%">
                  <c:v>0.95555555555555549</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1</c:v>
                </c:pt>
                <c:pt idx="1">
                  <c:v>0</c:v>
                </c:pt>
                <c:pt idx="2">
                  <c:v>0</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Q3 2024
(N=19)</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1</c:v>
                </c:pt>
                <c:pt idx="1">
                  <c:v>0</c:v>
                </c:pt>
                <c:pt idx="2">
                  <c:v>0</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Q4 2024
(N=33)</c:v>
                </c:pt>
              </c:strCache>
            </c:strRef>
          </c:tx>
          <c:spPr>
            <a:solidFill>
              <a:srgbClr val="00CC99"/>
            </a:solidFill>
          </c:spPr>
          <c:invertIfNegative val="0"/>
          <c:dLbls>
            <c:dLbl>
              <c:idx val="0"/>
              <c:layout>
                <c:manualLayout>
                  <c:x val="3.759398496240567E-3"/>
                  <c:y val="-2.33463035019455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Sheet1!$D$2:$D$3</c:f>
              <c:numCache>
                <c:formatCode>0%</c:formatCode>
                <c:ptCount val="2"/>
                <c:pt idx="0">
                  <c:v>0.90909090909090906</c:v>
                </c:pt>
                <c:pt idx="1">
                  <c:v>9.0909090909090912E-2</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Q1 2025
(N=45)</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Sheet1!$E$2:$E$4</c:f>
              <c:numCache>
                <c:formatCode>0%</c:formatCode>
                <c:ptCount val="3"/>
                <c:pt idx="0">
                  <c:v>0.9555555555555556</c:v>
                </c:pt>
                <c:pt idx="1">
                  <c:v>2.2222222222222223E-2</c:v>
                </c:pt>
                <c:pt idx="2">
                  <c:v>2.2222222222222223E-2</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0">
                  <c:v>9.0909090909090925E-2</c:v>
                </c:pt>
                <c:pt idx="1">
                  <c:v>5.2631578947368397E-2</c:v>
                </c:pt>
                <c:pt idx="2">
                  <c:v>6.0606060606060608E-2</c:v>
                </c:pt>
                <c:pt idx="3">
                  <c:v>4.4444444444444446E-2</c:v>
                </c:pt>
                <c:pt idx="4">
                  <c:v>2.2727272727272731E-2</c:v>
                </c:pt>
                <c:pt idx="5">
                  <c:v>5.2631578947368418E-2</c:v>
                </c:pt>
                <c:pt idx="7">
                  <c:v>4.4444444444444446E-2</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0%</c:formatCode>
                <c:ptCount val="8"/>
                <c:pt idx="0">
                  <c:v>0.13636363636363635</c:v>
                </c:pt>
                <c:pt idx="1">
                  <c:v>0.10526315789473684</c:v>
                </c:pt>
                <c:pt idx="2">
                  <c:v>0.15151515151515152</c:v>
                </c:pt>
                <c:pt idx="3">
                  <c:v>0.13333333333333333</c:v>
                </c:pt>
                <c:pt idx="4">
                  <c:v>9.0909090909090925E-2</c:v>
                </c:pt>
                <c:pt idx="6">
                  <c:v>9.0909090909090925E-2</c:v>
                </c:pt>
                <c:pt idx="7">
                  <c:v>6.6666666666666666E-2</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0.70454545454545459</c:v>
                </c:pt>
                <c:pt idx="1">
                  <c:v>0.73684210526315785</c:v>
                </c:pt>
                <c:pt idx="2">
                  <c:v>0.69696969696969702</c:v>
                </c:pt>
                <c:pt idx="3">
                  <c:v>0.73333333333333328</c:v>
                </c:pt>
                <c:pt idx="4">
                  <c:v>0.86363636363636365</c:v>
                </c:pt>
                <c:pt idx="5">
                  <c:v>0.84210526315789469</c:v>
                </c:pt>
                <c:pt idx="6">
                  <c:v>0.84848484848484851</c:v>
                </c:pt>
                <c:pt idx="7">
                  <c:v>0.84444444444444444</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0.92999999999999994</c:v>
                </c:pt>
                <c:pt idx="1">
                  <c:v>0.9</c:v>
                </c:pt>
                <c:pt idx="2">
                  <c:v>0.90999999999999992</c:v>
                </c:pt>
                <c:pt idx="3">
                  <c:v>0.91111111111111109</c:v>
                </c:pt>
                <c:pt idx="4">
                  <c:v>0.97</c:v>
                </c:pt>
                <c:pt idx="5">
                  <c:v>0.89</c:v>
                </c:pt>
                <c:pt idx="6">
                  <c:v>0.94</c:v>
                </c:pt>
                <c:pt idx="7">
                  <c:v>0.95555555555555549</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General</c:formatCode>
                <c:ptCount val="8"/>
                <c:pt idx="2" formatCode="0%">
                  <c:v>9.0909090909090925E-2</c:v>
                </c:pt>
                <c:pt idx="3" formatCode="0%">
                  <c:v>6.6666666666666666E-2</c:v>
                </c:pt>
                <c:pt idx="4" formatCode="0%">
                  <c:v>2.2727272727272731E-2</c:v>
                </c:pt>
                <c:pt idx="5" formatCode="0%">
                  <c:v>5.2631578947368418E-2</c:v>
                </c:pt>
                <c:pt idx="6" formatCode="0%">
                  <c:v>3.0303030303030304E-2</c:v>
                </c:pt>
                <c:pt idx="7" formatCode="0%">
                  <c:v>2.2222222222222223E-2</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0%</c:formatCode>
                <c:ptCount val="8"/>
                <c:pt idx="0">
                  <c:v>0.11363636363636363</c:v>
                </c:pt>
                <c:pt idx="1">
                  <c:v>5.2631578947368418E-2</c:v>
                </c:pt>
                <c:pt idx="3">
                  <c:v>0.15555555555555556</c:v>
                </c:pt>
                <c:pt idx="4">
                  <c:v>9.0909090909090925E-2</c:v>
                </c:pt>
                <c:pt idx="7">
                  <c:v>0.15555555555555556</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0.86363636363636365</c:v>
                </c:pt>
                <c:pt idx="1">
                  <c:v>0.78947368421052633</c:v>
                </c:pt>
                <c:pt idx="2">
                  <c:v>0.81818181818181834</c:v>
                </c:pt>
                <c:pt idx="3">
                  <c:v>0.71111111111111114</c:v>
                </c:pt>
                <c:pt idx="4">
                  <c:v>0.86363636363636365</c:v>
                </c:pt>
                <c:pt idx="5">
                  <c:v>0.84210526315789469</c:v>
                </c:pt>
                <c:pt idx="6">
                  <c:v>0.87878787878787878</c:v>
                </c:pt>
                <c:pt idx="7">
                  <c:v>0.75555555555555554</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0.97</c:v>
                </c:pt>
                <c:pt idx="1">
                  <c:v>0.84000000000000008</c:v>
                </c:pt>
                <c:pt idx="2">
                  <c:v>0.90999999999999992</c:v>
                </c:pt>
                <c:pt idx="3">
                  <c:v>0.93333333333333335</c:v>
                </c:pt>
                <c:pt idx="4">
                  <c:v>0.97</c:v>
                </c:pt>
                <c:pt idx="5">
                  <c:v>0.89</c:v>
                </c:pt>
                <c:pt idx="6">
                  <c:v>0.91</c:v>
                </c:pt>
                <c:pt idx="7">
                  <c:v>0.93333333333333335</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0">
                  <c:v>2.2727272727272731E-2</c:v>
                </c:pt>
                <c:pt idx="1">
                  <c:v>0.10526315789473684</c:v>
                </c:pt>
                <c:pt idx="3">
                  <c:v>6.6666666666666666E-2</c:v>
                </c:pt>
                <c:pt idx="4">
                  <c:v>2.2727272727272731E-2</c:v>
                </c:pt>
                <c:pt idx="6">
                  <c:v>3.0303030303030304E-2</c:v>
                </c:pt>
                <c:pt idx="7">
                  <c:v>6.6666666666666666E-2</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0%</c:formatCode>
                <c:ptCount val="8"/>
                <c:pt idx="0">
                  <c:v>9.0909090909090925E-2</c:v>
                </c:pt>
                <c:pt idx="1">
                  <c:v>5.2631578947368418E-2</c:v>
                </c:pt>
                <c:pt idx="2">
                  <c:v>9.0909090909090925E-2</c:v>
                </c:pt>
                <c:pt idx="3">
                  <c:v>0.13333333333333333</c:v>
                </c:pt>
                <c:pt idx="4">
                  <c:v>6.8181818181818177E-2</c:v>
                </c:pt>
                <c:pt idx="6">
                  <c:v>6.0606060606060608E-2</c:v>
                </c:pt>
                <c:pt idx="7">
                  <c:v>0.22222222222222221</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0.79545454545454553</c:v>
                </c:pt>
                <c:pt idx="1">
                  <c:v>0.78947368421052633</c:v>
                </c:pt>
                <c:pt idx="2">
                  <c:v>0.84848484848484851</c:v>
                </c:pt>
                <c:pt idx="3">
                  <c:v>0.71111111111111114</c:v>
                </c:pt>
                <c:pt idx="4">
                  <c:v>0.86363636363636365</c:v>
                </c:pt>
                <c:pt idx="5">
                  <c:v>0.84210526315789469</c:v>
                </c:pt>
                <c:pt idx="6">
                  <c:v>0.84848484848484851</c:v>
                </c:pt>
                <c:pt idx="7">
                  <c:v>0.64444444444444449</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0.91</c:v>
                </c:pt>
                <c:pt idx="1">
                  <c:v>0.95000000000000007</c:v>
                </c:pt>
                <c:pt idx="2">
                  <c:v>0.94</c:v>
                </c:pt>
                <c:pt idx="3">
                  <c:v>0.9111111111111112</c:v>
                </c:pt>
                <c:pt idx="4">
                  <c:v>0.95</c:v>
                </c:pt>
                <c:pt idx="5">
                  <c:v>0.84</c:v>
                </c:pt>
                <c:pt idx="6">
                  <c:v>0.94</c:v>
                </c:pt>
                <c:pt idx="7">
                  <c:v>0.93333333333333335</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0.3636363636363637</c:v>
                </c:pt>
                <c:pt idx="1">
                  <c:v>0</c:v>
                </c:pt>
                <c:pt idx="2">
                  <c:v>0.63636363636363635</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(N=19)</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0.47368421052631576</c:v>
                </c:pt>
                <c:pt idx="1">
                  <c:v>0</c:v>
                </c:pt>
                <c:pt idx="2">
                  <c:v>0.52631578947368418</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0.69696969696969702</c:v>
                </c:pt>
                <c:pt idx="1">
                  <c:v>6.0606060606060608E-2</c:v>
                </c:pt>
                <c:pt idx="2">
                  <c:v>0.24242424242424243</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Q1 2025
(N=45)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0.48888888888888887</c:v>
                </c:pt>
                <c:pt idx="1">
                  <c:v>6.6666666666666666E-2</c:v>
                </c:pt>
                <c:pt idx="2">
                  <c:v>0.44444444444444442</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18460807530637618"/>
          <c:y val="1.0785303876998281E-2"/>
          <c:w val="0.60640370611568284"/>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Q2 2024
(n=16)</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0.94</c:v>
                </c:pt>
                <c:pt idx="1">
                  <c:v>0.06</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(n=9)</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0.66666666666666663</c:v>
                </c:pt>
                <c:pt idx="1">
                  <c:v>0.33333333333333331</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Q4 2024
(n=25)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0.84</c:v>
                </c:pt>
                <c:pt idx="1">
                  <c:v>0.16</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Q1 2025
(n=25)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Sheet1!$E$2:$E$4</c:f>
              <c:numCache>
                <c:formatCode>0%</c:formatCode>
                <c:ptCount val="3"/>
                <c:pt idx="0">
                  <c:v>0.8</c:v>
                </c:pt>
                <c:pt idx="1">
                  <c:v>0.16</c:v>
                </c:pt>
                <c:pt idx="2">
                  <c:v>0.04</c:v>
                </c:pt>
              </c:numCache>
            </c:numRef>
          </c:val>
          <c:extLst>
            <c:ext xmlns:c16="http://schemas.microsoft.com/office/drawing/2014/chart" uri="{C3380CC4-5D6E-409C-BE32-E72D297353CC}">
              <c16:uniqueId val="{00000000-AF88-4348-8696-5A67F3EFD30E}"/>
            </c:ext>
          </c:extLst>
        </c:ser>
        <c:dLbls>
          <c:showLegendKey val="0"/>
          <c:showVal val="0"/>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5039754899058669"/>
          <c:y val="1.0785303876998281E-2"/>
          <c:w val="0.61850526907820735"/>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0">
                  <c:v>2.2727272727272731E-2</c:v>
                </c:pt>
                <c:pt idx="1">
                  <c:v>0.10526315789473684</c:v>
                </c:pt>
                <c:pt idx="3">
                  <c:v>4.4444444444444446E-2</c:v>
                </c:pt>
                <c:pt idx="5">
                  <c:v>0.10526315789473684</c:v>
                </c:pt>
                <c:pt idx="6">
                  <c:v>9.0909090909090925E-2</c:v>
                </c:pt>
                <c:pt idx="7">
                  <c:v>6.6666666666666666E-2</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General</c:formatCode>
                <c:ptCount val="8"/>
                <c:pt idx="0" formatCode="0%">
                  <c:v>6.8181818181818177E-2</c:v>
                </c:pt>
                <c:pt idx="2" formatCode="0%">
                  <c:v>9.0909090909090925E-2</c:v>
                </c:pt>
                <c:pt idx="3" formatCode="0%">
                  <c:v>8.8888888888888892E-2</c:v>
                </c:pt>
                <c:pt idx="4" formatCode="0%">
                  <c:v>4.5454545454545463E-2</c:v>
                </c:pt>
                <c:pt idx="6" formatCode="0%">
                  <c:v>6.0606060606060608E-2</c:v>
                </c:pt>
                <c:pt idx="7" formatCode="0%">
                  <c:v>0.15555555555555556</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0.90909090909090906</c:v>
                </c:pt>
                <c:pt idx="1">
                  <c:v>0.84210526315789469</c:v>
                </c:pt>
                <c:pt idx="2">
                  <c:v>0.84848484848484851</c:v>
                </c:pt>
                <c:pt idx="3">
                  <c:v>0.8</c:v>
                </c:pt>
                <c:pt idx="4">
                  <c:v>0.93181818181818177</c:v>
                </c:pt>
                <c:pt idx="5">
                  <c:v>0.78947368421052633</c:v>
                </c:pt>
                <c:pt idx="6">
                  <c:v>0.78787878787878785</c:v>
                </c:pt>
                <c:pt idx="7">
                  <c:v>0.71111111111111114</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1</c:v>
                </c:pt>
                <c:pt idx="1">
                  <c:v>0.95</c:v>
                </c:pt>
                <c:pt idx="2">
                  <c:v>0.94</c:v>
                </c:pt>
                <c:pt idx="3">
                  <c:v>0.93333333333333335</c:v>
                </c:pt>
                <c:pt idx="4">
                  <c:v>0.98000000000000009</c:v>
                </c:pt>
                <c:pt idx="5">
                  <c:v>0.9</c:v>
                </c:pt>
                <c:pt idx="6">
                  <c:v>0.94000000000000006</c:v>
                </c:pt>
                <c:pt idx="7">
                  <c:v>0.93333333333333335</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Sheet1!$B$2:$B$9</c:f>
              <c:numCache>
                <c:formatCode>0%</c:formatCode>
                <c:ptCount val="8"/>
                <c:pt idx="0">
                  <c:v>2.2727272727272731E-2</c:v>
                </c:pt>
                <c:pt idx="1">
                  <c:v>0.10526315789473684</c:v>
                </c:pt>
                <c:pt idx="3">
                  <c:v>4.4444444444444446E-2</c:v>
                </c:pt>
                <c:pt idx="4">
                  <c:v>2.2727272727272731E-2</c:v>
                </c:pt>
                <c:pt idx="5">
                  <c:v>0.10526315789473684</c:v>
                </c:pt>
                <c:pt idx="6">
                  <c:v>3.0303030303030304E-2</c:v>
                </c:pt>
                <c:pt idx="7">
                  <c:v>2.2222222222222223E-2</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Sheet1!$C$2:$C$9</c:f>
              <c:numCache>
                <c:formatCode>General</c:formatCode>
                <c:ptCount val="8"/>
                <c:pt idx="0" formatCode="0%">
                  <c:v>4.5454545454545463E-2</c:v>
                </c:pt>
                <c:pt idx="2" formatCode="0%">
                  <c:v>9.0909090909090925E-2</c:v>
                </c:pt>
                <c:pt idx="3" formatCode="0%">
                  <c:v>0.15555555555555556</c:v>
                </c:pt>
                <c:pt idx="4" formatCode="0%">
                  <c:v>6.8181818181818177E-2</c:v>
                </c:pt>
                <c:pt idx="5" formatCode="0%">
                  <c:v>5.2631578947368418E-2</c:v>
                </c:pt>
                <c:pt idx="6" formatCode="0%">
                  <c:v>3.0303030303030304E-2</c:v>
                </c:pt>
                <c:pt idx="7" formatCode="0%">
                  <c:v>0.1111111111111111</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Sheet1!$D$2:$D$9</c:f>
              <c:numCache>
                <c:formatCode>0%</c:formatCode>
                <c:ptCount val="8"/>
                <c:pt idx="0">
                  <c:v>0.90909090909090906</c:v>
                </c:pt>
                <c:pt idx="1">
                  <c:v>0.78947368421052633</c:v>
                </c:pt>
                <c:pt idx="2">
                  <c:v>0.84848484848484851</c:v>
                </c:pt>
                <c:pt idx="3">
                  <c:v>0.71111111111111114</c:v>
                </c:pt>
                <c:pt idx="4">
                  <c:v>0.88636363636363646</c:v>
                </c:pt>
                <c:pt idx="5">
                  <c:v>0.78947368421052633</c:v>
                </c:pt>
                <c:pt idx="6">
                  <c:v>0.87878787878787878</c:v>
                </c:pt>
                <c:pt idx="7">
                  <c:v>0.75555555555555554</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Q2 2024 
(N=44)</c:v>
                </c:pt>
                <c:pt idx="1">
                  <c:v>Q3 2024 
(N=19)</c:v>
                </c:pt>
                <c:pt idx="2">
                  <c:v>Q4 2024 
(N=33)</c:v>
                </c:pt>
                <c:pt idx="3">
                  <c:v>Q1 2025
(N=45)</c:v>
                </c:pt>
                <c:pt idx="4">
                  <c:v>Q2 2024 
(N=44)</c:v>
                </c:pt>
                <c:pt idx="5">
                  <c:v>Q3 2024 
(N=19)</c:v>
                </c:pt>
                <c:pt idx="6">
                  <c:v>Q4 2024 
(N=33)</c:v>
                </c:pt>
                <c:pt idx="7">
                  <c:v>Q1 2025
(N=45)</c:v>
                </c:pt>
              </c:strCache>
            </c:strRef>
          </c:cat>
          <c:val>
            <c:numRef>
              <c:f>Sheet1!$E$2:$E$9</c:f>
              <c:numCache>
                <c:formatCode>0%</c:formatCode>
                <c:ptCount val="8"/>
                <c:pt idx="0">
                  <c:v>0.98</c:v>
                </c:pt>
                <c:pt idx="1">
                  <c:v>0.9</c:v>
                </c:pt>
                <c:pt idx="2">
                  <c:v>0.94</c:v>
                </c:pt>
                <c:pt idx="3">
                  <c:v>0.9111111111111112</c:v>
                </c:pt>
                <c:pt idx="4">
                  <c:v>0.98</c:v>
                </c:pt>
                <c:pt idx="5">
                  <c:v>0.95000000000000007</c:v>
                </c:pt>
                <c:pt idx="6">
                  <c:v>0.94</c:v>
                </c:pt>
                <c:pt idx="7">
                  <c:v>0.88888888888888884</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Sheet1!$B$2:$B$5</c:f>
              <c:numCache>
                <c:formatCode>0%</c:formatCode>
                <c:ptCount val="4"/>
                <c:pt idx="0">
                  <c:v>0.03</c:v>
                </c:pt>
                <c:pt idx="1">
                  <c:v>0.11</c:v>
                </c:pt>
                <c:pt idx="2">
                  <c:v>3.0303030303030304E-2</c:v>
                </c:pt>
                <c:pt idx="3">
                  <c:v>6.6666666666666666E-2</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Sheet1!$C$2:$C$5</c:f>
              <c:numCache>
                <c:formatCode>General</c:formatCode>
                <c:ptCount val="4"/>
                <c:pt idx="0" formatCode="0%">
                  <c:v>0.08</c:v>
                </c:pt>
                <c:pt idx="2" formatCode="0%">
                  <c:v>9.0909090909090925E-2</c:v>
                </c:pt>
                <c:pt idx="3" formatCode="0%">
                  <c:v>0.22222222222222221</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Sheet1!$D$2:$D$5</c:f>
              <c:numCache>
                <c:formatCode>0%</c:formatCode>
                <c:ptCount val="4"/>
                <c:pt idx="0">
                  <c:v>0.85</c:v>
                </c:pt>
                <c:pt idx="1">
                  <c:v>0.84</c:v>
                </c:pt>
                <c:pt idx="2">
                  <c:v>0.78787878787878785</c:v>
                </c:pt>
                <c:pt idx="3">
                  <c:v>0.6</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Q2 2024 
(N=44)</c:v>
                </c:pt>
                <c:pt idx="1">
                  <c:v>Q3 2024 
(N=19)</c:v>
                </c:pt>
                <c:pt idx="2">
                  <c:v>Q4 2024 
(N=33)</c:v>
                </c:pt>
                <c:pt idx="3">
                  <c:v>Q1 2025
(N=45)</c:v>
                </c:pt>
              </c:strCache>
            </c:strRef>
          </c:cat>
          <c:val>
            <c:numRef>
              <c:f>Sheet1!$E$2:$E$5</c:f>
              <c:numCache>
                <c:formatCode>0%</c:formatCode>
                <c:ptCount val="4"/>
                <c:pt idx="0">
                  <c:v>0.96</c:v>
                </c:pt>
                <c:pt idx="1">
                  <c:v>0.95</c:v>
                </c:pt>
                <c:pt idx="2">
                  <c:v>0.91</c:v>
                </c:pt>
                <c:pt idx="3">
                  <c:v>0.88888888888888884</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0.15909090909090909</c:v>
                </c:pt>
                <c:pt idx="1">
                  <c:v>2.2727272727272731E-2</c:v>
                </c:pt>
                <c:pt idx="2">
                  <c:v>0.81818181818181834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(N=19)</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0.36842105263157893</c:v>
                </c:pt>
                <c:pt idx="1">
                  <c:v>5.2631578947368418E-2</c:v>
                </c:pt>
                <c:pt idx="2">
                  <c:v>0.57894736842105265</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0.5757575757575758</c:v>
                </c:pt>
                <c:pt idx="1">
                  <c:v>0.15151515151515152</c:v>
                </c:pt>
                <c:pt idx="2">
                  <c:v>0.27272727272727271</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Q1 2025
(N=45)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0.42222222222222222</c:v>
                </c:pt>
                <c:pt idx="1">
                  <c:v>8.8888888888888892E-2</c:v>
                </c:pt>
                <c:pt idx="2">
                  <c:v>0.48888888888888887</c:v>
                </c:pt>
              </c:numCache>
            </c:numRef>
          </c:val>
          <c:extLst>
            <c:ext xmlns:c16="http://schemas.microsoft.com/office/drawing/2014/chart" uri="{C3380CC4-5D6E-409C-BE32-E72D297353CC}">
              <c16:uniqueId val="{00000000-A205-4F76-994F-922B6EF4212F}"/>
            </c:ext>
          </c:extLst>
        </c:ser>
        <c:dLbls>
          <c:showLegendKey val="0"/>
          <c:showVal val="0"/>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78944408264758"/>
          <c:h val="7.9494483465683302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Q2 2024
(n=8)</c:v>
                </c:pt>
              </c:strCache>
            </c:strRef>
          </c:tx>
          <c:spPr>
            <a:solidFill>
              <a:srgbClr val="FFC003"/>
            </a:solidFill>
            <a:ln w="20893">
              <a:noFill/>
            </a:ln>
          </c:spPr>
          <c:invertIfNegative val="0"/>
          <c:dLbls>
            <c:dLbl>
              <c:idx val="0"/>
              <c:layout>
                <c:manualLayout>
                  <c:x val="-1.8796992481203006E-2"/>
                  <c:y val="-2.43362516253443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A3B-4672-93AE-F5A1DBB78370}"/>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0.875</c:v>
                </c:pt>
                <c:pt idx="1">
                  <c:v>0.125</c:v>
                </c:pt>
                <c:pt idx="2">
                  <c:v>0</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(n=8)</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0.875</c:v>
                </c:pt>
                <c:pt idx="1">
                  <c:v>0.125</c:v>
                </c:pt>
                <c:pt idx="2">
                  <c:v>0</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Q4 2024
(n=24)</c:v>
                </c:pt>
              </c:strCache>
            </c:strRef>
          </c:tx>
          <c:spPr>
            <a:solidFill>
              <a:srgbClr val="00CC99"/>
            </a:solidFill>
          </c:spPr>
          <c:invertIfNegative val="0"/>
          <c:dLbls>
            <c:dLbl>
              <c:idx val="0"/>
              <c:layout>
                <c:manualLayout>
                  <c:x val="1.1278195488721804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A3B-4672-93AE-F5A1DBB7837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Sheet1!$D$2:$D$3</c:f>
              <c:numCache>
                <c:formatCode>0%</c:formatCode>
                <c:ptCount val="2"/>
                <c:pt idx="0">
                  <c:v>0.79166666666666663</c:v>
                </c:pt>
                <c:pt idx="1">
                  <c:v>0.20833333333333334</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Q1 2025
(n=23)</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dLbl>
              <c:idx val="0"/>
              <c:layout>
                <c:manualLayout>
                  <c:x val="1.3157894736842072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746-504A-BA49-89DD2B9F1447}"/>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0.78260869565217395</c:v>
                </c:pt>
                <c:pt idx="1">
                  <c:v>8.6956521739130432E-2</c:v>
                </c:pt>
                <c:pt idx="2">
                  <c:v>0.13043478260869565</c:v>
                </c:pt>
              </c:numCache>
            </c:numRef>
          </c:val>
          <c:extLst>
            <c:ext xmlns:c16="http://schemas.microsoft.com/office/drawing/2014/chart" uri="{C3380CC4-5D6E-409C-BE32-E72D297353CC}">
              <c16:uniqueId val="{00000001-9A02-4932-A087-5B84C8851181}"/>
            </c:ext>
          </c:extLst>
        </c:ser>
        <c:dLbls>
          <c:showLegendKey val="0"/>
          <c:showVal val="0"/>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61676025694156655"/>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Q3 2024
(N=19)</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0.94736842105263153</c:v>
                </c:pt>
                <c:pt idx="1">
                  <c:v>5.2631578947368418E-2</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0.96969696969696972</c:v>
                </c:pt>
                <c:pt idx="1">
                  <c:v>3.0303030303030304E-2</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Q1 2025
(N=45)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0.9555555555555556</c:v>
                </c:pt>
                <c:pt idx="1">
                  <c:v>4.4444444444444446E-2</c:v>
                </c:pt>
              </c:numCache>
            </c:numRef>
          </c:val>
          <c:extLst>
            <c:ext xmlns:c16="http://schemas.microsoft.com/office/drawing/2014/chart" uri="{C3380CC4-5D6E-409C-BE32-E72D297353CC}">
              <c16:uniqueId val="{00000003-B3BC-4399-9949-26421AA520BC}"/>
            </c:ext>
          </c:extLst>
        </c:ser>
        <c:dLbls>
          <c:showLegendKey val="0"/>
          <c:showVal val="0"/>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Sheet1!$B$2:$B$18</c:f>
              <c:numCache>
                <c:formatCode>General</c:formatCode>
                <c:ptCount val="17"/>
                <c:pt idx="0" formatCode="0%">
                  <c:v>9.0909090909090925E-2</c:v>
                </c:pt>
                <c:pt idx="2" formatCode="0%">
                  <c:v>0.1875</c:v>
                </c:pt>
                <c:pt idx="16" formatCode="0%">
                  <c:v>0.18604651162790697</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Sheet1!$C$2:$C$18</c:f>
              <c:numCache>
                <c:formatCode>0%</c:formatCode>
                <c:ptCount val="17"/>
                <c:pt idx="0">
                  <c:v>0.11363636363636363</c:v>
                </c:pt>
                <c:pt idx="1">
                  <c:v>0.1111111111111111</c:v>
                </c:pt>
                <c:pt idx="2">
                  <c:v>3.125E-2</c:v>
                </c:pt>
                <c:pt idx="16">
                  <c:v>9.3023255813953487E-2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Sheet1!$D$2:$D$18</c:f>
              <c:numCache>
                <c:formatCode>0%</c:formatCode>
                <c:ptCount val="17"/>
                <c:pt idx="0">
                  <c:v>0.52272727272727271</c:v>
                </c:pt>
                <c:pt idx="1">
                  <c:v>0.55555555555555558</c:v>
                </c:pt>
                <c:pt idx="2">
                  <c:v>0.53125</c:v>
                </c:pt>
                <c:pt idx="16">
                  <c:v>0.48837209302325579</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Column1</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Sheet1!$E$2:$E$18</c:f>
              <c:numCache>
                <c:formatCode>0%</c:formatCode>
                <c:ptCount val="17"/>
                <c:pt idx="0">
                  <c:v>0.72</c:v>
                </c:pt>
                <c:pt idx="1">
                  <c:v>0.67</c:v>
                </c:pt>
                <c:pt idx="2">
                  <c:v>0.75</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Sheet1!$F$2:$F$18</c:f>
              <c:numCache>
                <c:formatCode>General</c:formatCode>
                <c:ptCount val="17"/>
                <c:pt idx="16" formatCode="0%">
                  <c:v>0.76744186046511631</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Sheet1!$B$2:$B$5</c:f>
              <c:numCache>
                <c:formatCode>0%</c:formatCode>
                <c:ptCount val="4"/>
                <c:pt idx="1">
                  <c:v>0.11</c:v>
                </c:pt>
                <c:pt idx="2">
                  <c:v>9.0909090909090925E-2</c:v>
                </c:pt>
                <c:pt idx="3">
                  <c:v>0.13333333333333333</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Sheet1!$C$2:$C$5</c:f>
              <c:numCache>
                <c:formatCode>0%</c:formatCode>
                <c:ptCount val="4"/>
                <c:pt idx="0">
                  <c:v>0.02</c:v>
                </c:pt>
                <c:pt idx="1">
                  <c:v>0.11</c:v>
                </c:pt>
                <c:pt idx="2">
                  <c:v>9.0909090909090925E-2</c:v>
                </c:pt>
                <c:pt idx="3">
                  <c:v>6.6666666666666666E-2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Sheet1!$D$2:$D$5</c:f>
              <c:numCache>
                <c:formatCode>0%</c:formatCode>
                <c:ptCount val="4"/>
                <c:pt idx="0">
                  <c:v>0.27</c:v>
                </c:pt>
                <c:pt idx="1">
                  <c:v>0.16</c:v>
                </c:pt>
                <c:pt idx="2">
                  <c:v>0.33333333333333331</c:v>
                </c:pt>
                <c:pt idx="3">
                  <c:v>0.28888888888888886</c:v>
                </c:pt>
              </c:numCache>
            </c:numRef>
          </c:val>
          <c:extLst>
            <c:ext xmlns:c16="http://schemas.microsoft.com/office/drawing/2014/chart" uri="{C3380CC4-5D6E-409C-BE32-E72D297353CC}">
              <c16:uniqueId val="{00000003-9512-4180-AFC8-C9702FFCB6FC}"/>
            </c:ext>
          </c:extLst>
        </c:ser>
        <c:ser>
          <c:idx val="3"/>
          <c:order val="3"/>
          <c:tx>
            <c:strRef>
              <c:f>Sheet1!$E$1</c:f>
              <c:strCache>
                <c:ptCount val="1"/>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Sheet1!$E$2:$E$5</c:f>
              <c:numCache>
                <c:formatCode>0%</c:formatCode>
                <c:ptCount val="4"/>
                <c:pt idx="0">
                  <c:v>0.29000000000000004</c:v>
                </c:pt>
                <c:pt idx="1">
                  <c:v>0.38</c:v>
                </c:pt>
                <c:pt idx="2">
                  <c:v>0.51</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Sheet1!$F$2:$F$5</c:f>
              <c:numCache>
                <c:formatCode>General</c:formatCode>
                <c:ptCount val="4"/>
                <c:pt idx="3" formatCode="0%">
                  <c:v>0.48888888888888887</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Sheet1!$B$2:$B$18</c:f>
              <c:numCache>
                <c:formatCode>General</c:formatCode>
                <c:ptCount val="17"/>
                <c:pt idx="16" formatCode="0%">
                  <c:v>4.4444444444444446E-2</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Sheet1!$C$2:$C$18</c:f>
              <c:numCache>
                <c:formatCode>0%</c:formatCode>
                <c:ptCount val="17"/>
                <c:pt idx="0">
                  <c:v>6.8181818181818177E-2</c:v>
                </c:pt>
                <c:pt idx="1">
                  <c:v>5.2631578947368418E-2</c:v>
                </c:pt>
                <c:pt idx="16">
                  <c:v>6.6666666666666666E-2</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Sheet1!$D$2:$D$18</c:f>
              <c:numCache>
                <c:formatCode>0%</c:formatCode>
                <c:ptCount val="17"/>
                <c:pt idx="0">
                  <c:v>0.47727272727272729</c:v>
                </c:pt>
                <c:pt idx="1">
                  <c:v>0.36842105263157893</c:v>
                </c:pt>
                <c:pt idx="2">
                  <c:v>0.33</c:v>
                </c:pt>
                <c:pt idx="16">
                  <c:v>0.35555555555555557</c:v>
                </c:pt>
              </c:numCache>
            </c:numRef>
          </c:val>
          <c:extLst>
            <c:ext xmlns:c16="http://schemas.microsoft.com/office/drawing/2014/chart" uri="{C3380CC4-5D6E-409C-BE32-E72D297353CC}">
              <c16:uniqueId val="{00000002-D709-46B7-8D5F-DCA6F61C30BE}"/>
            </c:ext>
          </c:extLst>
        </c:ser>
        <c:ser>
          <c:idx val="3"/>
          <c:order val="3"/>
          <c:tx>
            <c:strRef>
              <c:f>Sheet1!$E$1</c:f>
              <c:strCache>
                <c:ptCount val="1"/>
                <c:pt idx="0">
                  <c:v>Column1</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Sheet1!$E$2:$E$18</c:f>
              <c:numCache>
                <c:formatCode>0%</c:formatCode>
                <c:ptCount val="17"/>
                <c:pt idx="0">
                  <c:v>0.55000000000000004</c:v>
                </c:pt>
                <c:pt idx="1">
                  <c:v>0.42</c:v>
                </c:pt>
                <c:pt idx="2">
                  <c:v>0.33</c:v>
                </c:pt>
              </c:numCache>
            </c:numRef>
          </c:val>
          <c:extLst>
            <c:ext xmlns:c16="http://schemas.microsoft.com/office/drawing/2014/chart" uri="{C3380CC4-5D6E-409C-BE32-E72D297353CC}">
              <c16:uniqueId val="{00000003-D709-46B7-8D5F-DCA6F61C30BE}"/>
            </c:ext>
          </c:extLst>
        </c:ser>
        <c:ser>
          <c:idx val="4"/>
          <c:order val="4"/>
          <c:tx>
            <c:strRef>
              <c:f>Sheet1!$F$1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Q2 2024
(N=44)</c:v>
                </c:pt>
                <c:pt idx="1">
                  <c:v>Q3 2024
(N=19)</c:v>
                </c:pt>
                <c:pt idx="2">
                  <c:v>Q4 2024
(N=33)</c:v>
                </c:pt>
                <c:pt idx="16">
                  <c:v>Q1 2025
(N=45)</c:v>
                </c:pt>
              </c:strCache>
            </c:strRef>
          </c:cat>
          <c:val>
            <c:numRef>
              <c:f>Sheet1!$F$2:$F$18</c:f>
              <c:numCache>
                <c:formatCode>General</c:formatCode>
                <c:ptCount val="17"/>
                <c:pt idx="16" formatCode="0%">
                  <c:v>0.46666666666666667</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Q1 2025
(N=45)</c:v>
                </c:pt>
              </c:strCache>
            </c:strRef>
          </c:tx>
          <c:spPr>
            <a:solidFill>
              <a:schemeClr val="tx1"/>
            </a:solidFill>
            <a:ln w="21264">
              <a:noFill/>
            </a:ln>
          </c:spPr>
          <c:invertIfNegative val="0"/>
          <c:dLbls>
            <c:dLbl>
              <c:idx val="0"/>
              <c:layout>
                <c:manualLayout>
                  <c:x val="1.1134420658704729E-2"/>
                  <c:y val="3.831417624521072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2498-46B6-9C63-2CEDD08F99FB}"/>
                </c:ext>
              </c:extLst>
            </c:dLbl>
            <c:dLbl>
              <c:idx val="1"/>
              <c:layout>
                <c:manualLayout>
                  <c:x val="9.2786838822539394E-3"/>
                  <c:y val="-1.915708812260536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2498-46B6-9C63-2CEDD08F99FB}"/>
                </c:ext>
              </c:extLst>
            </c:dLbl>
            <c:dLbl>
              <c:idx val="2"/>
              <c:layout>
                <c:manualLayout>
                  <c:x val="-5.567210329352398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2498-46B6-9C63-2CEDD08F99FB}"/>
                </c:ext>
              </c:extLst>
            </c:dLbl>
            <c:dLbl>
              <c:idx val="3"/>
              <c:layout>
                <c:manualLayout>
                  <c:x val="-5.5672103293523982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FD5-9B4B-B15F-370C6B41CFCF}"/>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498-46B6-9C63-2CEDD08F99FB}"/>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498-46B6-9C63-2CEDD08F99FB}"/>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498-46B6-9C63-2CEDD08F99FB}"/>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498-46B6-9C63-2CEDD08F99FB}"/>
                </c:ext>
              </c:extLst>
            </c:dLbl>
            <c:dLbl>
              <c:idx val="10"/>
              <c:layout>
                <c:manualLayout>
                  <c:x val="0"/>
                  <c:y val="5.747126436781574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D5-9B4B-B15F-370C6B41CFCF}"/>
                </c:ext>
              </c:extLst>
            </c:dLbl>
            <c:dLbl>
              <c:idx val="11"/>
              <c:layout>
                <c:manualLayout>
                  <c:x val="0"/>
                  <c:y val="-3.5120922504882739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Austin Energy called me</c:v>
                </c:pt>
                <c:pt idx="3">
                  <c:v>Email</c:v>
                </c:pt>
                <c:pt idx="4">
                  <c:v>Neighborhood event</c:v>
                </c:pt>
                <c:pt idx="5">
                  <c:v>Referred</c:v>
                </c:pt>
                <c:pt idx="6">
                  <c:v>Social sevice agency referral</c:v>
                </c:pt>
                <c:pt idx="7">
                  <c:v>Utility Contact Center</c:v>
                </c:pt>
                <c:pt idx="8">
                  <c:v>Utility bill insert/mail</c:v>
                </c:pt>
                <c:pt idx="9">
                  <c:v>On City's website</c:v>
                </c:pt>
                <c:pt idx="10">
                  <c:v>Word of mouth</c:v>
                </c:pt>
                <c:pt idx="11">
                  <c:v>Austin Energy's website</c:v>
                </c:pt>
                <c:pt idx="12">
                  <c:v>On city's website</c:v>
                </c:pt>
                <c:pt idx="13">
                  <c:v>Utility bill insert</c:v>
                </c:pt>
                <c:pt idx="14">
                  <c:v>I called them</c:v>
                </c:pt>
                <c:pt idx="15">
                  <c:v>Utility Contact Center </c:v>
                </c:pt>
              </c:strCache>
            </c:strRef>
          </c:cat>
          <c:val>
            <c:numRef>
              <c:f>Sheet1!$B$2:$B$17</c:f>
              <c:numCache>
                <c:formatCode>0%</c:formatCode>
                <c:ptCount val="16"/>
                <c:pt idx="0">
                  <c:v>0</c:v>
                </c:pt>
                <c:pt idx="1">
                  <c:v>2.2222222222222223E-2</c:v>
                </c:pt>
                <c:pt idx="2">
                  <c:v>2.2222222222222223E-2</c:v>
                </c:pt>
                <c:pt idx="3">
                  <c:v>2.2222222222222223E-2</c:v>
                </c:pt>
                <c:pt idx="4">
                  <c:v>2.2222222222222223E-2</c:v>
                </c:pt>
                <c:pt idx="5">
                  <c:v>2.2222222222222223E-2</c:v>
                </c:pt>
                <c:pt idx="6">
                  <c:v>2.2222222222222223E-2</c:v>
                </c:pt>
                <c:pt idx="7">
                  <c:v>4.4444444444444446E-2</c:v>
                </c:pt>
                <c:pt idx="8">
                  <c:v>4.4444444444444446E-2</c:v>
                </c:pt>
                <c:pt idx="9">
                  <c:v>8.8888888888888892E-2</c:v>
                </c:pt>
                <c:pt idx="10">
                  <c:v>0.15555555555555556</c:v>
                </c:pt>
                <c:pt idx="11">
                  <c:v>0.53333333333333333</c:v>
                </c:pt>
                <c:pt idx="12">
                  <c:v>0</c:v>
                </c:pt>
                <c:pt idx="13">
                  <c:v>0</c:v>
                </c:pt>
                <c:pt idx="14">
                  <c:v>0</c:v>
                </c:pt>
                <c:pt idx="15">
                  <c:v>0</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Q4 2024
(N=33)</c:v>
                </c:pt>
              </c:strCache>
            </c:strRef>
          </c:tx>
          <c:spPr>
            <a:solidFill>
              <a:srgbClr val="00CC99"/>
            </a:solidFill>
          </c:spPr>
          <c:invertIfNegative val="0"/>
          <c:dLbls>
            <c:dLbl>
              <c:idx val="0"/>
              <c:layout>
                <c:manualLayout>
                  <c:x val="1.1134420658704729E-2"/>
                  <c:y val="-1.4048369001953096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FD5-9B4B-B15F-370C6B41CFCF}"/>
                </c:ext>
              </c:extLst>
            </c:dLbl>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A05-294F-B2B7-24B10EF57FC1}"/>
                </c:ext>
              </c:extLst>
            </c:dLbl>
            <c:dLbl>
              <c:idx val="2"/>
              <c:layout>
                <c:manualLayout>
                  <c:x val="2.598031487031099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FD5-9B4B-B15F-370C6B41CFCF}"/>
                </c:ext>
              </c:extLst>
            </c:dLbl>
            <c:dLbl>
              <c:idx val="5"/>
              <c:layout>
                <c:manualLayout>
                  <c:x val="5.5672103293523643E-3"/>
                  <c:y val="1.91570881226046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854-2147-903F-0829DBEE9518}"/>
                </c:ext>
              </c:extLst>
            </c:dLbl>
            <c:dLbl>
              <c:idx val="11"/>
              <c:layout>
                <c:manualLayout>
                  <c:x val="9.4642575598990183E-2"/>
                  <c:y val="-4.7892720306513406E-3"/>
                </c:manualLayout>
              </c:layout>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3.9387940019664967E-2"/>
                      <c:h val="2.3122605363984673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Austin Energy called me</c:v>
                </c:pt>
                <c:pt idx="3">
                  <c:v>Email</c:v>
                </c:pt>
                <c:pt idx="4">
                  <c:v>Neighborhood event</c:v>
                </c:pt>
                <c:pt idx="5">
                  <c:v>Referred</c:v>
                </c:pt>
                <c:pt idx="6">
                  <c:v>Social sevice agency referral</c:v>
                </c:pt>
                <c:pt idx="7">
                  <c:v>Utility Contact Center</c:v>
                </c:pt>
                <c:pt idx="8">
                  <c:v>Utility bill insert/mail</c:v>
                </c:pt>
                <c:pt idx="9">
                  <c:v>On City's website</c:v>
                </c:pt>
                <c:pt idx="10">
                  <c:v>Word of mouth</c:v>
                </c:pt>
                <c:pt idx="11">
                  <c:v>Austin Energy's website</c:v>
                </c:pt>
                <c:pt idx="12">
                  <c:v>On city's website</c:v>
                </c:pt>
                <c:pt idx="13">
                  <c:v>Utility bill insert</c:v>
                </c:pt>
                <c:pt idx="14">
                  <c:v>I called them</c:v>
                </c:pt>
                <c:pt idx="15">
                  <c:v>Utility Contact Center </c:v>
                </c:pt>
              </c:strCache>
            </c:strRef>
          </c:cat>
          <c:val>
            <c:numRef>
              <c:f>Sheet1!$C$2:$C$17</c:f>
              <c:numCache>
                <c:formatCode>0%</c:formatCode>
                <c:ptCount val="16"/>
                <c:pt idx="0">
                  <c:v>0</c:v>
                </c:pt>
                <c:pt idx="1">
                  <c:v>0</c:v>
                </c:pt>
                <c:pt idx="2">
                  <c:v>0</c:v>
                </c:pt>
                <c:pt idx="3">
                  <c:v>0</c:v>
                </c:pt>
                <c:pt idx="4">
                  <c:v>0</c:v>
                </c:pt>
                <c:pt idx="5">
                  <c:v>0</c:v>
                </c:pt>
                <c:pt idx="6">
                  <c:v>0</c:v>
                </c:pt>
                <c:pt idx="7">
                  <c:v>0</c:v>
                </c:pt>
                <c:pt idx="8">
                  <c:v>0</c:v>
                </c:pt>
                <c:pt idx="9">
                  <c:v>0</c:v>
                </c:pt>
                <c:pt idx="10">
                  <c:v>0.09</c:v>
                </c:pt>
                <c:pt idx="11">
                  <c:v>0.67</c:v>
                </c:pt>
                <c:pt idx="12">
                  <c:v>0</c:v>
                </c:pt>
                <c:pt idx="13">
                  <c:v>0</c:v>
                </c:pt>
                <c:pt idx="14">
                  <c:v>0.06</c:v>
                </c:pt>
                <c:pt idx="15">
                  <c:v>0.18</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Q3 2024
(N=19)</c:v>
                </c:pt>
              </c:strCache>
            </c:strRef>
          </c:tx>
          <c:spPr>
            <a:solidFill>
              <a:srgbClr val="3233CC"/>
            </a:solidFill>
          </c:spPr>
          <c:invertIfNegative val="0"/>
          <c:dLbls>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AF9-D842-945D-F49A2F6B2AE1}"/>
                </c:ext>
              </c:extLst>
            </c:dLbl>
            <c:dLbl>
              <c:idx val="2"/>
              <c:layout>
                <c:manualLayout>
                  <c:x val="-5.5672103293523982E-3"/>
                  <c:y val="-1.91570881226067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FD5-9B4B-B15F-370C6B41CFCF}"/>
                </c:ext>
              </c:extLst>
            </c:dLbl>
            <c:dLbl>
              <c:idx val="5"/>
              <c:layout>
                <c:manualLayout>
                  <c:x val="3.7114735529015759E-3"/>
                  <c:y val="-7.0241845009765478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FD5-9B4B-B15F-370C6B41CFCF}"/>
                </c:ext>
              </c:extLst>
            </c:dLbl>
            <c:dLbl>
              <c:idx val="8"/>
              <c:layout>
                <c:manualLayout>
                  <c:x val="1.6701630988057093E-2"/>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D5-9B4B-B15F-370C6B41CFCF}"/>
                </c:ext>
              </c:extLst>
            </c:dLbl>
            <c:dLbl>
              <c:idx val="11"/>
              <c:layout>
                <c:manualLayout>
                  <c:x val="2.7836051646761787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D5-9B4B-B15F-370C6B41CFCF}"/>
                </c:ext>
              </c:extLst>
            </c:dLbl>
            <c:dLbl>
              <c:idx val="12"/>
              <c:layout>
                <c:manualLayout>
                  <c:x val="1.670163098805709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Austin Energy called me</c:v>
                </c:pt>
                <c:pt idx="3">
                  <c:v>Email</c:v>
                </c:pt>
                <c:pt idx="4">
                  <c:v>Neighborhood event</c:v>
                </c:pt>
                <c:pt idx="5">
                  <c:v>Referred</c:v>
                </c:pt>
                <c:pt idx="6">
                  <c:v>Social sevice agency referral</c:v>
                </c:pt>
                <c:pt idx="7">
                  <c:v>Utility Contact Center</c:v>
                </c:pt>
                <c:pt idx="8">
                  <c:v>Utility bill insert/mail</c:v>
                </c:pt>
                <c:pt idx="9">
                  <c:v>On City's website</c:v>
                </c:pt>
                <c:pt idx="10">
                  <c:v>Word of mouth</c:v>
                </c:pt>
                <c:pt idx="11">
                  <c:v>Austin Energy's website</c:v>
                </c:pt>
                <c:pt idx="12">
                  <c:v>On city's website</c:v>
                </c:pt>
                <c:pt idx="13">
                  <c:v>Utility bill insert</c:v>
                </c:pt>
                <c:pt idx="14">
                  <c:v>I called them</c:v>
                </c:pt>
                <c:pt idx="15">
                  <c:v>Utility Contact Center </c:v>
                </c:pt>
              </c:strCache>
            </c:strRef>
          </c:cat>
          <c:val>
            <c:numRef>
              <c:f>Sheet1!$D$2:$D$17</c:f>
              <c:numCache>
                <c:formatCode>0%</c:formatCode>
                <c:ptCount val="16"/>
                <c:pt idx="0">
                  <c:v>0.11</c:v>
                </c:pt>
                <c:pt idx="1">
                  <c:v>0.05</c:v>
                </c:pt>
                <c:pt idx="2">
                  <c:v>0</c:v>
                </c:pt>
                <c:pt idx="3">
                  <c:v>0.05</c:v>
                </c:pt>
                <c:pt idx="4">
                  <c:v>0</c:v>
                </c:pt>
                <c:pt idx="5">
                  <c:v>0</c:v>
                </c:pt>
                <c:pt idx="6">
                  <c:v>0</c:v>
                </c:pt>
                <c:pt idx="7">
                  <c:v>0</c:v>
                </c:pt>
                <c:pt idx="8">
                  <c:v>0</c:v>
                </c:pt>
                <c:pt idx="9">
                  <c:v>0</c:v>
                </c:pt>
                <c:pt idx="10">
                  <c:v>0.11</c:v>
                </c:pt>
                <c:pt idx="11">
                  <c:v>0.57999999999999996</c:v>
                </c:pt>
                <c:pt idx="12">
                  <c:v>0</c:v>
                </c:pt>
                <c:pt idx="13">
                  <c:v>0.05</c:v>
                </c:pt>
                <c:pt idx="14">
                  <c:v>0.05</c:v>
                </c:pt>
                <c:pt idx="15">
                  <c:v>0</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Q2 2024
(N=44)</c:v>
                </c:pt>
              </c:strCache>
            </c:strRef>
          </c:tx>
          <c:spPr>
            <a:solidFill>
              <a:srgbClr val="FFC003"/>
            </a:solidFill>
          </c:spPr>
          <c:invertIfNegative val="0"/>
          <c:dLbls>
            <c:dLbl>
              <c:idx val="1"/>
              <c:layout>
                <c:manualLayout>
                  <c:x val="-1.855736776450788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AF9-D842-945D-F49A2F6B2AE1}"/>
                </c:ext>
              </c:extLst>
            </c:dLbl>
            <c:dLbl>
              <c:idx val="5"/>
              <c:layout>
                <c:manualLayout>
                  <c:x val="-5.5672103293523982E-3"/>
                  <c:y val="-1.91570881226053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FD5-9B4B-B15F-370C6B41CFCF}"/>
                </c:ext>
              </c:extLst>
            </c:dLbl>
            <c:dLbl>
              <c:idx val="6"/>
              <c:layout>
                <c:manualLayout>
                  <c:x val="-5.5672103293523982E-3"/>
                  <c:y val="-5.747126436781679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FD5-9B4B-B15F-370C6B41CFCF}"/>
                </c:ext>
              </c:extLst>
            </c:dLbl>
            <c:dLbl>
              <c:idx val="8"/>
              <c:layout>
                <c:manualLayout>
                  <c:x val="-5.5672103293523982E-3"/>
                  <c:y val="-7.66283524904214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FD5-9B4B-B15F-370C6B41CFCF}"/>
                </c:ext>
              </c:extLst>
            </c:dLbl>
            <c:dLbl>
              <c:idx val="9"/>
              <c:layout>
                <c:manualLayout>
                  <c:x val="1.6701630988057093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96-5445-9E8E-B4E6C15FCE73}"/>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Austin Energy called me</c:v>
                </c:pt>
                <c:pt idx="3">
                  <c:v>Email</c:v>
                </c:pt>
                <c:pt idx="4">
                  <c:v>Neighborhood event</c:v>
                </c:pt>
                <c:pt idx="5">
                  <c:v>Referred</c:v>
                </c:pt>
                <c:pt idx="6">
                  <c:v>Social sevice agency referral</c:v>
                </c:pt>
                <c:pt idx="7">
                  <c:v>Utility Contact Center</c:v>
                </c:pt>
                <c:pt idx="8">
                  <c:v>Utility bill insert/mail</c:v>
                </c:pt>
                <c:pt idx="9">
                  <c:v>On City's website</c:v>
                </c:pt>
                <c:pt idx="10">
                  <c:v>Word of mouth</c:v>
                </c:pt>
                <c:pt idx="11">
                  <c:v>Austin Energy's website</c:v>
                </c:pt>
                <c:pt idx="12">
                  <c:v>On city's website</c:v>
                </c:pt>
                <c:pt idx="13">
                  <c:v>Utility bill insert</c:v>
                </c:pt>
                <c:pt idx="14">
                  <c:v>I called them</c:v>
                </c:pt>
                <c:pt idx="15">
                  <c:v>Utility Contact Center </c:v>
                </c:pt>
              </c:strCache>
            </c:strRef>
          </c:cat>
          <c:val>
            <c:numRef>
              <c:f>Sheet1!$E$2:$E$17</c:f>
              <c:numCache>
                <c:formatCode>0%</c:formatCode>
                <c:ptCount val="16"/>
                <c:pt idx="0">
                  <c:v>0.11</c:v>
                </c:pt>
                <c:pt idx="1">
                  <c:v>7.0000000000000007E-2</c:v>
                </c:pt>
                <c:pt idx="2">
                  <c:v>0.02</c:v>
                </c:pt>
                <c:pt idx="3">
                  <c:v>0</c:v>
                </c:pt>
                <c:pt idx="4">
                  <c:v>0</c:v>
                </c:pt>
                <c:pt idx="5">
                  <c:v>0</c:v>
                </c:pt>
                <c:pt idx="6">
                  <c:v>0</c:v>
                </c:pt>
                <c:pt idx="7">
                  <c:v>0</c:v>
                </c:pt>
                <c:pt idx="8">
                  <c:v>0</c:v>
                </c:pt>
                <c:pt idx="9">
                  <c:v>0</c:v>
                </c:pt>
                <c:pt idx="10">
                  <c:v>0</c:v>
                </c:pt>
                <c:pt idx="11">
                  <c:v>0.5</c:v>
                </c:pt>
                <c:pt idx="12">
                  <c:v>0.09</c:v>
                </c:pt>
                <c:pt idx="13">
                  <c:v>0</c:v>
                </c:pt>
                <c:pt idx="14">
                  <c:v>0.02</c:v>
                </c:pt>
                <c:pt idx="15">
                  <c:v>0.18</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Q2 2024
(N=44)</c:v>
                </c:pt>
              </c:strCache>
            </c:strRef>
          </c:tx>
          <c:spPr>
            <a:solidFill>
              <a:srgbClr val="FFC003"/>
            </a:solidFill>
            <a:ln w="21264">
              <a:noFill/>
            </a:ln>
          </c:spPr>
          <c:invertIfNegative val="0"/>
          <c:dLbls>
            <c:dLbl>
              <c:idx val="1"/>
              <c:layout>
                <c:manualLayout>
                  <c:x val="1.8726959020547603E-2"/>
                  <c:y val="1.455009646630856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2D-8F45-BEA4-DD7B6F0918C9}"/>
                </c:ext>
              </c:extLst>
            </c:dLbl>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Contractors</c:v>
                </c:pt>
                <c:pt idx="4">
                  <c:v>Mall advertisement</c:v>
                </c:pt>
                <c:pt idx="5">
                  <c:v>Television</c:v>
                </c:pt>
                <c:pt idx="6">
                  <c:v>On City’s website</c:v>
                </c:pt>
                <c:pt idx="7">
                  <c:v>Radio</c:v>
                </c:pt>
                <c:pt idx="8">
                  <c:v>Newspaper advertisement</c:v>
                </c:pt>
                <c:pt idx="9">
                  <c:v>AE Customer Assistance Program (CAPS)</c:v>
                </c:pt>
                <c:pt idx="10">
                  <c:v>All other </c:v>
                </c:pt>
                <c:pt idx="11">
                  <c:v>Do not know</c:v>
                </c:pt>
                <c:pt idx="12">
                  <c:v>All other</c:v>
                </c:pt>
              </c:strCache>
            </c:strRef>
          </c:cat>
          <c:val>
            <c:numRef>
              <c:f>Sheet1!$B$2:$B$14</c:f>
              <c:numCache>
                <c:formatCode>0%</c:formatCode>
                <c:ptCount val="13"/>
                <c:pt idx="0">
                  <c:v>0.29545454545454547</c:v>
                </c:pt>
                <c:pt idx="1">
                  <c:v>0.22727272727272727</c:v>
                </c:pt>
                <c:pt idx="2">
                  <c:v>0.25</c:v>
                </c:pt>
                <c:pt idx="3">
                  <c:v>2.2727272727272731E-2</c:v>
                </c:pt>
                <c:pt idx="4">
                  <c:v>0</c:v>
                </c:pt>
                <c:pt idx="5">
                  <c:v>2.2727272727272731E-2</c:v>
                </c:pt>
                <c:pt idx="6">
                  <c:v>0</c:v>
                </c:pt>
                <c:pt idx="7">
                  <c:v>6.8181818181818177E-2</c:v>
                </c:pt>
                <c:pt idx="8">
                  <c:v>0</c:v>
                </c:pt>
                <c:pt idx="9">
                  <c:v>0</c:v>
                </c:pt>
                <c:pt idx="10">
                  <c:v>0.11363636363636363</c:v>
                </c:pt>
                <c:pt idx="11">
                  <c:v>2.2727272727272728E-2</c:v>
                </c:pt>
                <c:pt idx="12">
                  <c:v>0</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Q3 2024
(N=19)</c:v>
                </c:pt>
              </c:strCache>
            </c:strRef>
          </c:tx>
          <c:spPr>
            <a:solidFill>
              <a:srgbClr val="3233CC"/>
            </a:solidFill>
          </c:spPr>
          <c:invertIfNegative val="0"/>
          <c:dLbls>
            <c:dLbl>
              <c:idx val="0"/>
              <c:layout>
                <c:manualLayout>
                  <c:x val="1.8726959020547603E-2"/>
                  <c:y val="-4.7615298087738886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378F-9347-9FC8-FB69A09104DE}"/>
                </c:ext>
              </c:extLst>
            </c:dLbl>
            <c:dLbl>
              <c:idx val="1"/>
              <c:layout>
                <c:manualLayout>
                  <c:x val="6.804289576585734E-17"/>
                  <c:y val="6.3437269936690507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85E4-9746-BF4E-478D43DF2CB2}"/>
                </c:ext>
              </c:extLst>
            </c:dLbl>
            <c:dLbl>
              <c:idx val="11"/>
              <c:layout>
                <c:manualLayout>
                  <c:x val="7.4229471058030842E-3"/>
                  <c:y val="0"/>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85E4-9746-BF4E-478D43DF2CB2}"/>
                </c:ext>
              </c:extLst>
            </c:dLbl>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Contractors</c:v>
                </c:pt>
                <c:pt idx="4">
                  <c:v>Mall advertisement</c:v>
                </c:pt>
                <c:pt idx="5">
                  <c:v>Television</c:v>
                </c:pt>
                <c:pt idx="6">
                  <c:v>On City’s website</c:v>
                </c:pt>
                <c:pt idx="7">
                  <c:v>Radio</c:v>
                </c:pt>
                <c:pt idx="8">
                  <c:v>Newspaper advertisement</c:v>
                </c:pt>
                <c:pt idx="9">
                  <c:v>AE Customer Assistance Program (CAPS)</c:v>
                </c:pt>
                <c:pt idx="10">
                  <c:v>All other </c:v>
                </c:pt>
                <c:pt idx="11">
                  <c:v>Do not know</c:v>
                </c:pt>
                <c:pt idx="12">
                  <c:v>All other</c:v>
                </c:pt>
              </c:strCache>
            </c:strRef>
          </c:cat>
          <c:val>
            <c:numRef>
              <c:f>Sheet1!$C$2:$C$14</c:f>
              <c:numCache>
                <c:formatCode>0%</c:formatCode>
                <c:ptCount val="13"/>
                <c:pt idx="0">
                  <c:v>5.2631578947368418E-2</c:v>
                </c:pt>
                <c:pt idx="1">
                  <c:v>0.36842105263157893</c:v>
                </c:pt>
                <c:pt idx="2">
                  <c:v>5.2631578947368418E-2</c:v>
                </c:pt>
                <c:pt idx="3">
                  <c:v>0</c:v>
                </c:pt>
                <c:pt idx="4">
                  <c:v>0</c:v>
                </c:pt>
                <c:pt idx="5">
                  <c:v>0</c:v>
                </c:pt>
                <c:pt idx="6">
                  <c:v>0</c:v>
                </c:pt>
                <c:pt idx="7">
                  <c:v>5.2631578947368418E-2</c:v>
                </c:pt>
                <c:pt idx="8">
                  <c:v>5.2631578947368418E-2</c:v>
                </c:pt>
                <c:pt idx="9">
                  <c:v>5.2631578947368418E-2</c:v>
                </c:pt>
                <c:pt idx="10">
                  <c:v>0.32</c:v>
                </c:pt>
                <c:pt idx="11">
                  <c:v>0.05</c:v>
                </c:pt>
                <c:pt idx="12">
                  <c:v>0</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Q4 2024
(N=33)</c:v>
                </c:pt>
              </c:strCache>
            </c:strRef>
          </c:tx>
          <c:spPr>
            <a:solidFill>
              <a:srgbClr val="00CC9A"/>
            </a:solidFill>
          </c:spPr>
          <c:invertIfNegative val="0"/>
          <c:dLbls>
            <c:dLbl>
              <c:idx val="2"/>
              <c:layout>
                <c:manualLayout>
                  <c:x val="-1.8726959020547603E-3"/>
                  <c:y val="-3.174603174603174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2D-8F45-BEA4-DD7B6F0918C9}"/>
                </c:ext>
              </c:extLst>
            </c:dLbl>
            <c:dLbl>
              <c:idx val="14"/>
              <c:layout>
                <c:manualLayout>
                  <c:x val="1.855736776450788E-3"/>
                  <c:y val="5.942041236206588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Sheet1!$A$2:$A$14</c:f>
              <c:strCache>
                <c:ptCount val="13"/>
                <c:pt idx="0">
                  <c:v>Friends/family/word-of-mouth</c:v>
                </c:pt>
                <c:pt idx="1">
                  <c:v>Austin Energy's website</c:v>
                </c:pt>
                <c:pt idx="2">
                  <c:v>Utility bill inserts</c:v>
                </c:pt>
                <c:pt idx="3">
                  <c:v>Contractors</c:v>
                </c:pt>
                <c:pt idx="4">
                  <c:v>Mall advertisement</c:v>
                </c:pt>
                <c:pt idx="5">
                  <c:v>Television</c:v>
                </c:pt>
                <c:pt idx="6">
                  <c:v>On City’s website</c:v>
                </c:pt>
                <c:pt idx="7">
                  <c:v>Radio</c:v>
                </c:pt>
                <c:pt idx="8">
                  <c:v>Newspaper advertisement</c:v>
                </c:pt>
                <c:pt idx="9">
                  <c:v>AE Customer Assistance Program (CAPS)</c:v>
                </c:pt>
                <c:pt idx="10">
                  <c:v>All other </c:v>
                </c:pt>
                <c:pt idx="11">
                  <c:v>Do not know</c:v>
                </c:pt>
                <c:pt idx="12">
                  <c:v>All other</c:v>
                </c:pt>
              </c:strCache>
            </c:strRef>
          </c:cat>
          <c:val>
            <c:numRef>
              <c:f>Sheet1!$D$2:$D$14</c:f>
              <c:numCache>
                <c:formatCode>0%</c:formatCode>
                <c:ptCount val="13"/>
                <c:pt idx="0">
                  <c:v>0.48</c:v>
                </c:pt>
                <c:pt idx="1">
                  <c:v>0.09</c:v>
                </c:pt>
                <c:pt idx="2">
                  <c:v>0.03</c:v>
                </c:pt>
                <c:pt idx="3">
                  <c:v>0</c:v>
                </c:pt>
                <c:pt idx="4">
                  <c:v>0</c:v>
                </c:pt>
                <c:pt idx="5">
                  <c:v>0</c:v>
                </c:pt>
                <c:pt idx="6">
                  <c:v>0</c:v>
                </c:pt>
                <c:pt idx="7">
                  <c:v>0.03</c:v>
                </c:pt>
                <c:pt idx="8">
                  <c:v>0.03</c:v>
                </c:pt>
                <c:pt idx="9">
                  <c:v>0</c:v>
                </c:pt>
                <c:pt idx="10">
                  <c:v>0.33</c:v>
                </c:pt>
                <c:pt idx="11">
                  <c:v>0</c:v>
                </c:pt>
                <c:pt idx="12">
                  <c:v>0</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Q1 2025
(N=45)</c:v>
                </c:pt>
              </c:strCache>
            </c:strRef>
          </c:tx>
          <c:spPr>
            <a:solidFill>
              <a:schemeClr val="tx1"/>
            </a:solidFill>
          </c:spPr>
          <c:invertIfNegative val="0"/>
          <c:dLbls>
            <c:dLbl>
              <c:idx val="1"/>
              <c:layout>
                <c:manualLayout>
                  <c:x val="2.0413104540958599E-2"/>
                  <c:y val="-1.980368493893733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E4-9746-BF4E-478D43DF2CB2}"/>
                </c:ext>
              </c:extLst>
            </c:dLbl>
            <c:dLbl>
              <c:idx val="2"/>
              <c:layout>
                <c:manualLayout>
                  <c:x val="1.1236175412328561E-2"/>
                  <c:y val="-6.349081364829396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2D-8F45-BEA4-DD7B6F0918C9}"/>
                </c:ext>
              </c:extLst>
            </c:dLbl>
            <c:dLbl>
              <c:idx val="14"/>
              <c:layout>
                <c:manualLayout>
                  <c:x val="2.0413104540958599E-2"/>
                  <c:y val="3.96151678322529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Friends/family/word-of-mouth</c:v>
                </c:pt>
                <c:pt idx="1">
                  <c:v>Austin Energy's website</c:v>
                </c:pt>
                <c:pt idx="2">
                  <c:v>Utility bill inserts</c:v>
                </c:pt>
                <c:pt idx="3">
                  <c:v>Contractors</c:v>
                </c:pt>
                <c:pt idx="4">
                  <c:v>Mall advertisement</c:v>
                </c:pt>
                <c:pt idx="5">
                  <c:v>Television</c:v>
                </c:pt>
                <c:pt idx="6">
                  <c:v>On City’s website</c:v>
                </c:pt>
                <c:pt idx="7">
                  <c:v>Radio</c:v>
                </c:pt>
                <c:pt idx="8">
                  <c:v>Newspaper advertisement</c:v>
                </c:pt>
                <c:pt idx="9">
                  <c:v>AE Customer Assistance Program (CAPS)</c:v>
                </c:pt>
                <c:pt idx="10">
                  <c:v>All other </c:v>
                </c:pt>
                <c:pt idx="11">
                  <c:v>Do not know</c:v>
                </c:pt>
                <c:pt idx="12">
                  <c:v>All other</c:v>
                </c:pt>
              </c:strCache>
            </c:strRef>
          </c:cat>
          <c:val>
            <c:numRef>
              <c:f>Sheet1!$E$2:$E$14</c:f>
              <c:numCache>
                <c:formatCode>0%</c:formatCode>
                <c:ptCount val="13"/>
                <c:pt idx="0">
                  <c:v>0.4</c:v>
                </c:pt>
                <c:pt idx="1">
                  <c:v>0.4</c:v>
                </c:pt>
                <c:pt idx="2">
                  <c:v>0.2</c:v>
                </c:pt>
                <c:pt idx="3">
                  <c:v>6.6666666666666666E-2</c:v>
                </c:pt>
                <c:pt idx="4">
                  <c:v>4.4444444444444446E-2</c:v>
                </c:pt>
                <c:pt idx="5">
                  <c:v>2.2222222222222223E-2</c:v>
                </c:pt>
                <c:pt idx="6">
                  <c:v>2.2222222222222223E-2</c:v>
                </c:pt>
                <c:pt idx="7">
                  <c:v>0</c:v>
                </c:pt>
                <c:pt idx="8">
                  <c:v>0</c:v>
                </c:pt>
                <c:pt idx="9">
                  <c:v>0</c:v>
                </c:pt>
                <c:pt idx="10">
                  <c:v>0</c:v>
                </c:pt>
                <c:pt idx="11">
                  <c:v>0</c:v>
                </c:pt>
                <c:pt idx="12">
                  <c:v>6.6666666666666666E-2</c:v>
                </c:pt>
              </c:numCache>
            </c:numRef>
          </c:val>
          <c:extLst>
            <c:ext xmlns:c16="http://schemas.microsoft.com/office/drawing/2014/chart" uri="{C3380CC4-5D6E-409C-BE32-E72D297353CC}">
              <c16:uniqueId val="{00000003-CC47-4228-84BB-2FF78CC943F0}"/>
            </c:ext>
          </c:extLst>
        </c:ser>
        <c:dLbls>
          <c:showLegendKey val="0"/>
          <c:showVal val="0"/>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240756421689441"/>
          <c:h val="5.345872694943792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8014803453525725"/>
          <c:y val="0.14592833876221498"/>
          <c:w val="0.58321878046561992"/>
          <c:h val="0.78987714483572291"/>
        </c:manualLayout>
      </c:layout>
      <c:barChart>
        <c:barDir val="bar"/>
        <c:grouping val="clustered"/>
        <c:varyColors val="0"/>
        <c:ser>
          <c:idx val="0"/>
          <c:order val="0"/>
          <c:tx>
            <c:strRef>
              <c:f>Sheet1!$B$1</c:f>
              <c:strCache>
                <c:ptCount val="1"/>
                <c:pt idx="0">
                  <c:v>Q2 2024
(N=44)</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Email</c:v>
                </c:pt>
                <c:pt idx="1">
                  <c:v>Direct mail</c:v>
                </c:pt>
                <c:pt idx="2">
                  <c:v>Text messages</c:v>
                </c:pt>
                <c:pt idx="3">
                  <c:v>Austin Energy's website</c:v>
                </c:pt>
                <c:pt idx="4">
                  <c:v>Door hangers</c:v>
                </c:pt>
                <c:pt idx="5">
                  <c:v>Facebook, Twitter, or other Social Media</c:v>
                </c:pt>
                <c:pt idx="6">
                  <c:v>Phone</c:v>
                </c:pt>
                <c:pt idx="7">
                  <c:v>Email </c:v>
                </c:pt>
                <c:pt idx="8">
                  <c:v>Phone call</c:v>
                </c:pt>
                <c:pt idx="9">
                  <c:v>Austin Energy's Website</c:v>
                </c:pt>
                <c:pt idx="10">
                  <c:v>All other</c:v>
                </c:pt>
              </c:strCache>
            </c:strRef>
          </c:cat>
          <c:val>
            <c:numRef>
              <c:f>Sheet1!$B$2:$B$12</c:f>
              <c:numCache>
                <c:formatCode>0%</c:formatCode>
                <c:ptCount val="11"/>
                <c:pt idx="0">
                  <c:v>0</c:v>
                </c:pt>
                <c:pt idx="1">
                  <c:v>0.11363636363636363</c:v>
                </c:pt>
                <c:pt idx="2">
                  <c:v>0.13636363636363635</c:v>
                </c:pt>
                <c:pt idx="3">
                  <c:v>0</c:v>
                </c:pt>
                <c:pt idx="4">
                  <c:v>0</c:v>
                </c:pt>
                <c:pt idx="5">
                  <c:v>0</c:v>
                </c:pt>
                <c:pt idx="6">
                  <c:v>0</c:v>
                </c:pt>
                <c:pt idx="7">
                  <c:v>0.70454545454545459</c:v>
                </c:pt>
                <c:pt idx="8">
                  <c:v>0.15909090909090909</c:v>
                </c:pt>
                <c:pt idx="9">
                  <c:v>0</c:v>
                </c:pt>
                <c:pt idx="10">
                  <c:v>2.2727272727272731E-2</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Q3 2024
(N=19)</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Email</c:v>
                </c:pt>
                <c:pt idx="1">
                  <c:v>Direct mail</c:v>
                </c:pt>
                <c:pt idx="2">
                  <c:v>Text messages</c:v>
                </c:pt>
                <c:pt idx="3">
                  <c:v>Austin Energy's website</c:v>
                </c:pt>
                <c:pt idx="4">
                  <c:v>Door hangers</c:v>
                </c:pt>
                <c:pt idx="5">
                  <c:v>Facebook, Twitter, or other Social Media</c:v>
                </c:pt>
                <c:pt idx="6">
                  <c:v>Phone</c:v>
                </c:pt>
                <c:pt idx="7">
                  <c:v>Email </c:v>
                </c:pt>
                <c:pt idx="8">
                  <c:v>Phone call</c:v>
                </c:pt>
                <c:pt idx="9">
                  <c:v>Austin Energy's Website</c:v>
                </c:pt>
                <c:pt idx="10">
                  <c:v>All other</c:v>
                </c:pt>
              </c:strCache>
            </c:strRef>
          </c:cat>
          <c:val>
            <c:numRef>
              <c:f>Sheet1!$C$2:$C$12</c:f>
              <c:numCache>
                <c:formatCode>0%</c:formatCode>
                <c:ptCount val="11"/>
                <c:pt idx="0">
                  <c:v>0</c:v>
                </c:pt>
                <c:pt idx="1">
                  <c:v>0.10526315789473684</c:v>
                </c:pt>
                <c:pt idx="2">
                  <c:v>0.21052631578947367</c:v>
                </c:pt>
                <c:pt idx="3">
                  <c:v>0</c:v>
                </c:pt>
                <c:pt idx="4">
                  <c:v>0</c:v>
                </c:pt>
                <c:pt idx="5">
                  <c:v>0</c:v>
                </c:pt>
                <c:pt idx="6">
                  <c:v>0</c:v>
                </c:pt>
                <c:pt idx="7">
                  <c:v>0.63157894736842102</c:v>
                </c:pt>
                <c:pt idx="8">
                  <c:v>0.31578947368421051</c:v>
                </c:pt>
                <c:pt idx="9">
                  <c:v>0</c:v>
                </c:pt>
                <c:pt idx="10">
                  <c:v>5.2631578947368418E-2</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Q4 2024
(N=33)</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Email</c:v>
                </c:pt>
                <c:pt idx="1">
                  <c:v>Direct mail</c:v>
                </c:pt>
                <c:pt idx="2">
                  <c:v>Text messages</c:v>
                </c:pt>
                <c:pt idx="3">
                  <c:v>Austin Energy's website</c:v>
                </c:pt>
                <c:pt idx="4">
                  <c:v>Door hangers</c:v>
                </c:pt>
                <c:pt idx="5">
                  <c:v>Facebook, Twitter, or other Social Media</c:v>
                </c:pt>
                <c:pt idx="6">
                  <c:v>Phone</c:v>
                </c:pt>
                <c:pt idx="7">
                  <c:v>Email </c:v>
                </c:pt>
                <c:pt idx="8">
                  <c:v>Phone call</c:v>
                </c:pt>
                <c:pt idx="9">
                  <c:v>Austin Energy's Website</c:v>
                </c:pt>
                <c:pt idx="10">
                  <c:v>All other</c:v>
                </c:pt>
              </c:strCache>
            </c:strRef>
          </c:cat>
          <c:val>
            <c:numRef>
              <c:f>Sheet1!$D$2:$D$12</c:f>
              <c:numCache>
                <c:formatCode>0%</c:formatCode>
                <c:ptCount val="11"/>
                <c:pt idx="0">
                  <c:v>0</c:v>
                </c:pt>
                <c:pt idx="1">
                  <c:v>9.0909090909090925E-2</c:v>
                </c:pt>
                <c:pt idx="2">
                  <c:v>0.45454545454545453</c:v>
                </c:pt>
                <c:pt idx="3">
                  <c:v>0</c:v>
                </c:pt>
                <c:pt idx="4">
                  <c:v>0</c:v>
                </c:pt>
                <c:pt idx="5">
                  <c:v>3.0303030303030304E-2</c:v>
                </c:pt>
                <c:pt idx="6">
                  <c:v>0</c:v>
                </c:pt>
                <c:pt idx="7">
                  <c:v>0.75757575757575757</c:v>
                </c:pt>
                <c:pt idx="8">
                  <c:v>0.24242424242424243</c:v>
                </c:pt>
                <c:pt idx="9">
                  <c:v>0.12121212121212122</c:v>
                </c:pt>
                <c:pt idx="10">
                  <c:v>5.2631578947368418E-2</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Q1 2025
(N=45)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Email</c:v>
                </c:pt>
                <c:pt idx="1">
                  <c:v>Direct mail</c:v>
                </c:pt>
                <c:pt idx="2">
                  <c:v>Text messages</c:v>
                </c:pt>
                <c:pt idx="3">
                  <c:v>Austin Energy's website</c:v>
                </c:pt>
                <c:pt idx="4">
                  <c:v>Door hangers</c:v>
                </c:pt>
                <c:pt idx="5">
                  <c:v>Facebook, Twitter, or other Social Media</c:v>
                </c:pt>
                <c:pt idx="6">
                  <c:v>Phone</c:v>
                </c:pt>
                <c:pt idx="7">
                  <c:v>Email </c:v>
                </c:pt>
                <c:pt idx="8">
                  <c:v>Phone call</c:v>
                </c:pt>
                <c:pt idx="9">
                  <c:v>Austin Energy's Website</c:v>
                </c:pt>
                <c:pt idx="10">
                  <c:v>All other</c:v>
                </c:pt>
              </c:strCache>
            </c:strRef>
          </c:cat>
          <c:val>
            <c:numRef>
              <c:f>Sheet1!$E$2:$E$12</c:f>
              <c:numCache>
                <c:formatCode>0%</c:formatCode>
                <c:ptCount val="11"/>
                <c:pt idx="0">
                  <c:v>0.71111111111111114</c:v>
                </c:pt>
                <c:pt idx="1">
                  <c:v>0.44444444444444442</c:v>
                </c:pt>
                <c:pt idx="2">
                  <c:v>0.37777777777777777</c:v>
                </c:pt>
                <c:pt idx="3">
                  <c:v>0.35555555555555557</c:v>
                </c:pt>
                <c:pt idx="4">
                  <c:v>0.13333333333333333</c:v>
                </c:pt>
                <c:pt idx="5">
                  <c:v>8.8888888888888892E-2</c:v>
                </c:pt>
                <c:pt idx="6">
                  <c:v>6.6666666666666666E-2</c:v>
                </c:pt>
                <c:pt idx="7">
                  <c:v>0</c:v>
                </c:pt>
                <c:pt idx="8">
                  <c:v>0</c:v>
                </c:pt>
                <c:pt idx="9">
                  <c:v>0</c:v>
                </c:pt>
                <c:pt idx="10">
                  <c:v>0</c:v>
                </c:pt>
              </c:numCache>
            </c:numRef>
          </c:val>
          <c:extLst>
            <c:ext xmlns:c16="http://schemas.microsoft.com/office/drawing/2014/chart" uri="{C3380CC4-5D6E-409C-BE32-E72D297353CC}">
              <c16:uniqueId val="{00000003-08BA-4719-85C8-FABAF5FAC883}"/>
            </c:ext>
          </c:extLst>
        </c:ser>
        <c:dLbls>
          <c:showLegendKey val="0"/>
          <c:showVal val="0"/>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Sheet1!$B$2:$B$5</c:f>
              <c:numCache>
                <c:formatCode>0%</c:formatCode>
                <c:ptCount val="4"/>
                <c:pt idx="0">
                  <c:v>0.11363636363636363</c:v>
                </c:pt>
                <c:pt idx="1">
                  <c:v>0.36842105263157893</c:v>
                </c:pt>
                <c:pt idx="2">
                  <c:v>0.24242424242424243</c:v>
                </c:pt>
                <c:pt idx="3">
                  <c:v>0.17777777777777778</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Sheet1!$C$2:$C$5</c:f>
              <c:numCache>
                <c:formatCode>0%</c:formatCode>
                <c:ptCount val="4"/>
                <c:pt idx="0">
                  <c:v>0.20454545454545459</c:v>
                </c:pt>
                <c:pt idx="1">
                  <c:v>5.2631578947368418E-2</c:v>
                </c:pt>
                <c:pt idx="2">
                  <c:v>9.0909090909090925E-2</c:v>
                </c:pt>
                <c:pt idx="3">
                  <c:v>0.2</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Sheet1!$D$2:$D$5</c:f>
              <c:numCache>
                <c:formatCode>0%</c:formatCode>
                <c:ptCount val="4"/>
                <c:pt idx="0">
                  <c:v>0.56818181818181823</c:v>
                </c:pt>
                <c:pt idx="1">
                  <c:v>0.47368421052631576</c:v>
                </c:pt>
                <c:pt idx="2">
                  <c:v>0.48484848484848486</c:v>
                </c:pt>
                <c:pt idx="3">
                  <c:v>0.42222222222222222</c:v>
                </c:pt>
              </c:numCache>
            </c:numRef>
          </c:val>
          <c:extLst>
            <c:ext xmlns:c16="http://schemas.microsoft.com/office/drawing/2014/chart" uri="{C3380CC4-5D6E-409C-BE32-E72D297353CC}">
              <c16:uniqueId val="{00000003-3743-46B7-9453-554D3F76B7F0}"/>
            </c:ext>
          </c:extLst>
        </c:ser>
        <c:ser>
          <c:idx val="3"/>
          <c:order val="3"/>
          <c:tx>
            <c:strRef>
              <c:f>Sheet1!$E$1</c:f>
              <c:strCache>
                <c:ptCount val="1"/>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Sheet1!$E$2:$E$5</c:f>
              <c:numCache>
                <c:formatCode>0%</c:formatCode>
                <c:ptCount val="4"/>
                <c:pt idx="0">
                  <c:v>0.87999999999999989</c:v>
                </c:pt>
                <c:pt idx="1">
                  <c:v>0.8899999999999999</c:v>
                </c:pt>
                <c:pt idx="2">
                  <c:v>0.80999999999999994</c:v>
                </c:pt>
              </c:numCache>
            </c:numRef>
          </c:val>
          <c:extLst>
            <c:ext xmlns:c16="http://schemas.microsoft.com/office/drawing/2014/chart" uri="{C3380CC4-5D6E-409C-BE32-E72D297353CC}">
              <c16:uniqueId val="{00000004-3743-46B7-9453-554D3F76B7F0}"/>
            </c:ext>
          </c:extLst>
        </c:ser>
        <c:ser>
          <c:idx val="4"/>
          <c:order val="4"/>
          <c:tx>
            <c:strRef>
              <c:f>Sheet1!$F$1</c:f>
              <c:strCache>
                <c:ptCount val="1"/>
                <c:pt idx="0">
                  <c:v>sum of displayed values</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 2024
(N=44)</c:v>
                </c:pt>
                <c:pt idx="1">
                  <c:v>Q3 2024
(N=19)</c:v>
                </c:pt>
                <c:pt idx="2">
                  <c:v>Q4 2024
(N=33)</c:v>
                </c:pt>
                <c:pt idx="3">
                  <c:v>Q1 2025
(N=45)</c:v>
                </c:pt>
              </c:strCache>
            </c:strRef>
          </c:cat>
          <c:val>
            <c:numRef>
              <c:f>Sheet1!$F$2:$F$5</c:f>
              <c:numCache>
                <c:formatCode>General</c:formatCode>
                <c:ptCount val="4"/>
                <c:pt idx="3" formatCode="0%">
                  <c:v>0.8</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Q2 2024
(N=44)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0.43181818181818182</c:v>
                </c:pt>
                <c:pt idx="1">
                  <c:v>0.18181818181818185</c:v>
                </c:pt>
                <c:pt idx="2">
                  <c:v>0.20454545454545459</c:v>
                </c:pt>
                <c:pt idx="3">
                  <c:v>0.18181818181818185</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Q3 2024
(N=19)</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0.42105263157894735</c:v>
                </c:pt>
                <c:pt idx="1">
                  <c:v>0.15789473684210525</c:v>
                </c:pt>
                <c:pt idx="2">
                  <c:v>0.10526315789473684</c:v>
                </c:pt>
                <c:pt idx="3">
                  <c:v>0.31578947368421051</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Q4 2024
(N=33)</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0.3636363636363637</c:v>
                </c:pt>
                <c:pt idx="1">
                  <c:v>0.21212121212121213</c:v>
                </c:pt>
                <c:pt idx="2">
                  <c:v>0.24242424242424243</c:v>
                </c:pt>
                <c:pt idx="3">
                  <c:v>0.18181818181818185</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Q1 2025
(N=45)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0.66666666666666663</c:v>
                </c:pt>
                <c:pt idx="1">
                  <c:v>0.1111111111111111</c:v>
                </c:pt>
                <c:pt idx="2">
                  <c:v>0.13333333333333333</c:v>
                </c:pt>
                <c:pt idx="3">
                  <c:v>8.8888888888888892E-2</c:v>
                </c:pt>
              </c:numCache>
            </c:numRef>
          </c:val>
          <c:extLst>
            <c:ext xmlns:c16="http://schemas.microsoft.com/office/drawing/2014/chart" uri="{C3380CC4-5D6E-409C-BE32-E72D297353CC}">
              <c16:uniqueId val="{00000001-7258-4992-8173-9478F5C9226D}"/>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2012358652536854"/>
          <c:y val="7.1924555082085506E-2"/>
          <c:w val="0.61070348114380435"/>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Q2 2024
(N=44)</c:v>
                </c:pt>
              </c:strCache>
            </c:strRef>
          </c:tx>
          <c:spPr>
            <a:solidFill>
              <a:srgbClr val="FFC000"/>
            </a:solidFill>
            <a:ln w="20893">
              <a:noFill/>
            </a:ln>
          </c:spPr>
          <c:invertIfNegative val="0"/>
          <c:dLbls>
            <c:dLbl>
              <c:idx val="1"/>
              <c:layout>
                <c:manualLayout>
                  <c:x val="-3.7593984962406013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FE-264A-AA8F-8C5E1D74083B}"/>
                </c:ext>
              </c:extLst>
            </c:dLbl>
            <c:dLbl>
              <c:idx val="2"/>
              <c:layout>
                <c:manualLayout>
                  <c:x val="1.8796992481203006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E08-5A44-AE10-D32273A62191}"/>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0">
                  <c:v>2.2727272727272731E-2</c:v>
                </c:pt>
                <c:pt idx="1">
                  <c:v>0.11</c:v>
                </c:pt>
                <c:pt idx="2">
                  <c:v>0.3636363636363637</c:v>
                </c:pt>
                <c:pt idx="3">
                  <c:v>0.22727272727272727</c:v>
                </c:pt>
                <c:pt idx="4">
                  <c:v>0.13636363636363635</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Q3 2024
(N=19)</c:v>
                </c:pt>
              </c:strCache>
            </c:strRef>
          </c:tx>
          <c:spPr>
            <a:solidFill>
              <a:srgbClr val="3233CC"/>
            </a:solidFill>
          </c:spPr>
          <c:invertIfNegative val="0"/>
          <c:dLbls>
            <c:dLbl>
              <c:idx val="4"/>
              <c:layout>
                <c:manualLayout>
                  <c:x val="5.6390977443609019E-3"/>
                  <c:y val="-2.334630350194561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FE-264A-AA8F-8C5E1D74083B}"/>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1">
                  <c:v>0.10526315789473684</c:v>
                </c:pt>
                <c:pt idx="2">
                  <c:v>0.31578947368421051</c:v>
                </c:pt>
                <c:pt idx="3">
                  <c:v>0.31578947368421051</c:v>
                </c:pt>
                <c:pt idx="4">
                  <c:v>0.10526315789473684</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Q4 2024
(N=33)</c:v>
                </c:pt>
              </c:strCache>
            </c:strRef>
          </c:tx>
          <c:spPr>
            <a:solidFill>
              <a:srgbClr val="00CC99"/>
            </a:solidFill>
          </c:spPr>
          <c:invertIfNegative val="0"/>
          <c:dLbls>
            <c:dLbl>
              <c:idx val="0"/>
              <c:layout>
                <c:manualLayout>
                  <c:x val="5.6390977443608681E-3"/>
                  <c:y val="-2.594033722438391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E9F-41DB-9749-29C4F283D6D5}"/>
                </c:ext>
              </c:extLst>
            </c:dLbl>
            <c:dLbl>
              <c:idx val="2"/>
              <c:layout>
                <c:manualLayout>
                  <c:x val="3.7593984962406013E-3"/>
                  <c:y val="-4.66926070038911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FE-264A-AA8F-8C5E1D74083B}"/>
                </c:ext>
              </c:extLst>
            </c:dLbl>
            <c:dLbl>
              <c:idx val="3"/>
              <c:layout>
                <c:manualLayout>
                  <c:x val="1.8796992481203006E-3"/>
                  <c:y val="-1.03761348897535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AFE-264A-AA8F-8C5E1D74083B}"/>
                </c:ext>
              </c:extLst>
            </c:dLbl>
            <c:dLbl>
              <c:idx val="4"/>
              <c:layout>
                <c:manualLayout>
                  <c:x val="1.879699248120163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08-5A44-AE10-D32273A62191}"/>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1">
                  <c:v>3.0303030303030304E-2</c:v>
                </c:pt>
                <c:pt idx="2">
                  <c:v>0.30303030303030304</c:v>
                </c:pt>
                <c:pt idx="3">
                  <c:v>0.3636363636363637</c:v>
                </c:pt>
                <c:pt idx="4">
                  <c:v>0.30303030303030304</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Q1 2025
(N=45)</c:v>
                </c:pt>
              </c:strCache>
            </c:strRef>
          </c:tx>
          <c:spPr>
            <a:solidFill>
              <a:schemeClr val="tx1"/>
            </a:solidFill>
          </c:spPr>
          <c:invertIfNegative val="0"/>
          <c:dLbls>
            <c:dLbl>
              <c:idx val="1"/>
              <c:layout>
                <c:manualLayout>
                  <c:x val="1.8796992481202937E-2"/>
                  <c:y val="-9.5113471063806945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0BA-8A48-8F90-56878AD4850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1">
                  <c:v>6.6666666666666666E-2</c:v>
                </c:pt>
                <c:pt idx="2">
                  <c:v>0.37777777777777777</c:v>
                </c:pt>
                <c:pt idx="3">
                  <c:v>0.37777777777777777</c:v>
                </c:pt>
                <c:pt idx="4">
                  <c:v>0.1111111111111111</c:v>
                </c:pt>
              </c:numCache>
            </c:numRef>
          </c:val>
          <c:extLst>
            <c:ext xmlns:c16="http://schemas.microsoft.com/office/drawing/2014/chart" uri="{C3380CC4-5D6E-409C-BE32-E72D297353CC}">
              <c16:uniqueId val="{00000001-B251-43C1-89EF-86F39D1E8950}"/>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19380779705168433"/>
          <c:y val="5.9662775616083012E-2"/>
          <c:w val="0.61850526907820735"/>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omments/modernComment_254_66F63346.xml><?xml version="1.0" encoding="utf-8"?>
<p188:cmLst xmlns:a="http://schemas.openxmlformats.org/drawingml/2006/main" xmlns:r="http://schemas.openxmlformats.org/officeDocument/2006/relationships" xmlns:p188="http://schemas.microsoft.com/office/powerpoint/2018/8/main">
  <p188:cm id="{CF37E07D-6BEC-2943-A989-13B57669EC97}" authorId="{67A16604-D201-06CE-DBDB-10CEC180544C}" created="2024-07-19T11:39:55.880">
    <pc:sldMkLst xmlns:pc="http://schemas.microsoft.com/office/powerpoint/2013/main/command">
      <pc:docMk/>
      <pc:sldMk cId="1727411014" sldId="596"/>
    </pc:sldMkLst>
    <p188:txBody>
      <a:bodyPr/>
      <a:lstStyle/>
      <a:p>
        <a:r>
          <a:rPr lang="en-US"/>
          <a:t>I do not have the data to update the number of contacts provided .</a:t>
        </a:r>
      </a:p>
    </p188:txBody>
  </p188:cm>
</p188:cmLst>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chart" Target="../charts/chart30.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microsoft.com/office/2018/10/relationships/comments" Target="../comments/modernComment_254_66F6334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228598" y="3036421"/>
            <a:ext cx="6296025" cy="1524000"/>
          </a:xfrm>
        </p:spPr>
        <p:txBody>
          <a:bodyPr/>
          <a:lstStyle/>
          <a:p>
            <a:pPr eaLnBrk="1" hangingPunct="1"/>
            <a:r>
              <a:rPr sz="2800">
                <a:latin typeface="Arial"/>
              </a:rPr>
              <a:t>Low Income Weatherization Survey
FY2025 Q1
</a:t>
            </a:r>
            <a:r>
              <a:rPr sz="1600">
                <a:latin typeface="Arial"/>
              </a:rPr>
              <a:t>January 2025</a:t>
            </a:r>
            <a:endParaRPr lang="en-US" altLang="en-US" sz="1800" b="1">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113" y="8382000"/>
            <a:ext cx="61753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endParaRPr lang="en-US" altLang="en-US" sz="1600">
              <a:ea typeface="Geneva"/>
              <a:cs typeface="Geneva"/>
            </a:endParaRPr>
          </a:p>
          <a:p>
            <a:pPr algn="l"/>
            <a:r>
              <a:rPr sz="1800">
                <a:latin typeface="Tahoma"/>
              </a:rPr>
              <a:t>Customers’ overall satisfaction with Austin Energy’s Weatherization Program remained favorable with a score of 96% for Q1 2025.</a:t>
            </a:r>
          </a:p>
          <a:p>
            <a:pPr algn="l"/>
            <a:r>
              <a:rPr sz="1800">
                <a:latin typeface="Tahoma"/>
              </a:rPr>
              <a:t>Overall satisfaction level with Austin Energy improved to 80% in Q1 2025 from 89% in Q2 2024.</a:t>
            </a:r>
          </a:p>
          <a:p>
            <a:pPr algn="l"/>
            <a:r>
              <a:rPr sz="1800">
                <a:latin typeface="Tahoma"/>
              </a:rPr>
              <a:t>Customers indicated a need for the program and home weatherization assistance.</a:t>
            </a:r>
          </a:p>
          <a:p>
            <a:pPr algn="l"/>
            <a:r>
              <a:rPr sz="1800">
                <a:latin typeface="Tahoma"/>
              </a:rPr>
              <a:t>96% of customers would recommend this program to a friend or family member.</a:t>
            </a:r>
          </a:p>
          <a:p>
            <a:pPr algn="l"/>
            <a:r>
              <a:rPr sz="1800">
                <a:latin typeface="Tahoma"/>
              </a:rPr>
              <a:t>77% of customers appeared to have a high level of understanding when it comes to their utility bill and energy savings.</a:t>
            </a: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228600" y="1219200"/>
            <a:ext cx="6172200" cy="6934200"/>
          </a:xfrm>
        </p:spPr>
        <p:txBody>
          <a:bodyPr/>
          <a:lstStyle/>
          <a:p>
            <a:pPr lvl="0" algn="l">
              <a:lnSpc>
                <a:spcPts val="2000"/>
              </a:lnSpc>
              <a:defRPr/>
            </a:pPr>
            <a:r>
              <a:rPr sz="1800" b="0" i="0">
                <a:solidFill>
                  <a:srgbClr val="000000"/>
                </a:solidFill>
                <a:latin typeface="Tahoma"/>
              </a:rPr>
              <a:t>Overall satisfaction score with energy savings was 49% in Q1 2025, UP/DOWN/UNCHANGED from PREVIOUS QTR% in Q4.</a:t>
            </a:r>
          </a:p>
          <a:p>
            <a:endParaRPr sz="1800" b="0" i="0">
              <a:solidFill>
                <a:srgbClr val="000000"/>
              </a:solidFill>
              <a:latin typeface="Tahoma"/>
            </a:endParaRPr>
          </a:p>
          <a:p>
            <a:pPr lvl="0" algn="l">
              <a:lnSpc>
                <a:spcPts val="2000"/>
              </a:lnSpc>
            </a:pPr>
            <a:r>
              <a:rPr sz="1800" b="0" i="0">
                <a:solidFill>
                  <a:srgbClr val="000000"/>
                </a:solidFill>
                <a:latin typeface="Tahoma"/>
              </a:rPr>
              <a:t>Contractor and customer service ratings remained relatively high for all attributes.</a:t>
            </a:r>
          </a:p>
          <a:p>
            <a:endParaRPr sz="1800" b="0" i="0">
              <a:solidFill>
                <a:srgbClr val="000000"/>
              </a:solidFill>
              <a:latin typeface="Tahoma"/>
            </a:endParaRPr>
          </a:p>
          <a:p>
            <a:pPr lvl="0" algn="l">
              <a:lnSpc>
                <a:spcPts val="2000"/>
              </a:lnSpc>
            </a:pPr>
            <a:r>
              <a:rPr sz="1800" b="0" i="0">
                <a:solidFill>
                  <a:srgbClr val="000000"/>
                </a:solidFill>
                <a:latin typeface="Tahoma"/>
              </a:rPr>
              <a:t>Customers appeared to be satisfied with the follow-up phone calls and indicated that the Austin Energy staff member/contractor did an overall good job on the work done at their homes.</a:t>
            </a:r>
          </a:p>
          <a:p>
            <a:endParaRPr sz="1800" b="0" i="0">
              <a:solidFill>
                <a:srgbClr val="000000"/>
              </a:solidFill>
              <a:latin typeface="Tahoma"/>
            </a:endParaRPr>
          </a:p>
          <a:p>
            <a:pPr lvl="0" algn="l">
              <a:lnSpc>
                <a:spcPts val="2000"/>
              </a:lnSpc>
            </a:pPr>
            <a:r>
              <a:rPr sz="1800" b="0" i="0">
                <a:solidFill>
                  <a:srgbClr val="000000"/>
                </a:solidFill>
                <a:latin typeface="Tahoma"/>
              </a:rPr>
              <a:t>For this quarter, Austin Energy’s website, Friends/family/word of mouth, and Utility bill inserts were the top responses for how customers first learned about the weatherization program.</a:t>
            </a:r>
          </a:p>
          <a:p>
            <a:endParaRPr sz="1800" b="0" i="0">
              <a:solidFill>
                <a:srgbClr val="000000"/>
              </a:solidFill>
              <a:latin typeface="Tahoma"/>
            </a:endParaRPr>
          </a:p>
          <a:p>
            <a:pPr lvl="0" algn="l">
              <a:lnSpc>
                <a:spcPts val="2000"/>
              </a:lnSpc>
            </a:pPr>
            <a:r>
              <a:rPr sz="1800" b="0" i="0">
                <a:solidFill>
                  <a:srgbClr val="000000"/>
                </a:solidFill>
                <a:latin typeface="Tahoma"/>
              </a:rPr>
              <a:t>For this quarter, due to the small sample size, none of the changes can be deemed significant.</a:t>
            </a: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nvGraphicFramePr>
        <p:xfrm>
          <a:off x="50801" y="12763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923430785"/>
              </p:ext>
            </p:extLst>
          </p:nvPr>
        </p:nvGraphicFramePr>
        <p:xfrm>
          <a:off x="50800" y="14652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762000">
                <a:tc>
                  <a:txBody>
                    <a:bodyPr/>
                    <a:lstStyle/>
                    <a:p>
                      <a:pPr algn="ctr"/>
                      <a:endParaRP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762000">
                <a:tc>
                  <a:txBody>
                    <a:bodyPr/>
                    <a:lstStyle/>
                    <a:p>
                      <a:pPr algn="l"/>
                      <a:r>
                        <a:rPr sz="1300" b="0" i="0">
                          <a:solidFill>
                            <a:srgbClr val="000000"/>
                          </a:solidFill>
                          <a:latin typeface="Tahoma"/>
                        </a:rPr>
                        <a:t>It's important but people came and left mess and weren't very helpful. Damaged MY big shop vac vacuumed wet mastic. F ers Don't get me stared on the hole.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1"/>
                  </a:ext>
                </a:extLst>
              </a:tr>
              <a:tr h="762000">
                <a:tc>
                  <a:txBody>
                    <a:bodyPr/>
                    <a:lstStyle/>
                    <a:p>
                      <a:pPr algn="l"/>
                      <a:r>
                        <a:rPr sz="1300" b="0" i="0">
                          <a:solidFill>
                            <a:srgbClr val="000000"/>
                          </a:solidFill>
                          <a:latin typeface="Tahoma"/>
                        </a:rPr>
                        <a:t>Good number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762000">
                <a:tc>
                  <a:txBody>
                    <a:bodyPr/>
                    <a:lstStyle/>
                    <a:p>
                      <a:pPr algn="l"/>
                      <a:r>
                        <a:rPr sz="1300" b="0" i="0">
                          <a:solidFill>
                            <a:srgbClr val="000000"/>
                          </a:solidFill>
                          <a:latin typeface="Tahoma"/>
                        </a:rPr>
                        <a:t>Because it's really up to them if they would prefer to do it</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762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9598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976561412"/>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354065040"/>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Dust 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7079111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14244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Extra moisture</a:t>
            </a:r>
            <a:r>
              <a:rPr lang="en-US"/>
              <a:t>/humidity </a:t>
            </a:r>
          </a:p>
          <a:p>
            <a:pPr algn="ctr"/>
            <a:r>
              <a:rPr lang="en-US"/>
              <a:t>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14244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68354326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862803879"/>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020272971"/>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09600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273494832"/>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653142">
                <a:tc>
                  <a:txBody>
                    <a:bodyPr/>
                    <a:lstStyle/>
                    <a:p>
                      <a:pPr algn="ctr"/>
                      <a:endParaRP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653142">
                <a:tc>
                  <a:txBody>
                    <a:bodyPr/>
                    <a:lstStyle/>
                    <a:p>
                      <a:pPr algn="l"/>
                      <a:r>
                        <a:rPr sz="1300" b="0" i="0">
                          <a:solidFill>
                            <a:srgbClr val="000000"/>
                          </a:solidFill>
                          <a:latin typeface="Tahoma"/>
                        </a:rPr>
                        <a:t>More oversight of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1"/>
                  </a:ext>
                </a:extLst>
              </a:tr>
              <a:tr h="653142">
                <a:tc>
                  <a:txBody>
                    <a:bodyPr/>
                    <a:lstStyle/>
                    <a:p>
                      <a:pPr algn="l"/>
                      <a:r>
                        <a:rPr sz="1300" b="0" i="0">
                          <a:solidFill>
                            <a:srgbClr val="000000"/>
                          </a:solidFill>
                          <a:latin typeface="Tahoma"/>
                        </a:rPr>
                        <a:t>Do work correctly the first time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2"/>
                  </a:ext>
                </a:extLst>
              </a:tr>
              <a:tr h="653142">
                <a:tc>
                  <a:txBody>
                    <a:bodyPr/>
                    <a:lstStyle/>
                    <a:p>
                      <a:pPr algn="l"/>
                      <a:r>
                        <a:rPr sz="1300" b="0" i="0">
                          <a:solidFill>
                            <a:srgbClr val="000000"/>
                          </a:solidFill>
                          <a:latin typeface="Tahoma"/>
                        </a:rPr>
                        <a:t>Complete all promised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653142">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653142">
                <a:tc>
                  <a:txBody>
                    <a:bodyPr/>
                    <a:lstStyle/>
                    <a:p>
                      <a:pPr algn="l"/>
                      <a:r>
                        <a:rPr sz="1300" b="0" i="0">
                          <a:solidFill>
                            <a:srgbClr val="000000"/>
                          </a:solidFill>
                          <a:latin typeface="Tahoma"/>
                        </a:rPr>
                        <a:t>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653148">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4</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2488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762000">
                <a:tc>
                  <a:txBody>
                    <a:bodyPr/>
                    <a:lstStyle/>
                    <a:p>
                      <a:pPr algn="ctr"/>
                      <a:endParaRP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762000">
                <a:tc>
                  <a:txBody>
                    <a:bodyPr/>
                    <a:lstStyle/>
                    <a:p>
                      <a:pPr algn="l"/>
                      <a:r>
                        <a:rPr sz="1300" b="0" i="0">
                          <a:solidFill>
                            <a:srgbClr val="000000"/>
                          </a:solidFill>
                          <a:latin typeface="Tahoma"/>
                        </a:rPr>
                        <a:t>First experience. Yes! This experience would like to try to forget but reminders keep me aggravated.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1"/>
                  </a:ext>
                </a:extLst>
              </a:tr>
              <a:tr h="762000">
                <a:tc>
                  <a:txBody>
                    <a:bodyPr/>
                    <a:lstStyle/>
                    <a:p>
                      <a:pPr algn="l"/>
                      <a:r>
                        <a:rPr sz="1300" b="0" i="0">
                          <a:solidFill>
                            <a:srgbClr val="000000"/>
                          </a:solidFill>
                          <a:latin typeface="Tahoma"/>
                        </a:rPr>
                        <a:t>Because of the moisture for one. For a long time, it was very humid. I feel like it didn't really change anything.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762000">
                <a:tc>
                  <a:txBody>
                    <a:bodyPr/>
                    <a:lstStyle/>
                    <a:p>
                      <a:pPr algn="l"/>
                      <a:r>
                        <a:rPr sz="1300" b="0" i="0">
                          <a:solidFill>
                            <a:srgbClr val="000000"/>
                          </a:solidFill>
                          <a:latin typeface="Tahoma"/>
                        </a:rPr>
                        <a:t>I don't think I got enough benefit out of it. I know it doesn't cost anything, but I don't think it really helped at all.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762000">
                <a:tc>
                  <a:txBody>
                    <a:bodyPr/>
                    <a:lstStyle/>
                    <a:p>
                      <a:pPr algn="l"/>
                      <a:r>
                        <a:rPr sz="1300" b="0" i="0">
                          <a:solidFill>
                            <a:srgbClr val="000000"/>
                          </a:solidFill>
                          <a:latin typeface="Tahoma"/>
                        </a:rPr>
                        <a:t>It took a really long time. I don't think they accomplished anything. It was just awful.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3</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289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26571">
                <a:tc>
                  <a:txBody>
                    <a:bodyPr/>
                    <a:lstStyle/>
                    <a:p>
                      <a:pPr algn="ctr"/>
                      <a:endParaRP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326571">
                <a:tc>
                  <a:txBody>
                    <a:bodyPr/>
                    <a:lstStyle/>
                    <a:p>
                      <a:pPr algn="l"/>
                      <a:r>
                        <a:rPr sz="1300" b="0" i="0">
                          <a:solidFill>
                            <a:srgbClr val="000000"/>
                          </a:solidFill>
                          <a:latin typeface="Tahoma"/>
                        </a:rPr>
                        <a:t>Nothing/no changes needed</a:t>
                      </a:r>
                    </a:p>
                  </a:txBody>
                  <a:tcPr anchor="ctr">
                    <a:solidFill>
                      <a:srgbClr val="E0E5F0"/>
                    </a:solidFill>
                  </a:tcPr>
                </a:tc>
                <a:tc>
                  <a:txBody>
                    <a:bodyPr/>
                    <a:lstStyle/>
                    <a:p>
                      <a:pPr algn="ctr"/>
                      <a:r>
                        <a:rPr sz="1300" b="0" i="0">
                          <a:solidFill>
                            <a:srgbClr val="000000"/>
                          </a:solidFill>
                          <a:latin typeface="Tahoma"/>
                        </a:rPr>
                        <a:t>20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1"/>
                  </a:ext>
                </a:extLst>
              </a:tr>
              <a:tr h="326571">
                <a:tc>
                  <a:txBody>
                    <a:bodyPr/>
                    <a:lstStyle/>
                    <a:p>
                      <a:pPr algn="l"/>
                      <a:r>
                        <a:rPr sz="1300" b="0" i="0">
                          <a:solidFill>
                            <a:srgbClr val="000000"/>
                          </a:solidFill>
                          <a:latin typeface="Tahoma"/>
                        </a:rPr>
                        <a:t>Promote, advertise more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2"/>
                  </a:ext>
                </a:extLst>
              </a:tr>
              <a:tr h="326571">
                <a:tc>
                  <a:txBody>
                    <a:bodyPr/>
                    <a:lstStyle/>
                    <a:p>
                      <a:pPr algn="l"/>
                      <a:r>
                        <a:rPr sz="1300" b="0" i="0">
                          <a:solidFill>
                            <a:srgbClr val="000000"/>
                          </a:solidFill>
                          <a:latin typeface="Tahoma"/>
                        </a:rPr>
                        <a:t>Replace doors, windows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3"/>
                  </a:ext>
                </a:extLst>
              </a:tr>
              <a:tr h="326571">
                <a:tc>
                  <a:txBody>
                    <a:bodyPr/>
                    <a:lstStyle/>
                    <a:p>
                      <a:pPr algn="l"/>
                      <a:r>
                        <a:rPr sz="1300" b="0" i="0">
                          <a:solidFill>
                            <a:srgbClr val="000000"/>
                          </a:solidFill>
                          <a:latin typeface="Tahoma"/>
                        </a:rPr>
                        <a:t>Have more repair options available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4"/>
                  </a:ext>
                </a:extLst>
              </a:tr>
              <a:tr h="326571">
                <a:tc>
                  <a:txBody>
                    <a:bodyPr/>
                    <a:lstStyle/>
                    <a:p>
                      <a:pPr algn="l"/>
                      <a:r>
                        <a:rPr sz="1300" b="0" i="0">
                          <a:solidFill>
                            <a:srgbClr val="000000"/>
                          </a:solidFill>
                          <a:latin typeface="Tahoma"/>
                        </a:rPr>
                        <a:t>Use more skilled contractors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326571">
                <a:tc>
                  <a:txBody>
                    <a:bodyPr/>
                    <a:lstStyle/>
                    <a:p>
                      <a:pPr algn="l"/>
                      <a:r>
                        <a:rPr sz="1300" b="0" i="0">
                          <a:solidFill>
                            <a:srgbClr val="000000"/>
                          </a:solidFill>
                          <a:latin typeface="Tahoma"/>
                        </a:rPr>
                        <a:t>Faster response, shorter wait times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6"/>
                  </a:ext>
                </a:extLst>
              </a:tr>
              <a:tr h="326571">
                <a:tc>
                  <a:txBody>
                    <a:bodyPr/>
                    <a:lstStyle/>
                    <a:p>
                      <a:pPr algn="l"/>
                      <a:r>
                        <a:rPr sz="1300" b="0" i="0">
                          <a:solidFill>
                            <a:srgbClr val="000000"/>
                          </a:solidFill>
                          <a:latin typeface="Tahoma"/>
                        </a:rPr>
                        <a:t>More communication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7"/>
                  </a:ext>
                </a:extLst>
              </a:tr>
              <a:tr h="326571">
                <a:tc>
                  <a:txBody>
                    <a:bodyPr/>
                    <a:lstStyle/>
                    <a:p>
                      <a:pPr algn="l"/>
                      <a:r>
                        <a:rPr sz="1300" b="0" i="0">
                          <a:solidFill>
                            <a:srgbClr val="000000"/>
                          </a:solidFill>
                          <a:latin typeface="Tahoma"/>
                        </a:rPr>
                        <a:t>Better planning, improve budgeting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8"/>
                  </a:ext>
                </a:extLst>
              </a:tr>
              <a:tr h="326571">
                <a:tc>
                  <a:txBody>
                    <a:bodyPr/>
                    <a:lstStyle/>
                    <a:p>
                      <a:pPr algn="l"/>
                      <a:r>
                        <a:rPr sz="1300" b="0" i="0">
                          <a:solidFill>
                            <a:srgbClr val="000000"/>
                          </a:solidFill>
                          <a:latin typeface="Tahoma"/>
                        </a:rPr>
                        <a:t>Increase water, energy saving options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326571">
                <a:tc>
                  <a:txBody>
                    <a:bodyPr/>
                    <a:lstStyle/>
                    <a:p>
                      <a:pPr algn="l"/>
                      <a:r>
                        <a:rPr sz="1300" b="0" i="0">
                          <a:solidFill>
                            <a:srgbClr val="000000"/>
                          </a:solidFill>
                          <a:latin typeface="Tahoma"/>
                        </a:rPr>
                        <a:t>Enroll more people in program</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326571">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11"/>
                  </a:ext>
                </a:extLst>
              </a:tr>
              <a:tr h="326571">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12"/>
                  </a:ext>
                </a:extLst>
              </a:tr>
              <a:tr h="326577">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44</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34553801"/>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973189737"/>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881928283"/>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57200">
                <a:tc>
                  <a:txBody>
                    <a:bodyPr/>
                    <a:lstStyle/>
                    <a:p>
                      <a:pPr algn="ctr"/>
                      <a:endParaRP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457200">
                <a:tc>
                  <a:txBody>
                    <a:bodyPr/>
                    <a:lstStyle/>
                    <a:p>
                      <a:pPr algn="l"/>
                      <a:r>
                        <a:rPr sz="1300" b="0" i="0">
                          <a:solidFill>
                            <a:srgbClr val="000000"/>
                          </a:solidFill>
                          <a:latin typeface="Tahoma"/>
                        </a:rPr>
                        <a:t>Complete work correctly,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1"/>
                  </a:ext>
                </a:extLst>
              </a:tr>
              <a:tr h="457200">
                <a:tc>
                  <a:txBody>
                    <a:bodyPr/>
                    <a:lstStyle/>
                    <a:p>
                      <a:pPr algn="l"/>
                      <a:r>
                        <a:rPr sz="1300" b="0" i="0">
                          <a:solidFill>
                            <a:srgbClr val="000000"/>
                          </a:solidFill>
                          <a:latin typeface="Tahoma"/>
                        </a:rPr>
                        <a:t>Cleaned up mess, repaired damage they caused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2"/>
                  </a:ext>
                </a:extLst>
              </a:tr>
              <a:tr h="457200">
                <a:tc>
                  <a:txBody>
                    <a:bodyPr/>
                    <a:lstStyle/>
                    <a:p>
                      <a:pPr algn="l"/>
                      <a:r>
                        <a:rPr sz="1300" b="0" i="0">
                          <a:solidFill>
                            <a:srgbClr val="000000"/>
                          </a:solidFill>
                          <a:latin typeface="Tahoma"/>
                        </a:rPr>
                        <a:t>Followed up, reviewed work</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3"/>
                  </a:ext>
                </a:extLst>
              </a:tr>
              <a:tr h="457200">
                <a:tc>
                  <a:txBody>
                    <a:bodyPr/>
                    <a:lstStyle/>
                    <a:p>
                      <a:pPr algn="l"/>
                      <a:r>
                        <a:rPr sz="1300" b="0" i="0">
                          <a:solidFill>
                            <a:srgbClr val="000000"/>
                          </a:solidFill>
                          <a:latin typeface="Tahoma"/>
                        </a:rPr>
                        <a:t>Job completed very well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4"/>
                  </a:ext>
                </a:extLst>
              </a:tr>
              <a:tr h="457200">
                <a:tc>
                  <a:txBody>
                    <a:bodyPr/>
                    <a:lstStyle/>
                    <a:p>
                      <a:pPr algn="l"/>
                      <a:r>
                        <a:rPr sz="1300" b="0" i="0">
                          <a:solidFill>
                            <a:srgbClr val="000000"/>
                          </a:solidFill>
                          <a:latin typeface="Tahoma"/>
                        </a:rPr>
                        <a:t>Complete work correctly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457200">
                <a:tc>
                  <a:txBody>
                    <a:bodyPr/>
                    <a:lstStyle/>
                    <a:p>
                      <a:pPr algn="l"/>
                      <a:r>
                        <a:rPr sz="1300" b="0" i="0">
                          <a:solidFill>
                            <a:srgbClr val="000000"/>
                          </a:solidFill>
                          <a:latin typeface="Tahoma"/>
                        </a:rPr>
                        <a:t>Inform me of what is being repaired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457200">
                <a:tc>
                  <a:txBody>
                    <a:bodyPr/>
                    <a:lstStyle/>
                    <a:p>
                      <a:pPr algn="l"/>
                      <a:r>
                        <a:rPr sz="1300" b="0" i="0">
                          <a:solidFill>
                            <a:srgbClr val="000000"/>
                          </a:solidFill>
                          <a:latin typeface="Tahoma"/>
                        </a:rPr>
                        <a:t>Improve, increase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457200">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4572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4</a:t>
                      </a:r>
                    </a:p>
                  </a:txBody>
                  <a:tcPr anchor="ctr">
                    <a:solidFill>
                      <a:srgbClr val="5A80B8"/>
                    </a:solidFill>
                  </a:tcPr>
                </a:tc>
                <a:tc>
                  <a:txBody>
                    <a:bodyPr/>
                    <a:lstStyle/>
                    <a:p>
                      <a:pPr algn="ctr"/>
                      <a:r>
                        <a:rPr sz="1300" b="0" i="0">
                          <a:solidFill>
                            <a:srgbClr val="FFFFFF"/>
                          </a:solidFill>
                          <a:latin typeface="Tahoma"/>
                        </a:rPr>
                        <a:t>6</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116263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1595924"/>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296376831"/>
              </p:ext>
            </p:extLst>
          </p:nvPr>
        </p:nvGraphicFramePr>
        <p:xfrm>
          <a:off x="50801" y="137160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742575478"/>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08000">
                <a:tc>
                  <a:txBody>
                    <a:bodyPr/>
                    <a:lstStyle/>
                    <a:p>
                      <a:pPr algn="ctr"/>
                      <a:endParaRP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508000">
                <a:tc>
                  <a:txBody>
                    <a:bodyPr/>
                    <a:lstStyle/>
                    <a:p>
                      <a:pPr algn="l"/>
                      <a:r>
                        <a:rPr sz="1300" b="0" i="0">
                          <a:solidFill>
                            <a:srgbClr val="000000"/>
                          </a:solidFill>
                          <a:latin typeface="Tahoma"/>
                        </a:rPr>
                        <a:t>Follow up after a few month to check on work performed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1"/>
                  </a:ext>
                </a:extLst>
              </a:tr>
              <a:tr h="508000">
                <a:tc>
                  <a:txBody>
                    <a:bodyPr/>
                    <a:lstStyle/>
                    <a:p>
                      <a:pPr algn="l"/>
                      <a:r>
                        <a:rPr sz="1300" b="0" i="0">
                          <a:solidFill>
                            <a:srgbClr val="000000"/>
                          </a:solidFill>
                          <a:latin typeface="Tahoma"/>
                        </a:rPr>
                        <a:t>Improve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508000">
                <a:tc>
                  <a:txBody>
                    <a:bodyPr/>
                    <a:lstStyle/>
                    <a:p>
                      <a:pPr algn="l"/>
                      <a:r>
                        <a:rPr sz="1300" b="0" i="0">
                          <a:solidFill>
                            <a:srgbClr val="000000"/>
                          </a:solidFill>
                          <a:latin typeface="Tahoma"/>
                        </a:rPr>
                        <a:t>Follow up after a few months to check on work performed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508000">
                <a:tc>
                  <a:txBody>
                    <a:bodyPr/>
                    <a:lstStyle/>
                    <a:p>
                      <a:pPr algn="l"/>
                      <a:r>
                        <a:rPr sz="1300" b="0" i="0">
                          <a:solidFill>
                            <a:srgbClr val="000000"/>
                          </a:solidFill>
                          <a:latin typeface="Tahoma"/>
                        </a:rPr>
                        <a:t>Complete repair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508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508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6"/>
                  </a:ext>
                </a:extLst>
              </a:tr>
              <a:tr h="508000">
                <a:tc>
                  <a:txBody>
                    <a:bodyPr/>
                    <a:lstStyle/>
                    <a:p>
                      <a:pPr algn="l"/>
                      <a:r>
                        <a:rPr sz="1300" b="0" i="0">
                          <a:solidFill>
                            <a:srgbClr val="000000"/>
                          </a:solidFill>
                          <a:latin typeface="Tahoma"/>
                        </a:rPr>
                        <a:t>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508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5</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946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13. Was there anything about your experience with the people who weatherized your home that you would like to share with Austin Energy?</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85750">
                <a:tc>
                  <a:txBody>
                    <a:bodyPr/>
                    <a:lstStyle/>
                    <a:p>
                      <a:pPr algn="ctr"/>
                      <a:endParaRP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285750">
                <a:tc>
                  <a:txBody>
                    <a:bodyPr/>
                    <a:lstStyle/>
                    <a:p>
                      <a:pPr algn="l"/>
                      <a:r>
                        <a:rPr sz="1300" b="0" i="0">
                          <a:solidFill>
                            <a:srgbClr val="000000"/>
                          </a:solidFill>
                          <a:latin typeface="Tahoma"/>
                        </a:rPr>
                        <a:t>Satisfied with work, no complaints</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extLst>
                  <a:ext uri="{0D108BD9-81ED-4DB2-BD59-A6C34878D82A}">
                    <a16:rowId xmlns:a16="http://schemas.microsoft.com/office/drawing/2014/main" val="10001"/>
                  </a:ext>
                </a:extLst>
              </a:tr>
              <a:tr h="285750">
                <a:tc>
                  <a:txBody>
                    <a:bodyPr/>
                    <a:lstStyle/>
                    <a:p>
                      <a:pPr algn="l"/>
                      <a:r>
                        <a:rPr sz="1300" b="0" i="0">
                          <a:solidFill>
                            <a:srgbClr val="000000"/>
                          </a:solidFill>
                          <a:latin typeface="Tahoma"/>
                        </a:rPr>
                        <a:t>Nothing/no changes</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extLst>
                  <a:ext uri="{0D108BD9-81ED-4DB2-BD59-A6C34878D82A}">
                    <a16:rowId xmlns:a16="http://schemas.microsoft.com/office/drawing/2014/main" val="10002"/>
                  </a:ext>
                </a:extLst>
              </a:tr>
              <a:tr h="285750">
                <a:tc>
                  <a:txBody>
                    <a:bodyPr/>
                    <a:lstStyle/>
                    <a:p>
                      <a:pPr algn="l"/>
                      <a:r>
                        <a:rPr sz="1300" b="0" i="0">
                          <a:solidFill>
                            <a:srgbClr val="000000"/>
                          </a:solidFill>
                          <a:latin typeface="Tahoma"/>
                        </a:rPr>
                        <a:t>Patient, kind, nice, friendly, caring, polite employee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3"/>
                  </a:ext>
                </a:extLst>
              </a:tr>
              <a:tr h="285750">
                <a:tc>
                  <a:txBody>
                    <a:bodyPr/>
                    <a:lstStyle/>
                    <a:p>
                      <a:pPr algn="l"/>
                      <a:r>
                        <a:rPr sz="1300" b="0" i="0">
                          <a:solidFill>
                            <a:srgbClr val="000000"/>
                          </a:solidFill>
                          <a:latin typeface="Tahoma"/>
                        </a:rPr>
                        <a:t>Quick, punctual</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4"/>
                  </a:ext>
                </a:extLst>
              </a:tr>
              <a:tr h="285750">
                <a:tc>
                  <a:txBody>
                    <a:bodyPr/>
                    <a:lstStyle/>
                    <a:p>
                      <a:pPr algn="l"/>
                      <a:r>
                        <a:rPr sz="1300" b="0" i="0">
                          <a:solidFill>
                            <a:srgbClr val="000000"/>
                          </a:solidFill>
                          <a:latin typeface="Tahoma"/>
                        </a:rPr>
                        <a:t>Need more information about work completed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285750">
                <a:tc>
                  <a:txBody>
                    <a:bodyPr/>
                    <a:lstStyle/>
                    <a:p>
                      <a:pPr algn="l"/>
                      <a:r>
                        <a:rPr sz="1300" b="0" i="0">
                          <a:solidFill>
                            <a:srgbClr val="000000"/>
                          </a:solidFill>
                          <a:latin typeface="Tahoma"/>
                        </a:rPr>
                        <a:t>Provided helpful information, knowledgeable</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6"/>
                  </a:ext>
                </a:extLst>
              </a:tr>
              <a:tr h="285750">
                <a:tc>
                  <a:txBody>
                    <a:bodyPr/>
                    <a:lstStyle/>
                    <a:p>
                      <a:pPr algn="l"/>
                      <a:r>
                        <a:rPr sz="1300" b="0" i="0">
                          <a:solidFill>
                            <a:srgbClr val="000000"/>
                          </a:solidFill>
                          <a:latin typeface="Tahoma"/>
                        </a:rPr>
                        <a:t>Not knowledgeable/not done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7"/>
                  </a:ext>
                </a:extLst>
              </a:tr>
              <a:tr h="285750">
                <a:tc>
                  <a:txBody>
                    <a:bodyPr/>
                    <a:lstStyle/>
                    <a:p>
                      <a:pPr algn="l"/>
                      <a:r>
                        <a:rPr sz="1300" b="0" i="0">
                          <a:solidFill>
                            <a:srgbClr val="000000"/>
                          </a:solidFill>
                          <a:latin typeface="Tahoma"/>
                        </a:rPr>
                        <a:t>Professional</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285750">
                <a:tc>
                  <a:txBody>
                    <a:bodyPr/>
                    <a:lstStyle/>
                    <a:p>
                      <a:pPr algn="l"/>
                      <a:r>
                        <a:rPr sz="1300" b="0" i="0">
                          <a:solidFill>
                            <a:srgbClr val="000000"/>
                          </a:solidFill>
                          <a:latin typeface="Tahoma"/>
                        </a:rPr>
                        <a:t>Did not leave area clean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285750">
                <a:tc>
                  <a:txBody>
                    <a:bodyPr/>
                    <a:lstStyle/>
                    <a:p>
                      <a:pPr algn="l"/>
                      <a:r>
                        <a:rPr sz="1300" b="0" i="0">
                          <a:solidFill>
                            <a:srgbClr val="000000"/>
                          </a:solidFill>
                          <a:latin typeface="Tahoma"/>
                        </a:rPr>
                        <a:t>They should talk to homeowner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285750">
                <a:tc>
                  <a:txBody>
                    <a:bodyPr/>
                    <a:lstStyle/>
                    <a:p>
                      <a:pPr algn="l"/>
                      <a:r>
                        <a:rPr sz="1300" b="0" i="0">
                          <a:solidFill>
                            <a:srgbClr val="000000"/>
                          </a:solidFill>
                          <a:latin typeface="Tahoma"/>
                        </a:rPr>
                        <a:t>Incomplete job, items or issues not addressed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1"/>
                  </a:ext>
                </a:extLst>
              </a:tr>
              <a:tr h="285750">
                <a:tc>
                  <a:txBody>
                    <a:bodyPr/>
                    <a:lstStyle/>
                    <a:p>
                      <a:pPr algn="l"/>
                      <a:r>
                        <a:rPr sz="1300" b="0" i="0">
                          <a:solidFill>
                            <a:srgbClr val="000000"/>
                          </a:solidFill>
                          <a:latin typeface="Tahoma"/>
                        </a:rPr>
                        <a:t>Cleaned up after themselves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285750">
                <a:tc>
                  <a:txBody>
                    <a:bodyPr/>
                    <a:lstStyle/>
                    <a:p>
                      <a:pPr algn="l"/>
                      <a:r>
                        <a:rPr sz="1300" b="0" i="0">
                          <a:solidFill>
                            <a:srgbClr val="000000"/>
                          </a:solidFill>
                          <a:latin typeface="Tahoma"/>
                        </a:rPr>
                        <a:t>Good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3"/>
                  </a:ext>
                </a:extLst>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14"/>
                  </a:ext>
                </a:extLst>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50</a:t>
                      </a:r>
                    </a:p>
                  </a:txBody>
                  <a:tcPr anchor="ctr">
                    <a:solidFill>
                      <a:srgbClr val="5A80B8"/>
                    </a:solidFill>
                  </a:tcPr>
                </a:tc>
                <a:tc>
                  <a:txBody>
                    <a:bodyPr/>
                    <a:lstStyle/>
                    <a:p>
                      <a:pPr algn="ctr"/>
                      <a:r>
                        <a:rPr sz="1300" b="1" i="0">
                          <a:solidFill>
                            <a:srgbClr val="FFFFFF"/>
                          </a:solidFill>
                          <a:latin typeface="Tahoma"/>
                        </a:rPr>
                        <a:t>24</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918021849"/>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graphicFrame>
        <p:nvGraphicFramePr>
          <p:cNvPr id="23556" name="Table 23555"/>
          <p:cNvGraphicFramePr>
            <a:graphicFrameLocks noGrp="1"/>
          </p:cNvGraphicFramePr>
          <p:nvPr/>
        </p:nvGraphicFramePr>
        <p:xfrm>
          <a:off x="457200" y="1554480"/>
          <a:ext cx="5943600" cy="676656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57200">
                <a:tc>
                  <a:txBody>
                    <a:bodyPr/>
                    <a:lstStyle/>
                    <a:p>
                      <a:pPr algn="ctr"/>
                      <a:endParaRPr/>
                    </a:p>
                  </a:txBody>
                  <a:tcPr anchor="ctr">
                    <a:solidFill>
                      <a:srgbClr val="5A80B8"/>
                    </a:solidFill>
                  </a:tcPr>
                </a:tc>
                <a:tc>
                  <a:txBody>
                    <a:bodyPr/>
                    <a:lstStyle/>
                    <a:p>
                      <a:pPr algn="ctr"/>
                      <a:r>
                        <a:rPr sz="1300" b="1" i="0">
                          <a:solidFill>
                            <a:srgbClr val="FFFFFF"/>
                          </a:solidFill>
                          <a:latin typeface="Tahoma"/>
                        </a:rPr>
                        <a:t>Q2 2024</a:t>
                      </a: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457200">
                <a:tc>
                  <a:txBody>
                    <a:bodyPr/>
                    <a:lstStyle/>
                    <a:p>
                      <a:pPr algn="l"/>
                      <a:r>
                        <a:rPr sz="1300" b="0" i="0">
                          <a:solidFill>
                            <a:srgbClr val="000000"/>
                          </a:solidFill>
                          <a:latin typeface="Tahoma"/>
                        </a:rPr>
                        <a:t>Saving money on my utility bill</a:t>
                      </a:r>
                    </a:p>
                  </a:txBody>
                  <a:tcPr anchor="ctr">
                    <a:solidFill>
                      <a:srgbClr val="E0E5F0"/>
                    </a:solidFill>
                  </a:tcPr>
                </a:tc>
                <a:tc>
                  <a:txBody>
                    <a:bodyPr/>
                    <a:lstStyle/>
                    <a:p>
                      <a:pPr algn="ctr"/>
                      <a:r>
                        <a:rPr sz="1300" b="0" i="0">
                          <a:solidFill>
                            <a:srgbClr val="000000"/>
                          </a:solidFill>
                          <a:latin typeface="Tahoma"/>
                        </a:rPr>
                        <a:t>34</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40</a:t>
                      </a:r>
                    </a:p>
                  </a:txBody>
                  <a:tcPr anchor="ctr">
                    <a:solidFill>
                      <a:srgbClr val="E0E5F0"/>
                    </a:solidFill>
                  </a:tcPr>
                </a:tc>
                <a:extLst>
                  <a:ext uri="{0D108BD9-81ED-4DB2-BD59-A6C34878D82A}">
                    <a16:rowId xmlns:a16="http://schemas.microsoft.com/office/drawing/2014/main" val="10001"/>
                  </a:ext>
                </a:extLst>
              </a:tr>
              <a:tr h="457200">
                <a:tc>
                  <a:txBody>
                    <a:bodyPr/>
                    <a:lstStyle/>
                    <a:p>
                      <a:pPr algn="l"/>
                      <a:r>
                        <a:rPr sz="1300" b="0" i="0">
                          <a:solidFill>
                            <a:srgbClr val="000000"/>
                          </a:solidFill>
                          <a:latin typeface="Tahoma"/>
                        </a:rPr>
                        <a:t>Using less energy and/or water</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35</a:t>
                      </a:r>
                    </a:p>
                  </a:txBody>
                  <a:tcPr anchor="ctr">
                    <a:solidFill>
                      <a:srgbClr val="E0E5F0"/>
                    </a:solidFill>
                  </a:tcPr>
                </a:tc>
                <a:extLst>
                  <a:ext uri="{0D108BD9-81ED-4DB2-BD59-A6C34878D82A}">
                    <a16:rowId xmlns:a16="http://schemas.microsoft.com/office/drawing/2014/main" val="10002"/>
                  </a:ext>
                </a:extLst>
              </a:tr>
              <a:tr h="457200">
                <a:tc>
                  <a:txBody>
                    <a:bodyPr/>
                    <a:lstStyle/>
                    <a:p>
                      <a:pPr algn="l"/>
                      <a:r>
                        <a:rPr sz="1300" b="0" i="0">
                          <a:solidFill>
                            <a:srgbClr val="000000"/>
                          </a:solidFill>
                          <a:latin typeface="Tahoma"/>
                        </a:rPr>
                        <a:t>Saving energy and/or water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31</a:t>
                      </a:r>
                    </a:p>
                  </a:txBody>
                  <a:tcPr anchor="ctr">
                    <a:solidFill>
                      <a:srgbClr val="E0E5F0"/>
                    </a:solidFill>
                  </a:tcPr>
                </a:tc>
                <a:extLst>
                  <a:ext uri="{0D108BD9-81ED-4DB2-BD59-A6C34878D82A}">
                    <a16:rowId xmlns:a16="http://schemas.microsoft.com/office/drawing/2014/main" val="10003"/>
                  </a:ext>
                </a:extLst>
              </a:tr>
              <a:tr h="457200">
                <a:tc>
                  <a:txBody>
                    <a:bodyPr/>
                    <a:lstStyle/>
                    <a:p>
                      <a:pPr algn="l"/>
                      <a:r>
                        <a:rPr sz="1300" b="0" i="0">
                          <a:solidFill>
                            <a:srgbClr val="000000"/>
                          </a:solidFill>
                          <a:latin typeface="Tahoma"/>
                        </a:rPr>
                        <a:t>Feeling more comfortable in my home</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extLst>
                  <a:ext uri="{0D108BD9-81ED-4DB2-BD59-A6C34878D82A}">
                    <a16:rowId xmlns:a16="http://schemas.microsoft.com/office/drawing/2014/main" val="10004"/>
                  </a:ext>
                </a:extLst>
              </a:tr>
              <a:tr h="457200">
                <a:tc>
                  <a:txBody>
                    <a:bodyPr/>
                    <a:lstStyle/>
                    <a:p>
                      <a:pPr algn="l"/>
                      <a:r>
                        <a:rPr sz="1300" b="0" i="0">
                          <a:solidFill>
                            <a:srgbClr val="000000"/>
                          </a:solidFill>
                          <a:latin typeface="Tahoma"/>
                        </a:rPr>
                        <a:t>Knowing I am doing my part for the planet</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extLst>
                  <a:ext uri="{0D108BD9-81ED-4DB2-BD59-A6C34878D82A}">
                    <a16:rowId xmlns:a16="http://schemas.microsoft.com/office/drawing/2014/main" val="10005"/>
                  </a:ext>
                </a:extLst>
              </a:tr>
              <a:tr h="457200">
                <a:tc>
                  <a:txBody>
                    <a:bodyPr/>
                    <a:lstStyle/>
                    <a:p>
                      <a:pPr algn="l"/>
                      <a:r>
                        <a:rPr sz="1300" b="0" i="0">
                          <a:solidFill>
                            <a:srgbClr val="000000"/>
                          </a:solidFill>
                          <a:latin typeface="Tahoma"/>
                        </a:rPr>
                        <a:t>Participating in/using renewable energy</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extLst>
                  <a:ext uri="{0D108BD9-81ED-4DB2-BD59-A6C34878D82A}">
                    <a16:rowId xmlns:a16="http://schemas.microsoft.com/office/drawing/2014/main" val="10006"/>
                  </a:ext>
                </a:extLst>
              </a:tr>
              <a:tr h="457200">
                <a:tc>
                  <a:txBody>
                    <a:bodyPr/>
                    <a:lstStyle/>
                    <a:p>
                      <a:pPr algn="l"/>
                      <a:r>
                        <a:rPr sz="1300" b="0" i="0">
                          <a:solidFill>
                            <a:srgbClr val="000000"/>
                          </a:solidFill>
                          <a:latin typeface="Tahoma"/>
                        </a:rPr>
                        <a:t>Setting my thermostat at a higher temperature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21</a:t>
                      </a:r>
                    </a:p>
                  </a:txBody>
                  <a:tcPr anchor="ctr">
                    <a:solidFill>
                      <a:srgbClr val="E0E5F0"/>
                    </a:solidFill>
                  </a:tcPr>
                </a:tc>
                <a:extLst>
                  <a:ext uri="{0D108BD9-81ED-4DB2-BD59-A6C34878D82A}">
                    <a16:rowId xmlns:a16="http://schemas.microsoft.com/office/drawing/2014/main" val="10007"/>
                  </a:ext>
                </a:extLst>
              </a:tr>
              <a:tr h="4572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8"/>
                  </a:ext>
                </a:extLst>
              </a:tr>
              <a:tr h="4572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44</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43</a:t>
                      </a:r>
                    </a:p>
                  </a:txBody>
                  <a:tcPr anchor="ctr">
                    <a:solidFill>
                      <a:srgbClr val="5A80B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448146545"/>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68941">
                <a:tc>
                  <a:txBody>
                    <a:bodyPr/>
                    <a:lstStyle/>
                    <a:p>
                      <a:pPr algn="ctr"/>
                      <a:endParaRPr/>
                    </a:p>
                  </a:txBody>
                  <a:tcPr anchor="ctr">
                    <a:solidFill>
                      <a:srgbClr val="5A80B8"/>
                    </a:solidFill>
                  </a:tcPr>
                </a:tc>
                <a:tc>
                  <a:txBody>
                    <a:bodyPr/>
                    <a:lstStyle/>
                    <a:p>
                      <a:pPr algn="ctr"/>
                      <a:r>
                        <a:rPr sz="1300" b="1" i="0">
                          <a:solidFill>
                            <a:srgbClr val="FFFFFF"/>
                          </a:solidFill>
                          <a:latin typeface="Tahoma"/>
                        </a:rPr>
                        <a:t>Q2 2024</a:t>
                      </a: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268941">
                <a:tc>
                  <a:txBody>
                    <a:bodyPr/>
                    <a:lstStyle/>
                    <a:p>
                      <a:pPr algn="l"/>
                      <a:r>
                        <a:rPr sz="1300" b="0" i="0">
                          <a:solidFill>
                            <a:srgbClr val="000000"/>
                          </a:solidFill>
                          <a:latin typeface="Tahoma"/>
                        </a:rPr>
                        <a:t>Replace appliances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1"/>
                  </a:ext>
                </a:extLst>
              </a:tr>
              <a:tr h="268941">
                <a:tc>
                  <a:txBody>
                    <a:bodyPr/>
                    <a:lstStyle/>
                    <a:p>
                      <a:pPr algn="l"/>
                      <a:r>
                        <a:rPr sz="1300" b="0" i="0">
                          <a:solidFill>
                            <a:srgbClr val="000000"/>
                          </a:solidFill>
                          <a:latin typeface="Tahoma"/>
                        </a:rPr>
                        <a:t>Replace windows</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02"/>
                  </a:ext>
                </a:extLst>
              </a:tr>
              <a:tr h="268941">
                <a:tc>
                  <a:txBody>
                    <a:bodyPr/>
                    <a:lstStyle/>
                    <a:p>
                      <a:pPr algn="l"/>
                      <a:r>
                        <a:rPr sz="1300" b="0" i="0">
                          <a:solidFill>
                            <a:srgbClr val="000000"/>
                          </a:solidFill>
                          <a:latin typeface="Tahoma"/>
                        </a:rPr>
                        <a:t>Solar screens, panels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03"/>
                  </a:ext>
                </a:extLst>
              </a:tr>
              <a:tr h="268941">
                <a:tc>
                  <a:txBody>
                    <a:bodyPr/>
                    <a:lstStyle/>
                    <a:p>
                      <a:pPr algn="l"/>
                      <a:r>
                        <a:rPr sz="1300" b="0" i="0">
                          <a:solidFill>
                            <a:srgbClr val="000000"/>
                          </a:solidFill>
                          <a:latin typeface="Tahoma"/>
                        </a:rPr>
                        <a:t>Lower rates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4"/>
                  </a:ext>
                </a:extLst>
              </a:tr>
              <a:tr h="268941">
                <a:tc>
                  <a:txBody>
                    <a:bodyPr/>
                    <a:lstStyle/>
                    <a:p>
                      <a:pPr algn="l"/>
                      <a:r>
                        <a:rPr sz="1300" b="0" i="0">
                          <a:solidFill>
                            <a:srgbClr val="000000"/>
                          </a:solidFill>
                          <a:latin typeface="Tahoma"/>
                        </a:rPr>
                        <a:t>Replace, repair doors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5"/>
                  </a:ext>
                </a:extLst>
              </a:tr>
              <a:tr h="268941">
                <a:tc>
                  <a:txBody>
                    <a:bodyPr/>
                    <a:lstStyle/>
                    <a:p>
                      <a:pPr algn="l"/>
                      <a:r>
                        <a:rPr sz="1300" b="0" i="0">
                          <a:solidFill>
                            <a:srgbClr val="000000"/>
                          </a:solidFill>
                          <a:latin typeface="Tahoma"/>
                        </a:rPr>
                        <a:t>Show ways to lower energy costs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268941">
                <a:tc>
                  <a:txBody>
                    <a:bodyPr/>
                    <a:lstStyle/>
                    <a:p>
                      <a:pPr algn="l"/>
                      <a:r>
                        <a:rPr sz="1300" b="0" i="0">
                          <a:solidFill>
                            <a:srgbClr val="000000"/>
                          </a:solidFill>
                          <a:latin typeface="Tahoma"/>
                        </a:rPr>
                        <a:t>Replace, repair roof</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7"/>
                  </a:ext>
                </a:extLst>
              </a:tr>
              <a:tr h="268941">
                <a:tc>
                  <a:txBody>
                    <a:bodyPr/>
                    <a:lstStyle/>
                    <a:p>
                      <a:pPr algn="l"/>
                      <a:r>
                        <a:rPr sz="1300" b="0" i="0">
                          <a:solidFill>
                            <a:srgbClr val="000000"/>
                          </a:solidFill>
                          <a:latin typeface="Tahoma"/>
                        </a:rPr>
                        <a:t>Solar screens/panels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268941">
                <a:tc>
                  <a:txBody>
                    <a:bodyPr/>
                    <a:lstStyle/>
                    <a:p>
                      <a:pPr algn="l"/>
                      <a:r>
                        <a:rPr sz="1300" b="0" i="0">
                          <a:solidFill>
                            <a:srgbClr val="000000"/>
                          </a:solidFill>
                          <a:latin typeface="Tahoma"/>
                        </a:rPr>
                        <a:t>Provide insulation</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268941">
                <a:tc>
                  <a:txBody>
                    <a:bodyPr/>
                    <a:lstStyle/>
                    <a:p>
                      <a:pPr algn="l"/>
                      <a:r>
                        <a:rPr sz="1300" b="0" i="0">
                          <a:solidFill>
                            <a:srgbClr val="000000"/>
                          </a:solidFill>
                          <a:latin typeface="Tahoma"/>
                        </a:rPr>
                        <a:t>Bigger rebates, more rebates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268941">
                <a:tc>
                  <a:txBody>
                    <a:bodyPr/>
                    <a:lstStyle/>
                    <a:p>
                      <a:pPr algn="l"/>
                      <a:r>
                        <a:rPr sz="1300" b="0" i="0">
                          <a:solidFill>
                            <a:srgbClr val="000000"/>
                          </a:solidFill>
                          <a:latin typeface="Tahoma"/>
                        </a:rPr>
                        <a:t>Better quality materials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1"/>
                  </a:ext>
                </a:extLst>
              </a:tr>
              <a:tr h="268941">
                <a:tc>
                  <a:txBody>
                    <a:bodyPr/>
                    <a:lstStyle/>
                    <a:p>
                      <a:pPr algn="l"/>
                      <a:r>
                        <a:rPr sz="1300" b="0" i="0">
                          <a:solidFill>
                            <a:srgbClr val="000000"/>
                          </a:solidFill>
                          <a:latin typeface="Tahoma"/>
                        </a:rPr>
                        <a:t>Help provide more material (thermostat, etc.)</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268941">
                <a:tc>
                  <a:txBody>
                    <a:bodyPr/>
                    <a:lstStyle/>
                    <a:p>
                      <a:pPr algn="l"/>
                      <a:r>
                        <a:rPr sz="1300" b="0" i="0">
                          <a:solidFill>
                            <a:srgbClr val="000000"/>
                          </a:solidFill>
                          <a:latin typeface="Tahoma"/>
                        </a:rPr>
                        <a:t>Nothing/no suggestions</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13"/>
                  </a:ext>
                </a:extLst>
              </a:tr>
              <a:tr h="268941">
                <a:tc>
                  <a:txBody>
                    <a:bodyPr/>
                    <a:lstStyle/>
                    <a:p>
                      <a:pPr algn="l"/>
                      <a:r>
                        <a:rPr sz="1300" b="0" i="0">
                          <a:solidFill>
                            <a:srgbClr val="000000"/>
                          </a:solidFill>
                          <a:latin typeface="Tahoma"/>
                        </a:rPr>
                        <a:t>Do not know, unsure</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14"/>
                  </a:ext>
                </a:extLst>
              </a:tr>
              <a:tr h="268941">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15"/>
                  </a:ext>
                </a:extLst>
              </a:tr>
              <a:tr h="268944">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44</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37790173"/>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653142">
                <a:tc>
                  <a:txBody>
                    <a:bodyPr/>
                    <a:lstStyle/>
                    <a:p>
                      <a:pPr algn="ctr"/>
                      <a:endParaRPr/>
                    </a:p>
                  </a:txBody>
                  <a:tcPr anchor="ctr">
                    <a:solidFill>
                      <a:srgbClr val="5A80B8"/>
                    </a:solidFill>
                  </a:tcPr>
                </a:tc>
                <a:tc>
                  <a:txBody>
                    <a:bodyPr/>
                    <a:lstStyle/>
                    <a:p>
                      <a:pPr algn="ctr"/>
                      <a:r>
                        <a:rPr sz="1300" b="1" i="0">
                          <a:solidFill>
                            <a:srgbClr val="FFFFFF"/>
                          </a:solidFill>
                          <a:latin typeface="Tahoma"/>
                        </a:rPr>
                        <a:t>Q2 2024</a:t>
                      </a:r>
                    </a:p>
                  </a:txBody>
                  <a:tcPr anchor="ctr">
                    <a:solidFill>
                      <a:srgbClr val="5A80B8"/>
                    </a:solidFill>
                  </a:tcPr>
                </a:tc>
                <a:tc>
                  <a:txBody>
                    <a:bodyPr/>
                    <a:lstStyle/>
                    <a:p>
                      <a:pPr algn="ctr"/>
                      <a:r>
                        <a:rPr sz="1300" b="1" i="0">
                          <a:solidFill>
                            <a:srgbClr val="FFFFFF"/>
                          </a:solidFill>
                          <a:latin typeface="Tahoma"/>
                        </a:rPr>
                        <a:t>Q3 2024</a:t>
                      </a: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653142">
                <a:tc>
                  <a:txBody>
                    <a:bodyPr/>
                    <a:lstStyle/>
                    <a:p>
                      <a:pPr algn="l"/>
                      <a:r>
                        <a:rPr sz="1300" b="0" i="0">
                          <a:solidFill>
                            <a:srgbClr val="000000"/>
                          </a:solidFill>
                          <a:latin typeface="Tahoma"/>
                        </a:rPr>
                        <a:t>More communication, more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01"/>
                  </a:ext>
                </a:extLst>
              </a:tr>
              <a:tr h="653142">
                <a:tc>
                  <a:txBody>
                    <a:bodyPr/>
                    <a:lstStyle/>
                    <a:p>
                      <a:pPr algn="l"/>
                      <a:r>
                        <a:rPr sz="1300" b="0" i="0">
                          <a:solidFill>
                            <a:srgbClr val="000000"/>
                          </a:solidFill>
                          <a:latin typeface="Tahoma"/>
                        </a:rPr>
                        <a:t>Increase energy savings, lower bill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2"/>
                  </a:ext>
                </a:extLst>
              </a:tr>
              <a:tr h="653142">
                <a:tc>
                  <a:txBody>
                    <a:bodyPr/>
                    <a:lstStyle/>
                    <a:p>
                      <a:pPr algn="l"/>
                      <a:r>
                        <a:rPr sz="1300" b="0" i="0">
                          <a:solidFill>
                            <a:srgbClr val="000000"/>
                          </a:solidFill>
                          <a:latin typeface="Tahoma"/>
                        </a:rPr>
                        <a:t>Nothing, satisfied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3"/>
                  </a:ext>
                </a:extLst>
              </a:tr>
              <a:tr h="653142">
                <a:tc>
                  <a:txBody>
                    <a:bodyPr/>
                    <a:lstStyle/>
                    <a:p>
                      <a:pPr algn="l"/>
                      <a:r>
                        <a:rPr sz="1300" b="0" i="0">
                          <a:solidFill>
                            <a:srgbClr val="000000"/>
                          </a:solidFill>
                          <a:latin typeface="Tahoma"/>
                        </a:rPr>
                        <a:t>Do not know, not familiar with program</a:t>
                      </a:r>
                    </a:p>
                  </a:txBody>
                  <a:tcPr anchor="ctr">
                    <a:solidFill>
                      <a:srgbClr val="E0E5F0"/>
                    </a:solidFill>
                  </a:tcPr>
                </a:tc>
                <a:tc>
                  <a:txBody>
                    <a:bodyPr/>
                    <a:lstStyle/>
                    <a:p>
                      <a:pPr algn="ctr"/>
                      <a:r>
                        <a:rPr sz="1300" b="0" i="0">
                          <a:solidFill>
                            <a:srgbClr val="000000"/>
                          </a:solidFill>
                          <a:latin typeface="Tahoma"/>
                        </a:rPr>
                        <a:t>17</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4"/>
                  </a:ext>
                </a:extLst>
              </a:tr>
              <a:tr h="653142">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653148">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20</a:t>
                      </a:r>
                    </a:p>
                  </a:txBody>
                  <a:tcPr anchor="ctr">
                    <a:solidFill>
                      <a:srgbClr val="5A80B8"/>
                    </a:solidFill>
                  </a:tcPr>
                </a:tc>
                <a:tc>
                  <a:txBody>
                    <a:bodyPr/>
                    <a:lstStyle/>
                    <a:p>
                      <a:pPr algn="ctr"/>
                      <a:r>
                        <a:rPr sz="1300" b="1" i="0">
                          <a:solidFill>
                            <a:srgbClr val="FFFFFF"/>
                          </a:solidFill>
                          <a:latin typeface="Tahoma"/>
                        </a:rPr>
                        <a:t>9</a:t>
                      </a:r>
                    </a:p>
                  </a:txBody>
                  <a:tcPr anchor="ctr">
                    <a:solidFill>
                      <a:srgbClr val="5A80B8"/>
                    </a:solidFill>
                  </a:tcPr>
                </a:tc>
                <a:tc>
                  <a:txBody>
                    <a:bodyPr/>
                    <a:lstStyle/>
                    <a:p>
                      <a:pPr algn="ctr"/>
                      <a:r>
                        <a:rPr sz="1300" b="1" i="0">
                          <a:solidFill>
                            <a:srgbClr val="FFFFFF"/>
                          </a:solidFill>
                          <a:latin typeface="Tahoma"/>
                        </a:rPr>
                        <a:t>22</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45841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Communication Regarding Low Income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919611102"/>
              </p:ext>
            </p:extLst>
          </p:nvPr>
        </p:nvGraphicFramePr>
        <p:xfrm>
          <a:off x="14356" y="1371600"/>
          <a:ext cx="6843643" cy="662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841468582"/>
              </p:ext>
            </p:extLst>
          </p:nvPr>
        </p:nvGraphicFramePr>
        <p:xfrm>
          <a:off x="133" y="990600"/>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384144801"/>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3556" name="Table 23555"/>
          <p:cNvGraphicFramePr>
            <a:graphicFrameLocks noGrp="1"/>
          </p:cNvGraphicFramePr>
          <p:nvPr/>
        </p:nvGraphicFramePr>
        <p:xfrm>
          <a:off x="457200" y="1554480"/>
          <a:ext cx="5943600" cy="67056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1000">
                <a:tc>
                  <a:txBody>
                    <a:bodyPr/>
                    <a:lstStyle/>
                    <a:p>
                      <a:pPr algn="ctr"/>
                      <a:endParaRPr/>
                    </a:p>
                  </a:txBody>
                  <a:tcPr anchor="ctr">
                    <a:solidFill>
                      <a:srgbClr val="5A80B8"/>
                    </a:solidFill>
                  </a:tcPr>
                </a:tc>
                <a:tc>
                  <a:txBody>
                    <a:bodyPr/>
                    <a:lstStyle/>
                    <a:p>
                      <a:pPr algn="ctr"/>
                      <a:r>
                        <a:rPr sz="1400" b="1" i="0">
                          <a:solidFill>
                            <a:srgbClr val="FFFFFF"/>
                          </a:solidFill>
                          <a:latin typeface="Tahoma"/>
                        </a:rPr>
                        <a:t>Q2 2024</a:t>
                      </a:r>
                    </a:p>
                  </a:txBody>
                  <a:tcPr anchor="ctr">
                    <a:solidFill>
                      <a:srgbClr val="5A80B8"/>
                    </a:solidFill>
                  </a:tcPr>
                </a:tc>
                <a:tc>
                  <a:txBody>
                    <a:bodyPr/>
                    <a:lstStyle/>
                    <a:p>
                      <a:pPr algn="ctr"/>
                      <a:r>
                        <a:rPr sz="1400" b="1" i="0">
                          <a:solidFill>
                            <a:srgbClr val="FFFFFF"/>
                          </a:solidFill>
                          <a:latin typeface="Tahoma"/>
                        </a:rPr>
                        <a:t>Q3 2024</a:t>
                      </a: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381000">
                <a:tc>
                  <a:txBody>
                    <a:bodyPr/>
                    <a:lstStyle/>
                    <a:p>
                      <a:pPr algn="l"/>
                      <a:r>
                        <a:rPr sz="1300" b="0" i="0">
                          <a:solidFill>
                            <a:srgbClr val="000000"/>
                          </a:solidFill>
                          <a:latin typeface="Tahoma"/>
                        </a:rPr>
                        <a:t>Any new programs or recaps of old programs</a:t>
                      </a:r>
                    </a:p>
                  </a:txBody>
                  <a:tcPr anchor="ctr">
                    <a:solidFill>
                      <a:srgbClr val="E0E5F0"/>
                    </a:solidFill>
                  </a:tcPr>
                </a:tc>
                <a:tc>
                  <a:txBody>
                    <a:bodyPr/>
                    <a:lstStyle/>
                    <a:p>
                      <a:pPr algn="ctr"/>
                      <a:r>
                        <a:rPr sz="1300" b="0" i="0">
                          <a:solidFill>
                            <a:srgbClr val="000000"/>
                          </a:solidFill>
                          <a:latin typeface="Tahoma"/>
                        </a:rPr>
                        <a:t>27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extLst>
                  <a:ext uri="{0D108BD9-81ED-4DB2-BD59-A6C34878D82A}">
                    <a16:rowId xmlns:a16="http://schemas.microsoft.com/office/drawing/2014/main" val="10001"/>
                  </a:ext>
                </a:extLst>
              </a:tr>
              <a:tr h="381000">
                <a:tc>
                  <a:txBody>
                    <a:bodyPr/>
                    <a:lstStyle/>
                    <a:p>
                      <a:pPr algn="l"/>
                      <a:r>
                        <a:rPr sz="1300" b="0" i="0">
                          <a:solidFill>
                            <a:srgbClr val="000000"/>
                          </a:solidFill>
                          <a:latin typeface="Tahoma"/>
                        </a:rPr>
                        <a:t>Tips on reducing energy and water costs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2"/>
                  </a:ext>
                </a:extLst>
              </a:tr>
              <a:tr h="381000">
                <a:tc>
                  <a:txBody>
                    <a:bodyPr/>
                    <a:lstStyle/>
                    <a:p>
                      <a:pPr algn="l"/>
                      <a:r>
                        <a:rPr sz="1300" b="0" i="0">
                          <a:solidFill>
                            <a:srgbClr val="000000"/>
                          </a:solidFill>
                          <a:latin typeface="Tahoma"/>
                        </a:rPr>
                        <a:t>Maintaining, weatherizing, repairing home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3"/>
                  </a:ext>
                </a:extLst>
              </a:tr>
              <a:tr h="381000">
                <a:tc>
                  <a:txBody>
                    <a:bodyPr/>
                    <a:lstStyle/>
                    <a:p>
                      <a:pPr algn="l"/>
                      <a:r>
                        <a:rPr sz="1300" b="0" i="0">
                          <a:solidFill>
                            <a:srgbClr val="000000"/>
                          </a:solidFill>
                          <a:latin typeface="Tahoma"/>
                        </a:rPr>
                        <a:t>General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4"/>
                  </a:ext>
                </a:extLst>
              </a:tr>
              <a:tr h="381000">
                <a:tc>
                  <a:txBody>
                    <a:bodyPr/>
                    <a:lstStyle/>
                    <a:p>
                      <a:pPr algn="l"/>
                      <a:r>
                        <a:rPr sz="1300" b="0" i="0">
                          <a:solidFill>
                            <a:srgbClr val="000000"/>
                          </a:solidFill>
                          <a:latin typeface="Tahoma"/>
                        </a:rPr>
                        <a:t>Power outages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381000">
                <a:tc>
                  <a:txBody>
                    <a:bodyPr/>
                    <a:lstStyle/>
                    <a:p>
                      <a:pPr algn="l"/>
                      <a:r>
                        <a:rPr sz="1300" b="0" i="0">
                          <a:solidFill>
                            <a:srgbClr val="000000"/>
                          </a:solidFill>
                          <a:latin typeface="Tahoma"/>
                        </a:rPr>
                        <a:t>Usage information</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381000">
                <a:tc>
                  <a:txBody>
                    <a:bodyPr/>
                    <a:lstStyle/>
                    <a:p>
                      <a:pPr algn="l"/>
                      <a:r>
                        <a:rPr sz="1300" b="0" i="0">
                          <a:solidFill>
                            <a:srgbClr val="000000"/>
                          </a:solidFill>
                          <a:latin typeface="Tahoma"/>
                        </a:rPr>
                        <a:t>Rate changes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381000">
                <a:tc>
                  <a:txBody>
                    <a:bodyPr/>
                    <a:lstStyle/>
                    <a:p>
                      <a:pPr algn="l"/>
                      <a:r>
                        <a:rPr sz="1300" b="0" i="0">
                          <a:solidFill>
                            <a:srgbClr val="000000"/>
                          </a:solidFill>
                          <a:latin typeface="Tahoma"/>
                        </a:rPr>
                        <a:t>No complaints, nothing</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8"/>
                  </a:ext>
                </a:extLst>
              </a:tr>
              <a:tr h="38100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9"/>
                  </a:ext>
                </a:extLst>
              </a:tr>
              <a:tr h="3810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10"/>
                  </a:ext>
                </a:extLst>
              </a:tr>
              <a:tr h="3810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44</a:t>
                      </a:r>
                    </a:p>
                  </a:txBody>
                  <a:tcPr anchor="ctr">
                    <a:solidFill>
                      <a:srgbClr val="5A80B8"/>
                    </a:solidFill>
                  </a:tcPr>
                </a:tc>
                <a:tc>
                  <a:txBody>
                    <a:bodyPr/>
                    <a:lstStyle/>
                    <a:p>
                      <a:pPr algn="ctr"/>
                      <a:r>
                        <a:rPr sz="1300" b="1" i="0">
                          <a:solidFill>
                            <a:srgbClr val="FFFFFF"/>
                          </a:solidFill>
                          <a:latin typeface="Tahoma"/>
                        </a:rPr>
                        <a:t>19</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321920897"/>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98262214"/>
              </p:ext>
            </p:extLst>
          </p:nvPr>
        </p:nvGraphicFramePr>
        <p:xfrm>
          <a:off x="29308" y="10336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DE31-2491-E16B-5725-5843319FE222}"/>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D9CC2B8B-77D9-EF38-B2C1-BCDF6AEF3362}"/>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a:extLst>
              <a:ext uri="{FF2B5EF4-FFF2-40B4-BE49-F238E27FC236}">
                <a16:creationId xmlns:a16="http://schemas.microsoft.com/office/drawing/2014/main" id="{ED2C9CA4-C99A-FCD2-E77F-DD51B3AD3E75}"/>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D0AE372A-084E-9095-BA69-D2FF70E46156}"/>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1A5B7E8D-1F0F-3E60-A629-98596DC2FEBA}"/>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23556" name="Table 23555"/>
          <p:cNvGraphicFramePr>
            <a:graphicFrameLocks noGrp="1"/>
          </p:cNvGraphicFramePr>
          <p:nvPr/>
        </p:nvGraphicFramePr>
        <p:xfrm>
          <a:off x="457200" y="1554480"/>
          <a:ext cx="5943600" cy="5330952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0">
                <a:tc>
                  <a:txBody>
                    <a:bodyPr/>
                    <a:lstStyle/>
                    <a:p>
                      <a:pPr algn="ctr"/>
                      <a:endParaRP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1"/>
                  </a:ext>
                </a:extLst>
              </a:tr>
              <a:tr h="0">
                <a:tc>
                  <a:txBody>
                    <a:bodyPr/>
                    <a:lstStyle/>
                    <a:p>
                      <a:pPr algn="l"/>
                      <a:r>
                        <a:rPr sz="1200" b="0" i="0">
                          <a:solidFill>
                            <a:srgbClr val="000000"/>
                          </a:solidFill>
                          <a:latin typeface="Tahoma"/>
                        </a:rPr>
                        <a:t>Not really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2"/>
                  </a:ext>
                </a:extLst>
              </a:tr>
              <a:tr h="0">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3"/>
                  </a:ext>
                </a:extLst>
              </a:tr>
              <a:tr h="0">
                <a:tc>
                  <a:txBody>
                    <a:bodyPr/>
                    <a:lstStyle/>
                    <a:p>
                      <a:pPr algn="l"/>
                      <a:r>
                        <a:rPr sz="1200" b="0" i="0">
                          <a:solidFill>
                            <a:srgbClr val="000000"/>
                          </a:solidFill>
                          <a:latin typeface="Tahoma"/>
                        </a:rPr>
                        <a:t>Great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4"/>
                  </a:ext>
                </a:extLst>
              </a:tr>
              <a:tr h="0">
                <a:tc>
                  <a:txBody>
                    <a:bodyPr/>
                    <a:lstStyle/>
                    <a:p>
                      <a:pPr algn="l"/>
                      <a:r>
                        <a:rPr sz="1200" b="0" i="0">
                          <a:solidFill>
                            <a:srgbClr val="000000"/>
                          </a:solidFill>
                          <a:latin typeface="Tahoma"/>
                        </a:rPr>
                        <a:t>Home improvement qualification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0">
                <a:tc>
                  <a:txBody>
                    <a:bodyPr/>
                    <a:lstStyle/>
                    <a:p>
                      <a:pPr algn="l"/>
                      <a:r>
                        <a:rPr sz="1200" b="0" i="0">
                          <a:solidFill>
                            <a:srgbClr val="000000"/>
                          </a:solidFill>
                          <a:latin typeface="Tahoma"/>
                        </a:rPr>
                        <a:t>Go for it.  If you get a good contractor it’s great.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0">
                <a:tc>
                  <a:txBody>
                    <a:bodyPr/>
                    <a:lstStyle/>
                    <a:p>
                      <a:pPr algn="l"/>
                      <a:r>
                        <a:rPr sz="1200" b="0" i="0">
                          <a:solidFill>
                            <a:srgbClr val="000000"/>
                          </a:solidFill>
                          <a:latin typeface="Tahoma"/>
                        </a:rPr>
                        <a:t>Subsidized home improvements, energy efficient upgrades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7"/>
                  </a:ext>
                </a:extLst>
              </a:tr>
              <a:tr h="0">
                <a:tc>
                  <a:txBody>
                    <a:bodyPr/>
                    <a:lstStyle/>
                    <a:p>
                      <a:pPr algn="l"/>
                      <a:r>
                        <a:rPr sz="1200" b="0" i="0">
                          <a:solidFill>
                            <a:srgbClr val="000000"/>
                          </a:solidFill>
                          <a:latin typeface="Tahoma"/>
                        </a:rPr>
                        <a:t>None that I can think of.</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8"/>
                  </a:ext>
                </a:extLst>
              </a:tr>
              <a:tr h="0">
                <a:tc>
                  <a:txBody>
                    <a:bodyPr/>
                    <a:lstStyle/>
                    <a:p>
                      <a:pPr algn="l"/>
                      <a:r>
                        <a:rPr sz="1200" b="0" i="0">
                          <a:solidFill>
                            <a:srgbClr val="000000"/>
                          </a:solidFill>
                          <a:latin typeface="Tahoma"/>
                        </a:rPr>
                        <a:t>Helps the planet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9"/>
                  </a:ext>
                </a:extLst>
              </a:tr>
              <a:tr h="0">
                <a:tc>
                  <a:txBody>
                    <a:bodyPr/>
                    <a:lstStyle/>
                    <a:p>
                      <a:pPr algn="l"/>
                      <a:r>
                        <a:rPr sz="1200" b="0" i="0">
                          <a:solidFill>
                            <a:srgbClr val="000000"/>
                          </a:solidFill>
                          <a:latin typeface="Tahoma"/>
                        </a:rPr>
                        <a:t>Home improvement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0"/>
                  </a:ext>
                </a:extLst>
              </a:tr>
              <a:tr h="0">
                <a:tc>
                  <a:txBody>
                    <a:bodyPr/>
                    <a:lstStyle/>
                    <a:p>
                      <a:pPr algn="l"/>
                      <a:r>
                        <a:rPr sz="1200" b="0" i="0">
                          <a:solidFill>
                            <a:srgbClr val="000000"/>
                          </a:solidFill>
                          <a:latin typeface="Tahoma"/>
                        </a:rPr>
                        <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1"/>
                  </a:ext>
                </a:extLst>
              </a:tr>
              <a:tr h="0">
                <a:tc>
                  <a:txBody>
                    <a:bodyPr/>
                    <a:lstStyle/>
                    <a:p>
                      <a:pPr algn="l"/>
                      <a:r>
                        <a:rPr sz="1200" b="0" i="0">
                          <a:solidFill>
                            <a:srgbClr val="000000"/>
                          </a:solidFill>
                          <a:latin typeface="Tahoma"/>
                        </a:rPr>
                        <a:t>Every effect home upgrade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2"/>
                  </a:ext>
                </a:extLst>
              </a:tr>
              <a:tr h="0">
                <a:tc>
                  <a:txBody>
                    <a:bodyPr/>
                    <a:lstStyle/>
                    <a:p>
                      <a:pPr algn="l"/>
                      <a:r>
                        <a:rPr sz="1200" b="0" i="0">
                          <a:solidFill>
                            <a:srgbClr val="000000"/>
                          </a:solidFill>
                          <a:latin typeface="Tahoma"/>
                        </a:rPr>
                        <a:t>Homes 10 years and older weatherization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3"/>
                  </a:ext>
                </a:extLst>
              </a:tr>
              <a:tr h="0">
                <a:tc>
                  <a:txBody>
                    <a:bodyPr/>
                    <a:lstStyle/>
                    <a:p>
                      <a:pPr algn="l"/>
                      <a:r>
                        <a:rPr sz="1200" b="0" i="0">
                          <a:solidFill>
                            <a:srgbClr val="000000"/>
                          </a:solidFill>
                          <a:latin typeface="Tahoma"/>
                        </a:rPr>
                        <a:t>Totally worth the upgrades needed highly recommend the changes that were completed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4"/>
                  </a:ext>
                </a:extLst>
              </a:tr>
              <a:tr h="0">
                <a:tc>
                  <a:txBody>
                    <a:bodyPr/>
                    <a:lstStyle/>
                    <a:p>
                      <a:pPr algn="l"/>
                      <a:r>
                        <a:rPr sz="1200" b="0" i="0">
                          <a:solidFill>
                            <a:srgbClr val="000000"/>
                          </a:solidFill>
                          <a:latin typeface="Tahoma"/>
                        </a:rPr>
                        <a:t>Austin weatherization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5"/>
                  </a:ext>
                </a:extLst>
              </a:tr>
              <a:tr h="0">
                <a:tc>
                  <a:txBody>
                    <a:bodyPr/>
                    <a:lstStyle/>
                    <a:p>
                      <a:pPr algn="l"/>
                      <a:r>
                        <a:rPr sz="1200" b="0" i="0">
                          <a:solidFill>
                            <a:srgbClr val="000000"/>
                          </a:solidFill>
                          <a:latin typeface="Tahoma"/>
                        </a:rPr>
                        <a:t>Helping reach carbon neutral goals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6"/>
                  </a:ext>
                </a:extLst>
              </a:tr>
              <a:tr h="0">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7"/>
                  </a:ext>
                </a:extLst>
              </a:tr>
              <a:tr h="0">
                <a:tc>
                  <a:txBody>
                    <a:bodyPr/>
                    <a:lstStyle/>
                    <a:p>
                      <a:pPr algn="l"/>
                      <a:r>
                        <a:rPr sz="1200" b="0" i="0">
                          <a:solidFill>
                            <a:srgbClr val="000000"/>
                          </a:solidFill>
                          <a:latin typeface="Tahoma"/>
                        </a:rPr>
                        <a:t>Income qualified home upgrade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8"/>
                  </a:ext>
                </a:extLst>
              </a:tr>
              <a:tr h="0">
                <a:tc>
                  <a:txBody>
                    <a:bodyPr/>
                    <a:lstStyle/>
                    <a:p>
                      <a:pPr algn="l"/>
                      <a:r>
                        <a:rPr sz="1200" b="0" i="0">
                          <a:solidFill>
                            <a:srgbClr val="000000"/>
                          </a:solidFill>
                          <a:latin typeface="Tahoma"/>
                        </a:rPr>
                        <a:t>Energy and cost savings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9"/>
                  </a:ext>
                </a:extLst>
              </a:tr>
              <a:tr h="0">
                <a:tc>
                  <a:txBody>
                    <a:bodyPr/>
                    <a:lstStyle/>
                    <a:p>
                      <a:pPr algn="l"/>
                      <a:r>
                        <a:rPr sz="1200" b="0" i="0">
                          <a:solidFill>
                            <a:srgbClr val="000000"/>
                          </a:solidFill>
                          <a:latin typeface="Tahoma"/>
                        </a:rPr>
                        <a:t>Home /energy assistance… maybe they don’t know what weatherization means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0"/>
                  </a:ext>
                </a:extLst>
              </a:tr>
              <a:tr h="0">
                <a:tc>
                  <a:txBody>
                    <a:bodyPr/>
                    <a:lstStyle/>
                    <a:p>
                      <a:pPr algn="l"/>
                      <a:r>
                        <a:rPr sz="1200" b="0" i="0">
                          <a:solidFill>
                            <a:srgbClr val="000000"/>
                          </a:solidFill>
                          <a:latin typeface="Tahoma"/>
                        </a:rPr>
                        <a:t>The program help elderly people as well.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1"/>
                  </a:ext>
                </a:extLst>
              </a:tr>
              <a:tr h="0">
                <a:tc>
                  <a:txBody>
                    <a:bodyPr/>
                    <a:lstStyle/>
                    <a:p>
                      <a:pPr algn="l"/>
                      <a:r>
                        <a:rPr sz="1200" b="0" i="0">
                          <a:solidFill>
                            <a:srgbClr val="000000"/>
                          </a:solidFill>
                          <a:latin typeface="Tahoma"/>
                        </a:rPr>
                        <a:t>I think “income qualified upgrades” is a good description.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2"/>
                  </a:ext>
                </a:extLst>
              </a:tr>
              <a:tr h="0">
                <a:tc>
                  <a:txBody>
                    <a:bodyPr/>
                    <a:lstStyle/>
                    <a:p>
                      <a:pPr algn="l"/>
                      <a:r>
                        <a:rPr sz="1200" b="0" i="0">
                          <a:solidFill>
                            <a:srgbClr val="000000"/>
                          </a:solidFill>
                          <a:latin typeface="Tahoma"/>
                        </a:rPr>
                        <a:t>Save money.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3"/>
                  </a:ext>
                </a:extLst>
              </a:tr>
              <a:tr h="0">
                <a:tc>
                  <a:txBody>
                    <a:bodyPr/>
                    <a:lstStyle/>
                    <a:p>
                      <a:pPr algn="l"/>
                      <a:r>
                        <a:rPr sz="1200" b="0" i="0">
                          <a:solidFill>
                            <a:srgbClr val="000000"/>
                          </a:solidFill>
                          <a:latin typeface="Tahoma"/>
                        </a:rPr>
                        <a:t>Okay, hopefully a better crew</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4"/>
                  </a:ext>
                </a:extLst>
              </a:tr>
              <a:tr h="0">
                <a:tc>
                  <a:txBody>
                    <a:bodyPr/>
                    <a:lstStyle/>
                    <a:p>
                      <a:pPr algn="l"/>
                      <a:r>
                        <a:rPr sz="1200" b="0" i="0">
                          <a:solidFill>
                            <a:srgbClr val="000000"/>
                          </a:solidFill>
                          <a:latin typeface="Tahoma"/>
                        </a:rPr>
                        <a:t>Home improvement. Increased home value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5"/>
                  </a:ext>
                </a:extLst>
              </a:tr>
              <a:tr h="0">
                <a:tc>
                  <a:txBody>
                    <a:bodyPr/>
                    <a:lstStyle/>
                    <a:p>
                      <a:pPr algn="l"/>
                      <a:r>
                        <a:rPr sz="1200" b="0" i="0">
                          <a:solidFill>
                            <a:srgbClr val="000000"/>
                          </a:solidFill>
                          <a:latin typeface="Tahoma"/>
                        </a:rPr>
                        <a:t>Na</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6"/>
                  </a:ext>
                </a:extLst>
              </a:tr>
              <a:tr h="0">
                <a:tc>
                  <a:txBody>
                    <a:bodyPr/>
                    <a:lstStyle/>
                    <a:p>
                      <a:pPr algn="l"/>
                      <a:r>
                        <a:rPr sz="1200" b="0" i="0">
                          <a:solidFill>
                            <a:srgbClr val="000000"/>
                          </a:solidFill>
                          <a:latin typeface="Tahoma"/>
                        </a:rPr>
                        <a:t>Energy saving weatherization help!</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7"/>
                  </a:ext>
                </a:extLst>
              </a:tr>
              <a:tr h="0">
                <a:tc>
                  <a:txBody>
                    <a:bodyPr/>
                    <a:lstStyle/>
                    <a:p>
                      <a:pPr algn="l"/>
                      <a:r>
                        <a:rPr sz="1200" b="0" i="0">
                          <a:solidFill>
                            <a:srgbClr val="000000"/>
                          </a:solidFill>
                          <a:latin typeface="Tahoma"/>
                        </a:rPr>
                        <a:t>I recommended the program to my neighbors. I believe I used the word “unbelievable “because I couldn’t believe it was done at no cost to 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8"/>
                  </a:ext>
                </a:extLst>
              </a:tr>
              <a:tr h="0">
                <a:tc>
                  <a:txBody>
                    <a:bodyPr/>
                    <a:lstStyle/>
                    <a:p>
                      <a:pPr algn="l"/>
                      <a:r>
                        <a:rPr sz="1200" b="0" i="0">
                          <a:solidFill>
                            <a:srgbClr val="000000"/>
                          </a:solidFill>
                          <a:latin typeface="Tahoma"/>
                        </a:rPr>
                        <a:t>Assistance for senior citizens and those we deem are in need, regardless of if all credentials are met that would qualify you for assistance through the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29"/>
                  </a:ext>
                </a:extLst>
              </a:tr>
              <a:tr h="0">
                <a:tc>
                  <a:txBody>
                    <a:bodyPr/>
                    <a:lstStyle/>
                    <a:p>
                      <a:pPr algn="l"/>
                      <a:r>
                        <a:rPr sz="1200" b="0" i="0">
                          <a:solidFill>
                            <a:srgbClr val="000000"/>
                          </a:solidFill>
                          <a:latin typeface="Tahoma"/>
                        </a:rPr>
                        <a:t>Already appropriately described.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0"/>
                  </a:ext>
                </a:extLst>
              </a:tr>
              <a:tr h="0">
                <a:tc>
                  <a:txBody>
                    <a:bodyPr/>
                    <a:lstStyle/>
                    <a:p>
                      <a:pPr algn="l"/>
                      <a:r>
                        <a:rPr sz="1200" b="0" i="0">
                          <a:solidFill>
                            <a:srgbClr val="000000"/>
                          </a:solidFill>
                          <a:latin typeface="Tahoma"/>
                        </a:rPr>
                        <a:t>Income qualified weatherization assistance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1"/>
                  </a:ext>
                </a:extLst>
              </a:tr>
              <a:tr h="0">
                <a:tc>
                  <a:txBody>
                    <a:bodyPr/>
                    <a:lstStyle/>
                    <a:p>
                      <a:pPr algn="l"/>
                      <a:r>
                        <a:rPr sz="1200" b="0" i="0">
                          <a:solidFill>
                            <a:srgbClr val="000000"/>
                          </a:solidFill>
                          <a:latin typeface="Tahoma"/>
                        </a:rPr>
                        <a:t>It has saved me money on my utility bill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2"/>
                  </a:ext>
                </a:extLst>
              </a:tr>
              <a:tr h="0">
                <a:tc>
                  <a:txBody>
                    <a:bodyPr/>
                    <a:lstStyle/>
                    <a:p>
                      <a:pPr algn="l"/>
                      <a:r>
                        <a:rPr sz="1200" b="0" i="0">
                          <a:solidFill>
                            <a:srgbClr val="000000"/>
                          </a:solidFill>
                          <a:latin typeface="Tahoma"/>
                        </a:rPr>
                        <a:t>Helpful, efficient, eco-conscious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3"/>
                  </a:ext>
                </a:extLst>
              </a:tr>
              <a:tr h="0">
                <a:tc>
                  <a:txBody>
                    <a:bodyPr/>
                    <a:lstStyle/>
                    <a:p>
                      <a:pPr algn="l"/>
                      <a:r>
                        <a:rPr sz="1200" b="0" i="0">
                          <a:solidFill>
                            <a:srgbClr val="000000"/>
                          </a:solidFill>
                          <a:latin typeface="Tahoma"/>
                        </a:rPr>
                        <a:t>I have referred neighbors and all have been very pleased.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34"/>
                  </a:ext>
                </a:extLst>
              </a:tr>
              <a:tr h="0">
                <a:tc>
                  <a:txBody>
                    <a:bodyPr/>
                    <a:lstStyle/>
                    <a:p>
                      <a:pPr algn="l"/>
                      <a:r>
                        <a:rPr sz="1200" b="0" i="0">
                          <a:solidFill>
                            <a:srgbClr val="000000"/>
                          </a:solidFill>
                          <a:latin typeface="Tahoma"/>
                        </a:rPr>
                        <a:t>No changes, stay the same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5"/>
                  </a:ext>
                </a:extLst>
              </a:tr>
              <a:tr h="0">
                <a:tc>
                  <a:txBody>
                    <a:bodyPr/>
                    <a:lstStyle/>
                    <a:p>
                      <a:pPr algn="l"/>
                      <a:r>
                        <a:rPr sz="1200" b="0" i="0">
                          <a:solidFill>
                            <a:srgbClr val="000000"/>
                          </a:solidFill>
                          <a:latin typeface="Tahoma"/>
                        </a:rPr>
                        <a:t>Worth it</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6"/>
                  </a:ext>
                </a:extLst>
              </a:tr>
              <a:tr h="0">
                <a:tc>
                  <a:txBody>
                    <a:bodyPr/>
                    <a:lstStyle/>
                    <a:p>
                      <a:pPr algn="l"/>
                      <a:r>
                        <a:rPr sz="1200" b="0" i="0">
                          <a:solidFill>
                            <a:srgbClr val="000000"/>
                          </a:solidFill>
                          <a:latin typeface="Tahoma"/>
                        </a:rPr>
                        <a:t>Weatherization assistance</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7"/>
                  </a:ext>
                </a:extLst>
              </a:tr>
              <a:tr h="0">
                <a:tc>
                  <a:txBody>
                    <a:bodyPr/>
                    <a:lstStyle/>
                    <a:p>
                      <a:pPr algn="l"/>
                      <a:r>
                        <a:rPr sz="1200" b="0" i="0">
                          <a:solidFill>
                            <a:srgbClr val="000000"/>
                          </a:solidFill>
                          <a:latin typeface="Tahoma"/>
                        </a:rPr>
                        <a:t>Very useful</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8"/>
                  </a:ext>
                </a:extLst>
              </a:tr>
              <a:tr h="0">
                <a:tc>
                  <a:txBody>
                    <a:bodyPr/>
                    <a:lstStyle/>
                    <a:p>
                      <a:pPr algn="l"/>
                      <a:r>
                        <a:rPr sz="1200" b="0" i="0">
                          <a:solidFill>
                            <a:srgbClr val="000000"/>
                          </a:solidFill>
                          <a:latin typeface="Tahoma"/>
                        </a:rPr>
                        <a:t>Very helpful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39"/>
                  </a:ext>
                </a:extLst>
              </a:tr>
              <a:tr h="0">
                <a:tc>
                  <a:txBody>
                    <a:bodyPr/>
                    <a:lstStyle/>
                    <a:p>
                      <a:pPr algn="l"/>
                      <a:r>
                        <a:rPr sz="1200" b="0" i="0">
                          <a:solidFill>
                            <a:srgbClr val="000000"/>
                          </a:solidFill>
                          <a:latin typeface="Tahoma"/>
                        </a:rPr>
                        <a:t>The program is good</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0"/>
                  </a:ext>
                </a:extLst>
              </a:tr>
              <a:tr h="0">
                <a:tc>
                  <a:txBody>
                    <a:bodyPr/>
                    <a:lstStyle/>
                    <a:p>
                      <a:pPr algn="l"/>
                      <a:r>
                        <a:rPr sz="1200" b="0" i="0">
                          <a:solidFill>
                            <a:srgbClr val="000000"/>
                          </a:solidFill>
                          <a:latin typeface="Tahoma"/>
                        </a:rPr>
                        <a:t>None/nothing</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55%</a:t>
                      </a:r>
                    </a:p>
                  </a:txBody>
                  <a:tcPr anchor="ctr">
                    <a:solidFill>
                      <a:srgbClr val="E0E5F0"/>
                    </a:solidFill>
                  </a:tcPr>
                </a:tc>
                <a:tc>
                  <a:txBody>
                    <a:bodyPr/>
                    <a:lstStyle/>
                    <a:p>
                      <a:pPr algn="ctr"/>
                      <a:r>
                        <a:rPr sz="1200" b="0" i="0">
                          <a:solidFill>
                            <a:srgbClr val="000000"/>
                          </a:solidFill>
                          <a:latin typeface="Tahoma"/>
                        </a:rPr>
                        <a:t>38%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1"/>
                  </a:ext>
                </a:extLst>
              </a:tr>
              <a:tr h="0">
                <a:tc>
                  <a:txBody>
                    <a:bodyPr/>
                    <a:lstStyle/>
                    <a:p>
                      <a:pPr algn="l"/>
                      <a:r>
                        <a:rPr sz="1200" b="0" i="0">
                          <a:solidFill>
                            <a:srgbClr val="000000"/>
                          </a:solidFill>
                          <a:latin typeface="Tahoma"/>
                        </a:rPr>
                        <a:t>Pretty good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2"/>
                  </a:ext>
                </a:extLst>
              </a:tr>
              <a:tr h="0">
                <a:tc>
                  <a:txBody>
                    <a:bodyPr/>
                    <a:lstStyle/>
                    <a:p>
                      <a:pPr algn="l"/>
                      <a:r>
                        <a:rPr sz="1200" b="0" i="0">
                          <a:solidFill>
                            <a:srgbClr val="000000"/>
                          </a:solidFill>
                          <a:latin typeface="Tahoma"/>
                        </a:rPr>
                        <a:t>Homeowner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3"/>
                  </a:ext>
                </a:extLst>
              </a:tr>
              <a:tr h="0">
                <a:tc>
                  <a:txBody>
                    <a:bodyPr/>
                    <a:lstStyle/>
                    <a:p>
                      <a:pPr algn="l"/>
                      <a:r>
                        <a:rPr sz="1200" b="0" i="0">
                          <a:solidFill>
                            <a:srgbClr val="000000"/>
                          </a:solidFill>
                          <a:latin typeface="Tahoma"/>
                        </a:rPr>
                        <a:t>A way to reduce your energy use in the summer</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4"/>
                  </a:ext>
                </a:extLst>
              </a:tr>
              <a:tr h="0">
                <a:tc>
                  <a:txBody>
                    <a:bodyPr/>
                    <a:lstStyle/>
                    <a:p>
                      <a:pPr algn="l"/>
                      <a:r>
                        <a:rPr sz="1200" b="0" i="0">
                          <a:solidFill>
                            <a:srgbClr val="000000"/>
                          </a:solidFill>
                          <a:latin typeface="Tahoma"/>
                        </a:rPr>
                        <a:t>I think it's wonderful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5"/>
                  </a:ext>
                </a:extLst>
              </a:tr>
              <a:tr h="0">
                <a:tc>
                  <a:txBody>
                    <a:bodyPr/>
                    <a:lstStyle/>
                    <a:p>
                      <a:pPr algn="l"/>
                      <a:r>
                        <a:rPr sz="1200" b="0" i="0">
                          <a:solidFill>
                            <a:srgbClr val="000000"/>
                          </a:solidFill>
                          <a:latin typeface="Tahoma"/>
                        </a:rPr>
                        <a:t>Very good program that many should take advantage of if eligible.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6"/>
                  </a:ext>
                </a:extLst>
              </a:tr>
              <a:tr h="0">
                <a:tc>
                  <a:txBody>
                    <a:bodyPr/>
                    <a:lstStyle/>
                    <a:p>
                      <a:pPr algn="l"/>
                      <a:r>
                        <a:rPr sz="1200" b="0" i="0">
                          <a:solidFill>
                            <a:srgbClr val="000000"/>
                          </a:solidFill>
                          <a:latin typeface="Tahoma"/>
                        </a:rPr>
                        <a:t>The way it was worded was Low to moderate income individuals.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7"/>
                  </a:ext>
                </a:extLst>
              </a:tr>
              <a:tr h="0">
                <a:tc>
                  <a:txBody>
                    <a:bodyPr/>
                    <a:lstStyle/>
                    <a:p>
                      <a:pPr algn="l"/>
                      <a:r>
                        <a:rPr sz="1200" b="0" i="0">
                          <a:solidFill>
                            <a:srgbClr val="000000"/>
                          </a:solidFill>
                          <a:latin typeface="Tahoma"/>
                        </a:rPr>
                        <a:t>The title now is great. Austin Energy Efficiency Program.</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8"/>
                  </a:ext>
                </a:extLst>
              </a:tr>
              <a:tr h="0">
                <a:tc>
                  <a:txBody>
                    <a:bodyPr/>
                    <a:lstStyle/>
                    <a:p>
                      <a:pPr algn="l"/>
                      <a:r>
                        <a:rPr sz="1200" b="0" i="0">
                          <a:solidFill>
                            <a:srgbClr val="000000"/>
                          </a:solidFill>
                          <a:latin typeface="Tahoma"/>
                        </a:rPr>
                        <a:t>Older home weatherization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49"/>
                  </a:ext>
                </a:extLst>
              </a:tr>
              <a:tr h="0">
                <a:tc>
                  <a:txBody>
                    <a:bodyPr/>
                    <a:lstStyle/>
                    <a:p>
                      <a:pPr algn="l"/>
                      <a:r>
                        <a:rPr sz="1200" b="0" i="0">
                          <a:solidFill>
                            <a:srgbClr val="000000"/>
                          </a:solidFill>
                          <a:latin typeface="Tahoma"/>
                        </a:rPr>
                        <a:t>I already got three people signed up by telling them what I had done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0"/>
                  </a:ext>
                </a:extLst>
              </a:tr>
              <a:tr h="0">
                <a:tc>
                  <a:txBody>
                    <a:bodyPr/>
                    <a:lstStyle/>
                    <a:p>
                      <a:pPr algn="l"/>
                      <a:r>
                        <a:rPr sz="1200" b="0" i="0">
                          <a:solidFill>
                            <a:srgbClr val="000000"/>
                          </a:solidFill>
                          <a:latin typeface="Tahoma"/>
                        </a:rPr>
                        <a:t>Extremely helpful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1"/>
                  </a:ext>
                </a:extLst>
              </a:tr>
              <a:tr h="0">
                <a:tc>
                  <a:txBody>
                    <a:bodyPr/>
                    <a:lstStyle/>
                    <a:p>
                      <a:pPr algn="l"/>
                      <a:r>
                        <a:rPr sz="1200" b="0" i="0">
                          <a:solidFill>
                            <a:srgbClr val="000000"/>
                          </a:solidFill>
                          <a:latin typeface="Tahoma"/>
                        </a:rPr>
                        <a:t>Blessing</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2"/>
                  </a:ext>
                </a:extLst>
              </a:tr>
              <a:tr h="0">
                <a:tc>
                  <a:txBody>
                    <a:bodyPr/>
                    <a:lstStyle/>
                    <a:p>
                      <a:pPr algn="l"/>
                      <a:r>
                        <a:rPr sz="1200" b="0" i="0">
                          <a:solidFill>
                            <a:srgbClr val="000000"/>
                          </a:solidFill>
                          <a:latin typeface="Tahoma"/>
                        </a:rPr>
                        <a:t>Exceptional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3"/>
                  </a:ext>
                </a:extLst>
              </a:tr>
              <a:tr h="0">
                <a:tc>
                  <a:txBody>
                    <a:bodyPr/>
                    <a:lstStyle/>
                    <a:p>
                      <a:pPr algn="l"/>
                      <a:r>
                        <a:rPr sz="1200" b="0" i="0">
                          <a:solidFill>
                            <a:srgbClr val="000000"/>
                          </a:solidFill>
                          <a:latin typeface="Tahoma"/>
                        </a:rPr>
                        <a:t>Equitable Weatherization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4"/>
                  </a:ext>
                </a:extLst>
              </a:tr>
              <a:tr h="0">
                <a:tc>
                  <a:txBody>
                    <a:bodyPr/>
                    <a:lstStyle/>
                    <a:p>
                      <a:pPr algn="l"/>
                      <a:r>
                        <a:rPr sz="1200" b="0" i="0">
                          <a:solidFill>
                            <a:srgbClr val="000000"/>
                          </a:solidFill>
                          <a:latin typeface="Tahoma"/>
                        </a:rPr>
                        <a:t>Environmentally Friendly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5"/>
                  </a:ext>
                </a:extLst>
              </a:tr>
              <a:tr h="0">
                <a:tc>
                  <a:txBody>
                    <a:bodyPr/>
                    <a:lstStyle/>
                    <a:p>
                      <a:pPr algn="l"/>
                      <a:r>
                        <a:rPr sz="1200" b="0" i="0">
                          <a:solidFill>
                            <a:srgbClr val="000000"/>
                          </a:solidFill>
                          <a:latin typeface="Tahoma"/>
                        </a:rPr>
                        <a:t>Efficiency</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6"/>
                  </a:ext>
                </a:extLst>
              </a:tr>
              <a:tr h="0">
                <a:tc>
                  <a:txBody>
                    <a:bodyPr/>
                    <a:lstStyle/>
                    <a:p>
                      <a:pPr algn="l"/>
                      <a:r>
                        <a:rPr sz="1200" b="0" i="0">
                          <a:solidFill>
                            <a:srgbClr val="000000"/>
                          </a:solidFill>
                          <a:latin typeface="Tahoma"/>
                        </a:rPr>
                        <a:t>Austin weatherization program to qualifying customers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7"/>
                  </a:ext>
                </a:extLst>
              </a:tr>
              <a:tr h="0">
                <a:tc>
                  <a:txBody>
                    <a:bodyPr/>
                    <a:lstStyle/>
                    <a:p>
                      <a:pPr algn="l"/>
                      <a:r>
                        <a:rPr sz="1200" b="0" i="0">
                          <a:solidFill>
                            <a:srgbClr val="000000"/>
                          </a:solidFill>
                          <a:latin typeface="Tahoma"/>
                        </a:rPr>
                        <a:t>A pain in the butt. There was an issue with my water heater getting tagged after they did the work. Whatever they did caused the gas company to shut off my gas. They were difficult to acknowledge that.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8"/>
                  </a:ext>
                </a:extLst>
              </a:tr>
              <a:tr h="0">
                <a:tc>
                  <a:txBody>
                    <a:bodyPr/>
                    <a:lstStyle/>
                    <a:p>
                      <a:pPr algn="l"/>
                      <a:r>
                        <a:rPr sz="1200" b="0" i="0">
                          <a:solidFill>
                            <a:srgbClr val="000000"/>
                          </a:solidFill>
                          <a:latin typeface="Tahoma"/>
                        </a:rPr>
                        <a:t>I can't think of anything</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59"/>
                  </a:ext>
                </a:extLst>
              </a:tr>
              <a:tr h="0">
                <a:tc>
                  <a:txBody>
                    <a:bodyPr/>
                    <a:lstStyle/>
                    <a:p>
                      <a:pPr algn="l"/>
                      <a:r>
                        <a:rPr sz="1200" b="0" i="0">
                          <a:solidFill>
                            <a:srgbClr val="000000"/>
                          </a:solidFill>
                          <a:latin typeface="Tahoma"/>
                        </a:rPr>
                        <a:t>All around great program</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0"/>
                  </a:ext>
                </a:extLst>
              </a:tr>
              <a:tr h="0">
                <a:tc>
                  <a:txBody>
                    <a:bodyPr/>
                    <a:lstStyle/>
                    <a:p>
                      <a:pPr algn="l"/>
                      <a:r>
                        <a:rPr sz="1200" b="0" i="0">
                          <a:solidFill>
                            <a:srgbClr val="000000"/>
                          </a:solidFill>
                          <a:latin typeface="Tahoma"/>
                        </a:rPr>
                        <a:t>Check it out</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1"/>
                  </a:ext>
                </a:extLst>
              </a:tr>
              <a:tr h="0">
                <a:tc>
                  <a:txBody>
                    <a:bodyPr/>
                    <a:lstStyle/>
                    <a:p>
                      <a:pPr algn="l"/>
                      <a:r>
                        <a:rPr sz="1200" b="0" i="0">
                          <a:solidFill>
                            <a:srgbClr val="000000"/>
                          </a:solidFill>
                          <a:latin typeface="Tahoma"/>
                        </a:rPr>
                        <a:t>Perfect program for somebody who can afford the upgrades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2"/>
                  </a:ext>
                </a:extLst>
              </a:tr>
              <a:tr h="0">
                <a:tc>
                  <a:txBody>
                    <a:bodyPr/>
                    <a:lstStyle/>
                    <a:p>
                      <a:pPr algn="l"/>
                      <a:r>
                        <a:rPr sz="1200" b="0" i="0">
                          <a:solidFill>
                            <a:srgbClr val="000000"/>
                          </a:solidFill>
                          <a:latin typeface="Tahoma"/>
                        </a:rPr>
                        <a:t>Home improvements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3"/>
                  </a:ext>
                </a:extLst>
              </a:tr>
              <a:tr h="0">
                <a:tc>
                  <a:txBody>
                    <a:bodyPr/>
                    <a:lstStyle/>
                    <a:p>
                      <a:pPr algn="l"/>
                      <a:r>
                        <a:rPr sz="1200" b="0" i="0">
                          <a:solidFill>
                            <a:srgbClr val="000000"/>
                          </a:solidFill>
                          <a:latin typeface="Tahoma"/>
                        </a:rPr>
                        <a:t>Pass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4"/>
                  </a:ext>
                </a:extLst>
              </a:tr>
              <a:tr h="0">
                <a:tc>
                  <a:txBody>
                    <a:bodyPr/>
                    <a:lstStyle/>
                    <a:p>
                      <a:pPr algn="l"/>
                      <a:r>
                        <a:rPr sz="1200" b="0" i="0">
                          <a:solidFill>
                            <a:srgbClr val="000000"/>
                          </a:solidFill>
                          <a:latin typeface="Tahoma"/>
                        </a:rPr>
                        <a:t>Outstanding value</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5"/>
                  </a:ext>
                </a:extLst>
              </a:tr>
              <a:tr h="0">
                <a:tc>
                  <a:txBody>
                    <a:bodyPr/>
                    <a:lstStyle/>
                    <a:p>
                      <a:pPr algn="l"/>
                      <a:r>
                        <a:rPr sz="1200" b="0" i="0">
                          <a:solidFill>
                            <a:srgbClr val="000000"/>
                          </a:solidFill>
                          <a:latin typeface="Tahoma"/>
                        </a:rPr>
                        <a:t>No, I think that says it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6"/>
                  </a:ext>
                </a:extLst>
              </a:tr>
              <a:tr h="0">
                <a:tc>
                  <a:txBody>
                    <a:bodyPr/>
                    <a:lstStyle/>
                    <a:p>
                      <a:pPr algn="l"/>
                      <a:r>
                        <a:rPr sz="1200" b="0" i="0">
                          <a:solidFill>
                            <a:srgbClr val="000000"/>
                          </a:solidFill>
                          <a:latin typeface="Tahoma"/>
                        </a:rPr>
                        <a:t>It will help the environment</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7"/>
                  </a:ext>
                </a:extLst>
              </a:tr>
              <a:tr h="0">
                <a:tc>
                  <a:txBody>
                    <a:bodyPr/>
                    <a:lstStyle/>
                    <a:p>
                      <a:pPr algn="l"/>
                      <a:r>
                        <a:rPr sz="1200" b="0" i="0">
                          <a:solidFill>
                            <a:srgbClr val="000000"/>
                          </a:solidFill>
                          <a:latin typeface="Tahoma"/>
                        </a:rPr>
                        <a:t>Incredibly beneficial</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8"/>
                  </a:ext>
                </a:extLst>
              </a:tr>
              <a:tr h="0">
                <a:tc>
                  <a:txBody>
                    <a:bodyPr/>
                    <a:lstStyle/>
                    <a:p>
                      <a:pPr algn="l"/>
                      <a:r>
                        <a:rPr sz="1200" b="0" i="0">
                          <a:solidFill>
                            <a:srgbClr val="000000"/>
                          </a:solidFill>
                          <a:latin typeface="Tahoma"/>
                        </a:rPr>
                        <a:t>Income qualified weatherization upgrade</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69"/>
                  </a:ext>
                </a:extLst>
              </a:tr>
              <a:tr h="0">
                <a:tc>
                  <a:txBody>
                    <a:bodyPr/>
                    <a:lstStyle/>
                    <a:p>
                      <a:pPr algn="l"/>
                      <a:r>
                        <a:rPr sz="1200" b="0" i="0">
                          <a:solidFill>
                            <a:srgbClr val="000000"/>
                          </a:solidFill>
                          <a:latin typeface="Tahoma"/>
                        </a:rPr>
                        <a:t>I can't remember how I described it to other people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0"/>
                  </a:ext>
                </a:extLst>
              </a:tr>
              <a:tr h="0">
                <a:tc>
                  <a:txBody>
                    <a:bodyPr/>
                    <a:lstStyle/>
                    <a:p>
                      <a:pPr algn="l"/>
                      <a:r>
                        <a:rPr sz="1200" b="0" i="0">
                          <a:solidFill>
                            <a:srgbClr val="000000"/>
                          </a:solidFill>
                          <a:latin typeface="Tahoma"/>
                        </a:rPr>
                        <a:t>Home energy improvements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1"/>
                  </a:ext>
                </a:extLst>
              </a:tr>
              <a:tr h="0">
                <a:tc>
                  <a:txBody>
                    <a:bodyPr/>
                    <a:lstStyle/>
                    <a:p>
                      <a:pPr algn="l"/>
                      <a:r>
                        <a:rPr sz="1200" b="0" i="0">
                          <a:solidFill>
                            <a:srgbClr val="000000"/>
                          </a:solidFill>
                          <a:latin typeface="Tahoma"/>
                        </a:rPr>
                        <a:t>Cool</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2"/>
                  </a:ext>
                </a:extLst>
              </a:tr>
              <a:tr h="0">
                <a:tc>
                  <a:txBody>
                    <a:bodyPr/>
                    <a:lstStyle/>
                    <a:p>
                      <a:pPr algn="l"/>
                      <a:r>
                        <a:rPr sz="1200" b="0" i="0">
                          <a:solidFill>
                            <a:srgbClr val="000000"/>
                          </a:solidFill>
                          <a:latin typeface="Tahoma"/>
                        </a:rPr>
                        <a:t>Helpful</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3"/>
                  </a:ext>
                </a:extLst>
              </a:tr>
              <a:tr h="0">
                <a:tc>
                  <a:txBody>
                    <a:bodyPr/>
                    <a:lstStyle/>
                    <a:p>
                      <a:pPr algn="l"/>
                      <a:r>
                        <a:rPr sz="1200" b="0" i="0">
                          <a:solidFill>
                            <a:srgbClr val="000000"/>
                          </a:solidFill>
                          <a:latin typeface="Tahoma"/>
                        </a:rPr>
                        <a:t>Great program</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4"/>
                  </a:ext>
                </a:extLst>
              </a:tr>
              <a:tr h="0">
                <a:tc>
                  <a:txBody>
                    <a:bodyPr/>
                    <a:lstStyle/>
                    <a:p>
                      <a:pPr algn="l"/>
                      <a:r>
                        <a:rPr sz="1200" b="0" i="0">
                          <a:solidFill>
                            <a:srgbClr val="000000"/>
                          </a:solidFill>
                          <a:latin typeface="Tahoma"/>
                        </a:rPr>
                        <a:t>Excellent</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5"/>
                  </a:ext>
                </a:extLst>
              </a:tr>
              <a:tr h="0">
                <a:tc>
                  <a:txBody>
                    <a:bodyPr/>
                    <a:lstStyle/>
                    <a:p>
                      <a:pPr algn="l"/>
                      <a:r>
                        <a:rPr sz="1200" b="0" i="0">
                          <a:solidFill>
                            <a:srgbClr val="000000"/>
                          </a:solidFill>
                          <a:latin typeface="Tahoma"/>
                        </a:rPr>
                        <a:t>Energy saving assist</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6"/>
                  </a:ext>
                </a:extLst>
              </a:tr>
              <a:tr h="0">
                <a:tc>
                  <a:txBody>
                    <a:bodyPr/>
                    <a:lstStyle/>
                    <a:p>
                      <a:pPr algn="l"/>
                      <a:r>
                        <a:rPr sz="1200" b="0" i="0">
                          <a:solidFill>
                            <a:srgbClr val="000000"/>
                          </a:solidFill>
                          <a:latin typeface="Tahoma"/>
                        </a:rPr>
                        <a:t>Easy</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7"/>
                  </a:ext>
                </a:extLst>
              </a:tr>
              <a:tr h="0">
                <a:tc>
                  <a:txBody>
                    <a:bodyPr/>
                    <a:lstStyle/>
                    <a:p>
                      <a:pPr algn="l"/>
                      <a:r>
                        <a:rPr sz="1200" b="0" i="0">
                          <a:solidFill>
                            <a:srgbClr val="000000"/>
                          </a:solidFill>
                          <a:latin typeface="Tahoma"/>
                        </a:rPr>
                        <a:t>Doing a great job to help</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8"/>
                  </a:ext>
                </a:extLst>
              </a:tr>
              <a:tr h="0">
                <a:tc>
                  <a:txBody>
                    <a:bodyPr/>
                    <a:lstStyle/>
                    <a:p>
                      <a:pPr algn="l"/>
                      <a:r>
                        <a:rPr sz="1200" b="0" i="0">
                          <a:solidFill>
                            <a:srgbClr val="000000"/>
                          </a:solidFill>
                          <a:latin typeface="Tahoma"/>
                        </a:rPr>
                        <a:t>Customer assistance weatherization</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79"/>
                  </a:ext>
                </a:extLst>
              </a:tr>
              <a:tr h="0">
                <a:tc>
                  <a:txBody>
                    <a:bodyPr/>
                    <a:lstStyle/>
                    <a:p>
                      <a:pPr algn="l"/>
                      <a:r>
                        <a:rPr sz="1200" b="0" i="0">
                          <a:solidFill>
                            <a:srgbClr val="000000"/>
                          </a:solidFill>
                          <a:latin typeface="Tahoma"/>
                        </a:rPr>
                        <a:t>Relieving</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0"/>
                  </a:ext>
                </a:extLst>
              </a:tr>
              <a:tr h="0">
                <a:tc>
                  <a:txBody>
                    <a:bodyPr/>
                    <a:lstStyle/>
                    <a:p>
                      <a:pPr algn="l"/>
                      <a:r>
                        <a:rPr sz="1200" b="0" i="0">
                          <a:solidFill>
                            <a:srgbClr val="000000"/>
                          </a:solidFill>
                          <a:latin typeface="Tahoma"/>
                        </a:rPr>
                        <a:t>Don’t know</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1"/>
                  </a:ext>
                </a:extLst>
              </a:tr>
              <a:tr h="0">
                <a:tc>
                  <a:txBody>
                    <a:bodyPr/>
                    <a:lstStyle/>
                    <a:p>
                      <a:pPr algn="l"/>
                      <a:r>
                        <a:rPr sz="1200" b="0" i="0">
                          <a:solidFill>
                            <a:srgbClr val="000000"/>
                          </a:solidFill>
                          <a:latin typeface="Tahoma"/>
                        </a:rPr>
                        <a:t>All other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82"/>
                  </a:ext>
                </a:extLst>
              </a:tr>
              <a:tr h="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83"/>
                  </a:ext>
                </a:extLst>
              </a:tr>
            </a:tbl>
          </a:graphicData>
        </a:graphic>
      </p:graphicFrame>
    </p:spTree>
    <p:extLst>
      <p:ext uri="{BB962C8B-B14F-4D97-AF65-F5344CB8AC3E}">
        <p14:creationId xmlns:p14="http://schemas.microsoft.com/office/powerpoint/2010/main" val="12205869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2045784845"/>
              </p:ext>
            </p:extLst>
          </p:nvPr>
        </p:nvGraphicFramePr>
        <p:xfrm>
          <a:off x="485927" y="1321432"/>
          <a:ext cx="5886145" cy="6932858"/>
        </p:xfrm>
        <a:graphic>
          <a:graphicData uri="http://schemas.openxmlformats.org/drawingml/2006/table">
            <a:tbl>
              <a:tblPr fir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61528">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2895">
                <a:tc>
                  <a:txBody>
                    <a:bodyPr/>
                    <a:lstStyle/>
                    <a:p>
                      <a:pPr algn="l" rtl="0" fontAlgn="ctr"/>
                      <a:r>
                        <a:rPr lang="en-US" sz="1200" b="0" i="0" u="none" strike="noStrike">
                          <a:solidFill>
                            <a:srgbClr val="000000"/>
                          </a:solidFill>
                          <a:effectLst/>
                          <a:latin typeface="Tahoma" panose="020B0604030504040204" pitchFamily="34" charset="0"/>
                        </a:rPr>
                        <a:t>None/nothing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38%</a:t>
                      </a:r>
                    </a:p>
                  </a:txBody>
                  <a:tcPr marL="9525" marR="9525" marT="9525" marB="0" anchor="ctr">
                    <a:solidFill>
                      <a:srgbClr val="DDE7F2"/>
                    </a:solidFill>
                  </a:tcPr>
                </a:tc>
                <a:extLst>
                  <a:ext uri="{0D108BD9-81ED-4DB2-BD59-A6C34878D82A}">
                    <a16:rowId xmlns:a16="http://schemas.microsoft.com/office/drawing/2014/main" val="1247239350"/>
                  </a:ext>
                </a:extLst>
              </a:tr>
              <a:tr h="312895">
                <a:tc>
                  <a:txBody>
                    <a:bodyPr/>
                    <a:lstStyle/>
                    <a:p>
                      <a:pPr algn="l" rtl="0" fontAlgn="ctr"/>
                      <a:r>
                        <a:rPr lang="en-US" sz="1200" b="0" i="0" u="none" strike="noStrike">
                          <a:solidFill>
                            <a:srgbClr val="000000"/>
                          </a:solidFill>
                          <a:effectLst/>
                          <a:latin typeface="Tahoma" panose="020B0604030504040204" pitchFamily="34" charset="0"/>
                        </a:rPr>
                        <a:t>No changes, stay the same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DE7F2"/>
                    </a:solidFill>
                  </a:tcPr>
                </a:tc>
                <a:extLst>
                  <a:ext uri="{0D108BD9-81ED-4DB2-BD59-A6C34878D82A}">
                    <a16:rowId xmlns:a16="http://schemas.microsoft.com/office/drawing/2014/main" val="713139723"/>
                  </a:ext>
                </a:extLst>
              </a:tr>
              <a:tr h="312895">
                <a:tc>
                  <a:txBody>
                    <a:bodyPr/>
                    <a:lstStyle/>
                    <a:p>
                      <a:pPr algn="l" rtl="0" fontAlgn="ctr"/>
                      <a:r>
                        <a:rPr lang="en-US" sz="1200" b="0" i="0" u="none" strike="noStrike">
                          <a:solidFill>
                            <a:srgbClr val="000000"/>
                          </a:solidFill>
                          <a:effectLst/>
                          <a:latin typeface="Tahoma" panose="020B0604030504040204" pitchFamily="34" charset="0"/>
                        </a:rPr>
                        <a:t>Don’t know </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DE7F2"/>
                    </a:solidFill>
                  </a:tcPr>
                </a:tc>
                <a:extLst>
                  <a:ext uri="{0D108BD9-81ED-4DB2-BD59-A6C34878D82A}">
                    <a16:rowId xmlns:a16="http://schemas.microsoft.com/office/drawing/2014/main" val="1109802899"/>
                  </a:ext>
                </a:extLst>
              </a:tr>
              <a:tr h="307938">
                <a:tc>
                  <a:txBody>
                    <a:bodyPr/>
                    <a:lstStyle/>
                    <a:p>
                      <a:pPr algn="l" rtl="0" fontAlgn="ctr"/>
                      <a:r>
                        <a:rPr lang="en-US" sz="1200" b="0" i="0" u="none" strike="noStrike">
                          <a:solidFill>
                            <a:srgbClr val="000000"/>
                          </a:solidFill>
                          <a:effectLst/>
                          <a:latin typeface="Tahoma" panose="020B0604030504040204" pitchFamily="34" charset="0"/>
                        </a:rPr>
                        <a:t>I can't think of anything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DE7F2"/>
                    </a:solidFill>
                  </a:tcPr>
                </a:tc>
                <a:extLst>
                  <a:ext uri="{0D108BD9-81ED-4DB2-BD59-A6C34878D82A}">
                    <a16:rowId xmlns:a16="http://schemas.microsoft.com/office/drawing/2014/main" val="2387274723"/>
                  </a:ext>
                </a:extLst>
              </a:tr>
              <a:tr h="1242407">
                <a:tc>
                  <a:txBody>
                    <a:bodyPr/>
                    <a:lstStyle/>
                    <a:p>
                      <a:pPr algn="l" rtl="0" fontAlgn="ctr"/>
                      <a:r>
                        <a:rPr lang="en-US" sz="1200" b="0" i="0" u="none" strike="noStrike">
                          <a:solidFill>
                            <a:srgbClr val="000000"/>
                          </a:solidFill>
                          <a:effectLst/>
                          <a:latin typeface="Tahoma" panose="020B0604030504040204" pitchFamily="34" charset="0"/>
                        </a:rPr>
                        <a:t>A pain in the butt. There was an issue with my water heater getting tagged after they did the work. Whatever they did caused the gas company to shut off my gas. They were difficult to acknowledge that.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08531572"/>
                  </a:ext>
                </a:extLst>
              </a:tr>
              <a:tr h="361528">
                <a:tc>
                  <a:txBody>
                    <a:bodyPr/>
                    <a:lstStyle/>
                    <a:p>
                      <a:pPr algn="l" rtl="0" fontAlgn="ctr"/>
                      <a:r>
                        <a:rPr lang="en-US" sz="1200" b="0" i="0" u="none" strike="noStrike">
                          <a:solidFill>
                            <a:srgbClr val="000000"/>
                          </a:solidFill>
                          <a:effectLst/>
                          <a:latin typeface="Tahoma" panose="020B0604030504040204" pitchFamily="34" charset="0"/>
                        </a:rPr>
                        <a:t>Austin weatherization program to qualifying customers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174395123"/>
                  </a:ext>
                </a:extLst>
              </a:tr>
              <a:tr h="307938">
                <a:tc>
                  <a:txBody>
                    <a:bodyPr/>
                    <a:lstStyle/>
                    <a:p>
                      <a:pPr algn="l" rtl="0" fontAlgn="ctr"/>
                      <a:r>
                        <a:rPr lang="en-US" sz="1200" b="0" i="0" u="none" strike="noStrike">
                          <a:solidFill>
                            <a:srgbClr val="000000"/>
                          </a:solidFill>
                          <a:effectLst/>
                          <a:latin typeface="Tahoma" panose="020B0604030504040204" pitchFamily="34" charset="0"/>
                        </a:rPr>
                        <a:t>Efficiency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459153912"/>
                  </a:ext>
                </a:extLst>
              </a:tr>
              <a:tr h="307938">
                <a:tc>
                  <a:txBody>
                    <a:bodyPr/>
                    <a:lstStyle/>
                    <a:p>
                      <a:pPr algn="l" rtl="0" fontAlgn="ctr"/>
                      <a:r>
                        <a:rPr lang="en-US" sz="1200" b="0" i="0" u="none" strike="noStrike">
                          <a:solidFill>
                            <a:srgbClr val="000000"/>
                          </a:solidFill>
                          <a:effectLst/>
                          <a:latin typeface="Tahoma" panose="020B0604030504040204" pitchFamily="34" charset="0"/>
                        </a:rPr>
                        <a:t>Environmentally Friendly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33574110"/>
                  </a:ext>
                </a:extLst>
              </a:tr>
              <a:tr h="307938">
                <a:tc>
                  <a:txBody>
                    <a:bodyPr/>
                    <a:lstStyle/>
                    <a:p>
                      <a:pPr algn="l" rtl="0" fontAlgn="ctr"/>
                      <a:r>
                        <a:rPr lang="en-US" sz="1200" b="0" i="0" u="none" strike="noStrike">
                          <a:solidFill>
                            <a:srgbClr val="000000"/>
                          </a:solidFill>
                          <a:effectLst/>
                          <a:latin typeface="Tahoma" panose="020B0604030504040204" pitchFamily="34" charset="0"/>
                        </a:rPr>
                        <a:t>Equitable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4268332777"/>
                  </a:ext>
                </a:extLst>
              </a:tr>
              <a:tr h="307938">
                <a:tc>
                  <a:txBody>
                    <a:bodyPr/>
                    <a:lstStyle/>
                    <a:p>
                      <a:pPr algn="l" rtl="0" fontAlgn="ctr"/>
                      <a:r>
                        <a:rPr lang="en-US" sz="1200" b="0" i="0" u="none" strike="noStrike">
                          <a:solidFill>
                            <a:srgbClr val="000000"/>
                          </a:solidFill>
                          <a:effectLst/>
                          <a:latin typeface="Tahoma" panose="020B0604030504040204" pitchFamily="34" charset="0"/>
                        </a:rPr>
                        <a:t>Exceptional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977933919"/>
                  </a:ext>
                </a:extLst>
              </a:tr>
              <a:tr h="312895">
                <a:tc>
                  <a:txBody>
                    <a:bodyPr/>
                    <a:lstStyle/>
                    <a:p>
                      <a:pPr algn="l" rtl="0" fontAlgn="ctr"/>
                      <a:r>
                        <a:rPr lang="en-US" sz="1200" b="0" i="0" u="none" strike="noStrike">
                          <a:solidFill>
                            <a:srgbClr val="000000"/>
                          </a:solidFill>
                          <a:effectLst/>
                          <a:latin typeface="Tahoma" panose="020B0604030504040204" pitchFamily="34" charset="0"/>
                        </a:rPr>
                        <a:t>Extremely 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631922504"/>
                  </a:ext>
                </a:extLst>
              </a:tr>
              <a:tr h="213419">
                <a:tc>
                  <a:txBody>
                    <a:bodyPr/>
                    <a:lstStyle/>
                    <a:p>
                      <a:pPr algn="l" rtl="0" fontAlgn="ctr"/>
                      <a:r>
                        <a:rPr lang="en-US" sz="1200" b="0" i="0" u="none" strike="noStrike">
                          <a:solidFill>
                            <a:srgbClr val="000000"/>
                          </a:solidFill>
                          <a:effectLst/>
                          <a:latin typeface="Tahoma" panose="020B0604030504040204" pitchFamily="34" charset="0"/>
                        </a:rPr>
                        <a:t>Homeowner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569965966"/>
                  </a:ext>
                </a:extLst>
              </a:tr>
              <a:tr h="537704">
                <a:tc>
                  <a:txBody>
                    <a:bodyPr/>
                    <a:lstStyle/>
                    <a:p>
                      <a:pPr algn="l" rtl="0" fontAlgn="ctr"/>
                      <a:r>
                        <a:rPr lang="en-US" sz="1200" b="0" i="0" u="none" strike="noStrike">
                          <a:solidFill>
                            <a:srgbClr val="000000"/>
                          </a:solidFill>
                          <a:effectLst/>
                          <a:latin typeface="Tahoma" panose="020B0604030504040204" pitchFamily="34" charset="0"/>
                        </a:rPr>
                        <a:t>I already got three people signed up by telling them what I had done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068219562"/>
                  </a:ext>
                </a:extLst>
              </a:tr>
              <a:tr h="213419">
                <a:tc>
                  <a:txBody>
                    <a:bodyPr/>
                    <a:lstStyle/>
                    <a:p>
                      <a:pPr algn="l" rtl="0" fontAlgn="ctr"/>
                      <a:r>
                        <a:rPr lang="en-US" sz="1200" b="0" i="0" u="none" strike="noStrike">
                          <a:solidFill>
                            <a:srgbClr val="000000"/>
                          </a:solidFill>
                          <a:effectLst/>
                          <a:latin typeface="Tahoma" panose="020B0604030504040204" pitchFamily="34" charset="0"/>
                        </a:rPr>
                        <a:t>Older home weatherization</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2372764997"/>
                  </a:ext>
                </a:extLst>
              </a:tr>
              <a:tr h="361528">
                <a:tc>
                  <a:txBody>
                    <a:bodyPr/>
                    <a:lstStyle/>
                    <a:p>
                      <a:pPr algn="l" rtl="0" fontAlgn="ctr"/>
                      <a:r>
                        <a:rPr lang="en-US" sz="1200" b="0" i="0" u="none" strike="noStrike">
                          <a:solidFill>
                            <a:srgbClr val="000000"/>
                          </a:solidFill>
                          <a:effectLst/>
                          <a:latin typeface="Tahoma" panose="020B0604030504040204" pitchFamily="34" charset="0"/>
                        </a:rPr>
                        <a:t>The title now is great. Austin Energy Efficiency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781579863"/>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The way it was worded was Low to moderate income individuals.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132018358"/>
                  </a:ext>
                </a:extLst>
              </a:tr>
            </a:tbl>
          </a:graphicData>
        </a:graphic>
      </p:graphicFrame>
    </p:spTree>
    <p:extLst>
      <p:ext uri="{BB962C8B-B14F-4D97-AF65-F5344CB8AC3E}">
        <p14:creationId xmlns:p14="http://schemas.microsoft.com/office/powerpoint/2010/main" val="21069105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2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879476681"/>
              </p:ext>
            </p:extLst>
          </p:nvPr>
        </p:nvGraphicFramePr>
        <p:xfrm>
          <a:off x="514654" y="1296536"/>
          <a:ext cx="5886145" cy="6715546"/>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408126">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Very good program that many should take advantage of if eligible.</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23872747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I think it's wonderful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5380707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 way to reduce your energy use in the summer</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All around great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Amazing</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19778">
                <a:tc>
                  <a:txBody>
                    <a:bodyPr/>
                    <a:lstStyle/>
                    <a:p>
                      <a:pPr algn="l" rtl="0" fontAlgn="ctr"/>
                      <a:r>
                        <a:rPr lang="en-US" sz="1200" b="0" i="0" u="none" strike="noStrike">
                          <a:solidFill>
                            <a:srgbClr val="000000"/>
                          </a:solidFill>
                          <a:effectLst/>
                          <a:latin typeface="Tahoma" panose="020B0604030504040204" pitchFamily="34" charset="0"/>
                        </a:rPr>
                        <a:t>Blessing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19778">
                <a:tc>
                  <a:txBody>
                    <a:bodyPr/>
                    <a:lstStyle/>
                    <a:p>
                      <a:pPr algn="l" rtl="0" fontAlgn="ctr"/>
                      <a:r>
                        <a:rPr lang="en-US" sz="1200" b="0" i="0" u="none" strike="noStrike">
                          <a:solidFill>
                            <a:srgbClr val="000000"/>
                          </a:solidFill>
                          <a:effectLst/>
                          <a:latin typeface="Tahoma" panose="020B0604030504040204" pitchFamily="34" charset="0"/>
                        </a:rPr>
                        <a:t>Check it out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19778">
                <a:tc>
                  <a:txBody>
                    <a:bodyPr/>
                    <a:lstStyle/>
                    <a:p>
                      <a:pPr algn="l" rtl="0" fontAlgn="ctr"/>
                      <a:r>
                        <a:rPr lang="en-US" sz="1200" b="0" i="0" u="none" strike="noStrike">
                          <a:solidFill>
                            <a:srgbClr val="000000"/>
                          </a:solidFill>
                          <a:effectLst/>
                          <a:latin typeface="Tahoma" panose="020B0604030504040204" pitchFamily="34" charset="0"/>
                        </a:rPr>
                        <a:t>Cool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408126">
                <a:tc>
                  <a:txBody>
                    <a:bodyPr/>
                    <a:lstStyle/>
                    <a:p>
                      <a:pPr algn="l" rtl="0" fontAlgn="ctr"/>
                      <a:r>
                        <a:rPr lang="en-US" sz="1200" b="0" i="0" u="none" strike="noStrike">
                          <a:solidFill>
                            <a:srgbClr val="000000"/>
                          </a:solidFill>
                          <a:effectLst/>
                          <a:latin typeface="Tahoma" panose="020B0604030504040204" pitchFamily="34" charset="0"/>
                        </a:rPr>
                        <a:t>Cost efficient home weatherization improvement.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19778">
                <a:tc>
                  <a:txBody>
                    <a:bodyPr/>
                    <a:lstStyle/>
                    <a:p>
                      <a:pPr algn="l" rtl="0" fontAlgn="ctr"/>
                      <a:r>
                        <a:rPr lang="en-US" sz="1200" b="0" i="0" u="none" strike="noStrike">
                          <a:solidFill>
                            <a:srgbClr val="000000"/>
                          </a:solidFill>
                          <a:effectLst/>
                          <a:latin typeface="Tahoma" panose="020B0604030504040204" pitchFamily="34" charset="0"/>
                        </a:rPr>
                        <a:t>Customer assistance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Doing a great job to help</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19778">
                <a:tc>
                  <a:txBody>
                    <a:bodyPr/>
                    <a:lstStyle/>
                    <a:p>
                      <a:pPr algn="l" rtl="0" fontAlgn="ctr"/>
                      <a:r>
                        <a:rPr lang="en-US" sz="1200" b="0" i="0" u="none" strike="noStrike">
                          <a:solidFill>
                            <a:srgbClr val="000000"/>
                          </a:solidFill>
                          <a:effectLst/>
                          <a:latin typeface="Tahoma" panose="020B0604030504040204" pitchFamily="34" charset="0"/>
                        </a:rPr>
                        <a:t>Easy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19778">
                <a:tc>
                  <a:txBody>
                    <a:bodyPr/>
                    <a:lstStyle/>
                    <a:p>
                      <a:pPr algn="l" rtl="0" fontAlgn="ctr"/>
                      <a:r>
                        <a:rPr lang="en-US" sz="1200" b="0" i="0" u="none" strike="noStrike">
                          <a:solidFill>
                            <a:srgbClr val="000000"/>
                          </a:solidFill>
                          <a:effectLst/>
                          <a:latin typeface="Tahoma" panose="020B0604030504040204" pitchFamily="34" charset="0"/>
                        </a:rPr>
                        <a:t>Energy saving assist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19778">
                <a:tc>
                  <a:txBody>
                    <a:bodyPr/>
                    <a:lstStyle/>
                    <a:p>
                      <a:pPr algn="l" rtl="0" fontAlgn="ctr"/>
                      <a:r>
                        <a:rPr lang="en-US" sz="1200" b="0" i="0" u="none" strike="noStrike">
                          <a:solidFill>
                            <a:srgbClr val="000000"/>
                          </a:solidFill>
                          <a:effectLst/>
                          <a:latin typeface="Tahoma" panose="020B0604030504040204" pitchFamily="34" charset="0"/>
                        </a:rPr>
                        <a:t>Excellent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19778">
                <a:tc>
                  <a:txBody>
                    <a:bodyPr/>
                    <a:lstStyle/>
                    <a:p>
                      <a:pPr algn="l" rtl="0" fontAlgn="ctr"/>
                      <a:r>
                        <a:rPr lang="en-US" sz="1200" b="0" i="0" u="none" strike="noStrike">
                          <a:solidFill>
                            <a:srgbClr val="000000"/>
                          </a:solidFill>
                          <a:effectLst/>
                          <a:latin typeface="Tahoma" panose="020B0604030504040204" pitchFamily="34" charset="0"/>
                        </a:rPr>
                        <a:t>Free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408126">
                <a:tc>
                  <a:txBody>
                    <a:bodyPr/>
                    <a:lstStyle/>
                    <a:p>
                      <a:pPr algn="l" rtl="0" fontAlgn="ctr"/>
                      <a:r>
                        <a:rPr lang="en-US" sz="1200" b="0" i="0" u="none" strike="noStrike">
                          <a:solidFill>
                            <a:srgbClr val="000000"/>
                          </a:solidFill>
                          <a:effectLst/>
                          <a:latin typeface="Tahoma" panose="020B0604030504040204" pitchFamily="34" charset="0"/>
                        </a:rPr>
                        <a:t>Great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5%</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21625">
                <a:tc>
                  <a:txBody>
                    <a:bodyPr/>
                    <a:lstStyle/>
                    <a:p>
                      <a:pPr algn="l" rtl="0" fontAlgn="ctr"/>
                      <a:r>
                        <a:rPr lang="en-US" sz="1200" b="0" i="0" u="none" strike="noStrike">
                          <a:solidFill>
                            <a:srgbClr val="000000"/>
                          </a:solidFill>
                          <a:effectLst/>
                          <a:latin typeface="Tahoma" panose="020B0604030504040204" pitchFamily="34" charset="0"/>
                        </a:rPr>
                        <a:t>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21625">
                <a:tc>
                  <a:txBody>
                    <a:bodyPr/>
                    <a:lstStyle/>
                    <a:p>
                      <a:pPr algn="l" rtl="0" fontAlgn="ctr"/>
                      <a:r>
                        <a:rPr lang="en-US" sz="1200" b="0" i="0" u="none" strike="noStrike">
                          <a:solidFill>
                            <a:srgbClr val="000000"/>
                          </a:solidFill>
                          <a:effectLst/>
                          <a:latin typeface="Tahoma" panose="020B0604030504040204" pitchFamily="34" charset="0"/>
                        </a:rPr>
                        <a:t>Home energy improvements</a:t>
                      </a:r>
                    </a:p>
                  </a:txBody>
                  <a:tcPr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DCE6F1"/>
                    </a:solidFill>
                  </a:tcPr>
                </a:tc>
                <a:extLst>
                  <a:ext uri="{0D108BD9-81ED-4DB2-BD59-A6C34878D82A}">
                    <a16:rowId xmlns:a16="http://schemas.microsoft.com/office/drawing/2014/main" val="4068219562"/>
                  </a:ext>
                </a:extLst>
              </a:tr>
              <a:tr h="221625">
                <a:tc>
                  <a:txBody>
                    <a:bodyPr/>
                    <a:lstStyle/>
                    <a:p>
                      <a:pPr algn="l" rtl="0" fontAlgn="ctr"/>
                      <a:r>
                        <a:rPr lang="en-US" sz="1200" b="0" i="0" u="none" strike="noStrike">
                          <a:solidFill>
                            <a:srgbClr val="000000"/>
                          </a:solidFill>
                          <a:effectLst/>
                          <a:latin typeface="Tahoma" panose="020B0604030504040204" pitchFamily="34" charset="0"/>
                        </a:rPr>
                        <a:t>Home improvements</a:t>
                      </a:r>
                    </a:p>
                  </a:txBody>
                  <a:tcPr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rgbClr val="DCE6F1"/>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73394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C0D3-9D5C-03FB-A235-67CDAA15B423}"/>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9C3BD757-E22A-8CA5-CD5D-3E7F8D9EDFCC}"/>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3 of 3)</a:t>
            </a:r>
            <a:endParaRPr lang="en-US" altLang="en-US"/>
          </a:p>
        </p:txBody>
      </p:sp>
      <p:sp>
        <p:nvSpPr>
          <p:cNvPr id="23555" name="Slide Number Placeholder 7">
            <a:extLst>
              <a:ext uri="{FF2B5EF4-FFF2-40B4-BE49-F238E27FC236}">
                <a16:creationId xmlns:a16="http://schemas.microsoft.com/office/drawing/2014/main" id="{3C731882-17C9-62CC-B978-F7C6EB539231}"/>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1ED5A6ED-9335-53A3-FA65-3F332554071B}"/>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0A3082A5-4124-0FF2-C6A7-7F81BC703AA1}"/>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94840290-6ABC-48F4-F41B-B018492D8A38}"/>
              </a:ext>
            </a:extLst>
          </p:cNvPr>
          <p:cNvGraphicFramePr>
            <a:graphicFrameLocks noGrp="1"/>
          </p:cNvGraphicFramePr>
          <p:nvPr>
            <p:extLst>
              <p:ext uri="{D42A27DB-BD31-4B8C-83A1-F6EECF244321}">
                <p14:modId xmlns:p14="http://schemas.microsoft.com/office/powerpoint/2010/main" val="2016592355"/>
              </p:ext>
            </p:extLst>
          </p:nvPr>
        </p:nvGraphicFramePr>
        <p:xfrm>
          <a:off x="514654" y="1296536"/>
          <a:ext cx="5886145" cy="6870094"/>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87733">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 can't remember how I described it to other people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387274723"/>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Income qualified weatherization upgrade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41814725"/>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Incredibly beneficial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880038080"/>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It will help the environment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53807071"/>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Justifiable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No, I think that says it</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03799">
                <a:tc>
                  <a:txBody>
                    <a:bodyPr/>
                    <a:lstStyle/>
                    <a:p>
                      <a:pPr algn="l" rtl="0" fontAlgn="ctr"/>
                      <a:r>
                        <a:rPr lang="en-US" sz="1200" b="0" i="0" u="none" strike="noStrike">
                          <a:solidFill>
                            <a:srgbClr val="000000"/>
                          </a:solidFill>
                          <a:effectLst/>
                          <a:latin typeface="Tahoma" panose="020B0604030504040204" pitchFamily="34" charset="0"/>
                        </a:rPr>
                        <a:t>Outstanding value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03799">
                <a:tc>
                  <a:txBody>
                    <a:bodyPr/>
                    <a:lstStyle/>
                    <a:p>
                      <a:pPr algn="l" rtl="0" fontAlgn="ctr"/>
                      <a:r>
                        <a:rPr lang="en-US" sz="1200" b="0" i="0" u="none" strike="noStrike">
                          <a:solidFill>
                            <a:srgbClr val="000000"/>
                          </a:solidFill>
                          <a:effectLst/>
                          <a:latin typeface="Tahoma" panose="020B0604030504040204" pitchFamily="34" charset="0"/>
                        </a:rPr>
                        <a:t>Pass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03799">
                <a:tc>
                  <a:txBody>
                    <a:bodyPr/>
                    <a:lstStyle/>
                    <a:p>
                      <a:pPr algn="l" rtl="0" fontAlgn="ctr"/>
                      <a:r>
                        <a:rPr lang="en-US" sz="1200" b="0" i="0" u="none" strike="noStrike">
                          <a:solidFill>
                            <a:srgbClr val="000000"/>
                          </a:solidFill>
                          <a:effectLst/>
                          <a:latin typeface="Tahoma" panose="020B0604030504040204" pitchFamily="34" charset="0"/>
                        </a:rPr>
                        <a:t>Patients on the waiting list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56533">
                <a:tc>
                  <a:txBody>
                    <a:bodyPr/>
                    <a:lstStyle/>
                    <a:p>
                      <a:pPr algn="l" rtl="0" fontAlgn="ctr"/>
                      <a:r>
                        <a:rPr lang="en-US" sz="1200" b="0" i="0" u="none" strike="noStrike">
                          <a:solidFill>
                            <a:srgbClr val="000000"/>
                          </a:solidFill>
                          <a:effectLst/>
                          <a:latin typeface="Tahoma" panose="020B0604030504040204" pitchFamily="34" charset="0"/>
                        </a:rPr>
                        <a:t>Perfect program for somebody who can afford the upgrades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387733">
                <a:tc>
                  <a:txBody>
                    <a:bodyPr/>
                    <a:lstStyle/>
                    <a:p>
                      <a:pPr algn="l" rtl="0" fontAlgn="ctr"/>
                      <a:r>
                        <a:rPr lang="en-US" sz="1200" b="0" i="0" u="none" strike="noStrike">
                          <a:solidFill>
                            <a:srgbClr val="000000"/>
                          </a:solidFill>
                          <a:effectLst/>
                          <a:latin typeface="Tahoma" panose="020B0604030504040204" pitchFamily="34" charset="0"/>
                        </a:rPr>
                        <a:t>Pretty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03799">
                <a:tc>
                  <a:txBody>
                    <a:bodyPr/>
                    <a:lstStyle/>
                    <a:p>
                      <a:pPr algn="l" rtl="0" fontAlgn="ctr"/>
                      <a:r>
                        <a:rPr lang="en-US" sz="1200" b="0" i="0" u="none" strike="noStrike">
                          <a:solidFill>
                            <a:srgbClr val="000000"/>
                          </a:solidFill>
                          <a:effectLst/>
                          <a:latin typeface="Tahoma" panose="020B0604030504040204" pitchFamily="34" charset="0"/>
                        </a:rPr>
                        <a:t>Relieving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03799">
                <a:tc>
                  <a:txBody>
                    <a:bodyPr/>
                    <a:lstStyle/>
                    <a:p>
                      <a:pPr algn="l" rtl="0" fontAlgn="ctr"/>
                      <a:r>
                        <a:rPr lang="en-US" sz="1200" b="0" i="0" u="none" strike="noStrike">
                          <a:solidFill>
                            <a:srgbClr val="000000"/>
                          </a:solidFill>
                          <a:effectLst/>
                          <a:latin typeface="Tahoma" panose="020B0604030504040204" pitchFamily="34" charset="0"/>
                        </a:rPr>
                        <a:t>Surreal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03799">
                <a:tc>
                  <a:txBody>
                    <a:bodyPr/>
                    <a:lstStyle/>
                    <a:p>
                      <a:pPr algn="l" rtl="0" fontAlgn="ctr"/>
                      <a:r>
                        <a:rPr lang="en-US" sz="1200" b="0" i="0" u="none" strike="noStrike">
                          <a:solidFill>
                            <a:srgbClr val="000000"/>
                          </a:solidFill>
                          <a:effectLst/>
                          <a:latin typeface="Tahoma" panose="020B0604030504040204" pitchFamily="34" charset="0"/>
                        </a:rPr>
                        <a:t>The program is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03799">
                <a:tc>
                  <a:txBody>
                    <a:bodyPr/>
                    <a:lstStyle/>
                    <a:p>
                      <a:pPr algn="l" rtl="0" fontAlgn="ctr"/>
                      <a:r>
                        <a:rPr lang="en-US" sz="1200" b="0" i="0" u="none" strike="noStrike">
                          <a:solidFill>
                            <a:srgbClr val="000000"/>
                          </a:solidFill>
                          <a:effectLst/>
                          <a:latin typeface="Tahoma" panose="020B0604030504040204" pitchFamily="34" charset="0"/>
                        </a:rPr>
                        <a:t>Try to get enrolled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03799">
                <a:tc>
                  <a:txBody>
                    <a:bodyPr/>
                    <a:lstStyle/>
                    <a:p>
                      <a:pPr algn="l" rtl="0" fontAlgn="ctr"/>
                      <a:r>
                        <a:rPr lang="en-US" sz="1200" b="0" i="0" u="none" strike="noStrike">
                          <a:solidFill>
                            <a:srgbClr val="000000"/>
                          </a:solidFill>
                          <a:effectLst/>
                          <a:latin typeface="Tahoma" panose="020B0604030504040204" pitchFamily="34" charset="0"/>
                        </a:rPr>
                        <a:t>Very helpful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03799">
                <a:tc>
                  <a:txBody>
                    <a:bodyPr/>
                    <a:lstStyle/>
                    <a:p>
                      <a:pPr algn="l" rtl="0" fontAlgn="ctr"/>
                      <a:r>
                        <a:rPr lang="en-US" sz="1200" b="0" i="0" u="none" strike="noStrike">
                          <a:solidFill>
                            <a:srgbClr val="000000"/>
                          </a:solidFill>
                          <a:effectLst/>
                          <a:latin typeface="Tahoma" panose="020B0604030504040204" pitchFamily="34" charset="0"/>
                        </a:rPr>
                        <a:t>Very useful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387733">
                <a:tc>
                  <a:txBody>
                    <a:bodyPr/>
                    <a:lstStyle/>
                    <a:p>
                      <a:pPr algn="l" rtl="0" fontAlgn="ctr"/>
                      <a:r>
                        <a:rPr lang="en-US" sz="1200" b="0" i="0" u="none" strike="noStrike">
                          <a:solidFill>
                            <a:srgbClr val="000000"/>
                          </a:solidFill>
                          <a:effectLst/>
                          <a:latin typeface="Tahoma" panose="020B0604030504040204" pitchFamily="34" charset="0"/>
                        </a:rPr>
                        <a:t>Weatherization assistance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10551">
                <a:tc>
                  <a:txBody>
                    <a:bodyPr/>
                    <a:lstStyle/>
                    <a:p>
                      <a:pPr algn="l" rtl="0" fontAlgn="ctr"/>
                      <a:r>
                        <a:rPr lang="en-US" sz="1200" b="0" i="0" u="none" strike="noStrike">
                          <a:solidFill>
                            <a:srgbClr val="000000"/>
                          </a:solidFill>
                          <a:effectLst/>
                          <a:latin typeface="Tahoma" panose="020B0604030504040204" pitchFamily="34" charset="0"/>
                        </a:rPr>
                        <a:t>Worth it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9%</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10551">
                <a:tc>
                  <a:txBody>
                    <a:bodyPr/>
                    <a:lstStyle/>
                    <a:p>
                      <a:pPr algn="l" rtl="0" fontAlgn="b"/>
                      <a:r>
                        <a:rPr lang="en-US" sz="1200" b="0" i="0" u="none" strike="noStrike">
                          <a:solidFill>
                            <a:srgbClr val="000000"/>
                          </a:solidFill>
                          <a:effectLst/>
                          <a:latin typeface="Tahoma" panose="020B0604030504040204" pitchFamily="34" charset="0"/>
                        </a:rPr>
                        <a:t>All other</a:t>
                      </a:r>
                    </a:p>
                  </a:txBody>
                  <a:tcPr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68219562"/>
                  </a:ext>
                </a:extLst>
              </a:tr>
              <a:tr h="21055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dirty="0">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45105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1000">
                <a:tc>
                  <a:txBody>
                    <a:bodyPr/>
                    <a:lstStyle/>
                    <a:p>
                      <a:pPr algn="ctr"/>
                      <a:r>
                        <a:rPr sz="1200" b="1" i="0">
                          <a:solidFill>
                            <a:srgbClr val="FFFFFF"/>
                          </a:solidFill>
                          <a:latin typeface="Tahoma"/>
                        </a:rPr>
                        <a:t>Gender</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381000">
                <a:tc>
                  <a:txBody>
                    <a:bodyPr/>
                    <a:lstStyle/>
                    <a:p>
                      <a:pPr algn="l"/>
                      <a:r>
                        <a:rPr sz="1200" b="0" i="0">
                          <a:solidFill>
                            <a:srgbClr val="000000"/>
                          </a:solidFill>
                          <a:latin typeface="Tahoma"/>
                        </a:rPr>
                        <a:t>Male</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1"/>
                  </a:ext>
                </a:extLst>
              </a:tr>
              <a:tr h="381000">
                <a:tc>
                  <a:txBody>
                    <a:bodyPr/>
                    <a:lstStyle/>
                    <a:p>
                      <a:pPr algn="l"/>
                      <a:r>
                        <a:rPr sz="1200" b="0" i="0">
                          <a:solidFill>
                            <a:srgbClr val="000000"/>
                          </a:solidFill>
                          <a:latin typeface="Tahoma"/>
                        </a:rPr>
                        <a:t>Female</a:t>
                      </a:r>
                    </a:p>
                  </a:txBody>
                  <a:tcPr anchor="ctr">
                    <a:solidFill>
                      <a:srgbClr val="E0E5F0"/>
                    </a:solidFill>
                  </a:tcPr>
                </a:tc>
                <a:tc>
                  <a:txBody>
                    <a:bodyPr/>
                    <a:lstStyle/>
                    <a:p>
                      <a:pPr algn="ctr"/>
                      <a:r>
                        <a:rPr sz="1200" b="0" i="0">
                          <a:solidFill>
                            <a:srgbClr val="000000"/>
                          </a:solidFill>
                          <a:latin typeface="Tahoma"/>
                        </a:rPr>
                        <a:t>50%</a:t>
                      </a:r>
                    </a:p>
                  </a:txBody>
                  <a:tcPr anchor="ctr">
                    <a:solidFill>
                      <a:srgbClr val="E0E5F0"/>
                    </a:solidFill>
                  </a:tcPr>
                </a:tc>
                <a:tc>
                  <a:txBody>
                    <a:bodyPr/>
                    <a:lstStyle/>
                    <a:p>
                      <a:pPr algn="ctr"/>
                      <a:r>
                        <a:rPr sz="1200" b="0" i="0">
                          <a:solidFill>
                            <a:srgbClr val="000000"/>
                          </a:solidFill>
                          <a:latin typeface="Tahoma"/>
                        </a:rPr>
                        <a:t>63%</a:t>
                      </a:r>
                    </a:p>
                  </a:txBody>
                  <a:tcPr anchor="ctr">
                    <a:solidFill>
                      <a:srgbClr val="E0E5F0"/>
                    </a:solidFill>
                  </a:tcPr>
                </a:tc>
                <a:tc>
                  <a:txBody>
                    <a:bodyPr/>
                    <a:lstStyle/>
                    <a:p>
                      <a:pPr algn="ctr"/>
                      <a:r>
                        <a:rPr sz="1200" b="0" i="0">
                          <a:solidFill>
                            <a:srgbClr val="000000"/>
                          </a:solidFill>
                          <a:latin typeface="Tahoma"/>
                        </a:rPr>
                        <a:t>70%</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extLst>
                  <a:ext uri="{0D108BD9-81ED-4DB2-BD59-A6C34878D82A}">
                    <a16:rowId xmlns:a16="http://schemas.microsoft.com/office/drawing/2014/main" val="10002"/>
                  </a:ext>
                </a:extLst>
              </a:tr>
              <a:tr h="381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3"/>
                  </a:ext>
                </a:extLst>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05"/>
                  </a:ext>
                </a:extLst>
              </a:tr>
            </a:tbl>
          </a:graphicData>
        </a:graphic>
      </p:graphicFrame>
      <p:graphicFrame>
        <p:nvGraphicFramePr>
          <p:cNvPr id="23557"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54000">
                <a:tc>
                  <a:txBody>
                    <a:bodyPr/>
                    <a:lstStyle/>
                    <a:p>
                      <a:pPr algn="ctr"/>
                      <a:r>
                        <a:rPr sz="1200" b="1" i="0">
                          <a:solidFill>
                            <a:srgbClr val="FFFFFF"/>
                          </a:solidFill>
                          <a:latin typeface="Tahoma"/>
                        </a:rPr>
                        <a:t>Age</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254000">
                <a:tc>
                  <a:txBody>
                    <a:bodyPr/>
                    <a:lstStyle/>
                    <a:p>
                      <a:pPr algn="l"/>
                      <a:r>
                        <a:rPr sz="1200" b="0" i="0">
                          <a:solidFill>
                            <a:srgbClr val="000000"/>
                          </a:solidFill>
                          <a:latin typeface="Tahoma"/>
                        </a:rPr>
                        <a:t>25 to 34</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1"/>
                  </a:ext>
                </a:extLst>
              </a:tr>
              <a:tr h="254000">
                <a:tc>
                  <a:txBody>
                    <a:bodyPr/>
                    <a:lstStyle/>
                    <a:p>
                      <a:pPr algn="l"/>
                      <a:r>
                        <a:rPr sz="1200" b="0" i="0">
                          <a:solidFill>
                            <a:srgbClr val="000000"/>
                          </a:solidFill>
                          <a:latin typeface="Tahoma"/>
                        </a:rPr>
                        <a:t>35 to 44</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extLst>
                  <a:ext uri="{0D108BD9-81ED-4DB2-BD59-A6C34878D82A}">
                    <a16:rowId xmlns:a16="http://schemas.microsoft.com/office/drawing/2014/main" val="10002"/>
                  </a:ext>
                </a:extLst>
              </a:tr>
              <a:tr h="254000">
                <a:tc>
                  <a:txBody>
                    <a:bodyPr/>
                    <a:lstStyle/>
                    <a:p>
                      <a:pPr algn="l"/>
                      <a:r>
                        <a:rPr sz="1200" b="0" i="0">
                          <a:solidFill>
                            <a:srgbClr val="000000"/>
                          </a:solidFill>
                          <a:latin typeface="Tahoma"/>
                        </a:rPr>
                        <a:t>45 to 54</a:t>
                      </a:r>
                    </a:p>
                  </a:txBody>
                  <a:tcPr anchor="ctr">
                    <a:solidFill>
                      <a:srgbClr val="E0E5F0"/>
                    </a:solidFill>
                  </a:tcPr>
                </a:tc>
                <a:tc>
                  <a:txBody>
                    <a:bodyPr/>
                    <a:lstStyle/>
                    <a:p>
                      <a:pPr algn="ctr"/>
                      <a:r>
                        <a:rPr sz="1200" b="0" i="0">
                          <a:solidFill>
                            <a:srgbClr val="000000"/>
                          </a:solidFill>
                          <a:latin typeface="Tahoma"/>
                        </a:rPr>
                        <a:t>23%</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extLst>
                  <a:ext uri="{0D108BD9-81ED-4DB2-BD59-A6C34878D82A}">
                    <a16:rowId xmlns:a16="http://schemas.microsoft.com/office/drawing/2014/main" val="10003"/>
                  </a:ext>
                </a:extLst>
              </a:tr>
              <a:tr h="254000">
                <a:tc>
                  <a:txBody>
                    <a:bodyPr/>
                    <a:lstStyle/>
                    <a:p>
                      <a:pPr algn="l"/>
                      <a:r>
                        <a:rPr sz="1200" b="0" i="0">
                          <a:solidFill>
                            <a:srgbClr val="000000"/>
                          </a:solidFill>
                          <a:latin typeface="Tahoma"/>
                        </a:rPr>
                        <a:t>55 to 64</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extLst>
                  <a:ext uri="{0D108BD9-81ED-4DB2-BD59-A6C34878D82A}">
                    <a16:rowId xmlns:a16="http://schemas.microsoft.com/office/drawing/2014/main" val="10004"/>
                  </a:ext>
                </a:extLst>
              </a:tr>
              <a:tr h="254000">
                <a:tc>
                  <a:txBody>
                    <a:bodyPr/>
                    <a:lstStyle/>
                    <a:p>
                      <a:pPr algn="l"/>
                      <a:r>
                        <a:rPr sz="1200" b="0" i="0">
                          <a:solidFill>
                            <a:srgbClr val="000000"/>
                          </a:solidFill>
                          <a:latin typeface="Tahoma"/>
                        </a:rPr>
                        <a:t>65 years or older</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extLst>
                  <a:ext uri="{0D108BD9-81ED-4DB2-BD59-A6C34878D82A}">
                    <a16:rowId xmlns:a16="http://schemas.microsoft.com/office/drawing/2014/main" val="10005"/>
                  </a:ext>
                </a:extLst>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941998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graphicFrame>
        <p:nvGraphicFramePr>
          <p:cNvPr id="23556" name="Table 3"/>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28600">
                <a:tc>
                  <a:txBody>
                    <a:bodyPr/>
                    <a:lstStyle/>
                    <a:p>
                      <a:pPr algn="ctr"/>
                      <a:r>
                        <a:rPr sz="1200" b="1" i="0">
                          <a:solidFill>
                            <a:srgbClr val="FFFFFF"/>
                          </a:solidFill>
                          <a:latin typeface="Tahoma"/>
                        </a:rPr>
                        <a:t>Ethnicity</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228600">
                <a:tc>
                  <a:txBody>
                    <a:bodyPr/>
                    <a:lstStyle/>
                    <a:p>
                      <a:pPr algn="l"/>
                      <a:r>
                        <a:rPr sz="1200" b="0" i="0">
                          <a:solidFill>
                            <a:srgbClr val="000000"/>
                          </a:solidFill>
                          <a:latin typeface="Tahoma"/>
                        </a:rPr>
                        <a:t>White</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51%</a:t>
                      </a:r>
                    </a:p>
                  </a:txBody>
                  <a:tcPr anchor="ctr">
                    <a:solidFill>
                      <a:srgbClr val="E0E5F0"/>
                    </a:solidFill>
                  </a:tcPr>
                </a:tc>
                <a:extLst>
                  <a:ext uri="{0D108BD9-81ED-4DB2-BD59-A6C34878D82A}">
                    <a16:rowId xmlns:a16="http://schemas.microsoft.com/office/drawing/2014/main" val="10001"/>
                  </a:ext>
                </a:extLst>
              </a:tr>
              <a:tr h="228600">
                <a:tc>
                  <a:txBody>
                    <a:bodyPr/>
                    <a:lstStyle/>
                    <a:p>
                      <a:pPr algn="l"/>
                      <a:r>
                        <a:rPr sz="1200" b="0" i="0">
                          <a:solidFill>
                            <a:srgbClr val="000000"/>
                          </a:solidFill>
                          <a:latin typeface="Tahoma"/>
                        </a:rPr>
                        <a:t>Hispanic</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2"/>
                  </a:ext>
                </a:extLst>
              </a:tr>
              <a:tr h="228600">
                <a:tc>
                  <a:txBody>
                    <a:bodyPr/>
                    <a:lstStyle/>
                    <a:p>
                      <a:pPr algn="l"/>
                      <a:r>
                        <a:rPr sz="1200" b="0" i="0">
                          <a:solidFill>
                            <a:srgbClr val="000000"/>
                          </a:solidFill>
                          <a:latin typeface="Tahoma"/>
                        </a:rPr>
                        <a:t>Two or more races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3"/>
                  </a:ext>
                </a:extLst>
              </a:tr>
              <a:tr h="228600">
                <a:tc>
                  <a:txBody>
                    <a:bodyPr/>
                    <a:lstStyle/>
                    <a:p>
                      <a:pPr algn="l"/>
                      <a:r>
                        <a:rPr sz="1200" b="0" i="0">
                          <a:solidFill>
                            <a:srgbClr val="000000"/>
                          </a:solidFill>
                          <a:latin typeface="Tahoma"/>
                        </a:rPr>
                        <a:t>African American</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4"/>
                  </a:ext>
                </a:extLst>
              </a:tr>
              <a:tr h="228600">
                <a:tc>
                  <a:txBody>
                    <a:bodyPr/>
                    <a:lstStyle/>
                    <a:p>
                      <a:pPr algn="l"/>
                      <a:r>
                        <a:rPr sz="1200" b="0" i="0">
                          <a:solidFill>
                            <a:srgbClr val="000000"/>
                          </a:solidFill>
                          <a:latin typeface="Tahoma"/>
                        </a:rPr>
                        <a:t>Aleutian, Eskimo, or American Indian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228600">
                <a:tc>
                  <a:txBody>
                    <a:bodyPr/>
                    <a:lstStyle/>
                    <a:p>
                      <a:pPr algn="l"/>
                      <a:r>
                        <a:rPr sz="1200" b="0" i="0">
                          <a:solidFill>
                            <a:srgbClr val="000000"/>
                          </a:solidFill>
                          <a:latin typeface="Tahoma"/>
                        </a:rPr>
                        <a:t>Asian or Pacific Islander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228600">
                <a:tc>
                  <a:txBody>
                    <a:bodyPr/>
                    <a:lstStyle/>
                    <a:p>
                      <a:pPr algn="l"/>
                      <a:r>
                        <a:rPr sz="1200" b="0" i="0">
                          <a:solidFill>
                            <a:srgbClr val="000000"/>
                          </a:solidFill>
                          <a:latin typeface="Tahoma"/>
                        </a:rPr>
                        <a:t>Other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extLst>
                  <a:ext uri="{0D108BD9-81ED-4DB2-BD59-A6C34878D82A}">
                    <a16:rowId xmlns:a16="http://schemas.microsoft.com/office/drawing/2014/main" val="10008"/>
                  </a:ext>
                </a:extLst>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graphicFrame>
        <p:nvGraphicFramePr>
          <p:cNvPr id="23556" name="Table 1"/>
          <p:cNvGraphicFramePr>
            <a:graphicFrameLocks noGrp="1"/>
          </p:cNvGraphicFramePr>
          <p:nvPr/>
        </p:nvGraphicFramePr>
        <p:xfrm>
          <a:off x="457200" y="1554480"/>
          <a:ext cx="5943600" cy="33832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54000">
                <a:tc>
                  <a:txBody>
                    <a:bodyPr/>
                    <a:lstStyle/>
                    <a:p>
                      <a:pPr algn="ctr"/>
                      <a:r>
                        <a:rPr sz="1200" b="1" i="0">
                          <a:solidFill>
                            <a:srgbClr val="FFFFFF"/>
                          </a:solidFill>
                          <a:latin typeface="Tahoma"/>
                        </a:rPr>
                        <a:t>Education</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25400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1"/>
                  </a:ext>
                </a:extLst>
              </a:tr>
              <a:tr h="25400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2"/>
                  </a:ext>
                </a:extLst>
              </a:tr>
              <a:tr h="25400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48%</a:t>
                      </a:r>
                    </a:p>
                  </a:txBody>
                  <a:tcPr anchor="ctr">
                    <a:solidFill>
                      <a:srgbClr val="E0E5F0"/>
                    </a:solidFill>
                  </a:tcPr>
                </a:tc>
                <a:tc>
                  <a:txBody>
                    <a:bodyPr/>
                    <a:lstStyle/>
                    <a:p>
                      <a:pPr algn="ctr"/>
                      <a:r>
                        <a:rPr sz="1200" b="0" i="0">
                          <a:solidFill>
                            <a:srgbClr val="000000"/>
                          </a:solidFill>
                          <a:latin typeface="Tahoma"/>
                        </a:rPr>
                        <a:t>37%</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extLst>
                  <a:ext uri="{0D108BD9-81ED-4DB2-BD59-A6C34878D82A}">
                    <a16:rowId xmlns:a16="http://schemas.microsoft.com/office/drawing/2014/main" val="10003"/>
                  </a:ext>
                </a:extLst>
              </a:tr>
              <a:tr h="25400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42%</a:t>
                      </a:r>
                    </a:p>
                  </a:txBody>
                  <a:tcPr anchor="ctr">
                    <a:solidFill>
                      <a:srgbClr val="E0E5F0"/>
                    </a:solidFill>
                  </a:tcPr>
                </a:tc>
                <a:extLst>
                  <a:ext uri="{0D108BD9-81ED-4DB2-BD59-A6C34878D82A}">
                    <a16:rowId xmlns:a16="http://schemas.microsoft.com/office/drawing/2014/main" val="10004"/>
                  </a:ext>
                </a:extLst>
              </a:tr>
              <a:tr h="25400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extLst>
                  <a:ext uri="{0D108BD9-81ED-4DB2-BD59-A6C34878D82A}">
                    <a16:rowId xmlns:a16="http://schemas.microsoft.com/office/drawing/2014/main" val="10005"/>
                  </a:ext>
                </a:extLst>
              </a:tr>
              <a:tr h="254000">
                <a:tc>
                  <a:txBody>
                    <a:bodyPr/>
                    <a:lstStyle/>
                    <a:p>
                      <a:pPr algn="l"/>
                      <a:r>
                        <a:rPr sz="1200" b="0" i="0">
                          <a:solidFill>
                            <a:srgbClr val="000000"/>
                          </a:solidFill>
                          <a:latin typeface="Tahoma"/>
                        </a:rPr>
                        <a:t>Do not know/unsure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extLst>
                  <a:ext uri="{0D108BD9-81ED-4DB2-BD59-A6C34878D82A}">
                    <a16:rowId xmlns:a16="http://schemas.microsoft.com/office/drawing/2014/main" val="10007"/>
                  </a:ext>
                </a:extLst>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dirty="0">
                          <a:solidFill>
                            <a:srgbClr val="FFFFFF"/>
                          </a:solidFill>
                          <a:latin typeface="Tahoma"/>
                        </a:rPr>
                        <a:t>45</a:t>
                      </a:r>
                    </a:p>
                  </a:txBody>
                  <a:tcPr anchor="ctr">
                    <a:solidFill>
                      <a:srgbClr val="5A80B8"/>
                    </a:solidFill>
                  </a:tcPr>
                </a:tc>
                <a:extLst>
                  <a:ext uri="{0D108BD9-81ED-4DB2-BD59-A6C34878D82A}">
                    <a16:rowId xmlns:a16="http://schemas.microsoft.com/office/drawing/2014/main" val="10008"/>
                  </a:ext>
                </a:extLst>
              </a:tr>
            </a:tbl>
          </a:graphicData>
        </a:graphic>
      </p:graphicFrame>
      <p:graphicFrame>
        <p:nvGraphicFramePr>
          <p:cNvPr id="23557" name="Table 5"/>
          <p:cNvGraphicFramePr>
            <a:graphicFrameLocks noGrp="1"/>
          </p:cNvGraphicFramePr>
          <p:nvPr>
            <p:extLst>
              <p:ext uri="{D42A27DB-BD31-4B8C-83A1-F6EECF244321}">
                <p14:modId xmlns:p14="http://schemas.microsoft.com/office/powerpoint/2010/main" val="4243368658"/>
              </p:ext>
            </p:extLst>
          </p:nvPr>
        </p:nvGraphicFramePr>
        <p:xfrm>
          <a:off x="419100" y="5130800"/>
          <a:ext cx="5943600" cy="252984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1000">
                <a:tc>
                  <a:txBody>
                    <a:bodyPr/>
                    <a:lstStyle/>
                    <a:p>
                      <a:pPr algn="ctr"/>
                      <a:r>
                        <a:rPr sz="1200" b="1" i="0">
                          <a:solidFill>
                            <a:srgbClr val="FFFFFF"/>
                          </a:solidFill>
                          <a:latin typeface="Tahoma"/>
                        </a:rPr>
                        <a:t>Have Anyone Under the Age of 18 Living In Home</a:t>
                      </a:r>
                    </a:p>
                  </a:txBody>
                  <a:tcPr anchor="ctr">
                    <a:solidFill>
                      <a:srgbClr val="5A80B8"/>
                    </a:solidFill>
                  </a:tcPr>
                </a:tc>
                <a:tc>
                  <a:txBody>
                    <a:bodyPr/>
                    <a:lstStyle/>
                    <a:p>
                      <a:pPr algn="ctr"/>
                      <a:r>
                        <a:rPr sz="1200" b="1" i="0" dirty="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381000">
                <a:tc>
                  <a:txBody>
                    <a:bodyPr/>
                    <a:lstStyle/>
                    <a:p>
                      <a:pPr algn="l"/>
                      <a:r>
                        <a:rPr sz="1200" b="0" i="0">
                          <a:solidFill>
                            <a:srgbClr val="000000"/>
                          </a:solidFill>
                          <a:latin typeface="Tahoma"/>
                        </a:rPr>
                        <a:t>Yes</a:t>
                      </a:r>
                    </a:p>
                  </a:txBody>
                  <a:tcPr anchor="ctr">
                    <a:solidFill>
                      <a:srgbClr val="E0E5F0"/>
                    </a:solidFill>
                  </a:tcPr>
                </a:tc>
                <a:tc>
                  <a:txBody>
                    <a:bodyPr/>
                    <a:lstStyle/>
                    <a:p>
                      <a:pPr algn="ctr"/>
                      <a:r>
                        <a:rPr sz="1200" b="0" i="0">
                          <a:solidFill>
                            <a:srgbClr val="000000"/>
                          </a:solidFill>
                          <a:latin typeface="Tahoma"/>
                        </a:rPr>
                        <a:t>39%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1"/>
                  </a:ext>
                </a:extLst>
              </a:tr>
              <a:tr h="38100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50%</a:t>
                      </a:r>
                    </a:p>
                  </a:txBody>
                  <a:tcPr anchor="ctr">
                    <a:solidFill>
                      <a:srgbClr val="E0E5F0"/>
                    </a:solidFill>
                  </a:tcPr>
                </a:tc>
                <a:tc>
                  <a:txBody>
                    <a:bodyPr/>
                    <a:lstStyle/>
                    <a:p>
                      <a:pPr algn="ctr"/>
                      <a:r>
                        <a:rPr sz="1200" b="0" i="0">
                          <a:solidFill>
                            <a:srgbClr val="000000"/>
                          </a:solidFill>
                          <a:latin typeface="Tahoma"/>
                        </a:rPr>
                        <a:t>84%</a:t>
                      </a:r>
                    </a:p>
                  </a:txBody>
                  <a:tcPr anchor="ctr">
                    <a:solidFill>
                      <a:srgbClr val="E0E5F0"/>
                    </a:solidFill>
                  </a:tcPr>
                </a:tc>
                <a:tc>
                  <a:txBody>
                    <a:bodyPr/>
                    <a:lstStyle/>
                    <a:p>
                      <a:pPr algn="ctr"/>
                      <a:r>
                        <a:rPr sz="1200" b="0" i="0">
                          <a:solidFill>
                            <a:srgbClr val="000000"/>
                          </a:solidFill>
                          <a:latin typeface="Tahoma"/>
                        </a:rPr>
                        <a:t>91%</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extLst>
                  <a:ext uri="{0D108BD9-81ED-4DB2-BD59-A6C34878D82A}">
                    <a16:rowId xmlns:a16="http://schemas.microsoft.com/office/drawing/2014/main" val="10002"/>
                  </a:ext>
                </a:extLst>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381000">
                <a:tc>
                  <a:txBody>
                    <a:bodyPr/>
                    <a:lstStyle/>
                    <a:p>
                      <a:pPr algn="l"/>
                      <a:r>
                        <a:rPr sz="1200" b="0" i="0" dirty="0">
                          <a:solidFill>
                            <a:srgbClr val="000000"/>
                          </a:solidFill>
                          <a:latin typeface="Tahoma"/>
                        </a:rPr>
                        <a:t>Base:</a:t>
                      </a:r>
                    </a:p>
                  </a:txBody>
                  <a:tcPr anchor="ctr">
                    <a:solidFill>
                      <a:srgbClr val="5A80B8"/>
                    </a:solidFill>
                  </a:tcPr>
                </a:tc>
                <a:tc>
                  <a:txBody>
                    <a:bodyPr/>
                    <a:lstStyle/>
                    <a:p>
                      <a:pPr algn="ctr"/>
                      <a:r>
                        <a:rPr sz="1200" b="0" i="0">
                          <a:solidFill>
                            <a:srgbClr val="000000"/>
                          </a:solidFill>
                          <a:latin typeface="Tahoma"/>
                        </a:rPr>
                        <a:t>44</a:t>
                      </a:r>
                    </a:p>
                  </a:txBody>
                  <a:tcPr anchor="ctr">
                    <a:solidFill>
                      <a:srgbClr val="5A80B8"/>
                    </a:solidFill>
                  </a:tcPr>
                </a:tc>
                <a:tc>
                  <a:txBody>
                    <a:bodyPr/>
                    <a:lstStyle/>
                    <a:p>
                      <a:pPr algn="ctr"/>
                      <a:r>
                        <a:rPr sz="1200" b="0" i="0">
                          <a:solidFill>
                            <a:srgbClr val="000000"/>
                          </a:solidFill>
                          <a:latin typeface="Tahoma"/>
                        </a:rPr>
                        <a:t>19</a:t>
                      </a:r>
                    </a:p>
                  </a:txBody>
                  <a:tcPr anchor="ctr">
                    <a:solidFill>
                      <a:srgbClr val="5A80B8"/>
                    </a:solidFill>
                  </a:tcPr>
                </a:tc>
                <a:tc>
                  <a:txBody>
                    <a:bodyPr/>
                    <a:lstStyle/>
                    <a:p>
                      <a:pPr algn="ctr"/>
                      <a:r>
                        <a:rPr sz="1200" b="0" i="0">
                          <a:solidFill>
                            <a:srgbClr val="000000"/>
                          </a:solidFill>
                          <a:latin typeface="Tahoma"/>
                        </a:rPr>
                        <a:t>33</a:t>
                      </a:r>
                    </a:p>
                  </a:txBody>
                  <a:tcPr anchor="ctr">
                    <a:solidFill>
                      <a:srgbClr val="5A80B8"/>
                    </a:solidFill>
                  </a:tcPr>
                </a:tc>
                <a:tc>
                  <a:txBody>
                    <a:bodyPr/>
                    <a:lstStyle/>
                    <a:p>
                      <a:pPr algn="ctr"/>
                      <a:r>
                        <a:rPr sz="1200" b="0" i="0" dirty="0">
                          <a:solidFill>
                            <a:srgbClr val="000000"/>
                          </a:solidFill>
                          <a:latin typeface="Tahoma"/>
                        </a:rPr>
                        <a:t>45</a:t>
                      </a:r>
                    </a:p>
                  </a:txBody>
                  <a:tcPr anchor="ctr">
                    <a:solidFill>
                      <a:srgbClr val="5A80B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28600">
                <a:tc>
                  <a:txBody>
                    <a:bodyPr/>
                    <a:lstStyle/>
                    <a:p>
                      <a:pPr algn="ctr"/>
                      <a:r>
                        <a:rPr sz="1200" b="1" i="0">
                          <a:solidFill>
                            <a:srgbClr val="FFFFFF"/>
                          </a:solidFill>
                          <a:latin typeface="Tahoma"/>
                        </a:rPr>
                        <a:t>Years Lived In Residence</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228600">
                <a:tc>
                  <a:txBody>
                    <a:bodyPr/>
                    <a:lstStyle/>
                    <a:p>
                      <a:pPr algn="l"/>
                      <a:r>
                        <a:rPr sz="1200" b="0" i="0">
                          <a:solidFill>
                            <a:srgbClr val="000000"/>
                          </a:solidFill>
                          <a:latin typeface="Tahoma"/>
                        </a:rPr>
                        <a:t>Less than 1 year</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1"/>
                  </a:ext>
                </a:extLst>
              </a:tr>
              <a:tr h="228600">
                <a:tc>
                  <a:txBody>
                    <a:bodyPr/>
                    <a:lstStyle/>
                    <a:p>
                      <a:pPr algn="l"/>
                      <a:r>
                        <a:rPr sz="1200" b="0" i="0">
                          <a:solidFill>
                            <a:srgbClr val="000000"/>
                          </a:solidFill>
                          <a:latin typeface="Tahoma"/>
                        </a:rPr>
                        <a:t>1 to 2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2"/>
                  </a:ext>
                </a:extLst>
              </a:tr>
              <a:tr h="228600">
                <a:tc>
                  <a:txBody>
                    <a:bodyPr/>
                    <a:lstStyle/>
                    <a:p>
                      <a:pPr algn="l"/>
                      <a:r>
                        <a:rPr sz="1200" b="0" i="0">
                          <a:solidFill>
                            <a:srgbClr val="000000"/>
                          </a:solidFill>
                          <a:latin typeface="Tahoma"/>
                        </a:rPr>
                        <a:t>3 to 5 years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extLst>
                  <a:ext uri="{0D108BD9-81ED-4DB2-BD59-A6C34878D82A}">
                    <a16:rowId xmlns:a16="http://schemas.microsoft.com/office/drawing/2014/main" val="10003"/>
                  </a:ext>
                </a:extLst>
              </a:tr>
              <a:tr h="2286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4"/>
                  </a:ext>
                </a:extLst>
              </a:tr>
              <a:tr h="2286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extLst>
                  <a:ext uri="{0D108BD9-81ED-4DB2-BD59-A6C34878D82A}">
                    <a16:rowId xmlns:a16="http://schemas.microsoft.com/office/drawing/2014/main" val="10005"/>
                  </a:ext>
                </a:extLst>
              </a:tr>
              <a:tr h="2286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6"/>
                  </a:ext>
                </a:extLst>
              </a:tr>
              <a:tr h="2286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32%</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c>
                  <a:txBody>
                    <a:bodyPr/>
                    <a:lstStyle/>
                    <a:p>
                      <a:pPr algn="ctr"/>
                      <a:r>
                        <a:rPr sz="1200" b="0" i="0">
                          <a:solidFill>
                            <a:srgbClr val="000000"/>
                          </a:solidFill>
                          <a:latin typeface="Tahoma"/>
                        </a:rPr>
                        <a:t>56%</a:t>
                      </a:r>
                    </a:p>
                  </a:txBody>
                  <a:tcPr anchor="ctr">
                    <a:solidFill>
                      <a:srgbClr val="E0E5F0"/>
                    </a:solidFill>
                  </a:tcPr>
                </a:tc>
                <a:extLst>
                  <a:ext uri="{0D108BD9-81ED-4DB2-BD59-A6C34878D82A}">
                    <a16:rowId xmlns:a16="http://schemas.microsoft.com/office/drawing/2014/main" val="10007"/>
                  </a:ext>
                </a:extLst>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09"/>
                  </a:ext>
                </a:extLst>
              </a:tr>
            </a:tbl>
          </a:graphicData>
        </a:graphic>
      </p:graphicFrame>
      <p:graphicFrame>
        <p:nvGraphicFramePr>
          <p:cNvPr id="23557"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85750">
                <a:tc>
                  <a:txBody>
                    <a:bodyPr/>
                    <a:lstStyle/>
                    <a:p>
                      <a:pPr algn="ctr"/>
                      <a:r>
                        <a:rPr sz="1200" b="1" i="0">
                          <a:solidFill>
                            <a:srgbClr val="FFFFFF"/>
                          </a:solidFill>
                          <a:latin typeface="Tahoma"/>
                        </a:rPr>
                        <a:t>Years Lived In Austin</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285750">
                <a:tc>
                  <a:txBody>
                    <a:bodyPr/>
                    <a:lstStyle/>
                    <a:p>
                      <a:pPr algn="l"/>
                      <a:r>
                        <a:rPr sz="1200" b="0" i="0">
                          <a:solidFill>
                            <a:srgbClr val="000000"/>
                          </a:solidFill>
                          <a:latin typeface="Tahoma"/>
                        </a:rPr>
                        <a:t>1 to 5 years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1"/>
                  </a:ext>
                </a:extLst>
              </a:tr>
              <a:tr h="28575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2"/>
                  </a:ext>
                </a:extLst>
              </a:tr>
              <a:tr h="28575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extLst>
                  <a:ext uri="{0D108BD9-81ED-4DB2-BD59-A6C34878D82A}">
                    <a16:rowId xmlns:a16="http://schemas.microsoft.com/office/drawing/2014/main" val="10003"/>
                  </a:ext>
                </a:extLst>
              </a:tr>
              <a:tr h="28575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4"/>
                  </a:ext>
                </a:extLst>
              </a:tr>
              <a:tr h="28575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58%</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extLst>
                  <a:ext uri="{0D108BD9-81ED-4DB2-BD59-A6C34878D82A}">
                    <a16:rowId xmlns:a16="http://schemas.microsoft.com/office/drawing/2014/main" val="10005"/>
                  </a:ext>
                </a:extLst>
              </a:tr>
              <a:tr h="28575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28575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44</a:t>
                      </a:r>
                    </a:p>
                  </a:txBody>
                  <a:tcPr anchor="ctr">
                    <a:solidFill>
                      <a:srgbClr val="5A80B8"/>
                    </a:solidFill>
                  </a:tcPr>
                </a:tc>
                <a:tc>
                  <a:txBody>
                    <a:bodyPr/>
                    <a:lstStyle/>
                    <a:p>
                      <a:pPr algn="ctr"/>
                      <a:r>
                        <a:rPr sz="1200" b="1" i="0">
                          <a:solidFill>
                            <a:srgbClr val="FFFFFF"/>
                          </a:solidFill>
                          <a:latin typeface="Tahoma"/>
                        </a:rPr>
                        <a:t>19</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18297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60</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142875">
                <a:tc>
                  <a:txBody>
                    <a:bodyPr/>
                    <a:lstStyle/>
                    <a:p>
                      <a:pPr algn="ctr"/>
                      <a:r>
                        <a:rPr sz="1200" b="1" i="0">
                          <a:solidFill>
                            <a:srgbClr val="FFFFFF"/>
                          </a:solidFill>
                          <a:latin typeface="Tahoma"/>
                        </a:rPr>
                        <a:t>Physical Health Not Good In the Past 30 Days</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142875">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50%</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64%</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extLst>
                  <a:ext uri="{0D108BD9-81ED-4DB2-BD59-A6C34878D82A}">
                    <a16:rowId xmlns:a16="http://schemas.microsoft.com/office/drawing/2014/main" val="10001"/>
                  </a:ext>
                </a:extLst>
              </a:tr>
              <a:tr h="142875">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2"/>
                  </a:ext>
                </a:extLst>
              </a:tr>
              <a:tr h="142875">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extLst>
                  <a:ext uri="{0D108BD9-81ED-4DB2-BD59-A6C34878D82A}">
                    <a16:rowId xmlns:a16="http://schemas.microsoft.com/office/drawing/2014/main" val="10003"/>
                  </a:ext>
                </a:extLst>
              </a:tr>
              <a:tr h="142875">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4"/>
                  </a:ext>
                </a:extLst>
              </a:tr>
              <a:tr h="142875">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142875">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6"/>
                  </a:ext>
                </a:extLst>
              </a:tr>
              <a:tr h="142875">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142875">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8"/>
                  </a:ext>
                </a:extLst>
              </a:tr>
              <a:tr h="142875">
                <a:tc>
                  <a:txBody>
                    <a:bodyPr/>
                    <a:lstStyle/>
                    <a:p>
                      <a:pPr algn="l"/>
                      <a:r>
                        <a:rPr sz="1200" b="0" i="0">
                          <a:solidFill>
                            <a:srgbClr val="000000"/>
                          </a:solidFill>
                          <a:latin typeface="Tahoma"/>
                        </a:rPr>
                        <a:t>8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9"/>
                  </a:ext>
                </a:extLst>
              </a:tr>
              <a:tr h="142875">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10"/>
                  </a:ext>
                </a:extLst>
              </a:tr>
              <a:tr h="142875">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11"/>
                  </a:ext>
                </a:extLst>
              </a:tr>
              <a:tr h="142875">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142875">
                <a:tc>
                  <a:txBody>
                    <a:bodyPr/>
                    <a:lstStyle/>
                    <a:p>
                      <a:pPr algn="l"/>
                      <a:r>
                        <a:rPr sz="1200" b="0" i="0">
                          <a:solidFill>
                            <a:srgbClr val="000000"/>
                          </a:solidFill>
                          <a:latin typeface="Tahoma"/>
                        </a:rPr>
                        <a:t>25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13"/>
                  </a:ext>
                </a:extLst>
              </a:tr>
              <a:tr h="142875">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4"/>
                  </a:ext>
                </a:extLst>
              </a:tr>
              <a:tr h="142875">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34</a:t>
                      </a:r>
                    </a:p>
                  </a:txBody>
                  <a:tcPr anchor="ctr">
                    <a:solidFill>
                      <a:srgbClr val="5A80B8"/>
                    </a:solidFill>
                  </a:tcPr>
                </a:tc>
                <a:tc>
                  <a:txBody>
                    <a:bodyPr/>
                    <a:lstStyle/>
                    <a:p>
                      <a:pPr algn="ctr"/>
                      <a:r>
                        <a:rPr sz="1200" b="1" i="0">
                          <a:solidFill>
                            <a:srgbClr val="FFFFFF"/>
                          </a:solidFill>
                          <a:latin typeface="Tahoma"/>
                        </a:rPr>
                        <a:t>13</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331388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2"/>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152400">
                <a:tc>
                  <a:txBody>
                    <a:bodyPr/>
                    <a:lstStyle/>
                    <a:p>
                      <a:pPr algn="ctr"/>
                      <a:r>
                        <a:rPr sz="1200" b="1" i="0">
                          <a:solidFill>
                            <a:srgbClr val="FFFFFF"/>
                          </a:solidFill>
                          <a:latin typeface="Tahoma"/>
                        </a:rPr>
                        <a:t>Mental Health Not Good In the Past 30 Days</a:t>
                      </a:r>
                    </a:p>
                  </a:txBody>
                  <a:tcPr anchor="ctr">
                    <a:solidFill>
                      <a:srgbClr val="5A80B8"/>
                    </a:solidFill>
                  </a:tcPr>
                </a:tc>
                <a:tc>
                  <a:txBody>
                    <a:bodyPr/>
                    <a:lstStyle/>
                    <a:p>
                      <a:pPr algn="ctr"/>
                      <a:r>
                        <a:rPr sz="1200" b="1" i="0">
                          <a:solidFill>
                            <a:srgbClr val="FFFFFF"/>
                          </a:solidFill>
                          <a:latin typeface="Tahoma"/>
                        </a:rPr>
                        <a:t>Q2 2024</a:t>
                      </a:r>
                    </a:p>
                  </a:txBody>
                  <a:tcPr anchor="ctr">
                    <a:solidFill>
                      <a:srgbClr val="5A80B8"/>
                    </a:solidFill>
                  </a:tcPr>
                </a:tc>
                <a:tc>
                  <a:txBody>
                    <a:bodyPr/>
                    <a:lstStyle/>
                    <a:p>
                      <a:pPr algn="ctr"/>
                      <a:r>
                        <a:rPr sz="1200" b="1" i="0">
                          <a:solidFill>
                            <a:srgbClr val="FFFFFF"/>
                          </a:solidFill>
                          <a:latin typeface="Tahoma"/>
                        </a:rPr>
                        <a:t>Q3 2024</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extLst>
                  <a:ext uri="{0D108BD9-81ED-4DB2-BD59-A6C34878D82A}">
                    <a16:rowId xmlns:a16="http://schemas.microsoft.com/office/drawing/2014/main" val="10000"/>
                  </a:ext>
                </a:extLst>
              </a:tr>
              <a:tr h="152400">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69%</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48%</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extLst>
                  <a:ext uri="{0D108BD9-81ED-4DB2-BD59-A6C34878D82A}">
                    <a16:rowId xmlns:a16="http://schemas.microsoft.com/office/drawing/2014/main" val="10001"/>
                  </a:ext>
                </a:extLst>
              </a:tr>
              <a:tr h="152400">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02"/>
                  </a:ext>
                </a:extLst>
              </a:tr>
              <a:tr h="152400">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3"/>
                  </a:ext>
                </a:extLst>
              </a:tr>
              <a:tr h="152400">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14%</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4"/>
                  </a:ext>
                </a:extLst>
              </a:tr>
              <a:tr h="152400">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5"/>
                  </a:ext>
                </a:extLst>
              </a:tr>
              <a:tr h="152400">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6"/>
                  </a:ext>
                </a:extLst>
              </a:tr>
              <a:tr h="152400">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7"/>
                  </a:ext>
                </a:extLst>
              </a:tr>
              <a:tr h="152400">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8"/>
                  </a:ext>
                </a:extLst>
              </a:tr>
              <a:tr h="152400">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152400">
                <a:tc>
                  <a:txBody>
                    <a:bodyPr/>
                    <a:lstStyle/>
                    <a:p>
                      <a:pPr algn="l"/>
                      <a:r>
                        <a:rPr sz="1200" b="0" i="0">
                          <a:solidFill>
                            <a:srgbClr val="000000"/>
                          </a:solidFill>
                          <a:latin typeface="Tahoma"/>
                        </a:rPr>
                        <a:t>14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152400">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11"/>
                  </a:ext>
                </a:extLst>
              </a:tr>
              <a:tr h="152400">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152400">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13"/>
                  </a:ext>
                </a:extLst>
              </a:tr>
              <a:tr h="1524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32</a:t>
                      </a:r>
                    </a:p>
                  </a:txBody>
                  <a:tcPr anchor="ctr">
                    <a:solidFill>
                      <a:srgbClr val="5A80B8"/>
                    </a:solidFill>
                  </a:tcPr>
                </a:tc>
                <a:tc>
                  <a:txBody>
                    <a:bodyPr/>
                    <a:lstStyle/>
                    <a:p>
                      <a:pPr algn="ctr"/>
                      <a:r>
                        <a:rPr sz="1200" b="1" i="0">
                          <a:solidFill>
                            <a:srgbClr val="FFFFFF"/>
                          </a:solidFill>
                          <a:latin typeface="Tahoma"/>
                        </a:rPr>
                        <a:t>14</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5876760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62</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3142653356"/>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63</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altLang="en-US" sz="1800">
                <a:cs typeface="Geneva"/>
              </a:rPr>
              <a:t>During January 2025, Creative Consumer Research (CCR) conducted 33 telephone interviews with individuals living in homes that went through Austin Energy’s Low Income Weatherization Program.</a:t>
            </a:r>
          </a:p>
          <a:p>
            <a:pPr>
              <a:spcBef>
                <a:spcPts val="600"/>
              </a:spcBef>
            </a:pPr>
            <a:r>
              <a:rPr lang="en-US" altLang="en-US" sz="1800">
                <a:ea typeface="Geneva"/>
                <a:cs typeface="Geneva"/>
              </a:rPr>
              <a:t>This quarter 36 contacts were provided, and the average survey length was 17 minutes.</a:t>
            </a:r>
          </a:p>
          <a:p>
            <a:pPr>
              <a:spcBef>
                <a:spcPts val="600"/>
              </a:spcBef>
            </a:pPr>
            <a:r>
              <a:rPr lang="en-US" altLang="en-US" sz="180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a:ea typeface="Geneva"/>
                <a:cs typeface="Geneva"/>
              </a:rPr>
              <a:t>For reference throughout the report, a ‘Top Box’ score is the percentage of ‘8’, ‘9’, and ‘10’ scores on a </a:t>
            </a:r>
            <a:br>
              <a:rPr lang="en-US" altLang="en-US" sz="1800">
                <a:ea typeface="Geneva"/>
                <a:cs typeface="Geneva"/>
              </a:rPr>
            </a:br>
            <a:r>
              <a:rPr lang="en-US" altLang="en-US" sz="1800">
                <a:ea typeface="Geneva"/>
                <a:cs typeface="Geneva"/>
              </a:rPr>
              <a:t>10-point scale.</a:t>
            </a:r>
          </a:p>
          <a:p>
            <a:pPr marL="0" indent="0">
              <a:buNone/>
            </a:pPr>
            <a:r>
              <a:rPr lang="en-US" altLang="en-US" sz="1800">
                <a:ea typeface="Geneva"/>
                <a:cs typeface="Geneva"/>
              </a:rPr>
              <a:t> </a:t>
            </a:r>
          </a:p>
          <a:p>
            <a:endParaRPr lang="en-US" altLang="en-US" sz="1800">
              <a:ea typeface="Geneva"/>
              <a:cs typeface="Geneva"/>
            </a:endParaRPr>
          </a:p>
          <a:p>
            <a:pPr marL="0" indent="0">
              <a:buNone/>
            </a:pPr>
            <a:endParaRPr lang="en-US" altLang="en-US" sz="1800">
              <a:ea typeface="MS PGothic" panose="020B0600070205080204" pitchFamily="34" charset="-128"/>
            </a:endParaRPr>
          </a:p>
          <a:p>
            <a:pPr marL="0" indent="0">
              <a:buNone/>
            </a:pPr>
            <a:endParaRPr lang="en-US" altLang="en-US" sz="180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extLst>
    <p:ext uri="{6950BFC3-D8DA-4A85-94F7-54DA5524770B}">
      <p188:commentRel xmlns:p188="http://schemas.microsoft.com/office/powerpoint/2018/8/main" r:id="rId2"/>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64</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D050B2-3251-403C-968B-F8C9227395F9}">
  <ds:schemaRefs>
    <ds:schemaRef ds:uri="http://schemas.microsoft.com/sharepoint/v3/contenttype/forms"/>
  </ds:schemaRefs>
</ds:datastoreItem>
</file>

<file path=customXml/itemProps2.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92</TotalTime>
  <Words>6593</Words>
  <Application>Microsoft Macintosh PowerPoint</Application>
  <PresentationFormat>On-screen Show (4:3)</PresentationFormat>
  <Paragraphs>2003</Paragraphs>
  <Slides>64</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MS PGothic</vt:lpstr>
      <vt:lpstr>MS PGothic</vt:lpstr>
      <vt:lpstr>Arial</vt:lpstr>
      <vt:lpstr>Geneva</vt:lpstr>
      <vt:lpstr>Helvetica</vt:lpstr>
      <vt:lpstr>Tahoma</vt:lpstr>
      <vt:lpstr>Times New Roman</vt:lpstr>
      <vt:lpstr>Univers 49 Light Ultra Condense</vt:lpstr>
      <vt:lpstr>Default Design</vt:lpstr>
      <vt:lpstr>Low Income Weatherization Survey
FY2025 Q1
January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  (Table 1 of 3)</vt:lpstr>
      <vt:lpstr>Possible Low Income Weatherization Program Names  (Table 1 of 3)</vt:lpstr>
      <vt:lpstr>Possible Low Income Weatherization Program Names (Table 2 of 3)</vt:lpstr>
      <vt:lpstr>Possible Low Income Weatherization Program Names (Table 3 of 3)</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12</cp:revision>
  <cp:lastPrinted>2024-11-19T11:53:05Z</cp:lastPrinted>
  <dcterms:created xsi:type="dcterms:W3CDTF">2004-11-29T14:50:58Z</dcterms:created>
  <dcterms:modified xsi:type="dcterms:W3CDTF">2025-12-12T18:09:20Z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