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drawings/drawing3.xml" ContentType="application/vnd.openxmlformats-officedocument.drawingml.chartshapes+xml"/>
  <Override PartName="/ppt/charts/chart10.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1.xml" ContentType="application/vnd.openxmlformats-officedocument.drawingml.chart+xml"/>
  <Override PartName="/ppt/drawings/drawing4.xml" ContentType="application/vnd.openxmlformats-officedocument.drawingml.chartshapes+xml"/>
  <Override PartName="/ppt/charts/chart12.xml" ContentType="application/vnd.openxmlformats-officedocument.drawingml.chart+xml"/>
  <Override PartName="/ppt/drawings/drawing5.xml" ContentType="application/vnd.openxmlformats-officedocument.drawingml.chartshapes+xml"/>
  <Override PartName="/ppt/charts/chart13.xml" ContentType="application/vnd.openxmlformats-officedocument.drawingml.chart+xml"/>
  <Override PartName="/ppt/drawings/drawing6.xml" ContentType="application/vnd.openxmlformats-officedocument.drawingml.chartshapes+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drawings/drawing7.xml" ContentType="application/vnd.openxmlformats-officedocument.drawingml.chartshapes+xml"/>
  <Override PartName="/ppt/charts/chart17.xml" ContentType="application/vnd.openxmlformats-officedocument.drawingml.chart+xml"/>
  <Override PartName="/ppt/drawings/drawing8.xml" ContentType="application/vnd.openxmlformats-officedocument.drawingml.chartshapes+xml"/>
  <Override PartName="/ppt/charts/chart18.xml" ContentType="application/vnd.openxmlformats-officedocument.drawingml.chart+xml"/>
  <Override PartName="/ppt/drawings/drawing9.xml" ContentType="application/vnd.openxmlformats-officedocument.drawingml.chartshapes+xml"/>
  <Override PartName="/ppt/charts/chart19.xml" ContentType="application/vnd.openxmlformats-officedocument.drawingml.chart+xml"/>
  <Override PartName="/ppt/notesSlides/notesSlide7.xml" ContentType="application/vnd.openxmlformats-officedocument.presentationml.notesSlide+xml"/>
  <Override PartName="/ppt/charts/chart20.xml" ContentType="application/vnd.openxmlformats-officedocument.drawingml.chart+xml"/>
  <Override PartName="/ppt/notesSlides/notesSlide8.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drawings/drawing10.xml" ContentType="application/vnd.openxmlformats-officedocument.drawingml.chartshapes+xml"/>
  <Override PartName="/ppt/charts/chart23.xml" ContentType="application/vnd.openxmlformats-officedocument.drawingml.chart+xml"/>
  <Override PartName="/ppt/drawings/drawing11.xml" ContentType="application/vnd.openxmlformats-officedocument.drawingml.chartshapes+xml"/>
  <Override PartName="/ppt/charts/chart24.xml" ContentType="application/vnd.openxmlformats-officedocument.drawingml.chart+xml"/>
  <Override PartName="/ppt/notesSlides/notesSlide9.xml" ContentType="application/vnd.openxmlformats-officedocument.presentationml.notesSlide+xml"/>
  <Override PartName="/ppt/charts/chart25.xml" ContentType="application/vnd.openxmlformats-officedocument.drawingml.chart+xml"/>
  <Override PartName="/ppt/drawings/drawing12.xml" ContentType="application/vnd.openxmlformats-officedocument.drawingml.chartshapes+xml"/>
  <Override PartName="/ppt/charts/chart26.xml" ContentType="application/vnd.openxmlformats-officedocument.drawingml.chart+xml"/>
  <Override PartName="/ppt/charts/chart27.xml" ContentType="application/vnd.openxmlformats-officedocument.drawingml.chart+xml"/>
  <Override PartName="/ppt/notesSlides/notesSlide10.xml" ContentType="application/vnd.openxmlformats-officedocument.presentationml.notesSlide+xml"/>
  <Override PartName="/ppt/charts/chart28.xml" ContentType="application/vnd.openxmlformats-officedocument.drawingml.chart+xml"/>
  <Override PartName="/ppt/drawings/drawing13.xml" ContentType="application/vnd.openxmlformats-officedocument.drawingml.chartshapes+xml"/>
  <Override PartName="/ppt/notesSlides/notesSlide11.xml" ContentType="application/vnd.openxmlformats-officedocument.presentationml.notesSlide+xml"/>
  <Override PartName="/ppt/charts/chart29.xml" ContentType="application/vnd.openxmlformats-officedocument.drawingml.chart+xml"/>
  <Override PartName="/ppt/notesSlides/notesSlide12.xml" ContentType="application/vnd.openxmlformats-officedocument.presentationml.notesSlide+xml"/>
  <Override PartName="/ppt/charts/chart30.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6"/>
  </p:notesMasterIdLst>
  <p:handoutMasterIdLst>
    <p:handoutMasterId r:id="rId67"/>
  </p:handoutMasterIdLst>
  <p:sldIdLst>
    <p:sldId id="474" r:id="rId5"/>
    <p:sldId id="689" r:id="rId6"/>
    <p:sldId id="662" r:id="rId7"/>
    <p:sldId id="661" r:id="rId8"/>
    <p:sldId id="616" r:id="rId9"/>
    <p:sldId id="700" r:id="rId10"/>
    <p:sldId id="690" r:id="rId11"/>
    <p:sldId id="709" r:id="rId12"/>
    <p:sldId id="620" r:id="rId13"/>
    <p:sldId id="691" r:id="rId14"/>
    <p:sldId id="680" r:id="rId15"/>
    <p:sldId id="686" r:id="rId16"/>
    <p:sldId id="682" r:id="rId17"/>
    <p:sldId id="683" r:id="rId18"/>
    <p:sldId id="695" r:id="rId19"/>
    <p:sldId id="710" r:id="rId20"/>
    <p:sldId id="696" r:id="rId21"/>
    <p:sldId id="711" r:id="rId22"/>
    <p:sldId id="625" r:id="rId23"/>
    <p:sldId id="626" r:id="rId24"/>
    <p:sldId id="694" r:id="rId25"/>
    <p:sldId id="628" r:id="rId26"/>
    <p:sldId id="629" r:id="rId27"/>
    <p:sldId id="702" r:id="rId28"/>
    <p:sldId id="703" r:id="rId29"/>
    <p:sldId id="712" r:id="rId30"/>
    <p:sldId id="630" r:id="rId31"/>
    <p:sldId id="631" r:id="rId32"/>
    <p:sldId id="632" r:id="rId33"/>
    <p:sldId id="704" r:id="rId34"/>
    <p:sldId id="705" r:id="rId35"/>
    <p:sldId id="713" r:id="rId36"/>
    <p:sldId id="633" r:id="rId37"/>
    <p:sldId id="634" r:id="rId38"/>
    <p:sldId id="706" r:id="rId39"/>
    <p:sldId id="669" r:id="rId40"/>
    <p:sldId id="670" r:id="rId41"/>
    <p:sldId id="636" r:id="rId42"/>
    <p:sldId id="637" r:id="rId43"/>
    <p:sldId id="638" r:id="rId44"/>
    <p:sldId id="714" r:id="rId45"/>
    <p:sldId id="640" r:id="rId46"/>
    <p:sldId id="697" r:id="rId47"/>
    <p:sldId id="643" r:id="rId48"/>
    <p:sldId id="645" r:id="rId49"/>
    <p:sldId id="647" r:id="rId50"/>
    <p:sldId id="615" r:id="rId51"/>
    <p:sldId id="608" r:id="rId52"/>
    <p:sldId id="678" r:id="rId53"/>
    <p:sldId id="677" r:id="rId54"/>
    <p:sldId id="708" r:id="rId55"/>
    <p:sldId id="648" r:id="rId56"/>
    <p:sldId id="649" r:id="rId57"/>
    <p:sldId id="672" r:id="rId58"/>
    <p:sldId id="650" r:id="rId59"/>
    <p:sldId id="656" r:id="rId60"/>
    <p:sldId id="673" r:id="rId61"/>
    <p:sldId id="687" r:id="rId62"/>
    <p:sldId id="676" r:id="rId63"/>
    <p:sldId id="596" r:id="rId64"/>
    <p:sldId id="659" r:id="rId65"/>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3"/>
    <a:srgbClr val="3133CC"/>
    <a:srgbClr val="3233CC"/>
    <a:srgbClr val="DEE8F3"/>
    <a:srgbClr val="4F81BD"/>
    <a:srgbClr val="DDE7F2"/>
    <a:srgbClr val="00CC99"/>
    <a:srgbClr val="00CC9A"/>
    <a:srgbClr val="FFC000"/>
    <a:srgbClr val="0F6F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7901A8-1493-AC45-A4DD-6FF1A0C8FDC9}" v="578" dt="2025-12-14T13:02:05.6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p:restoredTop sz="94685"/>
  </p:normalViewPr>
  <p:slideViewPr>
    <p:cSldViewPr snapToGrid="0">
      <p:cViewPr varScale="1">
        <p:scale>
          <a:sx n="168" d="100"/>
          <a:sy n="168" d="100"/>
        </p:scale>
        <p:origin x="1128" y="520"/>
      </p:cViewPr>
      <p:guideLst>
        <p:guide orient="horz" pos="2880"/>
        <p:guide pos="2160"/>
      </p:guideLst>
    </p:cSldViewPr>
  </p:slideViewPr>
  <p:notesTextViewPr>
    <p:cViewPr>
      <p:scale>
        <a:sx n="1" d="1"/>
        <a:sy n="1" d="1"/>
      </p:scale>
      <p:origin x="0" y="0"/>
    </p:cViewPr>
  </p:notesTextViewPr>
  <p:notesViewPr>
    <p:cSldViewPr snapToGrid="0">
      <p:cViewPr>
        <p:scale>
          <a:sx n="1" d="2"/>
          <a:sy n="1" d="2"/>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2" Type="http://schemas.openxmlformats.org/officeDocument/2006/relationships/chartUserShapes" Target="../drawings/drawing10.xml"/><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2" Type="http://schemas.openxmlformats.org/officeDocument/2006/relationships/chartUserShapes" Target="../drawings/drawing11.xml"/><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2" Type="http://schemas.openxmlformats.org/officeDocument/2006/relationships/chartUserShapes" Target="../drawings/drawing12.xml"/><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2" Type="http://schemas.openxmlformats.org/officeDocument/2006/relationships/chartUserShapes" Target="../drawings/drawing13.xml"/><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Q4 2024
(N=33)</c:v>
                </c:pt>
              </c:strCache>
            </c:strRef>
          </c:tx>
          <c:spPr>
            <a:solidFill>
              <a:srgbClr val="FFC003"/>
            </a:solidFill>
            <a:ln>
              <a:noFill/>
            </a:ln>
            <a:effectLst/>
          </c:spPr>
          <c:invertIfNegative val="0"/>
          <c:dLbls>
            <c:spPr>
              <a:noFill/>
              <a:ln w="20893">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0.2424242424242424</c:v>
                </c:pt>
                <c:pt idx="1">
                  <c:v>0.75757575757575757</c:v>
                </c:pt>
                <c:pt idx="2">
                  <c:v>0</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Q1 2025
(N=45)</c:v>
                </c:pt>
              </c:strCache>
            </c:strRef>
          </c:tx>
          <c:spPr>
            <a:solidFill>
              <a:srgbClr val="3133C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Sheet1!$C$2:$C$4</c:f>
              <c:numCache>
                <c:formatCode>0%</c:formatCode>
                <c:ptCount val="3"/>
                <c:pt idx="0">
                  <c:v>7.0000000000000007E-2</c:v>
                </c:pt>
                <c:pt idx="1">
                  <c:v>0.8</c:v>
                </c:pt>
                <c:pt idx="2">
                  <c:v>0.13</c:v>
                </c:pt>
              </c:numCache>
            </c:numRef>
          </c:val>
          <c:extLst>
            <c:ext xmlns:c16="http://schemas.microsoft.com/office/drawing/2014/chart" uri="{C3380CC4-5D6E-409C-BE32-E72D297353CC}">
              <c16:uniqueId val="{00000001-FBB7-AB40-8E52-76733A6959E6}"/>
            </c:ext>
          </c:extLst>
        </c:ser>
        <c:ser>
          <c:idx val="2"/>
          <c:order val="2"/>
          <c:tx>
            <c:strRef>
              <c:f>Sheet1!$D$1</c:f>
              <c:strCache>
                <c:ptCount val="1"/>
                <c:pt idx="0">
                  <c:v>Q2 2025
(N=46)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Sheet1!$D$2:$D$4</c:f>
              <c:numCache>
                <c:formatCode>0%</c:formatCode>
                <c:ptCount val="3"/>
                <c:pt idx="0">
                  <c:v>0.04</c:v>
                </c:pt>
                <c:pt idx="1">
                  <c:v>0.83</c:v>
                </c:pt>
                <c:pt idx="2">
                  <c:v>0.13</c:v>
                </c:pt>
              </c:numCache>
            </c:numRef>
          </c:val>
          <c:extLst>
            <c:ext xmlns:c16="http://schemas.microsoft.com/office/drawing/2014/chart" uri="{C3380CC4-5D6E-409C-BE32-E72D297353CC}">
              <c16:uniqueId val="{00000002-FBB7-AB40-8E52-76733A6959E6}"/>
            </c:ext>
          </c:extLst>
        </c:ser>
        <c:ser>
          <c:idx val="3"/>
          <c:order val="3"/>
          <c:tx>
            <c:strRef>
              <c:f>Sheet1!$E$1</c:f>
              <c:strCache>
                <c:ptCount val="1"/>
                <c:pt idx="0">
                  <c:v>Q3 2025
(N=38)</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Sheet1!$E$2:$E$4</c:f>
              <c:numCache>
                <c:formatCode>0%</c:formatCode>
                <c:ptCount val="3"/>
                <c:pt idx="0">
                  <c:v>0.13157894736842105</c:v>
                </c:pt>
                <c:pt idx="1">
                  <c:v>0.60526315789473684</c:v>
                </c:pt>
                <c:pt idx="2">
                  <c:v>0.26315789473684209</c:v>
                </c:pt>
              </c:numCache>
            </c:numRef>
          </c:val>
          <c:extLst>
            <c:ext xmlns:c16="http://schemas.microsoft.com/office/drawing/2014/chart" uri="{C3380CC4-5D6E-409C-BE32-E72D297353CC}">
              <c16:uniqueId val="{00000003-FBB7-AB40-8E52-76733A6959E6}"/>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prstDash val="solid"/>
              <a:round/>
            </a:ln>
            <a:effectLst/>
          </c:spPr>
        </c:majorGridlines>
        <c:numFmt formatCode="0%" sourceLinked="1"/>
        <c:majorTickMark val="none"/>
        <c:minorTickMark val="none"/>
        <c:tickLblPos val="nextTo"/>
        <c:spPr>
          <a:noFill/>
          <a:ln w="5223" cap="flat" cmpd="sng" algn="ctr">
            <a:solidFill>
              <a:schemeClr val="bg1">
                <a:lumMod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a:effectLst/>
      </c:spPr>
    </c:plotArea>
    <c:legend>
      <c:legendPos val="t"/>
      <c:layout>
        <c:manualLayout>
          <c:xMode val="edge"/>
          <c:yMode val="edge"/>
          <c:x val="0.19246181398377835"/>
          <c:y val="1.556420233463035E-2"/>
          <c:w val="0.60379817654372159"/>
          <c:h val="7.650479487729403E-2"/>
        </c:manualLayout>
      </c:layout>
      <c:overlay val="0"/>
      <c:spPr>
        <a:noFill/>
        <a:ln w="20893">
          <a:noFill/>
        </a:ln>
        <a:effectLst/>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prstDash val="soli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1">
                  <c:v>0.02</c:v>
                </c:pt>
                <c:pt idx="3">
                  <c:v>2.6315789473684209E-2</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1">
                  <c:v>0.04</c:v>
                </c:pt>
                <c:pt idx="2">
                  <c:v>0.04</c:v>
                </c:pt>
                <c:pt idx="3">
                  <c:v>2.6315789473684209E-2</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0.94</c:v>
                </c:pt>
                <c:pt idx="1">
                  <c:v>0.91</c:v>
                </c:pt>
                <c:pt idx="2">
                  <c:v>0.96</c:v>
                </c:pt>
                <c:pt idx="3">
                  <c:v>0.92105263157894735</c:v>
                </c:pt>
              </c:numCache>
            </c:numRef>
          </c:val>
          <c:extLst>
            <c:ext xmlns:c16="http://schemas.microsoft.com/office/drawing/2014/chart" uri="{C3380CC4-5D6E-409C-BE32-E72D297353CC}">
              <c16:uniqueId val="{00000006-B9B0-4EA2-8CFB-1195A0386E81}"/>
            </c:ext>
          </c:extLst>
        </c:ser>
        <c:ser>
          <c:idx val="3"/>
          <c:order val="3"/>
          <c:tx>
            <c:strRef>
              <c:f>Sheet1!$E$1</c:f>
              <c:strCache>
                <c:ptCount val="1"/>
                <c:pt idx="0">
                  <c:v>sum of displayed values</c:v>
                </c:pt>
              </c:strCache>
            </c:strRef>
          </c:tx>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0.94</c:v>
                </c:pt>
                <c:pt idx="1">
                  <c:v>0.97</c:v>
                </c:pt>
                <c:pt idx="2">
                  <c:v>1</c:v>
                </c:pt>
                <c:pt idx="3">
                  <c:v>0.98</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0"/>
          <c:w val="0.29457344147771003"/>
          <c:h val="7.3359398907651585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0.12121212121212122</c:v>
                </c:pt>
                <c:pt idx="1">
                  <c:v>0.11</c:v>
                </c:pt>
                <c:pt idx="2">
                  <c:v>0.13</c:v>
                </c:pt>
                <c:pt idx="3">
                  <c:v>0.15789473684210525</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6.0606060606060608E-2</c:v>
                </c:pt>
                <c:pt idx="1">
                  <c:v>0.11</c:v>
                </c:pt>
                <c:pt idx="2">
                  <c:v>7.0000000000000007E-2</c:v>
                </c:pt>
                <c:pt idx="3">
                  <c:v>7.8947368421052627E-2</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0.48484848484848486</c:v>
                </c:pt>
                <c:pt idx="1">
                  <c:v>0.51</c:v>
                </c:pt>
                <c:pt idx="2">
                  <c:v>0.7</c:v>
                </c:pt>
                <c:pt idx="3">
                  <c:v>0.55263157894736847</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0.66</c:v>
                </c:pt>
                <c:pt idx="1">
                  <c:v>0.73</c:v>
                </c:pt>
                <c:pt idx="2">
                  <c:v>0.9</c:v>
                </c:pt>
                <c:pt idx="3">
                  <c:v>0.78947368421052633</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2</c:v>
                </c:pt>
                <c:pt idx="1">
                  <c:v>14</c:v>
                </c:pt>
                <c:pt idx="2">
                  <c:v>11</c:v>
                </c:pt>
                <c:pt idx="3">
                  <c:v>6</c:v>
                </c:pt>
                <c:pt idx="4">
                  <c:v>1</c:v>
                </c:pt>
                <c:pt idx="5">
                  <c:v>5</c:v>
                </c:pt>
                <c:pt idx="6">
                  <c:v>6</c:v>
                </c:pt>
                <c:pt idx="7">
                  <c:v>20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2</c:v>
                </c:pt>
                <c:pt idx="1">
                  <c:v>15</c:v>
                </c:pt>
                <c:pt idx="2">
                  <c:v>15</c:v>
                </c:pt>
                <c:pt idx="3">
                  <c:v>8</c:v>
                </c:pt>
                <c:pt idx="4">
                  <c:v>0</c:v>
                </c:pt>
                <c:pt idx="5">
                  <c:v>6</c:v>
                </c:pt>
                <c:pt idx="6">
                  <c:v>6</c:v>
                </c:pt>
                <c:pt idx="7">
                  <c:v>30</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Q2 2025
(N=46)</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4</c:v>
                </c:pt>
                <c:pt idx="1">
                  <c:v>13</c:v>
                </c:pt>
                <c:pt idx="2">
                  <c:v>21</c:v>
                </c:pt>
                <c:pt idx="3">
                  <c:v>7</c:v>
                </c:pt>
                <c:pt idx="4">
                  <c:v>1</c:v>
                </c:pt>
                <c:pt idx="5">
                  <c:v>4</c:v>
                </c:pt>
                <c:pt idx="6">
                  <c:v>10</c:v>
                </c:pt>
                <c:pt idx="7">
                  <c:v>29</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c:v>
                </c:pt>
                <c:pt idx="1">
                  <c:v>7</c:v>
                </c:pt>
                <c:pt idx="2">
                  <c:v>18</c:v>
                </c:pt>
                <c:pt idx="3">
                  <c:v>10</c:v>
                </c:pt>
                <c:pt idx="4">
                  <c:v>0</c:v>
                </c:pt>
                <c:pt idx="5">
                  <c:v>1</c:v>
                </c:pt>
                <c:pt idx="6">
                  <c:v>4</c:v>
                </c:pt>
                <c:pt idx="7">
                  <c:v>33</c:v>
                </c:pt>
              </c:numCache>
            </c:numRef>
          </c:val>
          <c:extLst>
            <c:ext xmlns:c16="http://schemas.microsoft.com/office/drawing/2014/chart" uri="{C3380CC4-5D6E-409C-BE32-E72D297353CC}">
              <c16:uniqueId val="{00000000-2997-DA46-B45F-D672517A6AC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3</c:v>
                </c:pt>
                <c:pt idx="1">
                  <c:v>4</c:v>
                </c:pt>
                <c:pt idx="2">
                  <c:v>13</c:v>
                </c:pt>
                <c:pt idx="3">
                  <c:v>11</c:v>
                </c:pt>
                <c:pt idx="4">
                  <c:v>9</c:v>
                </c:pt>
                <c:pt idx="5">
                  <c:v>15</c:v>
                </c:pt>
                <c:pt idx="6">
                  <c:v>2</c:v>
                </c:pt>
                <c:pt idx="7">
                  <c:v>6</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c:v>
                </c:pt>
                <c:pt idx="1">
                  <c:v>11</c:v>
                </c:pt>
                <c:pt idx="2">
                  <c:v>10</c:v>
                </c:pt>
                <c:pt idx="3">
                  <c:v>18</c:v>
                </c:pt>
                <c:pt idx="4">
                  <c:v>7</c:v>
                </c:pt>
                <c:pt idx="5">
                  <c:v>20</c:v>
                </c:pt>
                <c:pt idx="6">
                  <c:v>1</c:v>
                </c:pt>
                <c:pt idx="7">
                  <c:v>16</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Q2 2025
(N=46)</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2</c:v>
                </c:pt>
                <c:pt idx="1">
                  <c:v>5</c:v>
                </c:pt>
                <c:pt idx="2">
                  <c:v>11</c:v>
                </c:pt>
                <c:pt idx="3">
                  <c:v>21</c:v>
                </c:pt>
                <c:pt idx="4">
                  <c:v>15</c:v>
                </c:pt>
                <c:pt idx="5">
                  <c:v>17</c:v>
                </c:pt>
                <c:pt idx="6">
                  <c:v>1</c:v>
                </c:pt>
                <c:pt idx="7">
                  <c:v>13</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0</c:v>
                </c:pt>
                <c:pt idx="1">
                  <c:v>4</c:v>
                </c:pt>
                <c:pt idx="2">
                  <c:v>9</c:v>
                </c:pt>
                <c:pt idx="3">
                  <c:v>19</c:v>
                </c:pt>
                <c:pt idx="4">
                  <c:v>14</c:v>
                </c:pt>
                <c:pt idx="5">
                  <c:v>6</c:v>
                </c:pt>
                <c:pt idx="6">
                  <c:v>1</c:v>
                </c:pt>
                <c:pt idx="7">
                  <c:v>16</c:v>
                </c:pt>
              </c:numCache>
            </c:numRef>
          </c:val>
          <c:extLst>
            <c:ext xmlns:c16="http://schemas.microsoft.com/office/drawing/2014/chart" uri="{C3380CC4-5D6E-409C-BE32-E72D297353CC}">
              <c16:uniqueId val="{00000000-EBC8-684C-8161-18B832E2650C}"/>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3</c:v>
                </c:pt>
                <c:pt idx="1">
                  <c:v>19</c:v>
                </c:pt>
                <c:pt idx="2">
                  <c:v>4</c:v>
                </c:pt>
                <c:pt idx="3">
                  <c:v>6</c:v>
                </c:pt>
                <c:pt idx="4">
                  <c:v>22</c:v>
                </c:pt>
                <c:pt idx="5">
                  <c:v>8</c:v>
                </c:pt>
                <c:pt idx="6">
                  <c:v>3</c:v>
                </c:pt>
                <c:pt idx="7">
                  <c:v>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3</c:v>
                </c:pt>
                <c:pt idx="1">
                  <c:v>23</c:v>
                </c:pt>
                <c:pt idx="2">
                  <c:v>3</c:v>
                </c:pt>
                <c:pt idx="3">
                  <c:v>14</c:v>
                </c:pt>
                <c:pt idx="4">
                  <c:v>33</c:v>
                </c:pt>
                <c:pt idx="5">
                  <c:v>6</c:v>
                </c:pt>
                <c:pt idx="6">
                  <c:v>1</c:v>
                </c:pt>
                <c:pt idx="7">
                  <c:v>3</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5</c:v>
                </c:pt>
                <c:pt idx="1">
                  <c:v>23</c:v>
                </c:pt>
                <c:pt idx="2">
                  <c:v>2</c:v>
                </c:pt>
                <c:pt idx="3">
                  <c:v>15</c:v>
                </c:pt>
                <c:pt idx="4">
                  <c:v>31</c:v>
                </c:pt>
                <c:pt idx="5">
                  <c:v>10</c:v>
                </c:pt>
                <c:pt idx="6">
                  <c:v>1</c:v>
                </c:pt>
                <c:pt idx="7">
                  <c:v>4</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4</c:v>
                </c:pt>
                <c:pt idx="1">
                  <c:v>4</c:v>
                </c:pt>
                <c:pt idx="2">
                  <c:v>4</c:v>
                </c:pt>
                <c:pt idx="3">
                  <c:v>25</c:v>
                </c:pt>
                <c:pt idx="4">
                  <c:v>31</c:v>
                </c:pt>
                <c:pt idx="5">
                  <c:v>3</c:v>
                </c:pt>
                <c:pt idx="6">
                  <c:v>1</c:v>
                </c:pt>
                <c:pt idx="7">
                  <c:v>2</c:v>
                </c:pt>
              </c:numCache>
            </c:numRef>
          </c:val>
          <c:extLst>
            <c:ext xmlns:c16="http://schemas.microsoft.com/office/drawing/2014/chart" uri="{C3380CC4-5D6E-409C-BE32-E72D297353CC}">
              <c16:uniqueId val="{00000000-2146-D84E-B9E7-8807836484F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6</c:v>
                </c:pt>
                <c:pt idx="1">
                  <c:v>16</c:v>
                </c:pt>
                <c:pt idx="2">
                  <c:v>1</c:v>
                </c:pt>
                <c:pt idx="3">
                  <c:v>9</c:v>
                </c:pt>
                <c:pt idx="4">
                  <c:v>20</c:v>
                </c:pt>
                <c:pt idx="5">
                  <c:v>11</c:v>
                </c:pt>
                <c:pt idx="6">
                  <c:v>0</c:v>
                </c:pt>
                <c:pt idx="7">
                  <c:v>1</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7</c:v>
                </c:pt>
                <c:pt idx="1">
                  <c:v>14</c:v>
                </c:pt>
                <c:pt idx="2">
                  <c:v>1</c:v>
                </c:pt>
                <c:pt idx="3">
                  <c:v>23</c:v>
                </c:pt>
                <c:pt idx="4">
                  <c:v>29</c:v>
                </c:pt>
                <c:pt idx="5">
                  <c:v>10</c:v>
                </c:pt>
                <c:pt idx="6">
                  <c:v>1</c:v>
                </c:pt>
                <c:pt idx="7">
                  <c:v>5</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10</c:v>
                </c:pt>
                <c:pt idx="1">
                  <c:v>14</c:v>
                </c:pt>
                <c:pt idx="2">
                  <c:v>0</c:v>
                </c:pt>
                <c:pt idx="3">
                  <c:v>21</c:v>
                </c:pt>
                <c:pt idx="4">
                  <c:v>21</c:v>
                </c:pt>
                <c:pt idx="5">
                  <c:v>6</c:v>
                </c:pt>
                <c:pt idx="6">
                  <c:v>0</c:v>
                </c:pt>
                <c:pt idx="7">
                  <c:v>18</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9</c:v>
                </c:pt>
                <c:pt idx="1">
                  <c:v>5</c:v>
                </c:pt>
                <c:pt idx="2">
                  <c:v>0</c:v>
                </c:pt>
                <c:pt idx="3">
                  <c:v>24</c:v>
                </c:pt>
                <c:pt idx="4">
                  <c:v>26</c:v>
                </c:pt>
                <c:pt idx="5">
                  <c:v>2</c:v>
                </c:pt>
                <c:pt idx="6">
                  <c:v>1</c:v>
                </c:pt>
                <c:pt idx="7">
                  <c:v>9</c:v>
                </c:pt>
              </c:numCache>
            </c:numRef>
          </c:val>
          <c:extLst>
            <c:ext xmlns:c16="http://schemas.microsoft.com/office/drawing/2014/chart" uri="{C3380CC4-5D6E-409C-BE32-E72D297353CC}">
              <c16:uniqueId val="{00000000-B492-1C4E-87B0-2E30F0B713B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16</c:v>
                </c:pt>
                <c:pt idx="1">
                  <c:v>7</c:v>
                </c:pt>
                <c:pt idx="2">
                  <c:v>0</c:v>
                </c:pt>
                <c:pt idx="3">
                  <c:v>9</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11</c:v>
                </c:pt>
                <c:pt idx="1">
                  <c:v>18</c:v>
                </c:pt>
                <c:pt idx="2">
                  <c:v>1</c:v>
                </c:pt>
                <c:pt idx="3">
                  <c:v>14</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20</c:v>
                </c:pt>
                <c:pt idx="1">
                  <c:v>11</c:v>
                </c:pt>
                <c:pt idx="2">
                  <c:v>0</c:v>
                </c:pt>
                <c:pt idx="3">
                  <c:v>14</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14</c:v>
                </c:pt>
                <c:pt idx="1">
                  <c:v>4</c:v>
                </c:pt>
                <c:pt idx="2">
                  <c:v>1</c:v>
                </c:pt>
                <c:pt idx="3">
                  <c:v>18</c:v>
                </c:pt>
              </c:numCache>
            </c:numRef>
          </c:val>
          <c:extLst>
            <c:ext xmlns:c16="http://schemas.microsoft.com/office/drawing/2014/chart" uri="{C3380CC4-5D6E-409C-BE32-E72D297353CC}">
              <c16:uniqueId val="{00000000-AD7C-8D41-A7F8-6D939B826D5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1">
                  <c:v>0.09</c:v>
                </c:pt>
                <c:pt idx="2">
                  <c:v>0.02</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6.0606060606060608E-2</c:v>
                </c:pt>
                <c:pt idx="1">
                  <c:v>0.11</c:v>
                </c:pt>
                <c:pt idx="2">
                  <c:v>0.11</c:v>
                </c:pt>
                <c:pt idx="3">
                  <c:v>2.6315789473684209E-2</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0.81818181818181834</c:v>
                </c:pt>
                <c:pt idx="1">
                  <c:v>0.76</c:v>
                </c:pt>
                <c:pt idx="2">
                  <c:v>0.83</c:v>
                </c:pt>
                <c:pt idx="3">
                  <c:v>0.81578947368421051</c:v>
                </c:pt>
              </c:numCache>
            </c:numRef>
          </c:val>
          <c:extLst>
            <c:ext xmlns:c16="http://schemas.microsoft.com/office/drawing/2014/chart" uri="{C3380CC4-5D6E-409C-BE32-E72D297353CC}">
              <c16:uniqueId val="{00000003-33C6-46D0-A451-9992BB76C127}"/>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0.88</c:v>
                </c:pt>
                <c:pt idx="1">
                  <c:v>0.96</c:v>
                </c:pt>
                <c:pt idx="2">
                  <c:v>0.96</c:v>
                </c:pt>
                <c:pt idx="3">
                  <c:v>0.85</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0.90909090909090906</c:v>
                </c:pt>
                <c:pt idx="1">
                  <c:v>9.0909090909090912E-2</c:v>
                </c:pt>
                <c:pt idx="2">
                  <c:v>0</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Q1 2025
(N=45)</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0.96</c:v>
                </c:pt>
                <c:pt idx="1">
                  <c:v>0.02</c:v>
                </c:pt>
                <c:pt idx="2">
                  <c:v>0.02</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Q2 2025
(N=46)</c:v>
                </c:pt>
              </c:strCache>
            </c:strRef>
          </c:tx>
          <c:spPr>
            <a:solidFill>
              <a:srgbClr val="00CC99"/>
            </a:solidFill>
          </c:spPr>
          <c:invertIfNegative val="0"/>
          <c:dLbls>
            <c:dLbl>
              <c:idx val="0"/>
              <c:layout>
                <c:manualLayout>
                  <c:x val="3.7593984962406013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Sheet1!$D$2:$D$4</c:f>
              <c:numCache>
                <c:formatCode>0%</c:formatCode>
                <c:ptCount val="3"/>
                <c:pt idx="0">
                  <c:v>0.98</c:v>
                </c:pt>
                <c:pt idx="1">
                  <c:v>0</c:v>
                </c:pt>
                <c:pt idx="2">
                  <c:v>0.02</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Q3 2025
(N=38)</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Sheet1!$E$2:$E$4</c:f>
              <c:numCache>
                <c:formatCode>0%</c:formatCode>
                <c:ptCount val="3"/>
                <c:pt idx="0">
                  <c:v>0.94736842105263153</c:v>
                </c:pt>
                <c:pt idx="1">
                  <c:v>0</c:v>
                </c:pt>
                <c:pt idx="2">
                  <c:v>0.05</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0">
                  <c:v>6.0606060606060608E-2</c:v>
                </c:pt>
                <c:pt idx="1">
                  <c:v>7.0000000000000007E-2</c:v>
                </c:pt>
                <c:pt idx="2">
                  <c:v>0.11</c:v>
                </c:pt>
                <c:pt idx="3">
                  <c:v>7.8947368421052627E-2</c:v>
                </c:pt>
                <c:pt idx="5">
                  <c:v>7.0000000000000007E-2</c:v>
                </c:pt>
                <c:pt idx="6">
                  <c:v>0.04</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0.15151515151515152</c:v>
                </c:pt>
                <c:pt idx="1">
                  <c:v>0.13</c:v>
                </c:pt>
                <c:pt idx="2">
                  <c:v>0.02</c:v>
                </c:pt>
                <c:pt idx="3">
                  <c:v>7.8947368421052627E-2</c:v>
                </c:pt>
                <c:pt idx="4">
                  <c:v>9.0909090909090925E-2</c:v>
                </c:pt>
                <c:pt idx="5">
                  <c:v>0.22</c:v>
                </c:pt>
                <c:pt idx="6">
                  <c:v>0.09</c:v>
                </c:pt>
                <c:pt idx="7">
                  <c:v>0.15789473684210525</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0.69696969696969702</c:v>
                </c:pt>
                <c:pt idx="1">
                  <c:v>0.71</c:v>
                </c:pt>
                <c:pt idx="2">
                  <c:v>0.76</c:v>
                </c:pt>
                <c:pt idx="3">
                  <c:v>0.78947368421052633</c:v>
                </c:pt>
                <c:pt idx="4">
                  <c:v>0.84848484848484851</c:v>
                </c:pt>
                <c:pt idx="5">
                  <c:v>0.64</c:v>
                </c:pt>
                <c:pt idx="6">
                  <c:v>0.85</c:v>
                </c:pt>
                <c:pt idx="7">
                  <c:v>0.84210526315789469</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0.90999999999999992</c:v>
                </c:pt>
                <c:pt idx="1">
                  <c:v>0.90999999999999992</c:v>
                </c:pt>
                <c:pt idx="2">
                  <c:v>0.89</c:v>
                </c:pt>
                <c:pt idx="3">
                  <c:v>0.94736842105263164</c:v>
                </c:pt>
                <c:pt idx="4">
                  <c:v>0.94</c:v>
                </c:pt>
                <c:pt idx="5">
                  <c:v>0.93</c:v>
                </c:pt>
                <c:pt idx="6">
                  <c:v>0.98</c:v>
                </c:pt>
                <c:pt idx="7">
                  <c:v>1</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0">
                  <c:v>9.0909090909090925E-2</c:v>
                </c:pt>
                <c:pt idx="1">
                  <c:v>0.04</c:v>
                </c:pt>
                <c:pt idx="2">
                  <c:v>0.04</c:v>
                </c:pt>
                <c:pt idx="3">
                  <c:v>2.6315789473684209E-2</c:v>
                </c:pt>
                <c:pt idx="4">
                  <c:v>3.03030303030303E-2</c:v>
                </c:pt>
                <c:pt idx="5">
                  <c:v>0.02</c:v>
                </c:pt>
                <c:pt idx="7">
                  <c:v>5.2631578947368418E-2</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1">
                  <c:v>7.0000000000000007E-2</c:v>
                </c:pt>
                <c:pt idx="2">
                  <c:v>0.15</c:v>
                </c:pt>
                <c:pt idx="3">
                  <c:v>0.18421052631578949</c:v>
                </c:pt>
                <c:pt idx="5">
                  <c:v>0.16</c:v>
                </c:pt>
                <c:pt idx="6">
                  <c:v>0.15</c:v>
                </c:pt>
                <c:pt idx="7">
                  <c:v>0.13157894736842099</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0.81818181818181834</c:v>
                </c:pt>
                <c:pt idx="1">
                  <c:v>0.84</c:v>
                </c:pt>
                <c:pt idx="2">
                  <c:v>0.76</c:v>
                </c:pt>
                <c:pt idx="3">
                  <c:v>0.76315789473684215</c:v>
                </c:pt>
                <c:pt idx="4">
                  <c:v>0.87878787878787878</c:v>
                </c:pt>
                <c:pt idx="5">
                  <c:v>0.76</c:v>
                </c:pt>
                <c:pt idx="6">
                  <c:v>0.8</c:v>
                </c:pt>
                <c:pt idx="7">
                  <c:v>0.76315789473684215</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0.90999999999999992</c:v>
                </c:pt>
                <c:pt idx="1">
                  <c:v>0.95</c:v>
                </c:pt>
                <c:pt idx="2">
                  <c:v>0.95</c:v>
                </c:pt>
                <c:pt idx="3">
                  <c:v>0.97368421052631582</c:v>
                </c:pt>
                <c:pt idx="4">
                  <c:v>0.91</c:v>
                </c:pt>
                <c:pt idx="5">
                  <c:v>0.94</c:v>
                </c:pt>
                <c:pt idx="6">
                  <c:v>0.95000000000000007</c:v>
                </c:pt>
                <c:pt idx="7">
                  <c:v>0.94</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0.04</c:v>
                </c:pt>
                <c:pt idx="2">
                  <c:v>0.02</c:v>
                </c:pt>
                <c:pt idx="3">
                  <c:v>7.8947368421052627E-2</c:v>
                </c:pt>
                <c:pt idx="4">
                  <c:v>3.03030303030303E-2</c:v>
                </c:pt>
                <c:pt idx="5">
                  <c:v>7.0000000000000007E-2</c:v>
                </c:pt>
                <c:pt idx="6">
                  <c:v>0.04</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9.0909090909090925E-2</c:v>
                </c:pt>
                <c:pt idx="1">
                  <c:v>0.13</c:v>
                </c:pt>
                <c:pt idx="2">
                  <c:v>7.0000000000000007E-2</c:v>
                </c:pt>
                <c:pt idx="3">
                  <c:v>0.10526315789473679</c:v>
                </c:pt>
                <c:pt idx="4">
                  <c:v>6.0606060606060608E-2</c:v>
                </c:pt>
                <c:pt idx="5">
                  <c:v>0.16</c:v>
                </c:pt>
                <c:pt idx="6">
                  <c:v>0.2</c:v>
                </c:pt>
                <c:pt idx="7">
                  <c:v>0.23684210526315791</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0.84848484848484851</c:v>
                </c:pt>
                <c:pt idx="1">
                  <c:v>0.73</c:v>
                </c:pt>
                <c:pt idx="2">
                  <c:v>0.89</c:v>
                </c:pt>
                <c:pt idx="3">
                  <c:v>0.81578947368421051</c:v>
                </c:pt>
                <c:pt idx="4">
                  <c:v>0.84848484848484851</c:v>
                </c:pt>
                <c:pt idx="5">
                  <c:v>0.71</c:v>
                </c:pt>
                <c:pt idx="6">
                  <c:v>0.7</c:v>
                </c:pt>
                <c:pt idx="7">
                  <c:v>0.65789473684210531</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c:v>
                </c:pt>
                <c:pt idx="2">
                  <c:v>0.98</c:v>
                </c:pt>
                <c:pt idx="3">
                  <c:v>1</c:v>
                </c:pt>
                <c:pt idx="4">
                  <c:v>0.94</c:v>
                </c:pt>
                <c:pt idx="5">
                  <c:v>0.94</c:v>
                </c:pt>
                <c:pt idx="6">
                  <c:v>0.94</c:v>
                </c:pt>
                <c:pt idx="7">
                  <c:v>0.9</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0.69696969696969702</c:v>
                </c:pt>
                <c:pt idx="1">
                  <c:v>6.0606060606060608E-2</c:v>
                </c:pt>
                <c:pt idx="2">
                  <c:v>0.2424242424242424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0.49</c:v>
                </c:pt>
                <c:pt idx="1">
                  <c:v>7.0000000000000007E-2</c:v>
                </c:pt>
                <c:pt idx="2">
                  <c:v>0.44</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0.72</c:v>
                </c:pt>
                <c:pt idx="1">
                  <c:v>0.02</c:v>
                </c:pt>
                <c:pt idx="2">
                  <c:v>0.26</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Q3 2025
(N=38)</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0.57894736842105265</c:v>
                </c:pt>
                <c:pt idx="1">
                  <c:v>7.8947368421052627E-2</c:v>
                </c:pt>
                <c:pt idx="2">
                  <c:v>0.34210526315789475</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23160055650938369"/>
          <c:y val="0"/>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(n=25)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0.84</c:v>
                </c:pt>
                <c:pt idx="1">
                  <c:v>0.16</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(n=25)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0.8</c:v>
                </c:pt>
                <c:pt idx="1">
                  <c:v>0.16</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Q2 2025
(n=34)</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0.94</c:v>
                </c:pt>
                <c:pt idx="1">
                  <c:v>0.06</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Q3 2025
(n=25)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0.92</c:v>
                </c:pt>
                <c:pt idx="1">
                  <c:v>0.08</c:v>
                </c:pt>
              </c:numCache>
            </c:numRef>
          </c:val>
          <c:extLst>
            <c:ext xmlns:c16="http://schemas.microsoft.com/office/drawing/2014/chart" uri="{C3380CC4-5D6E-409C-BE32-E72D297353CC}">
              <c16:uniqueId val="{00000000-AF88-4348-8696-5A67F3EFD30E}"/>
            </c:ext>
          </c:extLst>
        </c:ser>
        <c:dLbls>
          <c:dLblPos val="outEnd"/>
          <c:showLegendKey val="0"/>
          <c:showVal val="1"/>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33480255757504"/>
          <c:y val="1.348162984624785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0.04</c:v>
                </c:pt>
                <c:pt idx="2">
                  <c:v>0.02</c:v>
                </c:pt>
                <c:pt idx="4">
                  <c:v>9.0909090909090925E-2</c:v>
                </c:pt>
                <c:pt idx="5">
                  <c:v>7.0000000000000007E-2</c:v>
                </c:pt>
                <c:pt idx="6">
                  <c:v>0.04</c:v>
                </c:pt>
                <c:pt idx="7">
                  <c:v>5.2631578947368418E-2</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9.0909090909090925E-2</c:v>
                </c:pt>
                <c:pt idx="1">
                  <c:v>0.09</c:v>
                </c:pt>
                <c:pt idx="2">
                  <c:v>0.15</c:v>
                </c:pt>
                <c:pt idx="3">
                  <c:v>0.10526315789473679</c:v>
                </c:pt>
                <c:pt idx="4">
                  <c:v>6.0606060606060608E-2</c:v>
                </c:pt>
                <c:pt idx="5">
                  <c:v>0.16</c:v>
                </c:pt>
                <c:pt idx="6">
                  <c:v>0.13</c:v>
                </c:pt>
                <c:pt idx="7">
                  <c:v>0.10526315789473679</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0.84848484848484851</c:v>
                </c:pt>
                <c:pt idx="1">
                  <c:v>0.8</c:v>
                </c:pt>
                <c:pt idx="2">
                  <c:v>0.8</c:v>
                </c:pt>
                <c:pt idx="3">
                  <c:v>0.86842105263157898</c:v>
                </c:pt>
                <c:pt idx="4">
                  <c:v>0.78787878787878785</c:v>
                </c:pt>
                <c:pt idx="5">
                  <c:v>0.71</c:v>
                </c:pt>
                <c:pt idx="6">
                  <c:v>0.78</c:v>
                </c:pt>
                <c:pt idx="7">
                  <c:v>0.81578947368421051</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0.93</c:v>
                </c:pt>
                <c:pt idx="2">
                  <c:v>0.97</c:v>
                </c:pt>
                <c:pt idx="3">
                  <c:v>0.98</c:v>
                </c:pt>
                <c:pt idx="4">
                  <c:v>0.94000000000000006</c:v>
                </c:pt>
                <c:pt idx="5">
                  <c:v>0.94</c:v>
                </c:pt>
                <c:pt idx="6">
                  <c:v>0.95000000000000007</c:v>
                </c:pt>
                <c:pt idx="7">
                  <c:v>0.98</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0.04</c:v>
                </c:pt>
                <c:pt idx="3">
                  <c:v>2.6315789473684209E-2</c:v>
                </c:pt>
                <c:pt idx="4">
                  <c:v>3.03030303030303E-2</c:v>
                </c:pt>
                <c:pt idx="5">
                  <c:v>0.02</c:v>
                </c:pt>
                <c:pt idx="6">
                  <c:v>0.02</c:v>
                </c:pt>
                <c:pt idx="7">
                  <c:v>5.2631578947368418E-2</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9.0909090909090925E-2</c:v>
                </c:pt>
                <c:pt idx="1">
                  <c:v>0.16</c:v>
                </c:pt>
                <c:pt idx="2">
                  <c:v>0.17</c:v>
                </c:pt>
                <c:pt idx="3">
                  <c:v>5.2631578947368418E-2</c:v>
                </c:pt>
                <c:pt idx="4">
                  <c:v>3.03030303030303E-2</c:v>
                </c:pt>
                <c:pt idx="5">
                  <c:v>0.11</c:v>
                </c:pt>
                <c:pt idx="6">
                  <c:v>0.22</c:v>
                </c:pt>
                <c:pt idx="7">
                  <c:v>5.2631578947368418E-2</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0.84848484848484851</c:v>
                </c:pt>
                <c:pt idx="1">
                  <c:v>0.71</c:v>
                </c:pt>
                <c:pt idx="2">
                  <c:v>0.8</c:v>
                </c:pt>
                <c:pt idx="3">
                  <c:v>0.89473684210526316</c:v>
                </c:pt>
                <c:pt idx="4">
                  <c:v>0.87878787878787878</c:v>
                </c:pt>
                <c:pt idx="5">
                  <c:v>0.76</c:v>
                </c:pt>
                <c:pt idx="6">
                  <c:v>0.74</c:v>
                </c:pt>
                <c:pt idx="7">
                  <c:v>0.84210526315789469</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0.90999999999999992</c:v>
                </c:pt>
                <c:pt idx="2">
                  <c:v>0.97000000000000008</c:v>
                </c:pt>
                <c:pt idx="3">
                  <c:v>0.97368421052631582</c:v>
                </c:pt>
                <c:pt idx="4">
                  <c:v>0.94</c:v>
                </c:pt>
                <c:pt idx="5">
                  <c:v>0.89</c:v>
                </c:pt>
                <c:pt idx="6">
                  <c:v>0.98</c:v>
                </c:pt>
                <c:pt idx="7">
                  <c:v>0.94</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3.0303030303030304E-2</c:v>
                </c:pt>
                <c:pt idx="1">
                  <c:v>7.0000000000000007E-2</c:v>
                </c:pt>
                <c:pt idx="2">
                  <c:v>0.13</c:v>
                </c:pt>
                <c:pt idx="3">
                  <c:v>2.6315789473684209E-2</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9.0909090909090925E-2</c:v>
                </c:pt>
                <c:pt idx="1">
                  <c:v>0.22</c:v>
                </c:pt>
                <c:pt idx="2">
                  <c:v>0.17</c:v>
                </c:pt>
                <c:pt idx="3">
                  <c:v>7.8947368421052627E-2</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0.78787878787878785</c:v>
                </c:pt>
                <c:pt idx="1">
                  <c:v>0.6</c:v>
                </c:pt>
                <c:pt idx="2">
                  <c:v>0.65</c:v>
                </c:pt>
                <c:pt idx="3">
                  <c:v>0.76315789473684215</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0.91</c:v>
                </c:pt>
                <c:pt idx="1">
                  <c:v>0.89</c:v>
                </c:pt>
                <c:pt idx="2">
                  <c:v>0.95000000000000007</c:v>
                </c:pt>
                <c:pt idx="3">
                  <c:v>0.86842105263157898</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0.5757575757575758</c:v>
                </c:pt>
                <c:pt idx="1">
                  <c:v>0.15151515151515149</c:v>
                </c:pt>
                <c:pt idx="2">
                  <c:v>0.27272727272727271</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0.42</c:v>
                </c:pt>
                <c:pt idx="1">
                  <c:v>0.09</c:v>
                </c:pt>
                <c:pt idx="2">
                  <c:v>0.49</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0.52</c:v>
                </c:pt>
                <c:pt idx="1">
                  <c:v>0.09</c:v>
                </c:pt>
                <c:pt idx="2">
                  <c:v>0.39</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Q3 2025
(N=38)</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0.44736842105263158</c:v>
                </c:pt>
                <c:pt idx="1">
                  <c:v>5.2631578947368418E-2</c:v>
                </c:pt>
                <c:pt idx="2">
                  <c:v>0.5</c:v>
                </c:pt>
              </c:numCache>
            </c:numRef>
          </c:val>
          <c:extLst>
            <c:ext xmlns:c16="http://schemas.microsoft.com/office/drawing/2014/chart" uri="{C3380CC4-5D6E-409C-BE32-E72D297353CC}">
              <c16:uniqueId val="{00000000-A205-4F76-994F-922B6EF4212F}"/>
            </c:ext>
          </c:extLst>
        </c:ser>
        <c:dLbls>
          <c:dLblPos val="outEnd"/>
          <c:showLegendKey val="0"/>
          <c:showVal val="1"/>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Q4 2024
(n=24)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0.79166666666666663</c:v>
                </c:pt>
                <c:pt idx="1">
                  <c:v>0.20833333333333329</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(n=23)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0.78</c:v>
                </c:pt>
                <c:pt idx="1">
                  <c:v>0.09</c:v>
                </c:pt>
                <c:pt idx="2">
                  <c:v>0.13</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Q2 2025
(n=28)</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Sheet1!$D$2:$D$4</c:f>
              <c:numCache>
                <c:formatCode>0%</c:formatCode>
                <c:ptCount val="3"/>
                <c:pt idx="0">
                  <c:v>0.89</c:v>
                </c:pt>
                <c:pt idx="1">
                  <c:v>7.0000000000000007E-2</c:v>
                </c:pt>
                <c:pt idx="2">
                  <c:v>0.04</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Q3 2025
(n=19)</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0.84210526315789469</c:v>
                </c:pt>
                <c:pt idx="1">
                  <c:v>0.10526315789473679</c:v>
                </c:pt>
                <c:pt idx="2">
                  <c:v>5.2631578947368418E-2</c:v>
                </c:pt>
              </c:numCache>
            </c:numRef>
          </c:val>
          <c:extLst>
            <c:ext xmlns:c16="http://schemas.microsoft.com/office/drawing/2014/chart" uri="{C3380CC4-5D6E-409C-BE32-E72D297353CC}">
              <c16:uniqueId val="{00000001-9A02-4932-A087-5B84C8851181}"/>
            </c:ext>
          </c:extLst>
        </c:ser>
        <c:dLbls>
          <c:dLblPos val="outEnd"/>
          <c:showLegendKey val="0"/>
          <c:showVal val="1"/>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42764282754129418"/>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0.96969696969696972</c:v>
                </c:pt>
                <c:pt idx="1">
                  <c:v>3.03030303030303E-2</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0.96</c:v>
                </c:pt>
                <c:pt idx="1">
                  <c:v>0.04</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0.94</c:v>
                </c:pt>
                <c:pt idx="1">
                  <c:v>0.06</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Q3 2025
(N=38)</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0.97368421052631582</c:v>
                </c:pt>
                <c:pt idx="1">
                  <c:v>2.6315789473684209E-2</c:v>
                </c:pt>
              </c:numCache>
            </c:numRef>
          </c:val>
          <c:extLst>
            <c:ext xmlns:c16="http://schemas.microsoft.com/office/drawing/2014/chart" uri="{C3380CC4-5D6E-409C-BE32-E72D297353CC}">
              <c16:uniqueId val="{00000003-B3BC-4399-9949-26421AA520BC}"/>
            </c:ext>
          </c:extLst>
        </c:ser>
        <c:dLbls>
          <c:dLblPos val="outEnd"/>
          <c:showLegendKey val="0"/>
          <c:showVal val="1"/>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(N=43)</c:v>
                </c:pt>
                <c:pt idx="2">
                  <c:v>Q2 2025
(N=43)</c:v>
                </c:pt>
                <c:pt idx="3">
                  <c:v>Q3 2025
(N=38)</c:v>
                </c:pt>
              </c:strCache>
            </c:strRef>
          </c:cat>
          <c:val>
            <c:numRef>
              <c:f>Sheet1!$B$2:$B$5</c:f>
              <c:numCache>
                <c:formatCode>0%</c:formatCode>
                <c:ptCount val="4"/>
                <c:pt idx="0">
                  <c:v>0.1875</c:v>
                </c:pt>
                <c:pt idx="1">
                  <c:v>0.19</c:v>
                </c:pt>
                <c:pt idx="2">
                  <c:v>0.09</c:v>
                </c:pt>
                <c:pt idx="3">
                  <c:v>5.4054054054054057E-2</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(N=43)</c:v>
                </c:pt>
                <c:pt idx="2">
                  <c:v>Q2 2025
(N=43)</c:v>
                </c:pt>
                <c:pt idx="3">
                  <c:v>Q3 2025
(N=38)</c:v>
                </c:pt>
              </c:strCache>
            </c:strRef>
          </c:cat>
          <c:val>
            <c:numRef>
              <c:f>Sheet1!$C$2:$C$5</c:f>
              <c:numCache>
                <c:formatCode>0%</c:formatCode>
                <c:ptCount val="4"/>
                <c:pt idx="0">
                  <c:v>3.125E-2</c:v>
                </c:pt>
                <c:pt idx="1">
                  <c:v>0.09</c:v>
                </c:pt>
                <c:pt idx="2">
                  <c:v>0.12</c:v>
                </c:pt>
                <c:pt idx="3">
                  <c:v>0.13513513513513514</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(N=43)</c:v>
                </c:pt>
                <c:pt idx="2">
                  <c:v>Q2 2025
(N=43)</c:v>
                </c:pt>
                <c:pt idx="3">
                  <c:v>Q3 2025
(N=38)</c:v>
                </c:pt>
              </c:strCache>
            </c:strRef>
          </c:cat>
          <c:val>
            <c:numRef>
              <c:f>Sheet1!$D$2:$D$5</c:f>
              <c:numCache>
                <c:formatCode>0%</c:formatCode>
                <c:ptCount val="4"/>
                <c:pt idx="0">
                  <c:v>0.53125</c:v>
                </c:pt>
                <c:pt idx="1">
                  <c:v>0.49</c:v>
                </c:pt>
                <c:pt idx="2">
                  <c:v>0.56000000000000005</c:v>
                </c:pt>
                <c:pt idx="3">
                  <c:v>0.59459459459459463</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(N=43)</c:v>
                </c:pt>
                <c:pt idx="2">
                  <c:v>Q2 2025
(N=43)</c:v>
                </c:pt>
                <c:pt idx="3">
                  <c:v>Q3 2025
(N=38)</c:v>
                </c:pt>
              </c:strCache>
            </c:strRef>
          </c:cat>
          <c:val>
            <c:numRef>
              <c:f>Sheet1!$E$2:$E$5</c:f>
              <c:numCache>
                <c:formatCode>0%</c:formatCode>
                <c:ptCount val="4"/>
                <c:pt idx="0">
                  <c:v>0.56000000000000005</c:v>
                </c:pt>
                <c:pt idx="1">
                  <c:v>0.57999999999999996</c:v>
                </c:pt>
                <c:pt idx="2">
                  <c:v>0.68</c:v>
                </c:pt>
                <c:pt idx="3">
                  <c:v>0.78378378378378377</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9.0909090909090925E-2</c:v>
                </c:pt>
                <c:pt idx="1">
                  <c:v>0.13</c:v>
                </c:pt>
                <c:pt idx="2">
                  <c:v>0.09</c:v>
                </c:pt>
                <c:pt idx="3">
                  <c:v>7.8947368421052627E-2</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9.0909090909090925E-2</c:v>
                </c:pt>
                <c:pt idx="1">
                  <c:v>7.0000000000000007E-2</c:v>
                </c:pt>
                <c:pt idx="2">
                  <c:v>0.09</c:v>
                </c:pt>
                <c:pt idx="3">
                  <c:v>5.2631578947368418E-2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0.33333333333333331</c:v>
                </c:pt>
                <c:pt idx="1">
                  <c:v>0.28999999999999998</c:v>
                </c:pt>
                <c:pt idx="2">
                  <c:v>0.39</c:v>
                </c:pt>
                <c:pt idx="3">
                  <c:v>0.36842105263157893</c:v>
                </c:pt>
              </c:numCache>
            </c:numRef>
          </c:val>
          <c:extLst>
            <c:ext xmlns:c16="http://schemas.microsoft.com/office/drawing/2014/chart" uri="{C3380CC4-5D6E-409C-BE32-E72D297353CC}">
              <c16:uniqueId val="{00000003-9512-4180-AFC8-C9702FFCB6FC}"/>
            </c:ext>
          </c:extLst>
        </c:ser>
        <c:ser>
          <c:idx val="3"/>
          <c:order val="3"/>
          <c:tx>
            <c:strRef>
              <c:f>Sheet1!$E$1</c:f>
              <c:strCache>
                <c:ptCount val="1"/>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0.51</c:v>
                </c:pt>
                <c:pt idx="1">
                  <c:v>0.49</c:v>
                </c:pt>
                <c:pt idx="2">
                  <c:v>0.57000000000000006</c:v>
                </c:pt>
                <c:pt idx="3">
                  <c:v>0.5</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34156592268071745"/>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1">
                  <c:v>0.04</c:v>
                </c:pt>
                <c:pt idx="2">
                  <c:v>7.0000000000000007E-2</c:v>
                </c:pt>
                <c:pt idx="3">
                  <c:v>2.6315789473684209E-2</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1">
                  <c:v>7.0000000000000007E-2</c:v>
                </c:pt>
                <c:pt idx="2">
                  <c:v>0.04</c:v>
                </c:pt>
                <c:pt idx="3">
                  <c:v>5.2631578947368418E-2</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0.33</c:v>
                </c:pt>
                <c:pt idx="1">
                  <c:v>0.36</c:v>
                </c:pt>
                <c:pt idx="2">
                  <c:v>0.54</c:v>
                </c:pt>
                <c:pt idx="3">
                  <c:v>0.55263157894736847</c:v>
                </c:pt>
              </c:numCache>
            </c:numRef>
          </c:val>
          <c:extLst>
            <c:ext xmlns:c16="http://schemas.microsoft.com/office/drawing/2014/chart" uri="{C3380CC4-5D6E-409C-BE32-E72D297353CC}">
              <c16:uniqueId val="{00000002-D709-46B7-8D5F-DCA6F61C30BE}"/>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0.33</c:v>
                </c:pt>
                <c:pt idx="1">
                  <c:v>0.47</c:v>
                </c:pt>
                <c:pt idx="2">
                  <c:v>0.65</c:v>
                </c:pt>
                <c:pt idx="3">
                  <c:v>0.63157894736842113</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Q3 2025
(N=38)</c:v>
                </c:pt>
              </c:strCache>
            </c:strRef>
          </c:tx>
          <c:spPr>
            <a:solidFill>
              <a:schemeClr val="tx1"/>
            </a:solidFill>
            <a:ln w="21264">
              <a:noFill/>
            </a:ln>
          </c:spPr>
          <c:invertIfNegative val="0"/>
          <c:dLbls>
            <c:dLbl>
              <c:idx val="2"/>
              <c:layout>
                <c:manualLayout>
                  <c:x val="-3.402144788292867E-17"/>
                  <c:y val="3.586236926295630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248-3442-9046-E304B31503DA}"/>
                </c:ext>
              </c:extLst>
            </c:dLbl>
            <c:dLbl>
              <c:idx val="5"/>
              <c:layout>
                <c:manualLayout>
                  <c:x val="-3.402144788292867E-17"/>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248-3442-9046-E304B31503DA}"/>
                </c:ext>
              </c:extLst>
            </c:dLbl>
            <c:dLbl>
              <c:idx val="8"/>
              <c:layout>
                <c:manualLayout>
                  <c:x val="0"/>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248-3442-9046-E304B31503DA}"/>
                </c:ext>
              </c:extLst>
            </c:dLbl>
            <c:dLbl>
              <c:idx val="11"/>
              <c:layout>
                <c:manualLayout>
                  <c:x val="-5.5672103293523643E-3"/>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248-3442-9046-E304B31503DA}"/>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All other</c:v>
                </c:pt>
                <c:pt idx="1">
                  <c:v>Do not know</c:v>
                </c:pt>
                <c:pt idx="2">
                  <c:v>Referred</c:v>
                </c:pt>
                <c:pt idx="3">
                  <c:v>I called them</c:v>
                </c:pt>
                <c:pt idx="4">
                  <c:v>Utility Contact Center </c:v>
                </c:pt>
                <c:pt idx="5">
                  <c:v>Email</c:v>
                </c:pt>
                <c:pt idx="6">
                  <c:v>Utility Contact Center</c:v>
                </c:pt>
                <c:pt idx="7">
                  <c:v>Austin 311</c:v>
                </c:pt>
                <c:pt idx="8">
                  <c:v>Utility bill insert/mail</c:v>
                </c:pt>
                <c:pt idx="9">
                  <c:v>Neighborhood event</c:v>
                </c:pt>
                <c:pt idx="10">
                  <c:v>Social sevice agency referral</c:v>
                </c:pt>
                <c:pt idx="11">
                  <c:v>Word of mouth</c:v>
                </c:pt>
                <c:pt idx="12">
                  <c:v>On City's website</c:v>
                </c:pt>
              </c:strCache>
            </c:strRef>
          </c:cat>
          <c:val>
            <c:numRef>
              <c:f>Sheet1!$B$2:$B$14</c:f>
              <c:numCache>
                <c:formatCode>0%</c:formatCode>
                <c:ptCount val="13"/>
                <c:pt idx="0">
                  <c:v>0</c:v>
                </c:pt>
                <c:pt idx="1">
                  <c:v>0</c:v>
                </c:pt>
                <c:pt idx="2">
                  <c:v>0</c:v>
                </c:pt>
                <c:pt idx="3">
                  <c:v>0</c:v>
                </c:pt>
                <c:pt idx="4">
                  <c:v>0</c:v>
                </c:pt>
                <c:pt idx="5">
                  <c:v>2.6315789473684209E-2</c:v>
                </c:pt>
                <c:pt idx="6">
                  <c:v>2.6315789473684209E-2</c:v>
                </c:pt>
                <c:pt idx="7">
                  <c:v>5.2631578947368418E-2</c:v>
                </c:pt>
                <c:pt idx="8">
                  <c:v>5.2631578947368418E-2</c:v>
                </c:pt>
                <c:pt idx="9">
                  <c:v>7.8947368421052627E-2</c:v>
                </c:pt>
                <c:pt idx="10">
                  <c:v>7.8947368421052627E-2</c:v>
                </c:pt>
                <c:pt idx="11">
                  <c:v>7.8947368421052627E-2</c:v>
                </c:pt>
                <c:pt idx="12">
                  <c:v>0.10526315789473679</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Q2 2025
(N=46)</c:v>
                </c:pt>
              </c:strCache>
            </c:strRef>
          </c:tx>
          <c:spPr>
            <a:solidFill>
              <a:srgbClr val="00CC99"/>
            </a:solidFill>
          </c:spPr>
          <c:invertIfNegative val="0"/>
          <c:dLbls>
            <c:dLbl>
              <c:idx val="0"/>
              <c:layout>
                <c:manualLayout>
                  <c:x val="1.2990157435155516E-2"/>
                  <c:y val="-1.3149383493617114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248-3442-9046-E304B31503DA}"/>
                </c:ext>
              </c:extLst>
            </c:dLbl>
            <c:dLbl>
              <c:idx val="1"/>
              <c:layout>
                <c:manualLayout>
                  <c:x val="2.2268841317409388E-2"/>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248-3442-9046-E304B31503DA}"/>
                </c:ext>
              </c:extLst>
            </c:dLbl>
            <c:dLbl>
              <c:idx val="2"/>
              <c:layout>
                <c:manualLayout>
                  <c:x val="1.670163098805709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248-3442-9046-E304B31503DA}"/>
                </c:ext>
              </c:extLst>
            </c:dLbl>
            <c:dLbl>
              <c:idx val="8"/>
              <c:layout>
                <c:manualLayout>
                  <c:x val="7.4229471058031181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248-3442-9046-E304B31503DA}"/>
                </c:ext>
              </c:extLst>
            </c:dLbl>
            <c:dLbl>
              <c:idx val="11"/>
              <c:layout>
                <c:manualLayout>
                  <c:x val="0"/>
                  <c:y val="5.379355389443446E-3"/>
                </c:manualLayout>
              </c:layout>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5.2378097454820478E-2"/>
                      <c:h val="2.1329497095218686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All other</c:v>
                </c:pt>
                <c:pt idx="1">
                  <c:v>Do not know</c:v>
                </c:pt>
                <c:pt idx="2">
                  <c:v>Referred</c:v>
                </c:pt>
                <c:pt idx="3">
                  <c:v>I called them</c:v>
                </c:pt>
                <c:pt idx="4">
                  <c:v>Utility Contact Center </c:v>
                </c:pt>
                <c:pt idx="5">
                  <c:v>Email</c:v>
                </c:pt>
                <c:pt idx="6">
                  <c:v>Utility Contact Center</c:v>
                </c:pt>
                <c:pt idx="7">
                  <c:v>Austin 311</c:v>
                </c:pt>
                <c:pt idx="8">
                  <c:v>Utility bill insert/mail</c:v>
                </c:pt>
                <c:pt idx="9">
                  <c:v>Neighborhood event</c:v>
                </c:pt>
                <c:pt idx="10">
                  <c:v>Social sevice agency referral</c:v>
                </c:pt>
                <c:pt idx="11">
                  <c:v>Word of mouth</c:v>
                </c:pt>
                <c:pt idx="12">
                  <c:v>On City's website</c:v>
                </c:pt>
              </c:strCache>
            </c:strRef>
          </c:cat>
          <c:val>
            <c:numRef>
              <c:f>Sheet1!$C$2:$C$14</c:f>
              <c:numCache>
                <c:formatCode>0%</c:formatCode>
                <c:ptCount val="13"/>
                <c:pt idx="0">
                  <c:v>2.1739130434782612E-2</c:v>
                </c:pt>
                <c:pt idx="1">
                  <c:v>2.1739130434782612E-2</c:v>
                </c:pt>
                <c:pt idx="2">
                  <c:v>0</c:v>
                </c:pt>
                <c:pt idx="3">
                  <c:v>0</c:v>
                </c:pt>
                <c:pt idx="4">
                  <c:v>0</c:v>
                </c:pt>
                <c:pt idx="5">
                  <c:v>2.1739130434782612E-2</c:v>
                </c:pt>
                <c:pt idx="6">
                  <c:v>8.6956521739130432E-2</c:v>
                </c:pt>
                <c:pt idx="7">
                  <c:v>0</c:v>
                </c:pt>
                <c:pt idx="8">
                  <c:v>2.1739130434782612E-2</c:v>
                </c:pt>
                <c:pt idx="9">
                  <c:v>0.108695652173913</c:v>
                </c:pt>
                <c:pt idx="10">
                  <c:v>0</c:v>
                </c:pt>
                <c:pt idx="11">
                  <c:v>0.108695652173913</c:v>
                </c:pt>
                <c:pt idx="12">
                  <c:v>0.2608695652173913</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Q1 2025
(N=45)</c:v>
                </c:pt>
              </c:strCache>
            </c:strRef>
          </c:tx>
          <c:spPr>
            <a:solidFill>
              <a:srgbClr val="3233CC"/>
            </a:solidFill>
          </c:spPr>
          <c:invertIfNegative val="0"/>
          <c:dLbls>
            <c:dLbl>
              <c:idx val="1"/>
              <c:layout>
                <c:manualLayout>
                  <c:x val="1.2990157435155516E-2"/>
                  <c:y val="-1.793118463147815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248-3442-9046-E304B31503DA}"/>
                </c:ext>
              </c:extLst>
            </c:dLbl>
            <c:dLbl>
              <c:idx val="2"/>
              <c:layout>
                <c:manualLayout>
                  <c:x val="2.0413104540958668E-2"/>
                  <c:y val="-1.793118463147815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248-3442-9046-E304B31503DA}"/>
                </c:ext>
              </c:extLst>
            </c:dLbl>
            <c:dLbl>
              <c:idx val="5"/>
              <c:layout>
                <c:manualLayout>
                  <c:x val="1.2990157435155516E-2"/>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248-3442-9046-E304B31503DA}"/>
                </c:ext>
              </c:extLst>
            </c:dLbl>
            <c:dLbl>
              <c:idx val="8"/>
              <c:layout>
                <c:manualLayout>
                  <c:x val="5.5672103293523643E-3"/>
                  <c:y val="-5.37935538944351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248-3442-9046-E304B31503DA}"/>
                </c:ext>
              </c:extLst>
            </c:dLbl>
            <c:dLbl>
              <c:idx val="10"/>
              <c:layout>
                <c:manualLayout>
                  <c:x val="1.1134420658704729E-2"/>
                  <c:y val="-3.2873458734042784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248-3442-9046-E304B31503DA}"/>
                </c:ext>
              </c:extLst>
            </c:dLbl>
            <c:dLbl>
              <c:idx val="12"/>
              <c:layout>
                <c:manualLayout>
                  <c:x val="5.5672103293522958E-3"/>
                  <c:y val="-3.586236926295630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248-3442-9046-E304B31503DA}"/>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All other</c:v>
                </c:pt>
                <c:pt idx="1">
                  <c:v>Do not know</c:v>
                </c:pt>
                <c:pt idx="2">
                  <c:v>Referred</c:v>
                </c:pt>
                <c:pt idx="3">
                  <c:v>I called them</c:v>
                </c:pt>
                <c:pt idx="4">
                  <c:v>Utility Contact Center </c:v>
                </c:pt>
                <c:pt idx="5">
                  <c:v>Email</c:v>
                </c:pt>
                <c:pt idx="6">
                  <c:v>Utility Contact Center</c:v>
                </c:pt>
                <c:pt idx="7">
                  <c:v>Austin 311</c:v>
                </c:pt>
                <c:pt idx="8">
                  <c:v>Utility bill insert/mail</c:v>
                </c:pt>
                <c:pt idx="9">
                  <c:v>Neighborhood event</c:v>
                </c:pt>
                <c:pt idx="10">
                  <c:v>Social sevice agency referral</c:v>
                </c:pt>
                <c:pt idx="11">
                  <c:v>Word of mouth</c:v>
                </c:pt>
                <c:pt idx="12">
                  <c:v>On City's website</c:v>
                </c:pt>
              </c:strCache>
            </c:strRef>
          </c:cat>
          <c:val>
            <c:numRef>
              <c:f>Sheet1!$D$2:$D$14</c:f>
              <c:numCache>
                <c:formatCode>0%</c:formatCode>
                <c:ptCount val="13"/>
                <c:pt idx="0">
                  <c:v>0</c:v>
                </c:pt>
                <c:pt idx="1">
                  <c:v>2.222222222222222E-2</c:v>
                </c:pt>
                <c:pt idx="2">
                  <c:v>2.222222222222222E-2</c:v>
                </c:pt>
                <c:pt idx="3">
                  <c:v>0</c:v>
                </c:pt>
                <c:pt idx="4">
                  <c:v>0</c:v>
                </c:pt>
                <c:pt idx="5">
                  <c:v>2.222222222222222E-2</c:v>
                </c:pt>
                <c:pt idx="6">
                  <c:v>4.4444444444444453E-2</c:v>
                </c:pt>
                <c:pt idx="7">
                  <c:v>0</c:v>
                </c:pt>
                <c:pt idx="8">
                  <c:v>4.4444444444444453E-2</c:v>
                </c:pt>
                <c:pt idx="9">
                  <c:v>2.222222222222222E-2</c:v>
                </c:pt>
                <c:pt idx="10">
                  <c:v>2.222222222222222E-2</c:v>
                </c:pt>
                <c:pt idx="11">
                  <c:v>0.15555555555555561</c:v>
                </c:pt>
                <c:pt idx="12">
                  <c:v>8.8888888888888892E-2</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Q4 2024
(N=33)</c:v>
                </c:pt>
              </c:strCache>
            </c:strRef>
          </c:tx>
          <c:spPr>
            <a:solidFill>
              <a:srgbClr val="FFC003"/>
            </a:solidFill>
          </c:spPr>
          <c:invertIfNegative val="0"/>
          <c:dLbls>
            <c:dLbl>
              <c:idx val="11"/>
              <c:layout>
                <c:manualLayout>
                  <c:x val="-5.5672103293523643E-3"/>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248-3442-9046-E304B31503DA}"/>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All other</c:v>
                </c:pt>
                <c:pt idx="1">
                  <c:v>Do not know</c:v>
                </c:pt>
                <c:pt idx="2">
                  <c:v>Referred</c:v>
                </c:pt>
                <c:pt idx="3">
                  <c:v>I called them</c:v>
                </c:pt>
                <c:pt idx="4">
                  <c:v>Utility Contact Center </c:v>
                </c:pt>
                <c:pt idx="5">
                  <c:v>Email</c:v>
                </c:pt>
                <c:pt idx="6">
                  <c:v>Utility Contact Center</c:v>
                </c:pt>
                <c:pt idx="7">
                  <c:v>Austin 311</c:v>
                </c:pt>
                <c:pt idx="8">
                  <c:v>Utility bill insert/mail</c:v>
                </c:pt>
                <c:pt idx="9">
                  <c:v>Neighborhood event</c:v>
                </c:pt>
                <c:pt idx="10">
                  <c:v>Social sevice agency referral</c:v>
                </c:pt>
                <c:pt idx="11">
                  <c:v>Word of mouth</c:v>
                </c:pt>
                <c:pt idx="12">
                  <c:v>On City's website</c:v>
                </c:pt>
              </c:strCache>
            </c:strRef>
          </c:cat>
          <c:val>
            <c:numRef>
              <c:f>Sheet1!$E$2:$E$14</c:f>
              <c:numCache>
                <c:formatCode>0%</c:formatCode>
                <c:ptCount val="13"/>
                <c:pt idx="0">
                  <c:v>0</c:v>
                </c:pt>
                <c:pt idx="1">
                  <c:v>0</c:v>
                </c:pt>
                <c:pt idx="2">
                  <c:v>0</c:v>
                </c:pt>
                <c:pt idx="3">
                  <c:v>0.06</c:v>
                </c:pt>
                <c:pt idx="4">
                  <c:v>0.18</c:v>
                </c:pt>
                <c:pt idx="5">
                  <c:v>0</c:v>
                </c:pt>
                <c:pt idx="6">
                  <c:v>0</c:v>
                </c:pt>
                <c:pt idx="7">
                  <c:v>0</c:v>
                </c:pt>
                <c:pt idx="8">
                  <c:v>0</c:v>
                </c:pt>
                <c:pt idx="9">
                  <c:v>0</c:v>
                </c:pt>
                <c:pt idx="10">
                  <c:v>0</c:v>
                </c:pt>
                <c:pt idx="11">
                  <c:v>0.09</c:v>
                </c:pt>
                <c:pt idx="12">
                  <c:v>0</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Q4 2024
(N=33)</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Friends/family/word-of-mouth</c:v>
                </c:pt>
                <c:pt idx="1">
                  <c:v>Austin Energy's website</c:v>
                </c:pt>
                <c:pt idx="2">
                  <c:v>AE Customer Assistance Program (CAPS)</c:v>
                </c:pt>
                <c:pt idx="3">
                  <c:v>Mall advertisement</c:v>
                </c:pt>
                <c:pt idx="4">
                  <c:v>Radio</c:v>
                </c:pt>
                <c:pt idx="5">
                  <c:v>Contractors</c:v>
                </c:pt>
                <c:pt idx="6">
                  <c:v>On City’s website</c:v>
                </c:pt>
                <c:pt idx="7">
                  <c:v>Utility bill inserts</c:v>
                </c:pt>
                <c:pt idx="8">
                  <c:v>Newspaper advertisement</c:v>
                </c:pt>
                <c:pt idx="9">
                  <c:v>Television</c:v>
                </c:pt>
                <c:pt idx="10">
                  <c:v>All other</c:v>
                </c:pt>
              </c:strCache>
            </c:strRef>
          </c:cat>
          <c:val>
            <c:numRef>
              <c:f>Sheet1!$B$2:$B$12</c:f>
              <c:numCache>
                <c:formatCode>0%</c:formatCode>
                <c:ptCount val="11"/>
                <c:pt idx="0">
                  <c:v>0.48</c:v>
                </c:pt>
                <c:pt idx="1">
                  <c:v>0.09</c:v>
                </c:pt>
                <c:pt idx="2">
                  <c:v>0</c:v>
                </c:pt>
                <c:pt idx="3">
                  <c:v>0</c:v>
                </c:pt>
                <c:pt idx="4">
                  <c:v>0.03</c:v>
                </c:pt>
                <c:pt idx="5">
                  <c:v>0</c:v>
                </c:pt>
                <c:pt idx="6">
                  <c:v>0</c:v>
                </c:pt>
                <c:pt idx="7">
                  <c:v>0.03</c:v>
                </c:pt>
                <c:pt idx="8">
                  <c:v>0.03</c:v>
                </c:pt>
                <c:pt idx="9">
                  <c:v>0</c:v>
                </c:pt>
                <c:pt idx="10">
                  <c:v>0.33</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Q1 2025
(N=45)</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Sheet1!$A$2:$A$12</c:f>
              <c:strCache>
                <c:ptCount val="11"/>
                <c:pt idx="0">
                  <c:v>Friends/family/word-of-mouth</c:v>
                </c:pt>
                <c:pt idx="1">
                  <c:v>Austin Energy's website</c:v>
                </c:pt>
                <c:pt idx="2">
                  <c:v>AE Customer Assistance Program (CAPS)</c:v>
                </c:pt>
                <c:pt idx="3">
                  <c:v>Mall advertisement</c:v>
                </c:pt>
                <c:pt idx="4">
                  <c:v>Radio</c:v>
                </c:pt>
                <c:pt idx="5">
                  <c:v>Contractors</c:v>
                </c:pt>
                <c:pt idx="6">
                  <c:v>On City’s website</c:v>
                </c:pt>
                <c:pt idx="7">
                  <c:v>Utility bill inserts</c:v>
                </c:pt>
                <c:pt idx="8">
                  <c:v>Newspaper advertisement</c:v>
                </c:pt>
                <c:pt idx="9">
                  <c:v>Television</c:v>
                </c:pt>
                <c:pt idx="10">
                  <c:v>All other</c:v>
                </c:pt>
              </c:strCache>
            </c:strRef>
          </c:cat>
          <c:val>
            <c:numRef>
              <c:f>Sheet1!$C$2:$C$12</c:f>
              <c:numCache>
                <c:formatCode>0%</c:formatCode>
                <c:ptCount val="11"/>
                <c:pt idx="0">
                  <c:v>0.4</c:v>
                </c:pt>
                <c:pt idx="1">
                  <c:v>0.4</c:v>
                </c:pt>
                <c:pt idx="2">
                  <c:v>0</c:v>
                </c:pt>
                <c:pt idx="3">
                  <c:v>0</c:v>
                </c:pt>
                <c:pt idx="4">
                  <c:v>0</c:v>
                </c:pt>
                <c:pt idx="5">
                  <c:v>7.0000000000000007E-2</c:v>
                </c:pt>
                <c:pt idx="6">
                  <c:v>0</c:v>
                </c:pt>
                <c:pt idx="7">
                  <c:v>0.2</c:v>
                </c:pt>
                <c:pt idx="8">
                  <c:v>0</c:v>
                </c:pt>
                <c:pt idx="9">
                  <c:v>0.02</c:v>
                </c:pt>
                <c:pt idx="10">
                  <c:v>7.0000000000000007E-2</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Friends/family/word-of-mouth</c:v>
                </c:pt>
                <c:pt idx="1">
                  <c:v>Austin Energy's website</c:v>
                </c:pt>
                <c:pt idx="2">
                  <c:v>AE Customer Assistance Program (CAPS)</c:v>
                </c:pt>
                <c:pt idx="3">
                  <c:v>Mall advertisement</c:v>
                </c:pt>
                <c:pt idx="4">
                  <c:v>Radio</c:v>
                </c:pt>
                <c:pt idx="5">
                  <c:v>Contractors</c:v>
                </c:pt>
                <c:pt idx="6">
                  <c:v>On City’s website</c:v>
                </c:pt>
                <c:pt idx="7">
                  <c:v>Utility bill inserts</c:v>
                </c:pt>
                <c:pt idx="8">
                  <c:v>Newspaper advertisement</c:v>
                </c:pt>
                <c:pt idx="9">
                  <c:v>Television</c:v>
                </c:pt>
                <c:pt idx="10">
                  <c:v>All other</c:v>
                </c:pt>
              </c:strCache>
            </c:strRef>
          </c:cat>
          <c:val>
            <c:numRef>
              <c:f>Sheet1!$D$2:$D$12</c:f>
              <c:numCache>
                <c:formatCode>0%</c:formatCode>
                <c:ptCount val="11"/>
                <c:pt idx="0">
                  <c:v>0.26</c:v>
                </c:pt>
                <c:pt idx="1">
                  <c:v>0.24</c:v>
                </c:pt>
                <c:pt idx="2">
                  <c:v>0.02</c:v>
                </c:pt>
                <c:pt idx="3">
                  <c:v>0</c:v>
                </c:pt>
                <c:pt idx="4">
                  <c:v>0</c:v>
                </c:pt>
                <c:pt idx="5">
                  <c:v>0.02</c:v>
                </c:pt>
                <c:pt idx="6">
                  <c:v>0</c:v>
                </c:pt>
                <c:pt idx="7">
                  <c:v>0.17</c:v>
                </c:pt>
                <c:pt idx="8">
                  <c:v>0</c:v>
                </c:pt>
                <c:pt idx="9">
                  <c:v>0</c:v>
                </c:pt>
                <c:pt idx="10">
                  <c:v>0.21</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Friends/family/word-of-mouth</c:v>
                </c:pt>
                <c:pt idx="1">
                  <c:v>Austin Energy's website</c:v>
                </c:pt>
                <c:pt idx="2">
                  <c:v>AE Customer Assistance Program (CAPS)</c:v>
                </c:pt>
                <c:pt idx="3">
                  <c:v>Mall advertisement</c:v>
                </c:pt>
                <c:pt idx="4">
                  <c:v>Radio</c:v>
                </c:pt>
                <c:pt idx="5">
                  <c:v>Contractors</c:v>
                </c:pt>
                <c:pt idx="6">
                  <c:v>On City’s website</c:v>
                </c:pt>
                <c:pt idx="7">
                  <c:v>Utility bill inserts</c:v>
                </c:pt>
                <c:pt idx="8">
                  <c:v>Newspaper advertisement</c:v>
                </c:pt>
                <c:pt idx="9">
                  <c:v>Television</c:v>
                </c:pt>
                <c:pt idx="10">
                  <c:v>All other</c:v>
                </c:pt>
              </c:strCache>
            </c:strRef>
          </c:cat>
          <c:val>
            <c:numRef>
              <c:f>Sheet1!$E$2:$E$12</c:f>
              <c:numCache>
                <c:formatCode>0%</c:formatCode>
                <c:ptCount val="11"/>
                <c:pt idx="0">
                  <c:v>0.31578947368421051</c:v>
                </c:pt>
                <c:pt idx="1">
                  <c:v>0.23684210526315788</c:v>
                </c:pt>
                <c:pt idx="2">
                  <c:v>0.10526315789473684</c:v>
                </c:pt>
                <c:pt idx="3">
                  <c:v>7.8947368421052627E-2</c:v>
                </c:pt>
                <c:pt idx="4">
                  <c:v>2.6315789473684209E-2</c:v>
                </c:pt>
                <c:pt idx="5">
                  <c:v>2.6315789473684209E-2</c:v>
                </c:pt>
                <c:pt idx="6">
                  <c:v>2.6315789473684209E-2</c:v>
                </c:pt>
                <c:pt idx="7">
                  <c:v>0</c:v>
                </c:pt>
                <c:pt idx="8">
                  <c:v>0</c:v>
                </c:pt>
                <c:pt idx="9">
                  <c:v>0</c:v>
                </c:pt>
                <c:pt idx="10">
                  <c:v>0.34210526315789475</c:v>
                </c:pt>
              </c:numCache>
            </c:numRef>
          </c:val>
          <c:extLst>
            <c:ext xmlns:c16="http://schemas.microsoft.com/office/drawing/2014/chart" uri="{C3380CC4-5D6E-409C-BE32-E72D297353CC}">
              <c16:uniqueId val="{00000000-CD8B-1641-BBD5-074FC08BDAA9}"/>
            </c:ext>
          </c:extLst>
        </c:ser>
        <c:dLbls>
          <c:dLblPos val="outEnd"/>
          <c:showLegendKey val="0"/>
          <c:showVal val="1"/>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64406273560763"/>
          <c:h val="4.761529808773903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2151270424362749"/>
          <c:y val="0.14592833876221498"/>
          <c:w val="0.64185411075724963"/>
          <c:h val="0.78987714483572291"/>
        </c:manualLayout>
      </c:layout>
      <c:barChart>
        <c:barDir val="bar"/>
        <c:grouping val="clustered"/>
        <c:varyColors val="0"/>
        <c:ser>
          <c:idx val="0"/>
          <c:order val="0"/>
          <c:tx>
            <c:strRef>
              <c:f>Sheet1!$B$1</c:f>
              <c:strCache>
                <c:ptCount val="1"/>
                <c:pt idx="0">
                  <c:v>Q4 2024
(N=33)</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Sheet1!$B$2:$B$10</c:f>
              <c:numCache>
                <c:formatCode>0%</c:formatCode>
                <c:ptCount val="9"/>
                <c:pt idx="0">
                  <c:v>0.75757575757575757</c:v>
                </c:pt>
                <c:pt idx="1">
                  <c:v>0.45454545454545453</c:v>
                </c:pt>
                <c:pt idx="2">
                  <c:v>9.0909090909090925E-2</c:v>
                </c:pt>
                <c:pt idx="3">
                  <c:v>0.12121212121212122</c:v>
                </c:pt>
                <c:pt idx="4">
                  <c:v>0</c:v>
                </c:pt>
                <c:pt idx="5">
                  <c:v>0</c:v>
                </c:pt>
                <c:pt idx="6">
                  <c:v>3.0303030303030304E-2</c:v>
                </c:pt>
                <c:pt idx="7">
                  <c:v>0.24242424242424243</c:v>
                </c:pt>
                <c:pt idx="8">
                  <c:v>5.2631578947368418E-2</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Q1 2025
(N=45)</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Sheet1!$C$2:$C$10</c:f>
              <c:numCache>
                <c:formatCode>0%</c:formatCode>
                <c:ptCount val="9"/>
                <c:pt idx="0">
                  <c:v>0.71</c:v>
                </c:pt>
                <c:pt idx="1">
                  <c:v>0.38</c:v>
                </c:pt>
                <c:pt idx="2">
                  <c:v>0.44</c:v>
                </c:pt>
                <c:pt idx="3">
                  <c:v>0.36</c:v>
                </c:pt>
                <c:pt idx="4">
                  <c:v>0</c:v>
                </c:pt>
                <c:pt idx="5">
                  <c:v>0</c:v>
                </c:pt>
                <c:pt idx="6">
                  <c:v>0.09</c:v>
                </c:pt>
                <c:pt idx="7">
                  <c:v>7.0000000000000007E-2</c:v>
                </c:pt>
                <c:pt idx="8">
                  <c:v>0</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Q2 2025
(N=46)</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Sheet1!$D$2:$D$10</c:f>
              <c:numCache>
                <c:formatCode>0%</c:formatCode>
                <c:ptCount val="9"/>
                <c:pt idx="0">
                  <c:v>0.59</c:v>
                </c:pt>
                <c:pt idx="1">
                  <c:v>0.3</c:v>
                </c:pt>
                <c:pt idx="2">
                  <c:v>0.41</c:v>
                </c:pt>
                <c:pt idx="3">
                  <c:v>0.22</c:v>
                </c:pt>
                <c:pt idx="4">
                  <c:v>0</c:v>
                </c:pt>
                <c:pt idx="5">
                  <c:v>0</c:v>
                </c:pt>
                <c:pt idx="6">
                  <c:v>7.0000000000000007E-2</c:v>
                </c:pt>
                <c:pt idx="7">
                  <c:v>0.15</c:v>
                </c:pt>
                <c:pt idx="8">
                  <c:v>0.14000000000000001</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Sheet1!$E$2:$E$10</c:f>
              <c:numCache>
                <c:formatCode>0%</c:formatCode>
                <c:ptCount val="9"/>
                <c:pt idx="0">
                  <c:v>0.68421052631578949</c:v>
                </c:pt>
                <c:pt idx="1">
                  <c:v>0.26315789473684209</c:v>
                </c:pt>
                <c:pt idx="2">
                  <c:v>0.23684210526315788</c:v>
                </c:pt>
                <c:pt idx="3">
                  <c:v>0.21052631578947367</c:v>
                </c:pt>
                <c:pt idx="4">
                  <c:v>0.15789473684210525</c:v>
                </c:pt>
                <c:pt idx="5">
                  <c:v>7.8947368421052627E-2</c:v>
                </c:pt>
                <c:pt idx="6">
                  <c:v>2.6315789473684209E-2</c:v>
                </c:pt>
                <c:pt idx="7">
                  <c:v>0</c:v>
                </c:pt>
                <c:pt idx="8">
                  <c:v>2.6315789473684209E-2</c:v>
                </c:pt>
              </c:numCache>
            </c:numRef>
          </c:val>
          <c:extLst>
            <c:ext xmlns:c16="http://schemas.microsoft.com/office/drawing/2014/chart" uri="{C3380CC4-5D6E-409C-BE32-E72D297353CC}">
              <c16:uniqueId val="{00000000-B0D9-A94F-BC2E-6C10797E5730}"/>
            </c:ext>
          </c:extLst>
        </c:ser>
        <c:dLbls>
          <c:dLblPos val="outEnd"/>
          <c:showLegendKey val="0"/>
          <c:showVal val="1"/>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0.2424242424242424</c:v>
                </c:pt>
                <c:pt idx="1">
                  <c:v>0.18</c:v>
                </c:pt>
                <c:pt idx="2">
                  <c:v>0.24</c:v>
                </c:pt>
                <c:pt idx="3">
                  <c:v>0.2105263157894737</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9.0909090909090925E-2</c:v>
                </c:pt>
                <c:pt idx="1">
                  <c:v>0.2</c:v>
                </c:pt>
                <c:pt idx="2">
                  <c:v>0.11</c:v>
                </c:pt>
                <c:pt idx="3">
                  <c:v>7.8947368421052627E-2</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0.48484848484848492</c:v>
                </c:pt>
                <c:pt idx="1">
                  <c:v>0.42</c:v>
                </c:pt>
                <c:pt idx="2">
                  <c:v>0.56999999999999995</c:v>
                </c:pt>
                <c:pt idx="3">
                  <c:v>0.57894736842105265</c:v>
                </c:pt>
              </c:numCache>
            </c:numRef>
          </c:val>
          <c:extLst>
            <c:ext xmlns:c16="http://schemas.microsoft.com/office/drawing/2014/chart" uri="{C3380CC4-5D6E-409C-BE32-E72D297353CC}">
              <c16:uniqueId val="{00000003-3743-46B7-9453-554D3F76B7F0}"/>
            </c:ext>
          </c:extLst>
        </c:ser>
        <c:ser>
          <c:idx val="3"/>
          <c:order val="3"/>
          <c:tx>
            <c:strRef>
              <c:f>Sheet1!$E$1</c:f>
              <c:strCache>
                <c:ptCount val="1"/>
                <c:pt idx="0">
                  <c:v>sum of displayed values</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0.80999999999999994</c:v>
                </c:pt>
                <c:pt idx="1">
                  <c:v>0.8</c:v>
                </c:pt>
                <c:pt idx="2">
                  <c:v>0.91999999999999993</c:v>
                </c:pt>
                <c:pt idx="3">
                  <c:v>0.86842105263157898</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0.3636363636363637</c:v>
                </c:pt>
                <c:pt idx="1">
                  <c:v>0.21212121212121213</c:v>
                </c:pt>
                <c:pt idx="2">
                  <c:v>0.24242424242424243</c:v>
                </c:pt>
                <c:pt idx="3">
                  <c:v>0.18181818181818185</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0.67</c:v>
                </c:pt>
                <c:pt idx="1">
                  <c:v>0.11</c:v>
                </c:pt>
                <c:pt idx="2">
                  <c:v>0.13</c:v>
                </c:pt>
                <c:pt idx="3">
                  <c:v>0.09</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0.56999999999999995</c:v>
                </c:pt>
                <c:pt idx="1">
                  <c:v>0.17</c:v>
                </c:pt>
                <c:pt idx="2">
                  <c:v>0.15</c:v>
                </c:pt>
                <c:pt idx="3">
                  <c:v>0.11</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0.44736842105263158</c:v>
                </c:pt>
                <c:pt idx="1">
                  <c:v>0.18421052631578946</c:v>
                </c:pt>
                <c:pt idx="2">
                  <c:v>0.15789473684210525</c:v>
                </c:pt>
                <c:pt idx="3">
                  <c:v>0.21052631578947367</c:v>
                </c:pt>
              </c:numCache>
            </c:numRef>
          </c:val>
          <c:extLst>
            <c:ext xmlns:c16="http://schemas.microsoft.com/office/drawing/2014/chart" uri="{C3380CC4-5D6E-409C-BE32-E72D297353CC}">
              <c16:uniqueId val="{00000000-6EEF-6D41-A1A8-CD5836F47C32}"/>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027396246521818"/>
          <c:y val="7.6970958149027047E-2"/>
          <c:w val="0.43635915576342432"/>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0">
                  <c:v>0</c:v>
                </c:pt>
                <c:pt idx="1">
                  <c:v>3.03030303030303E-2</c:v>
                </c:pt>
                <c:pt idx="2">
                  <c:v>0.30303030303030298</c:v>
                </c:pt>
                <c:pt idx="3">
                  <c:v>0.3636363636363637</c:v>
                </c:pt>
                <c:pt idx="4">
                  <c:v>0.30303030303030298</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0">
                  <c:v>0</c:v>
                </c:pt>
                <c:pt idx="1">
                  <c:v>7.0000000000000007E-2</c:v>
                </c:pt>
                <c:pt idx="2">
                  <c:v>0.38</c:v>
                </c:pt>
                <c:pt idx="3">
                  <c:v>0.38</c:v>
                </c:pt>
                <c:pt idx="4">
                  <c:v>0.11</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Q2 2025
(N=46)</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0">
                  <c:v>0.02</c:v>
                </c:pt>
                <c:pt idx="1">
                  <c:v>0.15</c:v>
                </c:pt>
                <c:pt idx="2">
                  <c:v>0.37</c:v>
                </c:pt>
                <c:pt idx="3">
                  <c:v>0.26</c:v>
                </c:pt>
                <c:pt idx="4">
                  <c:v>0.15</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0">
                  <c:v>7.8947368421052627E-2</c:v>
                </c:pt>
                <c:pt idx="1">
                  <c:v>0.10526315789473679</c:v>
                </c:pt>
                <c:pt idx="2">
                  <c:v>0.31578947368421051</c:v>
                </c:pt>
                <c:pt idx="3">
                  <c:v>0.44736842105263158</c:v>
                </c:pt>
                <c:pt idx="4">
                  <c:v>5.2631578947368418E-2</c:v>
                </c:pt>
              </c:numCache>
            </c:numRef>
          </c:val>
          <c:extLst>
            <c:ext xmlns:c16="http://schemas.microsoft.com/office/drawing/2014/chart" uri="{C3380CC4-5D6E-409C-BE32-E72D297353CC}">
              <c16:uniqueId val="{00000000-9334-5A44-B3DF-AD7141659EB5}"/>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40333609614587"/>
          <c:y val="5.9662775616083012E-2"/>
          <c:w val="0.42883073826298029"/>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chart" Target="../charts/chart30.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783" y="8410244"/>
            <a:ext cx="558064" cy="55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228598" y="3036421"/>
            <a:ext cx="6296025" cy="1524000"/>
          </a:xfrm>
        </p:spPr>
        <p:txBody>
          <a:bodyPr/>
          <a:lstStyle/>
          <a:p>
            <a:pPr eaLnBrk="1" hangingPunct="1"/>
            <a:r>
              <a:rPr sz="2800" dirty="0">
                <a:latin typeface="Arial"/>
              </a:rPr>
              <a:t>Low Income Weatherization Survey
FY2025 Q3
</a:t>
            </a:r>
            <a:r>
              <a:rPr lang="en-US" sz="1600" dirty="0">
                <a:latin typeface="Arial"/>
              </a:rPr>
              <a:t>  </a:t>
            </a:r>
            <a:br>
              <a:rPr lang="en-US" sz="1600" dirty="0">
                <a:latin typeface="Arial"/>
              </a:rPr>
            </a:br>
            <a:r>
              <a:rPr lang="en-US" sz="1600" dirty="0">
                <a:latin typeface="Arial"/>
              </a:rPr>
              <a:t>D</a:t>
            </a:r>
            <a:r>
              <a:rPr sz="1600" dirty="0">
                <a:latin typeface="Arial"/>
              </a:rPr>
              <a:t>ecember 2025</a:t>
            </a:r>
            <a:endParaRPr lang="en-US" altLang="en-US" sz="1800" b="1" dirty="0">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endParaRPr lang="en-US" altLang="en-US" sz="1600" dirty="0">
              <a:ea typeface="Geneva"/>
              <a:cs typeface="Geneva"/>
            </a:endParaRPr>
          </a:p>
          <a:p>
            <a:pPr algn="l"/>
            <a:r>
              <a:rPr sz="1800" dirty="0">
                <a:latin typeface="Tahoma"/>
              </a:rPr>
              <a:t>Customers’ overall satisfaction with Austin Energy’s Weatherization Program remained favorable with a score of 84% for Q3 2025.</a:t>
            </a:r>
            <a:endParaRPr lang="en-US" sz="1800" dirty="0">
              <a:latin typeface="Tahoma"/>
            </a:endParaRPr>
          </a:p>
          <a:p>
            <a:pPr algn="l"/>
            <a:endParaRPr lang="en-US" sz="1800" dirty="0">
              <a:latin typeface="Tahoma"/>
            </a:endParaRPr>
          </a:p>
          <a:p>
            <a:pPr algn="l"/>
            <a:r>
              <a:rPr lang="en-US" sz="1800" dirty="0">
                <a:latin typeface="Tahoma"/>
              </a:rPr>
              <a:t>Satisfaction level with Austin Energy’s Customer Assistance Program (CAP) dropped to 63% in Q3 2025 from 65% in Q2 2025.</a:t>
            </a:r>
          </a:p>
          <a:p>
            <a:pPr algn="l"/>
            <a:endParaRPr sz="1800" dirty="0">
              <a:latin typeface="Tahoma"/>
            </a:endParaRPr>
          </a:p>
          <a:p>
            <a:pPr algn="l"/>
            <a:r>
              <a:rPr sz="1800" dirty="0">
                <a:latin typeface="Tahoma"/>
              </a:rPr>
              <a:t>Overall satisfaction level with Austin Energy </a:t>
            </a:r>
            <a:r>
              <a:rPr lang="en-US" sz="1800" dirty="0">
                <a:latin typeface="Tahoma"/>
              </a:rPr>
              <a:t>dropped</a:t>
            </a:r>
            <a:r>
              <a:rPr sz="1800" dirty="0">
                <a:latin typeface="Tahoma"/>
              </a:rPr>
              <a:t> to 87% in Q3 2025 from </a:t>
            </a:r>
            <a:r>
              <a:rPr lang="en-US" sz="1800" dirty="0">
                <a:latin typeface="Tahoma"/>
              </a:rPr>
              <a:t>92</a:t>
            </a:r>
            <a:r>
              <a:rPr sz="1800" dirty="0">
                <a:latin typeface="Tahoma"/>
              </a:rPr>
              <a:t>% in Q2 2024.</a:t>
            </a:r>
            <a:endParaRPr lang="en-US" sz="1800" dirty="0">
              <a:latin typeface="Tahoma"/>
            </a:endParaRPr>
          </a:p>
          <a:p>
            <a:pPr algn="l"/>
            <a:endParaRPr sz="1800" dirty="0">
              <a:latin typeface="Tahoma"/>
            </a:endParaRPr>
          </a:p>
          <a:p>
            <a:pPr algn="l"/>
            <a:r>
              <a:rPr sz="1800" dirty="0">
                <a:latin typeface="Tahoma"/>
              </a:rPr>
              <a:t>Customers indicated a need for the program and home weatherization assistance.</a:t>
            </a:r>
            <a:endParaRPr lang="en-US" sz="1800" dirty="0">
              <a:latin typeface="Tahoma"/>
            </a:endParaRPr>
          </a:p>
          <a:p>
            <a:pPr algn="l"/>
            <a:endParaRPr sz="1800" dirty="0">
              <a:latin typeface="Tahoma"/>
            </a:endParaRPr>
          </a:p>
          <a:p>
            <a:pPr algn="l"/>
            <a:r>
              <a:rPr sz="1800" dirty="0">
                <a:latin typeface="Tahoma"/>
              </a:rPr>
              <a:t>95% of customers would recommend this program to a friend or family member.</a:t>
            </a:r>
            <a:endParaRPr lang="en-US" sz="1800" dirty="0">
              <a:latin typeface="Tahoma"/>
            </a:endParaRPr>
          </a:p>
          <a:p>
            <a:pPr algn="l"/>
            <a:endParaRPr sz="1800" dirty="0">
              <a:latin typeface="Tahoma"/>
            </a:endParaRPr>
          </a:p>
          <a:p>
            <a:pPr algn="l"/>
            <a:r>
              <a:rPr sz="1800" dirty="0">
                <a:latin typeface="Tahoma"/>
              </a:rPr>
              <a:t>78% of customers appeared to have a high level of understanding when it comes to their utility bill and energy savings.</a:t>
            </a: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343310" y="1104490"/>
            <a:ext cx="6172200" cy="6934200"/>
          </a:xfrm>
        </p:spPr>
        <p:txBody>
          <a:bodyPr/>
          <a:lstStyle/>
          <a:p>
            <a:pPr marL="0" lvl="0" indent="0" algn="l">
              <a:lnSpc>
                <a:spcPts val="2000"/>
              </a:lnSpc>
              <a:buNone/>
              <a:defRPr/>
            </a:pPr>
            <a:r>
              <a:rPr sz="1800" b="0" i="0" dirty="0">
                <a:solidFill>
                  <a:srgbClr val="000000"/>
                </a:solidFill>
                <a:latin typeface="Tahoma"/>
              </a:rPr>
              <a:t>Overall satisfaction score with energy savings was 50% in Q3 2025, </a:t>
            </a:r>
            <a:r>
              <a:rPr lang="en-US" sz="1800" b="0" i="0" dirty="0">
                <a:solidFill>
                  <a:srgbClr val="000000"/>
                </a:solidFill>
                <a:latin typeface="Tahoma"/>
              </a:rPr>
              <a:t>down </a:t>
            </a:r>
            <a:r>
              <a:rPr sz="1800" b="0" i="0" dirty="0">
                <a:solidFill>
                  <a:srgbClr val="000000"/>
                </a:solidFill>
                <a:latin typeface="Tahoma"/>
              </a:rPr>
              <a:t>from </a:t>
            </a:r>
            <a:r>
              <a:rPr lang="en-US" sz="1800" dirty="0">
                <a:solidFill>
                  <a:srgbClr val="000000"/>
                </a:solidFill>
                <a:latin typeface="Tahoma"/>
              </a:rPr>
              <a:t>57</a:t>
            </a:r>
            <a:r>
              <a:rPr sz="1800" b="0" i="0" dirty="0">
                <a:solidFill>
                  <a:srgbClr val="000000"/>
                </a:solidFill>
                <a:latin typeface="Tahoma"/>
              </a:rPr>
              <a:t>% in Q2.</a:t>
            </a:r>
            <a:endParaRPr lang="en-US" altLang="en-US" sz="1800" dirty="0">
              <a:ea typeface="Tahoma"/>
              <a:cs typeface="Geneva"/>
            </a:endParaRPr>
          </a:p>
          <a:p>
            <a:endParaRPr lang="en-US" altLang="en-US" sz="1800" dirty="0">
              <a:ea typeface="Tahoma"/>
              <a:cs typeface="Geneva"/>
            </a:endParaRPr>
          </a:p>
          <a:p>
            <a:pPr lvl="0" algn="l">
              <a:lnSpc>
                <a:spcPts val="2000"/>
              </a:lnSpc>
            </a:pPr>
            <a:r>
              <a:rPr sz="1800" b="0" i="0" dirty="0">
                <a:solidFill>
                  <a:srgbClr val="000000"/>
                </a:solidFill>
                <a:latin typeface="Tahoma"/>
              </a:rPr>
              <a:t>Contractor and customer service ratings remained relatively high for all attributes.</a:t>
            </a:r>
          </a:p>
          <a:p>
            <a:endParaRPr sz="1800" b="0" i="0" dirty="0">
              <a:solidFill>
                <a:srgbClr val="000000"/>
              </a:solidFill>
              <a:latin typeface="Tahoma"/>
            </a:endParaRPr>
          </a:p>
          <a:p>
            <a:pPr lvl="0" algn="l">
              <a:lnSpc>
                <a:spcPts val="2000"/>
              </a:lnSpc>
            </a:pPr>
            <a:r>
              <a:rPr sz="1800" b="0" i="0" dirty="0">
                <a:solidFill>
                  <a:srgbClr val="000000"/>
                </a:solidFill>
                <a:latin typeface="Tahoma"/>
              </a:rPr>
              <a:t>Customers appeared to be satisfied with the follow-up phone calls and indicated that the Austin Energy staff member/contractor did an overall good job on the work done at their homes.</a:t>
            </a:r>
          </a:p>
          <a:p>
            <a:endParaRPr sz="1800" b="0" i="0" dirty="0">
              <a:solidFill>
                <a:srgbClr val="000000"/>
              </a:solidFill>
              <a:latin typeface="Tahoma"/>
            </a:endParaRPr>
          </a:p>
          <a:p>
            <a:pPr lvl="0" algn="l">
              <a:lnSpc>
                <a:spcPts val="2000"/>
              </a:lnSpc>
            </a:pPr>
            <a:r>
              <a:rPr sz="1800" b="0" i="0" dirty="0">
                <a:solidFill>
                  <a:srgbClr val="000000"/>
                </a:solidFill>
                <a:latin typeface="Tahoma"/>
              </a:rPr>
              <a:t>For this quarter, Friends/family/word of mouth, Austin Energy’s website, and A</a:t>
            </a:r>
            <a:r>
              <a:rPr lang="en-US" sz="1800" b="0" i="0" dirty="0">
                <a:solidFill>
                  <a:srgbClr val="000000"/>
                </a:solidFill>
                <a:latin typeface="Tahoma"/>
              </a:rPr>
              <a:t>ustin </a:t>
            </a:r>
            <a:r>
              <a:rPr sz="1800" b="0" i="0" dirty="0">
                <a:solidFill>
                  <a:srgbClr val="000000"/>
                </a:solidFill>
                <a:latin typeface="Tahoma"/>
              </a:rPr>
              <a:t>E</a:t>
            </a:r>
            <a:r>
              <a:rPr lang="en-US" sz="1800" b="0" i="0" dirty="0">
                <a:solidFill>
                  <a:srgbClr val="000000"/>
                </a:solidFill>
                <a:latin typeface="Tahoma"/>
              </a:rPr>
              <a:t>nergy’s</a:t>
            </a:r>
            <a:r>
              <a:rPr sz="1800" b="0" i="0" dirty="0">
                <a:solidFill>
                  <a:srgbClr val="000000"/>
                </a:solidFill>
                <a:latin typeface="Tahoma"/>
              </a:rPr>
              <a:t> Customer Assistance Program (CAP) were the top responses for how customers first learned about the weatherization program.</a:t>
            </a:r>
          </a:p>
          <a:p>
            <a:endParaRPr sz="1800" b="0" i="0" dirty="0">
              <a:solidFill>
                <a:srgbClr val="000000"/>
              </a:solidFill>
              <a:latin typeface="Tahoma"/>
            </a:endParaRPr>
          </a:p>
          <a:p>
            <a:pPr lvl="0" algn="l">
              <a:lnSpc>
                <a:spcPts val="2000"/>
              </a:lnSpc>
            </a:pPr>
            <a:r>
              <a:rPr sz="1800" b="0" i="0" dirty="0">
                <a:solidFill>
                  <a:srgbClr val="000000"/>
                </a:solidFill>
                <a:latin typeface="Tahoma"/>
              </a:rPr>
              <a:t>For this quarter, due to the small sample size, none of the changes can be deemed significant.</a:t>
            </a: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extLst>
              <p:ext uri="{D42A27DB-BD31-4B8C-83A1-F6EECF244321}">
                <p14:modId xmlns:p14="http://schemas.microsoft.com/office/powerpoint/2010/main" val="249553215"/>
              </p:ext>
            </p:extLst>
          </p:nvPr>
        </p:nvGraphicFramePr>
        <p:xfrm>
          <a:off x="50800" y="1492112"/>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155057359"/>
              </p:ext>
            </p:extLst>
          </p:nvPr>
        </p:nvGraphicFramePr>
        <p:xfrm>
          <a:off x="50800" y="1914849"/>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graphicFrame>
        <p:nvGraphicFramePr>
          <p:cNvPr id="23556" name="Table 23555"/>
          <p:cNvGraphicFramePr>
            <a:graphicFrameLocks noGrp="1"/>
          </p:cNvGraphicFramePr>
          <p:nvPr>
            <p:extLst>
              <p:ext uri="{D42A27DB-BD31-4B8C-83A1-F6EECF244321}">
                <p14:modId xmlns:p14="http://schemas.microsoft.com/office/powerpoint/2010/main" val="3890853797"/>
              </p:ext>
            </p:extLst>
          </p:nvPr>
        </p:nvGraphicFramePr>
        <p:xfrm>
          <a:off x="457200" y="1554480"/>
          <a:ext cx="5943600" cy="6400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tblGrid>
              <a:tr h="762000">
                <a:tc>
                  <a:txBody>
                    <a:bodyPr/>
                    <a:lstStyle/>
                    <a:p>
                      <a:pPr algn="ctr"/>
                      <a:endParaRPr/>
                    </a:p>
                  </a:txBody>
                  <a:tcPr anchor="ctr">
                    <a:solidFill>
                      <a:srgbClr val="5A80B8"/>
                    </a:solidFill>
                  </a:tcPr>
                </a:tc>
                <a:tc>
                  <a:txBody>
                    <a:bodyPr/>
                    <a:lstStyle/>
                    <a:p>
                      <a:pPr algn="ctr"/>
                      <a:r>
                        <a:rPr sz="1400" b="1" i="0" dirty="0">
                          <a:solidFill>
                            <a:srgbClr val="FFFFFF"/>
                          </a:solidFill>
                          <a:latin typeface="Tahoma"/>
                        </a:rPr>
                        <a:t>Q4 2024</a:t>
                      </a:r>
                    </a:p>
                  </a:txBody>
                  <a:tcPr anchor="ctr">
                    <a:solidFill>
                      <a:srgbClr val="5A80B8"/>
                    </a:solidFill>
                  </a:tcPr>
                </a:tc>
                <a:tc>
                  <a:txBody>
                    <a:bodyPr/>
                    <a:lstStyle/>
                    <a:p>
                      <a:pPr algn="ctr"/>
                      <a:r>
                        <a:rPr sz="1400" b="1" i="0" dirty="0">
                          <a:solidFill>
                            <a:srgbClr val="FFFFFF"/>
                          </a:solidFill>
                          <a:latin typeface="Tahoma"/>
                        </a:rPr>
                        <a:t>Q1 2025</a:t>
                      </a:r>
                    </a:p>
                  </a:txBody>
                  <a:tcPr anchor="ctr">
                    <a:solidFill>
                      <a:srgbClr val="5A80B8"/>
                    </a:solidFill>
                  </a:tcPr>
                </a:tc>
                <a:tc>
                  <a:txBody>
                    <a:bodyPr/>
                    <a:lstStyle/>
                    <a:p>
                      <a:pPr algn="ctr"/>
                      <a:r>
                        <a:rPr sz="1400" b="1" i="0" dirty="0">
                          <a:solidFill>
                            <a:srgbClr val="FFFFFF"/>
                          </a:solidFill>
                          <a:latin typeface="Tahoma"/>
                        </a:rPr>
                        <a:t>Q2 2025</a:t>
                      </a:r>
                    </a:p>
                  </a:txBody>
                  <a:tcPr anchor="ctr">
                    <a:solidFill>
                      <a:srgbClr val="5A80B8"/>
                    </a:solidFill>
                  </a:tcPr>
                </a:tc>
                <a:tc>
                  <a:txBody>
                    <a:bodyPr/>
                    <a:lstStyle/>
                    <a:p>
                      <a:pPr algn="ctr"/>
                      <a:r>
                        <a:rPr sz="1400" b="1" i="0" dirty="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762000">
                <a:tc>
                  <a:txBody>
                    <a:bodyPr/>
                    <a:lstStyle/>
                    <a:p>
                      <a:pPr algn="l"/>
                      <a:r>
                        <a:rPr sz="1300" b="0" i="0">
                          <a:solidFill>
                            <a:srgbClr val="000000"/>
                          </a:solidFill>
                          <a:latin typeface="Tahoma"/>
                        </a:rPr>
                        <a:t>Weatherization program depending on cost, might be overkill or wasteful. I would need more information to give it a higher score.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dirty="0">
                          <a:solidFill>
                            <a:srgbClr val="000000"/>
                          </a:solidFill>
                          <a:latin typeface="Tahoma"/>
                        </a:rPr>
                        <a:t>1</a:t>
                      </a:r>
                    </a:p>
                  </a:txBody>
                  <a:tcPr anchor="ctr">
                    <a:solidFill>
                      <a:srgbClr val="E0E5F0"/>
                    </a:solidFill>
                  </a:tcPr>
                </a:tc>
                <a:extLst>
                  <a:ext uri="{0D108BD9-81ED-4DB2-BD59-A6C34878D82A}">
                    <a16:rowId xmlns:a16="http://schemas.microsoft.com/office/drawing/2014/main" val="10001"/>
                  </a:ext>
                </a:extLst>
              </a:tr>
              <a:tr h="762000">
                <a:tc>
                  <a:txBody>
                    <a:bodyPr/>
                    <a:lstStyle/>
                    <a:p>
                      <a:pPr algn="l"/>
                      <a:r>
                        <a:rPr sz="1300" b="0" i="0" dirty="0">
                          <a:solidFill>
                            <a:srgbClr val="000000"/>
                          </a:solidFill>
                          <a:latin typeface="Tahoma"/>
                        </a:rPr>
                        <a:t>It's important but people came and left mess and weren't very helpful. Damaged MY big shop vac vacuumed wet mastic. F </a:t>
                      </a:r>
                      <a:r>
                        <a:rPr sz="1300" b="0" i="0" dirty="0" err="1">
                          <a:solidFill>
                            <a:srgbClr val="000000"/>
                          </a:solidFill>
                          <a:latin typeface="Tahoma"/>
                        </a:rPr>
                        <a:t>ers</a:t>
                      </a:r>
                      <a:r>
                        <a:rPr lang="en-US" sz="1300" b="0" i="0" dirty="0">
                          <a:solidFill>
                            <a:srgbClr val="000000"/>
                          </a:solidFill>
                          <a:latin typeface="Tahoma"/>
                        </a:rPr>
                        <a:t>.</a:t>
                      </a:r>
                      <a:r>
                        <a:rPr sz="1300" b="0" i="0" dirty="0">
                          <a:solidFill>
                            <a:srgbClr val="000000"/>
                          </a:solidFill>
                          <a:latin typeface="Tahoma"/>
                        </a:rPr>
                        <a:t> Don't get me star</a:t>
                      </a:r>
                      <a:r>
                        <a:rPr lang="en-US" sz="1300" b="0" i="0" dirty="0">
                          <a:solidFill>
                            <a:srgbClr val="000000"/>
                          </a:solidFill>
                          <a:latin typeface="Tahoma"/>
                        </a:rPr>
                        <a:t>t</a:t>
                      </a:r>
                      <a:r>
                        <a:rPr sz="1300" b="0" i="0" dirty="0">
                          <a:solidFill>
                            <a:srgbClr val="000000"/>
                          </a:solidFill>
                          <a:latin typeface="Tahoma"/>
                        </a:rPr>
                        <a:t>ed on the hole.</a:t>
                      </a:r>
                    </a:p>
                  </a:txBody>
                  <a:tcPr anchor="ctr">
                    <a:solidFill>
                      <a:srgbClr val="E0E5F0"/>
                    </a:solidFill>
                  </a:tcPr>
                </a:tc>
                <a:tc>
                  <a:txBody>
                    <a:bodyPr/>
                    <a:lstStyle/>
                    <a:p>
                      <a:pPr algn="ctr"/>
                      <a:r>
                        <a:rPr sz="1300" b="0" i="0" dirty="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762000">
                <a:tc>
                  <a:txBody>
                    <a:bodyPr/>
                    <a:lstStyle/>
                    <a:p>
                      <a:pPr algn="l"/>
                      <a:r>
                        <a:rPr sz="1300" b="0" i="0">
                          <a:solidFill>
                            <a:srgbClr val="000000"/>
                          </a:solidFill>
                          <a:latin typeface="Tahoma"/>
                        </a:rPr>
                        <a:t>Because it's really up to them if they would prefer to do it</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762000">
                <a:tc>
                  <a:txBody>
                    <a:bodyPr/>
                    <a:lstStyle/>
                    <a:p>
                      <a:pPr algn="l"/>
                      <a:r>
                        <a:rPr sz="1300" b="0" i="0" dirty="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762000">
                <a:tc>
                  <a:txBody>
                    <a:bodyPr/>
                    <a:lstStyle/>
                    <a:p>
                      <a:pPr algn="l"/>
                      <a:r>
                        <a:rPr lang="en-US" sz="1300" b="1" i="0">
                          <a:solidFill>
                            <a:srgbClr val="FFFFFF"/>
                          </a:solidFill>
                          <a:latin typeface="Tahoma"/>
                        </a:rPr>
                        <a:t>Base:</a:t>
                      </a:r>
                      <a:endParaRPr lang="en-US" sz="1300" b="1" i="0" dirty="0">
                        <a:solidFill>
                          <a:srgbClr val="FFFFFF"/>
                        </a:solidFill>
                        <a:latin typeface="Tahoma"/>
                      </a:endParaRPr>
                    </a:p>
                  </a:txBody>
                  <a:tcPr anchor="ctr">
                    <a:solidFill>
                      <a:srgbClr val="5A80B8"/>
                    </a:solidFill>
                  </a:tcPr>
                </a:tc>
                <a:tc>
                  <a:txBody>
                    <a:bodyPr/>
                    <a:lstStyle/>
                    <a:p>
                      <a:pPr algn="ctr"/>
                      <a:r>
                        <a:rPr sz="1300" b="1" i="0" dirty="0">
                          <a:solidFill>
                            <a:srgbClr val="FFFFFF"/>
                          </a:solidFill>
                          <a:latin typeface="Tahoma"/>
                        </a:rPr>
                        <a:t>2</a:t>
                      </a:r>
                    </a:p>
                  </a:txBody>
                  <a:tcPr anchor="ctr">
                    <a:solidFill>
                      <a:srgbClr val="5A80B8"/>
                    </a:solidFill>
                  </a:tcPr>
                </a:tc>
                <a:tc>
                  <a:txBody>
                    <a:bodyPr/>
                    <a:lstStyle/>
                    <a:p>
                      <a:pPr algn="ctr"/>
                      <a:r>
                        <a:rPr sz="1300" b="1" i="0" dirty="0">
                          <a:solidFill>
                            <a:srgbClr val="FFFFFF"/>
                          </a:solidFill>
                          <a:latin typeface="Tahoma"/>
                        </a:rPr>
                        <a:t>1</a:t>
                      </a:r>
                    </a:p>
                  </a:txBody>
                  <a:tcPr anchor="ctr">
                    <a:solidFill>
                      <a:srgbClr val="5A80B8"/>
                    </a:solidFill>
                  </a:tcPr>
                </a:tc>
                <a:tc>
                  <a:txBody>
                    <a:bodyPr/>
                    <a:lstStyle/>
                    <a:p>
                      <a:pPr algn="ctr"/>
                      <a:r>
                        <a:rPr sz="1300" b="1" i="0" dirty="0">
                          <a:solidFill>
                            <a:srgbClr val="FFFFFF"/>
                          </a:solidFill>
                          <a:latin typeface="Tahoma"/>
                        </a:rPr>
                        <a:t>0</a:t>
                      </a:r>
                    </a:p>
                  </a:txBody>
                  <a:tcPr anchor="ctr">
                    <a:solidFill>
                      <a:srgbClr val="5A80B8"/>
                    </a:solidFill>
                  </a:tcPr>
                </a:tc>
                <a:tc>
                  <a:txBody>
                    <a:bodyPr/>
                    <a:lstStyle/>
                    <a:p>
                      <a:pPr algn="ctr"/>
                      <a:r>
                        <a:rPr sz="1300" b="1" i="0" dirty="0">
                          <a:solidFill>
                            <a:srgbClr val="FFFFFF"/>
                          </a:solidFill>
                          <a:latin typeface="Tahoma"/>
                        </a:rPr>
                        <a:t>1</a:t>
                      </a:r>
                    </a:p>
                  </a:txBody>
                  <a:tcPr anchor="ctr">
                    <a:solidFill>
                      <a:srgbClr val="5A80B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36822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619990609"/>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942636416"/>
              </p:ext>
            </p:extLst>
          </p:nvPr>
        </p:nvGraphicFramePr>
        <p:xfrm>
          <a:off x="50800" y="1414462"/>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32532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dirty="0"/>
              <a:t>Dust in home</a:t>
            </a:r>
            <a:endParaRPr lang="en-US" sz="1100" dirty="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32532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133234032"/>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31770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Extra moisture</a:t>
            </a:r>
            <a:r>
              <a:rPr lang="en-US" dirty="0"/>
              <a:t>/humidity </a:t>
            </a:r>
          </a:p>
          <a:p>
            <a:pPr algn="ctr"/>
            <a:r>
              <a:rPr lang="en-US" dirty="0"/>
              <a:t>in home</a:t>
            </a:r>
            <a:endParaRPr lang="en-US" sz="1100" dirty="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31770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01034435"/>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218178816"/>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31770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31770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589659687"/>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37032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405464081"/>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graphicFrame>
        <p:nvGraphicFramePr>
          <p:cNvPr id="23556" name="Table 23555"/>
          <p:cNvGraphicFramePr>
            <a:graphicFrameLocks noGrp="1"/>
          </p:cNvGraphicFramePr>
          <p:nvPr>
            <p:extLst>
              <p:ext uri="{D42A27DB-BD31-4B8C-83A1-F6EECF244321}">
                <p14:modId xmlns:p14="http://schemas.microsoft.com/office/powerpoint/2010/main" val="599520270"/>
              </p:ext>
            </p:extLst>
          </p:nvPr>
        </p:nvGraphicFramePr>
        <p:xfrm>
          <a:off x="457200" y="2103120"/>
          <a:ext cx="5943600" cy="492760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1135380">
                  <a:extLst>
                    <a:ext uri="{9D8B030D-6E8A-4147-A177-3AD203B41FA5}">
                      <a16:colId xmlns:a16="http://schemas.microsoft.com/office/drawing/2014/main" val="20001"/>
                    </a:ext>
                  </a:extLst>
                </a:gridCol>
                <a:gridCol w="10134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08000">
                <a:tc>
                  <a:txBody>
                    <a:bodyPr/>
                    <a:lstStyle/>
                    <a:p>
                      <a:pPr algn="ctr"/>
                      <a:endParaRP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508000">
                <a:tc>
                  <a:txBody>
                    <a:bodyPr/>
                    <a:lstStyle/>
                    <a:p>
                      <a:pPr algn="l"/>
                      <a:r>
                        <a:rPr sz="1300" b="0" i="0" dirty="0">
                          <a:solidFill>
                            <a:srgbClr val="000000"/>
                          </a:solidFill>
                          <a:latin typeface="Tahoma"/>
                        </a:rPr>
                        <a:t>Better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1"/>
                  </a:ext>
                </a:extLst>
              </a:tr>
              <a:tr h="508000">
                <a:tc>
                  <a:txBody>
                    <a:bodyPr/>
                    <a:lstStyle/>
                    <a:p>
                      <a:pPr algn="l"/>
                      <a:r>
                        <a:rPr sz="1300" b="0" i="0">
                          <a:solidFill>
                            <a:srgbClr val="000000"/>
                          </a:solidFill>
                          <a:latin typeface="Tahoma"/>
                        </a:rPr>
                        <a:t>Do work correctly the first time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2"/>
                  </a:ext>
                </a:extLst>
              </a:tr>
              <a:tr h="508000">
                <a:tc>
                  <a:txBody>
                    <a:bodyPr/>
                    <a:lstStyle/>
                    <a:p>
                      <a:pPr algn="l"/>
                      <a:r>
                        <a:rPr sz="1300" b="0" i="0">
                          <a:solidFill>
                            <a:srgbClr val="000000"/>
                          </a:solidFill>
                          <a:latin typeface="Tahoma"/>
                        </a:rPr>
                        <a:t>Make sure equipment is good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3"/>
                  </a:ext>
                </a:extLst>
              </a:tr>
              <a:tr h="508000">
                <a:tc>
                  <a:txBody>
                    <a:bodyPr/>
                    <a:lstStyle/>
                    <a:p>
                      <a:pPr algn="l"/>
                      <a:r>
                        <a:rPr sz="1300" b="0" i="0">
                          <a:solidFill>
                            <a:srgbClr val="000000"/>
                          </a:solidFill>
                          <a:latin typeface="Tahoma"/>
                        </a:rPr>
                        <a:t>More oversight of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508000">
                <a:tc>
                  <a:txBody>
                    <a:bodyPr/>
                    <a:lstStyle/>
                    <a:p>
                      <a:pPr algn="l"/>
                      <a:r>
                        <a:rPr sz="1300" b="0" i="0">
                          <a:solidFill>
                            <a:srgbClr val="000000"/>
                          </a:solidFill>
                          <a:latin typeface="Tahoma"/>
                        </a:rPr>
                        <a:t>Complete all promised work</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508000">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508000">
                <a:tc>
                  <a:txBody>
                    <a:bodyPr/>
                    <a:lstStyle/>
                    <a:p>
                      <a:pPr algn="l"/>
                      <a:r>
                        <a:rPr sz="1300" b="0" i="0">
                          <a:solidFill>
                            <a:srgbClr val="000000"/>
                          </a:solidFill>
                          <a:latin typeface="Tahoma"/>
                        </a:rPr>
                        <a:t>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508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4</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lang="en-US" sz="1300" b="0" i="0" dirty="0">
                          <a:solidFill>
                            <a:srgbClr val="FFFFFF"/>
                          </a:solidFill>
                          <a:latin typeface="Tahoma"/>
                        </a:rPr>
                        <a:t>6</a:t>
                      </a:r>
                      <a:endParaRPr sz="1300" b="0" i="0" dirty="0">
                        <a:solidFill>
                          <a:srgbClr val="FFFFFF"/>
                        </a:solidFill>
                        <a:latin typeface="Tahoma"/>
                      </a:endParaRP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60658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dirty="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extLst>
              <p:ext uri="{D42A27DB-BD31-4B8C-83A1-F6EECF244321}">
                <p14:modId xmlns:p14="http://schemas.microsoft.com/office/powerpoint/2010/main" val="3552314105"/>
              </p:ext>
            </p:extLst>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graphicFrame>
        <p:nvGraphicFramePr>
          <p:cNvPr id="23556" name="Table 23555"/>
          <p:cNvGraphicFramePr>
            <a:graphicFrameLocks noGrp="1"/>
          </p:cNvGraphicFramePr>
          <p:nvPr>
            <p:extLst>
              <p:ext uri="{D42A27DB-BD31-4B8C-83A1-F6EECF244321}">
                <p14:modId xmlns:p14="http://schemas.microsoft.com/office/powerpoint/2010/main" val="3688073329"/>
              </p:ext>
            </p:extLst>
          </p:nvPr>
        </p:nvGraphicFramePr>
        <p:xfrm>
          <a:off x="457200" y="1554480"/>
          <a:ext cx="5943600" cy="624840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gridCol w="967740">
                  <a:extLst>
                    <a:ext uri="{9D8B030D-6E8A-4147-A177-3AD203B41FA5}">
                      <a16:colId xmlns:a16="http://schemas.microsoft.com/office/drawing/2014/main" val="20004"/>
                    </a:ext>
                  </a:extLst>
                </a:gridCol>
              </a:tblGrid>
              <a:tr h="762000">
                <a:tc>
                  <a:txBody>
                    <a:bodyPr/>
                    <a:lstStyle/>
                    <a:p>
                      <a:pPr algn="ctr"/>
                      <a:endParaRP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dirty="0">
                          <a:solidFill>
                            <a:srgbClr val="FFFFFF"/>
                          </a:solidFill>
                          <a:latin typeface="Tahoma"/>
                        </a:rPr>
                        <a:t>Q1 2025</a:t>
                      </a:r>
                    </a:p>
                  </a:txBody>
                  <a:tcPr anchor="ctr">
                    <a:solidFill>
                      <a:srgbClr val="5A80B8"/>
                    </a:solidFill>
                  </a:tcPr>
                </a:tc>
                <a:tc>
                  <a:txBody>
                    <a:bodyPr/>
                    <a:lstStyle/>
                    <a:p>
                      <a:pPr algn="ctr"/>
                      <a:r>
                        <a:rPr sz="1400" b="1" i="0" dirty="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762000">
                <a:tc>
                  <a:txBody>
                    <a:bodyPr/>
                    <a:lstStyle/>
                    <a:p>
                      <a:pPr algn="l"/>
                      <a:r>
                        <a:rPr sz="1300" b="0" i="0">
                          <a:solidFill>
                            <a:srgbClr val="000000"/>
                          </a:solidFill>
                          <a:latin typeface="Tahoma"/>
                        </a:rPr>
                        <a:t>First experience. Yes! This experience would like to try to forget but reminders keep me aggravated.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1"/>
                  </a:ext>
                </a:extLst>
              </a:tr>
              <a:tr h="762000">
                <a:tc>
                  <a:txBody>
                    <a:bodyPr/>
                    <a:lstStyle/>
                    <a:p>
                      <a:pPr algn="l"/>
                      <a:r>
                        <a:rPr sz="1300" b="0" i="0">
                          <a:solidFill>
                            <a:srgbClr val="000000"/>
                          </a:solidFill>
                          <a:latin typeface="Tahoma"/>
                        </a:rPr>
                        <a:t>Because of the moisture for one. For a long time, it was very humid. I feel like it didn't really change anything.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762000">
                <a:tc>
                  <a:txBody>
                    <a:bodyPr/>
                    <a:lstStyle/>
                    <a:p>
                      <a:pPr algn="l"/>
                      <a:r>
                        <a:rPr sz="1300" b="0" i="0">
                          <a:solidFill>
                            <a:srgbClr val="000000"/>
                          </a:solidFill>
                          <a:latin typeface="Tahoma"/>
                        </a:rPr>
                        <a:t>I don't think I got enough benefit out of it. I know it doesn't cost anything, but I don't think it really helped at all.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762000">
                <a:tc>
                  <a:txBody>
                    <a:bodyPr/>
                    <a:lstStyle/>
                    <a:p>
                      <a:pPr algn="l"/>
                      <a:r>
                        <a:rPr sz="1300" b="0" i="0">
                          <a:solidFill>
                            <a:srgbClr val="000000"/>
                          </a:solidFill>
                          <a:latin typeface="Tahoma"/>
                        </a:rPr>
                        <a:t>It took a really long time. I don't think they accomplished anything. It was just awful.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3</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dirty="0">
                          <a:solidFill>
                            <a:srgbClr val="FFFFFF"/>
                          </a:solidFill>
                          <a:latin typeface="Tahoma"/>
                        </a:rPr>
                        <a:t>0</a:t>
                      </a:r>
                    </a:p>
                  </a:txBody>
                  <a:tcPr anchor="ctr">
                    <a:solidFill>
                      <a:srgbClr val="5A80B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18268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3556" name="Table 23555"/>
          <p:cNvGraphicFramePr>
            <a:graphicFrameLocks noGrp="1"/>
          </p:cNvGraphicFramePr>
          <p:nvPr>
            <p:extLst>
              <p:ext uri="{D42A27DB-BD31-4B8C-83A1-F6EECF244321}">
                <p14:modId xmlns:p14="http://schemas.microsoft.com/office/powerpoint/2010/main" val="3655699666"/>
              </p:ext>
            </p:extLst>
          </p:nvPr>
        </p:nvGraphicFramePr>
        <p:xfrm>
          <a:off x="228600" y="1203960"/>
          <a:ext cx="6385561" cy="6690360"/>
        </p:xfrm>
        <a:graphic>
          <a:graphicData uri="http://schemas.openxmlformats.org/drawingml/2006/table">
            <a:tbl>
              <a:tblPr firstRow="1" bandRow="1">
                <a:tableStyleId>{5C22544A-7EE6-4342-B048-85BDC9FD1C3A}</a:tableStyleId>
              </a:tblPr>
              <a:tblGrid>
                <a:gridCol w="2022094">
                  <a:extLst>
                    <a:ext uri="{9D8B030D-6E8A-4147-A177-3AD203B41FA5}">
                      <a16:colId xmlns:a16="http://schemas.microsoft.com/office/drawing/2014/main" val="20000"/>
                    </a:ext>
                  </a:extLst>
                </a:gridCol>
                <a:gridCol w="1088820">
                  <a:extLst>
                    <a:ext uri="{9D8B030D-6E8A-4147-A177-3AD203B41FA5}">
                      <a16:colId xmlns:a16="http://schemas.microsoft.com/office/drawing/2014/main" val="20001"/>
                    </a:ext>
                  </a:extLst>
                </a:gridCol>
                <a:gridCol w="1031514">
                  <a:extLst>
                    <a:ext uri="{9D8B030D-6E8A-4147-A177-3AD203B41FA5}">
                      <a16:colId xmlns:a16="http://schemas.microsoft.com/office/drawing/2014/main" val="20002"/>
                    </a:ext>
                  </a:extLst>
                </a:gridCol>
                <a:gridCol w="1154313">
                  <a:extLst>
                    <a:ext uri="{9D8B030D-6E8A-4147-A177-3AD203B41FA5}">
                      <a16:colId xmlns:a16="http://schemas.microsoft.com/office/drawing/2014/main" val="20003"/>
                    </a:ext>
                  </a:extLst>
                </a:gridCol>
                <a:gridCol w="1088820">
                  <a:extLst>
                    <a:ext uri="{9D8B030D-6E8A-4147-A177-3AD203B41FA5}">
                      <a16:colId xmlns:a16="http://schemas.microsoft.com/office/drawing/2014/main" val="20004"/>
                    </a:ext>
                  </a:extLst>
                </a:gridCol>
              </a:tblGrid>
              <a:tr h="285750">
                <a:tc>
                  <a:txBody>
                    <a:bodyPr/>
                    <a:lstStyle/>
                    <a:p>
                      <a:pPr algn="ctr"/>
                      <a:endParaRP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dirty="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285750">
                <a:tc>
                  <a:txBody>
                    <a:bodyPr/>
                    <a:lstStyle/>
                    <a:p>
                      <a:pPr algn="l"/>
                      <a:r>
                        <a:rPr sz="1300" b="0" i="0">
                          <a:solidFill>
                            <a:srgbClr val="000000"/>
                          </a:solidFill>
                          <a:latin typeface="Tahoma"/>
                        </a:rPr>
                        <a:t>Nothing/no changes needed</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1"/>
                  </a:ext>
                </a:extLst>
              </a:tr>
              <a:tr h="285750">
                <a:tc>
                  <a:txBody>
                    <a:bodyPr/>
                    <a:lstStyle/>
                    <a:p>
                      <a:pPr algn="l"/>
                      <a:r>
                        <a:rPr sz="1300" b="0" i="0">
                          <a:solidFill>
                            <a:srgbClr val="000000"/>
                          </a:solidFill>
                          <a:latin typeface="Tahoma"/>
                        </a:rPr>
                        <a:t>Promote, advertise more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2"/>
                  </a:ext>
                </a:extLst>
              </a:tr>
              <a:tr h="285750">
                <a:tc>
                  <a:txBody>
                    <a:bodyPr/>
                    <a:lstStyle/>
                    <a:p>
                      <a:pPr algn="l"/>
                      <a:r>
                        <a:rPr sz="1300" b="0" i="0">
                          <a:solidFill>
                            <a:srgbClr val="000000"/>
                          </a:solidFill>
                          <a:latin typeface="Tahoma"/>
                        </a:rPr>
                        <a:t>More communication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3"/>
                  </a:ext>
                </a:extLst>
              </a:tr>
              <a:tr h="285750">
                <a:tc>
                  <a:txBody>
                    <a:bodyPr/>
                    <a:lstStyle/>
                    <a:p>
                      <a:pPr algn="l"/>
                      <a:r>
                        <a:rPr sz="1300" b="0" i="0">
                          <a:solidFill>
                            <a:srgbClr val="000000"/>
                          </a:solidFill>
                          <a:latin typeface="Tahoma"/>
                        </a:rPr>
                        <a:t>Enroll more people in program</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4"/>
                  </a:ext>
                </a:extLst>
              </a:tr>
              <a:tr h="285750">
                <a:tc>
                  <a:txBody>
                    <a:bodyPr/>
                    <a:lstStyle/>
                    <a:p>
                      <a:pPr algn="l"/>
                      <a:r>
                        <a:rPr sz="1300" b="0" i="0">
                          <a:solidFill>
                            <a:srgbClr val="000000"/>
                          </a:solidFill>
                          <a:latin typeface="Tahoma"/>
                        </a:rPr>
                        <a:t>Better planning, improve budgeting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5"/>
                  </a:ext>
                </a:extLst>
              </a:tr>
              <a:tr h="285750">
                <a:tc>
                  <a:txBody>
                    <a:bodyPr/>
                    <a:lstStyle/>
                    <a:p>
                      <a:pPr algn="l"/>
                      <a:r>
                        <a:rPr sz="1300" b="0" i="0">
                          <a:solidFill>
                            <a:srgbClr val="000000"/>
                          </a:solidFill>
                          <a:latin typeface="Tahoma"/>
                        </a:rPr>
                        <a:t>Follow-up, Supervise contractor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6"/>
                  </a:ext>
                </a:extLst>
              </a:tr>
              <a:tr h="285750">
                <a:tc>
                  <a:txBody>
                    <a:bodyPr/>
                    <a:lstStyle/>
                    <a:p>
                      <a:pPr algn="l"/>
                      <a:r>
                        <a:rPr sz="1300" b="0" i="0">
                          <a:solidFill>
                            <a:srgbClr val="000000"/>
                          </a:solidFill>
                          <a:latin typeface="Tahoma"/>
                        </a:rPr>
                        <a:t>Replace doors, windows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7"/>
                  </a:ext>
                </a:extLst>
              </a:tr>
              <a:tr h="285750">
                <a:tc>
                  <a:txBody>
                    <a:bodyPr/>
                    <a:lstStyle/>
                    <a:p>
                      <a:pPr algn="l"/>
                      <a:r>
                        <a:rPr sz="1300" b="0" i="0">
                          <a:solidFill>
                            <a:srgbClr val="000000"/>
                          </a:solidFill>
                          <a:latin typeface="Tahoma"/>
                        </a:rPr>
                        <a:t>Faster response, shorter wait times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285750">
                <a:tc>
                  <a:txBody>
                    <a:bodyPr/>
                    <a:lstStyle/>
                    <a:p>
                      <a:pPr algn="l"/>
                      <a:r>
                        <a:rPr sz="1300" b="0" i="0">
                          <a:solidFill>
                            <a:srgbClr val="000000"/>
                          </a:solidFill>
                          <a:latin typeface="Tahoma"/>
                        </a:rPr>
                        <a:t>Have more repair options available</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285750">
                <a:tc>
                  <a:txBody>
                    <a:bodyPr/>
                    <a:lstStyle/>
                    <a:p>
                      <a:pPr algn="l"/>
                      <a:r>
                        <a:rPr sz="1300" b="0" i="0">
                          <a:solidFill>
                            <a:srgbClr val="000000"/>
                          </a:solidFill>
                          <a:latin typeface="Tahoma"/>
                        </a:rPr>
                        <a:t>Increase water, energy saving options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285750">
                <a:tc>
                  <a:txBody>
                    <a:bodyPr/>
                    <a:lstStyle/>
                    <a:p>
                      <a:pPr algn="l"/>
                      <a:r>
                        <a:rPr sz="1300" b="0" i="0">
                          <a:solidFill>
                            <a:srgbClr val="000000"/>
                          </a:solidFill>
                          <a:latin typeface="Tahoma"/>
                        </a:rPr>
                        <a:t>Use more skilled contractors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1"/>
                  </a:ext>
                </a:extLst>
              </a:tr>
              <a:tr h="285750">
                <a:tc>
                  <a:txBody>
                    <a:bodyPr/>
                    <a:lstStyle/>
                    <a:p>
                      <a:pPr algn="l"/>
                      <a:r>
                        <a:rPr sz="1300" b="0" i="0">
                          <a:solidFill>
                            <a:srgbClr val="000000"/>
                          </a:solidFill>
                          <a:latin typeface="Tahoma"/>
                        </a:rPr>
                        <a:t>Make sure existing house/utilities can support planned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28575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13"/>
                  </a:ext>
                </a:extLst>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14"/>
                  </a:ext>
                </a:extLst>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021715359"/>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658517009"/>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442611896"/>
              </p:ext>
            </p:extLst>
          </p:nvPr>
        </p:nvGraphicFramePr>
        <p:xfrm>
          <a:off x="50800" y="152539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extLst>
              <p:ext uri="{D42A27DB-BD31-4B8C-83A1-F6EECF244321}">
                <p14:modId xmlns:p14="http://schemas.microsoft.com/office/powerpoint/2010/main" val="1205218191"/>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ea typeface="MS PGothic" panose="020B0600070205080204" pitchFamily="34" charset="-128"/>
              </a:rPr>
              <a:t>Satisfaction with Contractor </a:t>
            </a:r>
            <a:br>
              <a:rPr lang="en-US" altLang="en-US" dirty="0">
                <a:ea typeface="MS PGothic" panose="020B0600070205080204" pitchFamily="34" charset="-128"/>
              </a:rPr>
            </a:br>
            <a:r>
              <a:rPr lang="en-US" altLang="en-US" dirty="0">
                <a:ea typeface="MS PGothic" panose="020B0600070205080204" pitchFamily="34" charset="-128"/>
              </a:rPr>
              <a:t>Follow-Up </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extLst>
              <p:ext uri="{D42A27DB-BD31-4B8C-83A1-F6EECF244321}">
                <p14:modId xmlns:p14="http://schemas.microsoft.com/office/powerpoint/2010/main" val="2709663958"/>
              </p:ext>
            </p:extLst>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graphicFrame>
        <p:nvGraphicFramePr>
          <p:cNvPr id="23556" name="Table 23555"/>
          <p:cNvGraphicFramePr>
            <a:graphicFrameLocks noGrp="1"/>
          </p:cNvGraphicFramePr>
          <p:nvPr>
            <p:extLst>
              <p:ext uri="{D42A27DB-BD31-4B8C-83A1-F6EECF244321}">
                <p14:modId xmlns:p14="http://schemas.microsoft.com/office/powerpoint/2010/main" val="3609896152"/>
              </p:ext>
            </p:extLst>
          </p:nvPr>
        </p:nvGraphicFramePr>
        <p:xfrm>
          <a:off x="457200" y="1554480"/>
          <a:ext cx="5943600" cy="5481320"/>
        </p:xfrm>
        <a:graphic>
          <a:graphicData uri="http://schemas.openxmlformats.org/drawingml/2006/table">
            <a:tbl>
              <a:tblPr firstRow="1" bandRow="1">
                <a:tableStyleId>{5C22544A-7EE6-4342-B048-85BDC9FD1C3A}</a:tableStyleId>
              </a:tblPr>
              <a:tblGrid>
                <a:gridCol w="131064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08000">
                <a:tc>
                  <a:txBody>
                    <a:bodyPr/>
                    <a:lstStyle/>
                    <a:p>
                      <a:pPr algn="ctr"/>
                      <a:endParaRP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508000">
                <a:tc>
                  <a:txBody>
                    <a:bodyPr/>
                    <a:lstStyle/>
                    <a:p>
                      <a:pPr algn="l"/>
                      <a:r>
                        <a:rPr sz="1300" b="0" i="0">
                          <a:solidFill>
                            <a:srgbClr val="000000"/>
                          </a:solidFill>
                          <a:latin typeface="Tahoma"/>
                        </a:rPr>
                        <a:t>Complete work correctly,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1"/>
                  </a:ext>
                </a:extLst>
              </a:tr>
              <a:tr h="508000">
                <a:tc>
                  <a:txBody>
                    <a:bodyPr/>
                    <a:lstStyle/>
                    <a:p>
                      <a:pPr algn="l"/>
                      <a:r>
                        <a:rPr sz="1300" b="0" i="0">
                          <a:solidFill>
                            <a:srgbClr val="000000"/>
                          </a:solidFill>
                          <a:latin typeface="Tahoma"/>
                        </a:rPr>
                        <a:t>Followed up, reviewed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2"/>
                  </a:ext>
                </a:extLst>
              </a:tr>
              <a:tr h="508000">
                <a:tc>
                  <a:txBody>
                    <a:bodyPr/>
                    <a:lstStyle/>
                    <a:p>
                      <a:pPr algn="l"/>
                      <a:r>
                        <a:rPr sz="1300" b="0" i="0">
                          <a:solidFill>
                            <a:srgbClr val="000000"/>
                          </a:solidFill>
                          <a:latin typeface="Tahoma"/>
                        </a:rPr>
                        <a:t>Cleaned up mess, repaired damage they caused</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508000">
                <a:tc>
                  <a:txBody>
                    <a:bodyPr/>
                    <a:lstStyle/>
                    <a:p>
                      <a:pPr algn="l"/>
                      <a:r>
                        <a:rPr sz="1300" b="0" i="0">
                          <a:solidFill>
                            <a:srgbClr val="000000"/>
                          </a:solidFill>
                          <a:latin typeface="Tahoma"/>
                        </a:rPr>
                        <a:t>Job completed very well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508000">
                <a:tc>
                  <a:txBody>
                    <a:bodyPr/>
                    <a:lstStyle/>
                    <a:p>
                      <a:pPr algn="l"/>
                      <a:r>
                        <a:rPr sz="1300" b="0" i="0">
                          <a:solidFill>
                            <a:srgbClr val="000000"/>
                          </a:solidFill>
                          <a:latin typeface="Tahoma"/>
                        </a:rPr>
                        <a:t>Complete work correctly</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508000">
                <a:tc>
                  <a:txBody>
                    <a:bodyPr/>
                    <a:lstStyle/>
                    <a:p>
                      <a:pPr algn="l"/>
                      <a:r>
                        <a:rPr sz="1300" b="0" i="0">
                          <a:solidFill>
                            <a:srgbClr val="000000"/>
                          </a:solidFill>
                          <a:latin typeface="Tahoma"/>
                        </a:rPr>
                        <a:t>Inform me of what is being repaired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508000">
                <a:tc>
                  <a:txBody>
                    <a:bodyPr/>
                    <a:lstStyle/>
                    <a:p>
                      <a:pPr algn="l"/>
                      <a:r>
                        <a:rPr sz="1300" b="0" i="0">
                          <a:solidFill>
                            <a:srgbClr val="000000"/>
                          </a:solidFill>
                          <a:latin typeface="Tahoma"/>
                        </a:rPr>
                        <a:t>Improve, increase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508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lang="en-US" sz="1300" b="0" i="0" dirty="0">
                          <a:solidFill>
                            <a:srgbClr val="FFFFFF"/>
                          </a:solidFill>
                          <a:latin typeface="Tahoma"/>
                        </a:rPr>
                        <a:t>23</a:t>
                      </a:r>
                      <a:endParaRPr sz="1300" b="0" i="0" dirty="0">
                        <a:solidFill>
                          <a:srgbClr val="FFFFFF"/>
                        </a:solidFill>
                        <a:latin typeface="Tahoma"/>
                      </a:endParaRPr>
                    </a:p>
                  </a:txBody>
                  <a:tcPr anchor="ctr">
                    <a:solidFill>
                      <a:srgbClr val="5A80B8"/>
                    </a:solidFill>
                  </a:tcPr>
                </a:tc>
                <a:tc>
                  <a:txBody>
                    <a:bodyPr/>
                    <a:lstStyle/>
                    <a:p>
                      <a:pPr algn="ctr"/>
                      <a:r>
                        <a:rPr lang="en-US" sz="1300" b="0" i="0" dirty="0">
                          <a:solidFill>
                            <a:srgbClr val="FFFFFF"/>
                          </a:solidFill>
                          <a:latin typeface="Tahoma"/>
                        </a:rPr>
                        <a:t>22</a:t>
                      </a:r>
                      <a:endParaRPr sz="1300" b="0" i="0" dirty="0">
                        <a:solidFill>
                          <a:srgbClr val="FFFFFF"/>
                        </a:solidFill>
                        <a:latin typeface="Tahoma"/>
                      </a:endParaRPr>
                    </a:p>
                  </a:txBody>
                  <a:tcPr anchor="ctr">
                    <a:solidFill>
                      <a:srgbClr val="5A80B8"/>
                    </a:solidFill>
                  </a:tcPr>
                </a:tc>
                <a:tc>
                  <a:txBody>
                    <a:bodyPr/>
                    <a:lstStyle/>
                    <a:p>
                      <a:pPr algn="ctr"/>
                      <a:r>
                        <a:rPr lang="en-US" sz="1300" b="0" i="0" dirty="0">
                          <a:solidFill>
                            <a:srgbClr val="FFFFFF"/>
                          </a:solidFill>
                          <a:latin typeface="Tahoma"/>
                        </a:rPr>
                        <a:t>33</a:t>
                      </a:r>
                      <a:endParaRPr sz="1300" b="0" i="0" dirty="0">
                        <a:solidFill>
                          <a:srgbClr val="FFFFFF"/>
                        </a:solidFill>
                        <a:latin typeface="Tahoma"/>
                      </a:endParaRPr>
                    </a:p>
                  </a:txBody>
                  <a:tcPr anchor="ctr">
                    <a:solidFill>
                      <a:srgbClr val="5A80B8"/>
                    </a:solidFill>
                  </a:tcPr>
                </a:tc>
                <a:tc>
                  <a:txBody>
                    <a:bodyPr/>
                    <a:lstStyle/>
                    <a:p>
                      <a:pPr algn="ctr"/>
                      <a:r>
                        <a:rPr lang="en-US" sz="1300" b="0" i="0" dirty="0">
                          <a:solidFill>
                            <a:srgbClr val="FFFFFF"/>
                          </a:solidFill>
                          <a:latin typeface="Tahoma"/>
                        </a:rPr>
                        <a:t>22</a:t>
                      </a:r>
                      <a:endParaRPr sz="1300" b="0" i="0" dirty="0">
                        <a:solidFill>
                          <a:srgbClr val="FFFFFF"/>
                        </a:solidFill>
                        <a:latin typeface="Tahoma"/>
                      </a:endParaRP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582837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464065700"/>
              </p:ext>
            </p:extLst>
          </p:nvPr>
        </p:nvGraphicFramePr>
        <p:xfrm>
          <a:off x="50800" y="1656195"/>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9849343"/>
              </p:ext>
            </p:extLst>
          </p:nvPr>
        </p:nvGraphicFramePr>
        <p:xfrm>
          <a:off x="50800" y="152539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775509940"/>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extLst>
              <p:ext uri="{D42A27DB-BD31-4B8C-83A1-F6EECF244321}">
                <p14:modId xmlns:p14="http://schemas.microsoft.com/office/powerpoint/2010/main" val="790447207"/>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ea typeface="MS PGothic" panose="020B0600070205080204" pitchFamily="34" charset="-128"/>
              </a:rPr>
              <a:t>Satisfaction with Staff Follow-Up </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extLst>
              <p:ext uri="{D42A27DB-BD31-4B8C-83A1-F6EECF244321}">
                <p14:modId xmlns:p14="http://schemas.microsoft.com/office/powerpoint/2010/main" val="978730071"/>
              </p:ext>
            </p:extLst>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graphicFrame>
        <p:nvGraphicFramePr>
          <p:cNvPr id="23556" name="Table 23555"/>
          <p:cNvGraphicFramePr>
            <a:graphicFrameLocks noGrp="1"/>
          </p:cNvGraphicFramePr>
          <p:nvPr>
            <p:extLst>
              <p:ext uri="{D42A27DB-BD31-4B8C-83A1-F6EECF244321}">
                <p14:modId xmlns:p14="http://schemas.microsoft.com/office/powerpoint/2010/main" val="704094979"/>
              </p:ext>
            </p:extLst>
          </p:nvPr>
        </p:nvGraphicFramePr>
        <p:xfrm>
          <a:off x="457200" y="1554480"/>
          <a:ext cx="5943600" cy="553212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71500">
                <a:tc>
                  <a:txBody>
                    <a:bodyPr/>
                    <a:lstStyle/>
                    <a:p>
                      <a:pPr algn="ctr"/>
                      <a:endParaRP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571500">
                <a:tc>
                  <a:txBody>
                    <a:bodyPr/>
                    <a:lstStyle/>
                    <a:p>
                      <a:pPr algn="l"/>
                      <a:r>
                        <a:rPr sz="1300" b="0" i="0">
                          <a:solidFill>
                            <a:srgbClr val="000000"/>
                          </a:solidFill>
                          <a:latin typeface="Tahoma"/>
                        </a:rPr>
                        <a:t>Follow up after a few month to check on work performed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1"/>
                  </a:ext>
                </a:extLst>
              </a:tr>
              <a:tr h="571500">
                <a:tc>
                  <a:txBody>
                    <a:bodyPr/>
                    <a:lstStyle/>
                    <a:p>
                      <a:pPr algn="l"/>
                      <a:r>
                        <a:rPr sz="1300" b="0" i="0">
                          <a:solidFill>
                            <a:srgbClr val="000000"/>
                          </a:solidFill>
                          <a:latin typeface="Tahoma"/>
                        </a:rPr>
                        <a:t>Improve communication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2"/>
                  </a:ext>
                </a:extLst>
              </a:tr>
              <a:tr h="571500">
                <a:tc>
                  <a:txBody>
                    <a:bodyPr/>
                    <a:lstStyle/>
                    <a:p>
                      <a:pPr algn="l"/>
                      <a:r>
                        <a:rPr sz="1300" b="0" i="0">
                          <a:solidFill>
                            <a:srgbClr val="000000"/>
                          </a:solidFill>
                          <a:latin typeface="Tahoma"/>
                        </a:rPr>
                        <a:t>Complete repair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571500">
                <a:tc>
                  <a:txBody>
                    <a:bodyPr/>
                    <a:lstStyle/>
                    <a:p>
                      <a:pPr algn="l"/>
                      <a:r>
                        <a:rPr sz="1300" b="0" i="0">
                          <a:solidFill>
                            <a:srgbClr val="000000"/>
                          </a:solidFill>
                          <a:latin typeface="Tahoma"/>
                        </a:rPr>
                        <a:t>Follow up after a few months to check on work performed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5715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dirty="0">
                          <a:solidFill>
                            <a:srgbClr val="000000"/>
                          </a:solidFill>
                          <a:latin typeface="Tahoma"/>
                        </a:rPr>
                        <a:t>1</a:t>
                      </a:r>
                    </a:p>
                  </a:txBody>
                  <a:tcPr anchor="ctr">
                    <a:solidFill>
                      <a:srgbClr val="E0E5F0"/>
                    </a:solidFill>
                  </a:tcPr>
                </a:tc>
                <a:tc>
                  <a:txBody>
                    <a:bodyPr/>
                    <a:lstStyle/>
                    <a:p>
                      <a:pPr algn="ctr"/>
                      <a:r>
                        <a:rPr lang="en-US" sz="1300" b="0" i="0" dirty="0">
                          <a:solidFill>
                            <a:srgbClr val="000000"/>
                          </a:solidFill>
                          <a:latin typeface="Tahoma"/>
                        </a:rPr>
                        <a:t>1</a:t>
                      </a:r>
                      <a:endParaRPr sz="1300" b="0" i="0" dirty="0">
                        <a:solidFill>
                          <a:srgbClr val="000000"/>
                        </a:solidFill>
                        <a:latin typeface="Tahoma"/>
                      </a:endParaRP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5715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lang="en-US" sz="1300" b="0" i="0" dirty="0">
                          <a:solidFill>
                            <a:srgbClr val="FFFFFF"/>
                          </a:solidFill>
                          <a:latin typeface="Tahoma"/>
                        </a:rPr>
                        <a:t>19</a:t>
                      </a:r>
                      <a:endParaRPr sz="1300" b="0" i="0" dirty="0">
                        <a:solidFill>
                          <a:srgbClr val="FFFFFF"/>
                        </a:solidFill>
                        <a:latin typeface="Tahoma"/>
                      </a:endParaRPr>
                    </a:p>
                  </a:txBody>
                  <a:tcPr anchor="ctr">
                    <a:solidFill>
                      <a:srgbClr val="5A80B8"/>
                    </a:solidFill>
                  </a:tcPr>
                </a:tc>
                <a:tc>
                  <a:txBody>
                    <a:bodyPr/>
                    <a:lstStyle/>
                    <a:p>
                      <a:pPr algn="ctr"/>
                      <a:r>
                        <a:rPr lang="en-US" sz="1300" b="0" i="0" dirty="0">
                          <a:solidFill>
                            <a:srgbClr val="FFFFFF"/>
                          </a:solidFill>
                          <a:latin typeface="Tahoma"/>
                        </a:rPr>
                        <a:t>19</a:t>
                      </a:r>
                      <a:endParaRPr sz="1300" b="0" i="0" dirty="0">
                        <a:solidFill>
                          <a:srgbClr val="FFFFFF"/>
                        </a:solidFill>
                        <a:latin typeface="Tahoma"/>
                      </a:endParaRPr>
                    </a:p>
                  </a:txBody>
                  <a:tcPr anchor="ctr">
                    <a:solidFill>
                      <a:srgbClr val="5A80B8"/>
                    </a:solidFill>
                  </a:tcPr>
                </a:tc>
                <a:tc>
                  <a:txBody>
                    <a:bodyPr/>
                    <a:lstStyle/>
                    <a:p>
                      <a:pPr algn="ctr"/>
                      <a:r>
                        <a:rPr lang="en-US" sz="1300" b="0" i="0" dirty="0">
                          <a:solidFill>
                            <a:srgbClr val="FFFFFF"/>
                          </a:solidFill>
                          <a:latin typeface="Tahoma"/>
                        </a:rPr>
                        <a:t>24</a:t>
                      </a:r>
                      <a:endParaRPr sz="1300" b="0" i="0" dirty="0">
                        <a:solidFill>
                          <a:srgbClr val="FFFFFF"/>
                        </a:solidFill>
                        <a:latin typeface="Tahoma"/>
                      </a:endParaRPr>
                    </a:p>
                  </a:txBody>
                  <a:tcPr anchor="ctr">
                    <a:solidFill>
                      <a:srgbClr val="5A80B8"/>
                    </a:solidFill>
                  </a:tcPr>
                </a:tc>
                <a:tc>
                  <a:txBody>
                    <a:bodyPr/>
                    <a:lstStyle/>
                    <a:p>
                      <a:pPr algn="ctr"/>
                      <a:r>
                        <a:rPr lang="en-US" sz="1300" b="0" i="0" dirty="0">
                          <a:solidFill>
                            <a:srgbClr val="FFFFFF"/>
                          </a:solidFill>
                          <a:latin typeface="Tahoma"/>
                        </a:rPr>
                        <a:t>17</a:t>
                      </a:r>
                      <a:endParaRPr sz="1300" b="0" i="0" dirty="0">
                        <a:solidFill>
                          <a:srgbClr val="FFFFFF"/>
                        </a:solidFill>
                        <a:latin typeface="Tahoma"/>
                      </a:endParaRPr>
                    </a:p>
                  </a:txBody>
                  <a:tcPr anchor="ctr">
                    <a:solidFill>
                      <a:srgbClr val="5A80B8"/>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331458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dirty="0">
                <a:latin typeface="+mn-lt"/>
                <a:ea typeface="ＭＳ Ｐゴシック" charset="-128"/>
              </a:rPr>
              <a:t>13. Was there anything about your experience with the people who weatherized your home that you would like to share with Austin Energy?</a:t>
            </a:r>
            <a:endParaRPr lang="en-US" sz="1100" b="1" dirty="0">
              <a:latin typeface="+mn-lt"/>
              <a:ea typeface="ＭＳ Ｐゴシック" charset="-128"/>
            </a:endParaRPr>
          </a:p>
        </p:txBody>
      </p:sp>
      <p:graphicFrame>
        <p:nvGraphicFramePr>
          <p:cNvPr id="23556" name="Table 23555"/>
          <p:cNvGraphicFramePr>
            <a:graphicFrameLocks noGrp="1"/>
          </p:cNvGraphicFramePr>
          <p:nvPr>
            <p:extLst>
              <p:ext uri="{D42A27DB-BD31-4B8C-83A1-F6EECF244321}">
                <p14:modId xmlns:p14="http://schemas.microsoft.com/office/powerpoint/2010/main" val="3921456668"/>
              </p:ext>
            </p:extLst>
          </p:nvPr>
        </p:nvGraphicFramePr>
        <p:xfrm>
          <a:off x="243840" y="1173480"/>
          <a:ext cx="6385560" cy="6888480"/>
        </p:xfrm>
        <a:graphic>
          <a:graphicData uri="http://schemas.openxmlformats.org/drawingml/2006/table">
            <a:tbl>
              <a:tblPr firstRow="1" bandRow="1">
                <a:tableStyleId>{5C22544A-7EE6-4342-B048-85BDC9FD1C3A}</a:tableStyleId>
              </a:tblPr>
              <a:tblGrid>
                <a:gridCol w="1915668">
                  <a:extLst>
                    <a:ext uri="{9D8B030D-6E8A-4147-A177-3AD203B41FA5}">
                      <a16:colId xmlns:a16="http://schemas.microsoft.com/office/drawing/2014/main" val="20000"/>
                    </a:ext>
                  </a:extLst>
                </a:gridCol>
                <a:gridCol w="1121567">
                  <a:extLst>
                    <a:ext uri="{9D8B030D-6E8A-4147-A177-3AD203B41FA5}">
                      <a16:colId xmlns:a16="http://schemas.microsoft.com/office/drawing/2014/main" val="20001"/>
                    </a:ext>
                  </a:extLst>
                </a:gridCol>
                <a:gridCol w="1203432">
                  <a:extLst>
                    <a:ext uri="{9D8B030D-6E8A-4147-A177-3AD203B41FA5}">
                      <a16:colId xmlns:a16="http://schemas.microsoft.com/office/drawing/2014/main" val="20002"/>
                    </a:ext>
                  </a:extLst>
                </a:gridCol>
                <a:gridCol w="1113379">
                  <a:extLst>
                    <a:ext uri="{9D8B030D-6E8A-4147-A177-3AD203B41FA5}">
                      <a16:colId xmlns:a16="http://schemas.microsoft.com/office/drawing/2014/main" val="20003"/>
                    </a:ext>
                  </a:extLst>
                </a:gridCol>
                <a:gridCol w="1031514">
                  <a:extLst>
                    <a:ext uri="{9D8B030D-6E8A-4147-A177-3AD203B41FA5}">
                      <a16:colId xmlns:a16="http://schemas.microsoft.com/office/drawing/2014/main" val="20004"/>
                    </a:ext>
                  </a:extLst>
                </a:gridCol>
              </a:tblGrid>
              <a:tr h="285750">
                <a:tc>
                  <a:txBody>
                    <a:bodyPr/>
                    <a:lstStyle/>
                    <a:p>
                      <a:pPr algn="ctr"/>
                      <a:endParaRPr/>
                    </a:p>
                  </a:txBody>
                  <a:tcPr anchor="ctr">
                    <a:solidFill>
                      <a:srgbClr val="5A80B8"/>
                    </a:solidFill>
                  </a:tcPr>
                </a:tc>
                <a:tc>
                  <a:txBody>
                    <a:bodyPr/>
                    <a:lstStyle/>
                    <a:p>
                      <a:pPr algn="ctr"/>
                      <a:r>
                        <a:rPr sz="1400" b="1" i="0" dirty="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285750">
                <a:tc>
                  <a:txBody>
                    <a:bodyPr/>
                    <a:lstStyle/>
                    <a:p>
                      <a:pPr algn="l"/>
                      <a:r>
                        <a:rPr sz="1300" b="0" i="0">
                          <a:solidFill>
                            <a:srgbClr val="000000"/>
                          </a:solidFill>
                          <a:latin typeface="Tahoma"/>
                        </a:rPr>
                        <a:t>Patient, kind, nice, friendly, caring, polite employee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extLst>
                  <a:ext uri="{0D108BD9-81ED-4DB2-BD59-A6C34878D82A}">
                    <a16:rowId xmlns:a16="http://schemas.microsoft.com/office/drawing/2014/main" val="10001"/>
                  </a:ext>
                </a:extLst>
              </a:tr>
              <a:tr h="285750">
                <a:tc>
                  <a:txBody>
                    <a:bodyPr/>
                    <a:lstStyle/>
                    <a:p>
                      <a:pPr algn="l"/>
                      <a:r>
                        <a:rPr sz="1300" b="0" i="0">
                          <a:solidFill>
                            <a:srgbClr val="000000"/>
                          </a:solidFill>
                          <a:latin typeface="Tahoma"/>
                        </a:rPr>
                        <a:t>Nothing/no changes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2"/>
                  </a:ext>
                </a:extLst>
              </a:tr>
              <a:tr h="285750">
                <a:tc>
                  <a:txBody>
                    <a:bodyPr/>
                    <a:lstStyle/>
                    <a:p>
                      <a:pPr algn="l"/>
                      <a:r>
                        <a:rPr sz="1300" b="0" i="0">
                          <a:solidFill>
                            <a:srgbClr val="000000"/>
                          </a:solidFill>
                          <a:latin typeface="Tahoma"/>
                        </a:rPr>
                        <a:t>Professional</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3"/>
                  </a:ext>
                </a:extLst>
              </a:tr>
              <a:tr h="285750">
                <a:tc>
                  <a:txBody>
                    <a:bodyPr/>
                    <a:lstStyle/>
                    <a:p>
                      <a:pPr algn="l"/>
                      <a:r>
                        <a:rPr sz="1300" b="0" i="0">
                          <a:solidFill>
                            <a:srgbClr val="000000"/>
                          </a:solidFill>
                          <a:latin typeface="Tahoma"/>
                        </a:rPr>
                        <a:t>Provided helpful information, knowledgeable</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04"/>
                  </a:ext>
                </a:extLst>
              </a:tr>
              <a:tr h="285750">
                <a:tc>
                  <a:txBody>
                    <a:bodyPr/>
                    <a:lstStyle/>
                    <a:p>
                      <a:pPr algn="l"/>
                      <a:r>
                        <a:rPr sz="1300" b="0" i="0">
                          <a:solidFill>
                            <a:srgbClr val="000000"/>
                          </a:solidFill>
                          <a:latin typeface="Tahoma"/>
                        </a:rPr>
                        <a:t>Satisfied with work, no complaints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05"/>
                  </a:ext>
                </a:extLst>
              </a:tr>
              <a:tr h="285750">
                <a:tc>
                  <a:txBody>
                    <a:bodyPr/>
                    <a:lstStyle/>
                    <a:p>
                      <a:pPr algn="l"/>
                      <a:r>
                        <a:rPr sz="1300" b="0" i="0">
                          <a:solidFill>
                            <a:srgbClr val="000000"/>
                          </a:solidFill>
                          <a:latin typeface="Tahoma"/>
                        </a:rPr>
                        <a:t>Quick, punctual</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6"/>
                  </a:ext>
                </a:extLst>
              </a:tr>
              <a:tr h="285750">
                <a:tc>
                  <a:txBody>
                    <a:bodyPr/>
                    <a:lstStyle/>
                    <a:p>
                      <a:pPr algn="l"/>
                      <a:r>
                        <a:rPr sz="1300" b="0" i="0">
                          <a:solidFill>
                            <a:srgbClr val="000000"/>
                          </a:solidFill>
                          <a:latin typeface="Tahoma"/>
                        </a:rPr>
                        <a:t>Incomplete job, items or issues not addressed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7"/>
                  </a:ext>
                </a:extLst>
              </a:tr>
              <a:tr h="285750">
                <a:tc>
                  <a:txBody>
                    <a:bodyPr/>
                    <a:lstStyle/>
                    <a:p>
                      <a:pPr algn="l"/>
                      <a:r>
                        <a:rPr sz="1300" b="0" i="0">
                          <a:solidFill>
                            <a:srgbClr val="000000"/>
                          </a:solidFill>
                          <a:latin typeface="Tahoma"/>
                        </a:rPr>
                        <a:t>Cleaned up after themselves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8"/>
                  </a:ext>
                </a:extLst>
              </a:tr>
              <a:tr h="285750">
                <a:tc>
                  <a:txBody>
                    <a:bodyPr/>
                    <a:lstStyle/>
                    <a:p>
                      <a:pPr algn="l"/>
                      <a:r>
                        <a:rPr sz="1300" b="0" i="0">
                          <a:solidFill>
                            <a:srgbClr val="000000"/>
                          </a:solidFill>
                          <a:latin typeface="Tahoma"/>
                        </a:rPr>
                        <a:t>Good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9"/>
                  </a:ext>
                </a:extLst>
              </a:tr>
              <a:tr h="285750">
                <a:tc>
                  <a:txBody>
                    <a:bodyPr/>
                    <a:lstStyle/>
                    <a:p>
                      <a:pPr algn="l"/>
                      <a:r>
                        <a:rPr sz="1300" b="0" i="0">
                          <a:solidFill>
                            <a:srgbClr val="000000"/>
                          </a:solidFill>
                          <a:latin typeface="Tahoma"/>
                        </a:rPr>
                        <a:t>Did not leave area clean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285750">
                <a:tc>
                  <a:txBody>
                    <a:bodyPr/>
                    <a:lstStyle/>
                    <a:p>
                      <a:pPr algn="l"/>
                      <a:r>
                        <a:rPr sz="1300" b="0" i="0">
                          <a:solidFill>
                            <a:srgbClr val="000000"/>
                          </a:solidFill>
                          <a:latin typeface="Tahoma"/>
                        </a:rPr>
                        <a:t>Appreciate program, service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1"/>
                  </a:ext>
                </a:extLst>
              </a:tr>
              <a:tr h="285750">
                <a:tc>
                  <a:txBody>
                    <a:bodyPr/>
                    <a:lstStyle/>
                    <a:p>
                      <a:pPr algn="l"/>
                      <a:r>
                        <a:rPr sz="1300" b="0" i="0">
                          <a:solidFill>
                            <a:srgbClr val="000000"/>
                          </a:solidFill>
                          <a:latin typeface="Tahoma"/>
                        </a:rPr>
                        <a:t>Not knowledgeable/not done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285750">
                <a:tc>
                  <a:txBody>
                    <a:bodyPr/>
                    <a:lstStyle/>
                    <a:p>
                      <a:pPr algn="l"/>
                      <a:r>
                        <a:rPr sz="1300" b="0" i="0">
                          <a:solidFill>
                            <a:srgbClr val="000000"/>
                          </a:solidFill>
                          <a:latin typeface="Tahoma"/>
                        </a:rPr>
                        <a:t>Need more information about work completed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3"/>
                  </a:ext>
                </a:extLst>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4"/>
                  </a:ext>
                </a:extLst>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extLst>
              <p:ext uri="{D42A27DB-BD31-4B8C-83A1-F6EECF244321}">
                <p14:modId xmlns:p14="http://schemas.microsoft.com/office/powerpoint/2010/main" val="243134745"/>
              </p:ext>
            </p:extLst>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863810444"/>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graphicFrame>
        <p:nvGraphicFramePr>
          <p:cNvPr id="23556" name="Table 23555"/>
          <p:cNvGraphicFramePr>
            <a:graphicFrameLocks noGrp="1"/>
          </p:cNvGraphicFramePr>
          <p:nvPr>
            <p:extLst>
              <p:ext uri="{D42A27DB-BD31-4B8C-83A1-F6EECF244321}">
                <p14:modId xmlns:p14="http://schemas.microsoft.com/office/powerpoint/2010/main" val="2757611715"/>
              </p:ext>
            </p:extLst>
          </p:nvPr>
        </p:nvGraphicFramePr>
        <p:xfrm>
          <a:off x="457200" y="1554480"/>
          <a:ext cx="5943600" cy="637032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57200">
                <a:tc>
                  <a:txBody>
                    <a:bodyPr/>
                    <a:lstStyle/>
                    <a:p>
                      <a:pPr algn="ctr"/>
                      <a:endParaRP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457200">
                <a:tc>
                  <a:txBody>
                    <a:bodyPr/>
                    <a:lstStyle/>
                    <a:p>
                      <a:pPr algn="l"/>
                      <a:r>
                        <a:rPr sz="1300" b="0" i="0">
                          <a:solidFill>
                            <a:srgbClr val="000000"/>
                          </a:solidFill>
                          <a:latin typeface="Tahoma"/>
                        </a:rPr>
                        <a:t>Saving money on my utility bill</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40</a:t>
                      </a:r>
                    </a:p>
                  </a:txBody>
                  <a:tcPr anchor="ctr">
                    <a:solidFill>
                      <a:srgbClr val="E0E5F0"/>
                    </a:solidFill>
                  </a:tcPr>
                </a:tc>
                <a:tc>
                  <a:txBody>
                    <a:bodyPr/>
                    <a:lstStyle/>
                    <a:p>
                      <a:pPr algn="ctr"/>
                      <a:r>
                        <a:rPr sz="1300" b="0" i="0">
                          <a:solidFill>
                            <a:srgbClr val="000000"/>
                          </a:solidFill>
                          <a:latin typeface="Tahoma"/>
                        </a:rPr>
                        <a:t>42</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extLst>
                  <a:ext uri="{0D108BD9-81ED-4DB2-BD59-A6C34878D82A}">
                    <a16:rowId xmlns:a16="http://schemas.microsoft.com/office/drawing/2014/main" val="10001"/>
                  </a:ext>
                </a:extLst>
              </a:tr>
              <a:tr h="457200">
                <a:tc>
                  <a:txBody>
                    <a:bodyPr/>
                    <a:lstStyle/>
                    <a:p>
                      <a:pPr algn="l"/>
                      <a:r>
                        <a:rPr sz="1300" b="0" i="0">
                          <a:solidFill>
                            <a:srgbClr val="000000"/>
                          </a:solidFill>
                          <a:latin typeface="Tahoma"/>
                        </a:rPr>
                        <a:t>Feeling more comfortable in my home</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extLst>
                  <a:ext uri="{0D108BD9-81ED-4DB2-BD59-A6C34878D82A}">
                    <a16:rowId xmlns:a16="http://schemas.microsoft.com/office/drawing/2014/main" val="10002"/>
                  </a:ext>
                </a:extLst>
              </a:tr>
              <a:tr h="457200">
                <a:tc>
                  <a:txBody>
                    <a:bodyPr/>
                    <a:lstStyle/>
                    <a:p>
                      <a:pPr algn="l"/>
                      <a:r>
                        <a:rPr sz="1300" b="0" i="0">
                          <a:solidFill>
                            <a:srgbClr val="000000"/>
                          </a:solidFill>
                          <a:latin typeface="Tahoma"/>
                        </a:rPr>
                        <a:t>Saving energy and/or water</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31</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extLst>
                  <a:ext uri="{0D108BD9-81ED-4DB2-BD59-A6C34878D82A}">
                    <a16:rowId xmlns:a16="http://schemas.microsoft.com/office/drawing/2014/main" val="10003"/>
                  </a:ext>
                </a:extLst>
              </a:tr>
              <a:tr h="457200">
                <a:tc>
                  <a:txBody>
                    <a:bodyPr/>
                    <a:lstStyle/>
                    <a:p>
                      <a:pPr algn="l"/>
                      <a:r>
                        <a:rPr sz="1300" b="0" i="0">
                          <a:solidFill>
                            <a:srgbClr val="000000"/>
                          </a:solidFill>
                          <a:latin typeface="Tahoma"/>
                        </a:rPr>
                        <a:t>Using less energy and/or water</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35</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extLst>
                  <a:ext uri="{0D108BD9-81ED-4DB2-BD59-A6C34878D82A}">
                    <a16:rowId xmlns:a16="http://schemas.microsoft.com/office/drawing/2014/main" val="10004"/>
                  </a:ext>
                </a:extLst>
              </a:tr>
              <a:tr h="457200">
                <a:tc>
                  <a:txBody>
                    <a:bodyPr/>
                    <a:lstStyle/>
                    <a:p>
                      <a:pPr algn="l"/>
                      <a:r>
                        <a:rPr sz="1300" b="0" i="0">
                          <a:solidFill>
                            <a:srgbClr val="000000"/>
                          </a:solidFill>
                          <a:latin typeface="Tahoma"/>
                        </a:rPr>
                        <a:t>Knowing I am doing my part for the planet</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20</a:t>
                      </a:r>
                    </a:p>
                  </a:txBody>
                  <a:tcPr anchor="ctr">
                    <a:solidFill>
                      <a:srgbClr val="E0E5F0"/>
                    </a:solidFill>
                  </a:tcPr>
                </a:tc>
                <a:extLst>
                  <a:ext uri="{0D108BD9-81ED-4DB2-BD59-A6C34878D82A}">
                    <a16:rowId xmlns:a16="http://schemas.microsoft.com/office/drawing/2014/main" val="10005"/>
                  </a:ext>
                </a:extLst>
              </a:tr>
              <a:tr h="457200">
                <a:tc>
                  <a:txBody>
                    <a:bodyPr/>
                    <a:lstStyle/>
                    <a:p>
                      <a:pPr algn="l"/>
                      <a:r>
                        <a:rPr sz="1300" b="0" i="0">
                          <a:solidFill>
                            <a:srgbClr val="000000"/>
                          </a:solidFill>
                          <a:latin typeface="Tahoma"/>
                        </a:rPr>
                        <a:t>Participating in/using renewable energy</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14</a:t>
                      </a:r>
                    </a:p>
                  </a:txBody>
                  <a:tcPr anchor="ctr">
                    <a:solidFill>
                      <a:srgbClr val="E0E5F0"/>
                    </a:solidFill>
                  </a:tcPr>
                </a:tc>
                <a:extLst>
                  <a:ext uri="{0D108BD9-81ED-4DB2-BD59-A6C34878D82A}">
                    <a16:rowId xmlns:a16="http://schemas.microsoft.com/office/drawing/2014/main" val="10006"/>
                  </a:ext>
                </a:extLst>
              </a:tr>
              <a:tr h="457200">
                <a:tc>
                  <a:txBody>
                    <a:bodyPr/>
                    <a:lstStyle/>
                    <a:p>
                      <a:pPr algn="l"/>
                      <a:r>
                        <a:rPr sz="1300" b="0" i="0">
                          <a:solidFill>
                            <a:srgbClr val="000000"/>
                          </a:solidFill>
                          <a:latin typeface="Tahoma"/>
                        </a:rPr>
                        <a:t>Setting my thermostat at a higher temperature</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21</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07"/>
                  </a:ext>
                </a:extLst>
              </a:tr>
              <a:tr h="4572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8"/>
                  </a:ext>
                </a:extLst>
              </a:tr>
              <a:tr h="4572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dirty="0">
                          <a:solidFill>
                            <a:srgbClr val="FFFFFF"/>
                          </a:solidFill>
                          <a:latin typeface="Tahoma"/>
                        </a:rPr>
                        <a:t>37</a:t>
                      </a:r>
                    </a:p>
                  </a:txBody>
                  <a:tcPr anchor="ctr">
                    <a:solidFill>
                      <a:srgbClr val="5A80B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16487849"/>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3556" name="Table 23555"/>
          <p:cNvGraphicFramePr>
            <a:graphicFrameLocks noGrp="1"/>
          </p:cNvGraphicFramePr>
          <p:nvPr>
            <p:extLst>
              <p:ext uri="{D42A27DB-BD31-4B8C-83A1-F6EECF244321}">
                <p14:modId xmlns:p14="http://schemas.microsoft.com/office/powerpoint/2010/main" val="1491473751"/>
              </p:ext>
            </p:extLst>
          </p:nvPr>
        </p:nvGraphicFramePr>
        <p:xfrm>
          <a:off x="434340" y="1165860"/>
          <a:ext cx="5943600" cy="6690360"/>
        </p:xfrm>
        <a:graphic>
          <a:graphicData uri="http://schemas.openxmlformats.org/drawingml/2006/table">
            <a:tbl>
              <a:tblPr firstRow="1" bandRow="1">
                <a:tableStyleId>{5C22544A-7EE6-4342-B048-85BDC9FD1C3A}</a:tableStyleId>
              </a:tblPr>
              <a:tblGrid>
                <a:gridCol w="1501140">
                  <a:extLst>
                    <a:ext uri="{9D8B030D-6E8A-4147-A177-3AD203B41FA5}">
                      <a16:colId xmlns:a16="http://schemas.microsoft.com/office/drawing/2014/main" val="20000"/>
                    </a:ext>
                  </a:extLst>
                </a:gridCol>
                <a:gridCol w="1165860">
                  <a:extLst>
                    <a:ext uri="{9D8B030D-6E8A-4147-A177-3AD203B41FA5}">
                      <a16:colId xmlns:a16="http://schemas.microsoft.com/office/drawing/2014/main" val="20001"/>
                    </a:ext>
                  </a:extLst>
                </a:gridCol>
                <a:gridCol w="899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85750">
                <a:tc>
                  <a:txBody>
                    <a:bodyPr/>
                    <a:lstStyle/>
                    <a:p>
                      <a:pPr algn="ctr"/>
                      <a:endParaRP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285750">
                <a:tc>
                  <a:txBody>
                    <a:bodyPr/>
                    <a:lstStyle/>
                    <a:p>
                      <a:pPr algn="l"/>
                      <a:r>
                        <a:rPr sz="1300" b="0" i="0">
                          <a:solidFill>
                            <a:srgbClr val="000000"/>
                          </a:solidFill>
                          <a:latin typeface="Tahoma"/>
                        </a:rPr>
                        <a:t>Solar screens, panels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01"/>
                  </a:ext>
                </a:extLst>
              </a:tr>
              <a:tr h="285750">
                <a:tc>
                  <a:txBody>
                    <a:bodyPr/>
                    <a:lstStyle/>
                    <a:p>
                      <a:pPr algn="l"/>
                      <a:r>
                        <a:rPr sz="1300" b="0" i="0">
                          <a:solidFill>
                            <a:srgbClr val="000000"/>
                          </a:solidFill>
                          <a:latin typeface="Tahoma"/>
                        </a:rPr>
                        <a:t>Replace windows</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extLst>
                  <a:ext uri="{0D108BD9-81ED-4DB2-BD59-A6C34878D82A}">
                    <a16:rowId xmlns:a16="http://schemas.microsoft.com/office/drawing/2014/main" val="10002"/>
                  </a:ext>
                </a:extLst>
              </a:tr>
              <a:tr h="285750">
                <a:tc>
                  <a:txBody>
                    <a:bodyPr/>
                    <a:lstStyle/>
                    <a:p>
                      <a:pPr algn="l"/>
                      <a:r>
                        <a:rPr sz="1300" b="0" i="0">
                          <a:solidFill>
                            <a:srgbClr val="000000"/>
                          </a:solidFill>
                          <a:latin typeface="Tahoma"/>
                        </a:rPr>
                        <a:t>Show ways to lower energy costs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3"/>
                  </a:ext>
                </a:extLst>
              </a:tr>
              <a:tr h="285750">
                <a:tc>
                  <a:txBody>
                    <a:bodyPr/>
                    <a:lstStyle/>
                    <a:p>
                      <a:pPr algn="l"/>
                      <a:r>
                        <a:rPr sz="1300" b="0" i="0">
                          <a:solidFill>
                            <a:srgbClr val="000000"/>
                          </a:solidFill>
                          <a:latin typeface="Tahoma"/>
                        </a:rPr>
                        <a:t>Provide insulation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4"/>
                  </a:ext>
                </a:extLst>
              </a:tr>
              <a:tr h="285750">
                <a:tc>
                  <a:txBody>
                    <a:bodyPr/>
                    <a:lstStyle/>
                    <a:p>
                      <a:pPr algn="l"/>
                      <a:r>
                        <a:rPr sz="1300" b="0" i="0">
                          <a:solidFill>
                            <a:srgbClr val="000000"/>
                          </a:solidFill>
                          <a:latin typeface="Tahoma"/>
                        </a:rPr>
                        <a:t>Lower rates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5"/>
                  </a:ext>
                </a:extLst>
              </a:tr>
              <a:tr h="285750">
                <a:tc>
                  <a:txBody>
                    <a:bodyPr/>
                    <a:lstStyle/>
                    <a:p>
                      <a:pPr algn="l"/>
                      <a:r>
                        <a:rPr sz="1300" b="0" i="0">
                          <a:solidFill>
                            <a:srgbClr val="000000"/>
                          </a:solidFill>
                          <a:latin typeface="Tahoma"/>
                        </a:rPr>
                        <a:t>Bigger rebates, more rebates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6"/>
                  </a:ext>
                </a:extLst>
              </a:tr>
              <a:tr h="285750">
                <a:tc>
                  <a:txBody>
                    <a:bodyPr/>
                    <a:lstStyle/>
                    <a:p>
                      <a:pPr algn="l"/>
                      <a:r>
                        <a:rPr sz="1300" b="0" i="0">
                          <a:solidFill>
                            <a:srgbClr val="000000"/>
                          </a:solidFill>
                          <a:latin typeface="Tahoma"/>
                        </a:rPr>
                        <a:t>Pay bill for 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7"/>
                  </a:ext>
                </a:extLst>
              </a:tr>
              <a:tr h="285750">
                <a:tc>
                  <a:txBody>
                    <a:bodyPr/>
                    <a:lstStyle/>
                    <a:p>
                      <a:pPr algn="l"/>
                      <a:r>
                        <a:rPr sz="1300" b="0" i="0">
                          <a:solidFill>
                            <a:srgbClr val="000000"/>
                          </a:solidFill>
                          <a:latin typeface="Tahoma"/>
                        </a:rPr>
                        <a:t>Solar screens/panels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285750">
                <a:tc>
                  <a:txBody>
                    <a:bodyPr/>
                    <a:lstStyle/>
                    <a:p>
                      <a:pPr algn="l"/>
                      <a:r>
                        <a:rPr sz="1300" b="0" i="0">
                          <a:solidFill>
                            <a:srgbClr val="000000"/>
                          </a:solidFill>
                          <a:latin typeface="Tahoma"/>
                        </a:rPr>
                        <a:t>Replace, repair roof</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285750">
                <a:tc>
                  <a:txBody>
                    <a:bodyPr/>
                    <a:lstStyle/>
                    <a:p>
                      <a:pPr algn="l"/>
                      <a:r>
                        <a:rPr sz="1300" b="0" i="0">
                          <a:solidFill>
                            <a:srgbClr val="000000"/>
                          </a:solidFill>
                          <a:latin typeface="Tahoma"/>
                        </a:rPr>
                        <a:t>Replace appliances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285750">
                <a:tc>
                  <a:txBody>
                    <a:bodyPr/>
                    <a:lstStyle/>
                    <a:p>
                      <a:pPr algn="l"/>
                      <a:r>
                        <a:rPr sz="1300" b="0" i="0">
                          <a:solidFill>
                            <a:srgbClr val="000000"/>
                          </a:solidFill>
                          <a:latin typeface="Tahoma"/>
                        </a:rPr>
                        <a:t>Replace, repair doors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1"/>
                  </a:ext>
                </a:extLst>
              </a:tr>
              <a:tr h="285750">
                <a:tc>
                  <a:txBody>
                    <a:bodyPr/>
                    <a:lstStyle/>
                    <a:p>
                      <a:pPr algn="l"/>
                      <a:r>
                        <a:rPr sz="1300" b="0" i="0">
                          <a:solidFill>
                            <a:srgbClr val="000000"/>
                          </a:solidFill>
                          <a:latin typeface="Tahoma"/>
                        </a:rPr>
                        <a:t>Nothing/no suggestions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extLst>
                  <a:ext uri="{0D108BD9-81ED-4DB2-BD59-A6C34878D82A}">
                    <a16:rowId xmlns:a16="http://schemas.microsoft.com/office/drawing/2014/main" val="10012"/>
                  </a:ext>
                </a:extLst>
              </a:tr>
              <a:tr h="285750">
                <a:tc>
                  <a:txBody>
                    <a:bodyPr/>
                    <a:lstStyle/>
                    <a:p>
                      <a:pPr algn="l"/>
                      <a:r>
                        <a:rPr sz="1300" b="0" i="0">
                          <a:solidFill>
                            <a:srgbClr val="000000"/>
                          </a:solidFill>
                          <a:latin typeface="Tahoma"/>
                        </a:rPr>
                        <a:t>Do not know, unsure</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13"/>
                  </a:ext>
                </a:extLst>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14"/>
                  </a:ext>
                </a:extLst>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948545140"/>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graphicFrame>
        <p:nvGraphicFramePr>
          <p:cNvPr id="23556" name="Table 23555"/>
          <p:cNvGraphicFramePr>
            <a:graphicFrameLocks noGrp="1"/>
          </p:cNvGraphicFramePr>
          <p:nvPr>
            <p:extLst>
              <p:ext uri="{D42A27DB-BD31-4B8C-83A1-F6EECF244321}">
                <p14:modId xmlns:p14="http://schemas.microsoft.com/office/powerpoint/2010/main" val="691147479"/>
              </p:ext>
            </p:extLst>
          </p:nvPr>
        </p:nvGraphicFramePr>
        <p:xfrm>
          <a:off x="457200" y="1554480"/>
          <a:ext cx="5943600" cy="567944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08000">
                <a:tc>
                  <a:txBody>
                    <a:bodyPr/>
                    <a:lstStyle/>
                    <a:p>
                      <a:pPr algn="ctr"/>
                      <a:endParaRP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508000">
                <a:tc>
                  <a:txBody>
                    <a:bodyPr/>
                    <a:lstStyle/>
                    <a:p>
                      <a:pPr algn="l"/>
                      <a:r>
                        <a:rPr sz="1300" b="0" i="0">
                          <a:solidFill>
                            <a:srgbClr val="000000"/>
                          </a:solidFill>
                          <a:latin typeface="Tahoma"/>
                        </a:rPr>
                        <a:t>More communication, more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1"/>
                  </a:ext>
                </a:extLst>
              </a:tr>
              <a:tr h="508000">
                <a:tc>
                  <a:txBody>
                    <a:bodyPr/>
                    <a:lstStyle/>
                    <a:p>
                      <a:pPr algn="l"/>
                      <a:r>
                        <a:rPr sz="1300" b="0" i="0">
                          <a:solidFill>
                            <a:srgbClr val="000000"/>
                          </a:solidFill>
                          <a:latin typeface="Tahoma"/>
                        </a:rPr>
                        <a:t>Increase energy savings, lower bill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2"/>
                  </a:ext>
                </a:extLst>
              </a:tr>
              <a:tr h="508000">
                <a:tc>
                  <a:txBody>
                    <a:bodyPr/>
                    <a:lstStyle/>
                    <a:p>
                      <a:pPr algn="l"/>
                      <a:r>
                        <a:rPr sz="1300" b="0" i="0">
                          <a:solidFill>
                            <a:srgbClr val="000000"/>
                          </a:solidFill>
                          <a:latin typeface="Tahoma"/>
                        </a:rPr>
                        <a:t>Complete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508000">
                <a:tc>
                  <a:txBody>
                    <a:bodyPr/>
                    <a:lstStyle/>
                    <a:p>
                      <a:pPr algn="l"/>
                      <a:r>
                        <a:rPr sz="1300" b="0" i="0">
                          <a:solidFill>
                            <a:srgbClr val="000000"/>
                          </a:solidFill>
                          <a:latin typeface="Tahoma"/>
                        </a:rPr>
                        <a:t>Do follow ups with the customers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508000">
                <a:tc>
                  <a:txBody>
                    <a:bodyPr/>
                    <a:lstStyle/>
                    <a:p>
                      <a:pPr algn="l"/>
                      <a:r>
                        <a:rPr sz="1300" b="0" i="0">
                          <a:solidFill>
                            <a:srgbClr val="000000"/>
                          </a:solidFill>
                          <a:latin typeface="Tahoma"/>
                        </a:rPr>
                        <a:t>Nothing, satisfied</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05"/>
                  </a:ext>
                </a:extLst>
              </a:tr>
              <a:tr h="508000">
                <a:tc>
                  <a:txBody>
                    <a:bodyPr/>
                    <a:lstStyle/>
                    <a:p>
                      <a:pPr algn="l"/>
                      <a:r>
                        <a:rPr sz="1300" b="0" i="0">
                          <a:solidFill>
                            <a:srgbClr val="000000"/>
                          </a:solidFill>
                          <a:latin typeface="Tahoma"/>
                        </a:rPr>
                        <a:t>Do not know, not familiar with program</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extLst>
                  <a:ext uri="{0D108BD9-81ED-4DB2-BD59-A6C34878D82A}">
                    <a16:rowId xmlns:a16="http://schemas.microsoft.com/office/drawing/2014/main" val="10006"/>
                  </a:ext>
                </a:extLst>
              </a:tr>
              <a:tr h="5080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5080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lang="en-US" sz="1300" b="1" i="0" dirty="0">
                          <a:solidFill>
                            <a:srgbClr val="FFFFFF"/>
                          </a:solidFill>
                          <a:latin typeface="Tahoma"/>
                        </a:rPr>
                        <a:t>5</a:t>
                      </a:r>
                      <a:endParaRPr sz="1300" b="1" i="0" dirty="0">
                        <a:solidFill>
                          <a:srgbClr val="FFFFFF"/>
                        </a:solidFill>
                        <a:latin typeface="Tahoma"/>
                      </a:endParaRP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c>
                  <a:txBody>
                    <a:bodyPr/>
                    <a:lstStyle/>
                    <a:p>
                      <a:pPr algn="ctr"/>
                      <a:r>
                        <a:rPr sz="1300" b="1" i="0">
                          <a:solidFill>
                            <a:srgbClr val="FFFFFF"/>
                          </a:solidFill>
                          <a:latin typeface="Tahoma"/>
                        </a:rPr>
                        <a:t>1</a:t>
                      </a:r>
                    </a:p>
                  </a:txBody>
                  <a:tcPr anchor="ctr">
                    <a:solidFill>
                      <a:srgbClr val="5A80B8"/>
                    </a:solidFill>
                  </a:tcPr>
                </a:tc>
                <a:tc>
                  <a:txBody>
                    <a:bodyPr/>
                    <a:lstStyle/>
                    <a:p>
                      <a:pPr algn="ctr"/>
                      <a:r>
                        <a:rPr sz="1300" b="1" i="0" dirty="0">
                          <a:solidFill>
                            <a:srgbClr val="FFFFFF"/>
                          </a:solidFill>
                          <a:latin typeface="Tahoma"/>
                        </a:rPr>
                        <a:t>3</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04716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cs typeface="Geneva"/>
              </a:rPr>
              <a:t>Communication Regarding Low Income Weatherization</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3444495478"/>
              </p:ext>
            </p:extLst>
          </p:nvPr>
        </p:nvGraphicFramePr>
        <p:xfrm>
          <a:off x="14356" y="1107919"/>
          <a:ext cx="6843643" cy="70826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1492509349"/>
              </p:ext>
            </p:extLst>
          </p:nvPr>
        </p:nvGraphicFramePr>
        <p:xfrm>
          <a:off x="38166" y="1021421"/>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1044708978"/>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3556" name="Table 23555"/>
          <p:cNvGraphicFramePr>
            <a:graphicFrameLocks noGrp="1"/>
          </p:cNvGraphicFramePr>
          <p:nvPr>
            <p:extLst>
              <p:ext uri="{D42A27DB-BD31-4B8C-83A1-F6EECF244321}">
                <p14:modId xmlns:p14="http://schemas.microsoft.com/office/powerpoint/2010/main" val="4254288761"/>
              </p:ext>
            </p:extLst>
          </p:nvPr>
        </p:nvGraphicFramePr>
        <p:xfrm>
          <a:off x="457200" y="1280160"/>
          <a:ext cx="5943600" cy="6705600"/>
        </p:xfrm>
        <a:graphic>
          <a:graphicData uri="http://schemas.openxmlformats.org/drawingml/2006/table">
            <a:tbl>
              <a:tblPr firstRow="1" bandRow="1">
                <a:tableStyleId>{5C22544A-7EE6-4342-B048-85BDC9FD1C3A}</a:tableStyleId>
              </a:tblPr>
              <a:tblGrid>
                <a:gridCol w="1562100">
                  <a:extLst>
                    <a:ext uri="{9D8B030D-6E8A-4147-A177-3AD203B41FA5}">
                      <a16:colId xmlns:a16="http://schemas.microsoft.com/office/drawing/2014/main" val="20000"/>
                    </a:ext>
                  </a:extLst>
                </a:gridCol>
                <a:gridCol w="1120140">
                  <a:extLst>
                    <a:ext uri="{9D8B030D-6E8A-4147-A177-3AD203B41FA5}">
                      <a16:colId xmlns:a16="http://schemas.microsoft.com/office/drawing/2014/main" val="20001"/>
                    </a:ext>
                  </a:extLst>
                </a:gridCol>
                <a:gridCol w="11734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tblGrid>
              <a:tr h="304800">
                <a:tc>
                  <a:txBody>
                    <a:bodyPr/>
                    <a:lstStyle/>
                    <a:p>
                      <a:pPr algn="ctr"/>
                      <a:endParaRP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dirty="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304800">
                <a:tc>
                  <a:txBody>
                    <a:bodyPr/>
                    <a:lstStyle/>
                    <a:p>
                      <a:pPr algn="l"/>
                      <a:r>
                        <a:rPr sz="1300" b="0" i="0">
                          <a:solidFill>
                            <a:srgbClr val="000000"/>
                          </a:solidFill>
                          <a:latin typeface="Tahoma"/>
                        </a:rPr>
                        <a:t>Any new programs or recaps of old programs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1"/>
                  </a:ext>
                </a:extLst>
              </a:tr>
              <a:tr h="304800">
                <a:tc>
                  <a:txBody>
                    <a:bodyPr/>
                    <a:lstStyle/>
                    <a:p>
                      <a:pPr algn="l"/>
                      <a:r>
                        <a:rPr sz="1300" b="0" i="0">
                          <a:solidFill>
                            <a:srgbClr val="000000"/>
                          </a:solidFill>
                          <a:latin typeface="Tahoma"/>
                        </a:rPr>
                        <a:t>Tips on reducing energy and water costs</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extLst>
                  <a:ext uri="{0D108BD9-81ED-4DB2-BD59-A6C34878D82A}">
                    <a16:rowId xmlns:a16="http://schemas.microsoft.com/office/drawing/2014/main" val="10002"/>
                  </a:ext>
                </a:extLst>
              </a:tr>
              <a:tr h="304800">
                <a:tc>
                  <a:txBody>
                    <a:bodyPr/>
                    <a:lstStyle/>
                    <a:p>
                      <a:pPr algn="l"/>
                      <a:r>
                        <a:rPr sz="1300" b="0" i="0">
                          <a:solidFill>
                            <a:srgbClr val="000000"/>
                          </a:solidFill>
                          <a:latin typeface="Tahoma"/>
                        </a:rPr>
                        <a:t>Maintaining, weatherizing, repairing home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03"/>
                  </a:ext>
                </a:extLst>
              </a:tr>
              <a:tr h="304800">
                <a:tc>
                  <a:txBody>
                    <a:bodyPr/>
                    <a:lstStyle/>
                    <a:p>
                      <a:pPr algn="l"/>
                      <a:r>
                        <a:rPr sz="1300" b="0" i="0">
                          <a:solidFill>
                            <a:srgbClr val="000000"/>
                          </a:solidFill>
                          <a:latin typeface="Tahoma"/>
                        </a:rPr>
                        <a:t>General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4"/>
                  </a:ext>
                </a:extLst>
              </a:tr>
              <a:tr h="304800">
                <a:tc>
                  <a:txBody>
                    <a:bodyPr/>
                    <a:lstStyle/>
                    <a:p>
                      <a:pPr algn="l"/>
                      <a:r>
                        <a:rPr sz="1300" b="0" i="0">
                          <a:solidFill>
                            <a:srgbClr val="000000"/>
                          </a:solidFill>
                          <a:latin typeface="Tahoma"/>
                        </a:rPr>
                        <a:t>Anything useful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5"/>
                  </a:ext>
                </a:extLst>
              </a:tr>
              <a:tr h="304800">
                <a:tc>
                  <a:txBody>
                    <a:bodyPr/>
                    <a:lstStyle/>
                    <a:p>
                      <a:pPr algn="l"/>
                      <a:r>
                        <a:rPr sz="1300" b="0" i="0">
                          <a:solidFill>
                            <a:srgbClr val="000000"/>
                          </a:solidFill>
                          <a:latin typeface="Tahoma"/>
                        </a:rPr>
                        <a:t>Communicate details of what is being repaired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extLst>
                  <a:ext uri="{0D108BD9-81ED-4DB2-BD59-A6C34878D82A}">
                    <a16:rowId xmlns:a16="http://schemas.microsoft.com/office/drawing/2014/main" val="10006"/>
                  </a:ext>
                </a:extLst>
              </a:tr>
              <a:tr h="304800">
                <a:tc>
                  <a:txBody>
                    <a:bodyPr/>
                    <a:lstStyle/>
                    <a:p>
                      <a:pPr algn="l"/>
                      <a:r>
                        <a:rPr sz="1300" b="0" i="0">
                          <a:solidFill>
                            <a:srgbClr val="000000"/>
                          </a:solidFill>
                          <a:latin typeface="Tahoma"/>
                        </a:rPr>
                        <a:t>Learning how to get assistance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304800">
                <a:tc>
                  <a:txBody>
                    <a:bodyPr/>
                    <a:lstStyle/>
                    <a:p>
                      <a:pPr algn="l"/>
                      <a:r>
                        <a:rPr sz="1300" b="0" i="0">
                          <a:solidFill>
                            <a:srgbClr val="000000"/>
                          </a:solidFill>
                          <a:latin typeface="Tahoma"/>
                        </a:rPr>
                        <a:t>Power outages</a:t>
                      </a:r>
                    </a:p>
                  </a:txBody>
                  <a:tcPr anchor="ctr">
                    <a:solidFill>
                      <a:srgbClr val="E0E5F0"/>
                    </a:solidFill>
                  </a:tcPr>
                </a:tc>
                <a:tc>
                  <a:txBody>
                    <a:bodyPr/>
                    <a:lstStyle/>
                    <a:p>
                      <a:pPr algn="ctr"/>
                      <a:r>
                        <a:rPr sz="1300" b="0" i="0" dirty="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304800">
                <a:tc>
                  <a:txBody>
                    <a:bodyPr/>
                    <a:lstStyle/>
                    <a:p>
                      <a:pPr algn="l"/>
                      <a:r>
                        <a:rPr sz="1300" b="0" i="0">
                          <a:solidFill>
                            <a:srgbClr val="000000"/>
                          </a:solidFill>
                          <a:latin typeface="Tahoma"/>
                        </a:rPr>
                        <a:t>Usage information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304800">
                <a:tc>
                  <a:txBody>
                    <a:bodyPr/>
                    <a:lstStyle/>
                    <a:p>
                      <a:pPr algn="l"/>
                      <a:r>
                        <a:rPr sz="1300" b="0" i="0">
                          <a:solidFill>
                            <a:srgbClr val="000000"/>
                          </a:solidFill>
                          <a:latin typeface="Tahoma"/>
                        </a:rPr>
                        <a:t>Rate changes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304800">
                <a:tc>
                  <a:txBody>
                    <a:bodyPr/>
                    <a:lstStyle/>
                    <a:p>
                      <a:pPr algn="l"/>
                      <a:r>
                        <a:rPr sz="1300" b="0" i="0">
                          <a:solidFill>
                            <a:srgbClr val="000000"/>
                          </a:solidFill>
                          <a:latin typeface="Tahoma"/>
                        </a:rPr>
                        <a:t>No complaints, nothing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extLst>
                  <a:ext uri="{0D108BD9-81ED-4DB2-BD59-A6C34878D82A}">
                    <a16:rowId xmlns:a16="http://schemas.microsoft.com/office/drawing/2014/main" val="10011"/>
                  </a:ext>
                </a:extLst>
              </a:tr>
              <a:tr h="30480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12"/>
                  </a:ext>
                </a:extLst>
              </a:tr>
              <a:tr h="3048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extLst>
                  <a:ext uri="{0D108BD9-81ED-4DB2-BD59-A6C34878D82A}">
                    <a16:rowId xmlns:a16="http://schemas.microsoft.com/office/drawing/2014/main" val="10013"/>
                  </a:ext>
                </a:extLst>
              </a:tr>
              <a:tr h="3048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822532988"/>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1264944263"/>
              </p:ext>
            </p:extLst>
          </p:nvPr>
        </p:nvGraphicFramePr>
        <p:xfrm>
          <a:off x="50800" y="13062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D68E-4E15-C974-687E-A22DDB06FA8F}"/>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FAA0034F-0B6A-7800-937E-F6422CF01C8A}"/>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a:extLst>
              <a:ext uri="{FF2B5EF4-FFF2-40B4-BE49-F238E27FC236}">
                <a16:creationId xmlns:a16="http://schemas.microsoft.com/office/drawing/2014/main" id="{EBAE5B3E-AAC8-6D27-6F83-C5F766ABAE96}"/>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3BCC2D12-B9AC-0658-4D8A-5A5AF8FBA931}"/>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38E927CF-0DF7-088E-5D02-28620C95D4CD}"/>
              </a:ext>
            </a:extLst>
          </p:cNvPr>
          <p:cNvSpPr txBox="1">
            <a:spLocks noChangeArrowheads="1"/>
          </p:cNvSpPr>
          <p:nvPr/>
        </p:nvSpPr>
        <p:spPr bwMode="auto">
          <a:xfrm>
            <a:off x="490336" y="1167381"/>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100">
                <a:solidFill>
                  <a:srgbClr val="000000"/>
                </a:solidFill>
                <a:latin typeface="Tahoma"/>
              </a:rPr>
              <a:t>*New format (descriptive categories) starting in Q1_2025. </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23556" name="Table 23555"/>
          <p:cNvGraphicFramePr>
            <a:graphicFrameLocks noGrp="1"/>
          </p:cNvGraphicFramePr>
          <p:nvPr>
            <p:extLst>
              <p:ext uri="{D42A27DB-BD31-4B8C-83A1-F6EECF244321}">
                <p14:modId xmlns:p14="http://schemas.microsoft.com/office/powerpoint/2010/main" val="550003008"/>
              </p:ext>
            </p:extLst>
          </p:nvPr>
        </p:nvGraphicFramePr>
        <p:xfrm>
          <a:off x="457200" y="1428992"/>
          <a:ext cx="5943600" cy="6798701"/>
        </p:xfrm>
        <a:graphic>
          <a:graphicData uri="http://schemas.openxmlformats.org/drawingml/2006/table">
            <a:tbl>
              <a:tblPr firstRow="1" bandRow="1">
                <a:tableStyleId>{5C22544A-7EE6-4342-B048-85BDC9FD1C3A}</a:tableStyleId>
              </a:tblPr>
              <a:tblGrid>
                <a:gridCol w="4419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82342">
                <a:tc>
                  <a:txBody>
                    <a:bodyPr/>
                    <a:lstStyle/>
                    <a:p>
                      <a:pPr algn="ctr" fontAlgn="ctr">
                        <a:buNone/>
                      </a:pPr>
                      <a:r>
                        <a:rPr lang="en-US" sz="1200" b="1" i="0" u="none" strike="noStrike" dirty="0">
                          <a:solidFill>
                            <a:srgbClr val="FFFFFF"/>
                          </a:solidFill>
                          <a:effectLst/>
                          <a:latin typeface="Tahoma" panose="020B0604030504040204" pitchFamily="34" charset="0"/>
                        </a:rPr>
                        <a:t>Words to Describe Program to Other Participants</a:t>
                      </a:r>
                    </a:p>
                  </a:txBody>
                  <a:tcPr marL="9525" marR="9525" marT="9525" marB="0" anchor="ctr">
                    <a:solidFill>
                      <a:srgbClr val="5A80B8"/>
                    </a:solidFill>
                  </a:tcPr>
                </a:tc>
                <a:tc>
                  <a:txBody>
                    <a:bodyPr/>
                    <a:lstStyle/>
                    <a:p>
                      <a:pPr algn="ctr" rtl="0" fontAlgn="ctr">
                        <a:buNone/>
                      </a:pPr>
                      <a:r>
                        <a:rPr lang="en-US" sz="1200" b="1" i="0" u="none" strike="noStrike">
                          <a:solidFill>
                            <a:srgbClr val="FFFFFF"/>
                          </a:solidFill>
                          <a:effectLst/>
                          <a:latin typeface="Tahoma" panose="020B0604030504040204" pitchFamily="34" charset="0"/>
                        </a:rPr>
                        <a:t>Q3 2025</a:t>
                      </a:r>
                    </a:p>
                  </a:txBody>
                  <a:tcPr marL="9525" marR="9525" marT="9525" marB="0" anchor="ctr">
                    <a:solidFill>
                      <a:srgbClr val="5A80B8"/>
                    </a:solidFill>
                  </a:tcPr>
                </a:tc>
                <a:extLst>
                  <a:ext uri="{0D108BD9-81ED-4DB2-BD59-A6C34878D82A}">
                    <a16:rowId xmlns:a16="http://schemas.microsoft.com/office/drawing/2014/main" val="10000"/>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Free</a:t>
                      </a:r>
                    </a:p>
                  </a:txBody>
                  <a:tcPr marR="9525" marT="9525" marB="0" anchor="ctr">
                    <a:solidFill>
                      <a:srgbClr val="E0E5F0"/>
                    </a:solidFill>
                  </a:tcPr>
                </a:tc>
                <a:tc>
                  <a:txBody>
                    <a:bodyPr/>
                    <a:lstStyle/>
                    <a:p>
                      <a:pPr algn="ctr" rtl="0" fontAlgn="ctr">
                        <a:buNone/>
                      </a:pPr>
                      <a:r>
                        <a:rPr lang="en-US" sz="1200" b="0" i="0" u="none" strike="noStrike">
                          <a:solidFill>
                            <a:srgbClr val="000000"/>
                          </a:solidFill>
                          <a:effectLst/>
                          <a:latin typeface="Tahoma" panose="020B0604030504040204" pitchFamily="34" charset="0"/>
                        </a:rPr>
                        <a:t>2</a:t>
                      </a:r>
                    </a:p>
                  </a:txBody>
                  <a:tcPr marL="9525" marR="9525" marT="9525" marB="0" anchor="ctr">
                    <a:solidFill>
                      <a:srgbClr val="E0E5F0"/>
                    </a:solidFill>
                  </a:tcPr>
                </a:tc>
                <a:extLst>
                  <a:ext uri="{0D108BD9-81ED-4DB2-BD59-A6C34878D82A}">
                    <a16:rowId xmlns:a16="http://schemas.microsoft.com/office/drawing/2014/main" val="10001"/>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Awesome program</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02"/>
                  </a:ext>
                </a:extLst>
              </a:tr>
              <a:tr h="382342">
                <a:tc>
                  <a:txBody>
                    <a:bodyPr/>
                    <a:lstStyle/>
                    <a:p>
                      <a:pPr algn="l" rtl="0" fontAlgn="ctr">
                        <a:buNone/>
                      </a:pPr>
                      <a:r>
                        <a:rPr lang="en-US" sz="1200" b="0" i="0" u="none" strike="noStrike" dirty="0">
                          <a:solidFill>
                            <a:srgbClr val="000000"/>
                          </a:solidFill>
                          <a:effectLst/>
                          <a:latin typeface="Tahoma" panose="020B0604030504040204" pitchFamily="34" charset="0"/>
                        </a:rPr>
                        <a:t>Environment enhanced weatherization program</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03"/>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Environmental protection</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04"/>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Fabulous. Worth it</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05"/>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Great</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06"/>
                  </a:ext>
                </a:extLst>
              </a:tr>
              <a:tr h="382342">
                <a:tc>
                  <a:txBody>
                    <a:bodyPr/>
                    <a:lstStyle/>
                    <a:p>
                      <a:pPr algn="l" rtl="0" fontAlgn="ctr">
                        <a:buNone/>
                      </a:pPr>
                      <a:r>
                        <a:rPr lang="en-US" sz="1200" b="0" i="0" u="none" strike="noStrike" dirty="0">
                          <a:solidFill>
                            <a:srgbClr val="000000"/>
                          </a:solidFill>
                          <a:effectLst/>
                          <a:latin typeface="Tahoma" panose="020B0604030504040204" pitchFamily="34" charset="0"/>
                        </a:rPr>
                        <a:t>Home improvement qualifications are important</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07"/>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Hugely helpful</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08"/>
                  </a:ext>
                </a:extLst>
              </a:tr>
              <a:tr h="382342">
                <a:tc>
                  <a:txBody>
                    <a:bodyPr/>
                    <a:lstStyle/>
                    <a:p>
                      <a:pPr algn="l" rtl="0" fontAlgn="ctr">
                        <a:buNone/>
                      </a:pPr>
                      <a:r>
                        <a:rPr lang="en-US" sz="1200" b="0" i="0" u="none" strike="noStrike" dirty="0">
                          <a:solidFill>
                            <a:srgbClr val="000000"/>
                          </a:solidFill>
                          <a:effectLst/>
                          <a:latin typeface="Tahoma" panose="020B0604030504040204" pitchFamily="34" charset="0"/>
                        </a:rPr>
                        <a:t>I think efficiency is important. The purpose is to improve your home’s efficiency.</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09"/>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Income/residents qualification</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0"/>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It's a great program</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1"/>
                  </a:ext>
                </a:extLst>
              </a:tr>
              <a:tr h="1127618">
                <a:tc>
                  <a:txBody>
                    <a:bodyPr/>
                    <a:lstStyle/>
                    <a:p>
                      <a:pPr algn="l" rtl="0" fontAlgn="ctr">
                        <a:buNone/>
                      </a:pPr>
                      <a:r>
                        <a:rPr lang="en-US" sz="1200" b="0" i="0" u="none" strike="noStrike" dirty="0">
                          <a:solidFill>
                            <a:srgbClr val="000000"/>
                          </a:solidFill>
                          <a:effectLst/>
                          <a:latin typeface="Tahoma" panose="020B0604030504040204" pitchFamily="34" charset="0"/>
                        </a:rPr>
                        <a:t>People who want this program should reach out to Austin Energy to help with energy efficiency. It's a lot of help, and a lot of knowledge of your home and you can learn a lot about saving energy in your home.</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2"/>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Relief assistance</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3"/>
                  </a:ext>
                </a:extLst>
              </a:tr>
              <a:tr h="568661">
                <a:tc>
                  <a:txBody>
                    <a:bodyPr/>
                    <a:lstStyle/>
                    <a:p>
                      <a:pPr algn="l" rtl="0" fontAlgn="ctr">
                        <a:buNone/>
                      </a:pPr>
                      <a:r>
                        <a:rPr lang="en-US" sz="1200" b="0" i="0" u="none" strike="noStrike" dirty="0">
                          <a:solidFill>
                            <a:srgbClr val="000000"/>
                          </a:solidFill>
                          <a:effectLst/>
                          <a:latin typeface="Tahoma" panose="020B0604030504040204" pitchFamily="34" charset="0"/>
                        </a:rPr>
                        <a:t>Tell people to try it out for themselves. I recommend it. City of Austin is helping with these issues.</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4"/>
                  </a:ext>
                </a:extLst>
              </a:tr>
              <a:tr h="382342">
                <a:tc>
                  <a:txBody>
                    <a:bodyPr/>
                    <a:lstStyle/>
                    <a:p>
                      <a:pPr algn="l" rtl="0" fontAlgn="ctr">
                        <a:buNone/>
                      </a:pPr>
                      <a:r>
                        <a:rPr lang="en-US" sz="1200" b="0" i="0" u="none" strike="noStrike" dirty="0">
                          <a:solidFill>
                            <a:srgbClr val="000000"/>
                          </a:solidFill>
                          <a:effectLst/>
                          <a:latin typeface="Tahoma" panose="020B0604030504040204" pitchFamily="34" charset="0"/>
                        </a:rPr>
                        <a:t>The program is wonderful. I am a 78 year old and appreciate having the work done.</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5"/>
                  </a:ext>
                </a:extLst>
              </a:tr>
              <a:tr h="568661">
                <a:tc>
                  <a:txBody>
                    <a:bodyPr/>
                    <a:lstStyle/>
                    <a:p>
                      <a:pPr algn="l" rtl="0" fontAlgn="ctr">
                        <a:buNone/>
                      </a:pPr>
                      <a:r>
                        <a:rPr lang="en-US" sz="1200" b="0" i="0" u="none" strike="noStrike" dirty="0">
                          <a:solidFill>
                            <a:srgbClr val="000000"/>
                          </a:solidFill>
                          <a:effectLst/>
                          <a:latin typeface="Tahoma" panose="020B0604030504040204" pitchFamily="34" charset="0"/>
                        </a:rPr>
                        <a:t>This program helps a lot. I have mentioned to my friends, but not everyone is approved</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6"/>
                  </a:ext>
                </a:extLst>
              </a:tr>
              <a:tr h="382342">
                <a:tc>
                  <a:txBody>
                    <a:bodyPr/>
                    <a:lstStyle/>
                    <a:p>
                      <a:pPr algn="l" rtl="0" fontAlgn="ctr">
                        <a:buNone/>
                      </a:pPr>
                      <a:r>
                        <a:rPr lang="en-US" sz="1200" b="0" i="0" u="none" strike="noStrike" dirty="0">
                          <a:solidFill>
                            <a:srgbClr val="000000"/>
                          </a:solidFill>
                          <a:effectLst/>
                          <a:latin typeface="Tahoma" panose="020B0604030504040204" pitchFamily="34" charset="0"/>
                        </a:rPr>
                        <a:t>Try it. You will be pleased. It's worth it. You wont regret it.</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7"/>
                  </a:ext>
                </a:extLst>
              </a:tr>
              <a:tr h="196023">
                <a:tc>
                  <a:txBody>
                    <a:bodyPr/>
                    <a:lstStyle/>
                    <a:p>
                      <a:pPr algn="l" rtl="0" fontAlgn="ctr">
                        <a:buNone/>
                      </a:pPr>
                      <a:r>
                        <a:rPr lang="en-US" sz="1200" b="0" i="0" u="none" strike="noStrike" dirty="0">
                          <a:solidFill>
                            <a:srgbClr val="000000"/>
                          </a:solidFill>
                          <a:effectLst/>
                          <a:latin typeface="Tahoma" panose="020B0604030504040204" pitchFamily="34" charset="0"/>
                        </a:rPr>
                        <a:t>Weatherization helped</a:t>
                      </a:r>
                    </a:p>
                  </a:txBody>
                  <a:tcPr marR="9525" marT="9525" marB="0" anchor="ctr">
                    <a:solidFill>
                      <a:srgbClr val="E0E5F0"/>
                    </a:solidFill>
                  </a:tcPr>
                </a:tc>
                <a:tc>
                  <a:txBody>
                    <a:bodyPr/>
                    <a:lstStyle/>
                    <a:p>
                      <a:pPr algn="ctr" rtl="0" fontAlgn="ctr">
                        <a:buNone/>
                      </a:pPr>
                      <a:r>
                        <a:rPr lang="en-US" sz="1200" b="0" i="0" u="none" strike="noStrike" dirty="0">
                          <a:solidFill>
                            <a:srgbClr val="000000"/>
                          </a:solidFill>
                          <a:effectLst/>
                          <a:latin typeface="Tahoma" panose="020B0604030504040204" pitchFamily="34" charset="0"/>
                        </a:rPr>
                        <a:t>1</a:t>
                      </a:r>
                    </a:p>
                  </a:txBody>
                  <a:tcPr marL="9525" marR="9525" marT="9525" marB="0" anchor="ctr">
                    <a:solidFill>
                      <a:srgbClr val="E0E5F0"/>
                    </a:solidFill>
                  </a:tcPr>
                </a:tc>
                <a:extLst>
                  <a:ext uri="{0D108BD9-81ED-4DB2-BD59-A6C34878D82A}">
                    <a16:rowId xmlns:a16="http://schemas.microsoft.com/office/drawing/2014/main" val="10018"/>
                  </a:ext>
                </a:extLst>
              </a:tr>
              <a:tr h="279479">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32"/>
                  </a:ext>
                </a:extLst>
              </a:tr>
            </a:tbl>
          </a:graphicData>
        </a:graphic>
      </p:graphicFrame>
    </p:spTree>
    <p:extLst>
      <p:ext uri="{BB962C8B-B14F-4D97-AF65-F5344CB8AC3E}">
        <p14:creationId xmlns:p14="http://schemas.microsoft.com/office/powerpoint/2010/main" val="3059073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53</a:t>
            </a:fld>
            <a:endParaRPr lang="en-US" altLang="en-US" sz="1400"/>
          </a:p>
        </p:txBody>
      </p:sp>
      <p:graphicFrame>
        <p:nvGraphicFramePr>
          <p:cNvPr id="23556" name="Table 1"/>
          <p:cNvGraphicFramePr>
            <a:graphicFrameLocks noGrp="1"/>
          </p:cNvGraphicFramePr>
          <p:nvPr/>
        </p:nvGraphicFramePr>
        <p:xfrm>
          <a:off x="457200" y="1554480"/>
          <a:ext cx="5943600" cy="23622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1000">
                <a:tc>
                  <a:txBody>
                    <a:bodyPr/>
                    <a:lstStyle/>
                    <a:p>
                      <a:pPr algn="ctr"/>
                      <a:r>
                        <a:rPr sz="1200" b="1" i="0">
                          <a:solidFill>
                            <a:srgbClr val="FFFFFF"/>
                          </a:solidFill>
                          <a:latin typeface="Tahoma"/>
                        </a:rPr>
                        <a:t>Gender</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381000">
                <a:tc>
                  <a:txBody>
                    <a:bodyPr/>
                    <a:lstStyle/>
                    <a:p>
                      <a:pPr algn="l"/>
                      <a:r>
                        <a:rPr sz="1200" b="0" i="0">
                          <a:solidFill>
                            <a:srgbClr val="000000"/>
                          </a:solidFill>
                          <a:latin typeface="Tahoma"/>
                        </a:rPr>
                        <a:t>Male</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45%</a:t>
                      </a:r>
                    </a:p>
                  </a:txBody>
                  <a:tcPr anchor="ctr">
                    <a:solidFill>
                      <a:srgbClr val="E0E5F0"/>
                    </a:solidFill>
                  </a:tcPr>
                </a:tc>
                <a:extLst>
                  <a:ext uri="{0D108BD9-81ED-4DB2-BD59-A6C34878D82A}">
                    <a16:rowId xmlns:a16="http://schemas.microsoft.com/office/drawing/2014/main" val="10001"/>
                  </a:ext>
                </a:extLst>
              </a:tr>
              <a:tr h="381000">
                <a:tc>
                  <a:txBody>
                    <a:bodyPr/>
                    <a:lstStyle/>
                    <a:p>
                      <a:pPr algn="l"/>
                      <a:r>
                        <a:rPr sz="1200" b="0" i="0">
                          <a:solidFill>
                            <a:srgbClr val="000000"/>
                          </a:solidFill>
                          <a:latin typeface="Tahoma"/>
                        </a:rPr>
                        <a:t>Female</a:t>
                      </a:r>
                    </a:p>
                  </a:txBody>
                  <a:tcPr anchor="ctr">
                    <a:solidFill>
                      <a:srgbClr val="E0E5F0"/>
                    </a:solidFill>
                  </a:tcPr>
                </a:tc>
                <a:tc>
                  <a:txBody>
                    <a:bodyPr/>
                    <a:lstStyle/>
                    <a:p>
                      <a:pPr algn="ctr"/>
                      <a:r>
                        <a:rPr sz="1200" b="0" i="0">
                          <a:solidFill>
                            <a:srgbClr val="000000"/>
                          </a:solidFill>
                          <a:latin typeface="Tahoma"/>
                        </a:rPr>
                        <a:t>70%</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extLst>
                  <a:ext uri="{0D108BD9-81ED-4DB2-BD59-A6C34878D82A}">
                    <a16:rowId xmlns:a16="http://schemas.microsoft.com/office/drawing/2014/main" val="10002"/>
                  </a:ext>
                </a:extLst>
              </a:tr>
              <a:tr h="381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3"/>
                  </a:ext>
                </a:extLst>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extLst>
                  <a:ext uri="{0D108BD9-81ED-4DB2-BD59-A6C34878D82A}">
                    <a16:rowId xmlns:a16="http://schemas.microsoft.com/office/drawing/2014/main" val="10005"/>
                  </a:ext>
                </a:extLst>
              </a:tr>
            </a:tbl>
          </a:graphicData>
        </a:graphic>
      </p:graphicFrame>
      <p:graphicFrame>
        <p:nvGraphicFramePr>
          <p:cNvPr id="23557" name="Table 2"/>
          <p:cNvGraphicFramePr>
            <a:graphicFrameLocks noGrp="1"/>
          </p:cNvGraphicFramePr>
          <p:nvPr/>
        </p:nvGraphicFramePr>
        <p:xfrm>
          <a:off x="457200" y="4114800"/>
          <a:ext cx="5943600" cy="283464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54000">
                <a:tc>
                  <a:txBody>
                    <a:bodyPr/>
                    <a:lstStyle/>
                    <a:p>
                      <a:pPr algn="ctr"/>
                      <a:r>
                        <a:rPr sz="1200" b="1" i="0">
                          <a:solidFill>
                            <a:srgbClr val="FFFFFF"/>
                          </a:solidFill>
                          <a:latin typeface="Tahoma"/>
                        </a:rPr>
                        <a:t>Age</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254000">
                <a:tc>
                  <a:txBody>
                    <a:bodyPr/>
                    <a:lstStyle/>
                    <a:p>
                      <a:pPr algn="l"/>
                      <a:r>
                        <a:rPr sz="1200" b="0" i="0">
                          <a:solidFill>
                            <a:srgbClr val="000000"/>
                          </a:solidFill>
                          <a:latin typeface="Tahoma"/>
                        </a:rPr>
                        <a:t>25 to 34</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extLst>
                  <a:ext uri="{0D108BD9-81ED-4DB2-BD59-A6C34878D82A}">
                    <a16:rowId xmlns:a16="http://schemas.microsoft.com/office/drawing/2014/main" val="10001"/>
                  </a:ext>
                </a:extLst>
              </a:tr>
              <a:tr h="254000">
                <a:tc>
                  <a:txBody>
                    <a:bodyPr/>
                    <a:lstStyle/>
                    <a:p>
                      <a:pPr algn="l"/>
                      <a:r>
                        <a:rPr sz="1200" b="0" i="0">
                          <a:solidFill>
                            <a:srgbClr val="000000"/>
                          </a:solidFill>
                          <a:latin typeface="Tahoma"/>
                        </a:rPr>
                        <a:t>35 to 44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extLst>
                  <a:ext uri="{0D108BD9-81ED-4DB2-BD59-A6C34878D82A}">
                    <a16:rowId xmlns:a16="http://schemas.microsoft.com/office/drawing/2014/main" val="10002"/>
                  </a:ext>
                </a:extLst>
              </a:tr>
              <a:tr h="254000">
                <a:tc>
                  <a:txBody>
                    <a:bodyPr/>
                    <a:lstStyle/>
                    <a:p>
                      <a:pPr algn="l"/>
                      <a:r>
                        <a:rPr sz="1200" b="0" i="0">
                          <a:solidFill>
                            <a:srgbClr val="000000"/>
                          </a:solidFill>
                          <a:latin typeface="Tahoma"/>
                        </a:rPr>
                        <a:t>45 to 54</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3"/>
                  </a:ext>
                </a:extLst>
              </a:tr>
              <a:tr h="254000">
                <a:tc>
                  <a:txBody>
                    <a:bodyPr/>
                    <a:lstStyle/>
                    <a:p>
                      <a:pPr algn="l"/>
                      <a:r>
                        <a:rPr sz="1200" b="0" i="0">
                          <a:solidFill>
                            <a:srgbClr val="000000"/>
                          </a:solidFill>
                          <a:latin typeface="Tahoma"/>
                        </a:rPr>
                        <a:t>55 to 64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extLst>
                  <a:ext uri="{0D108BD9-81ED-4DB2-BD59-A6C34878D82A}">
                    <a16:rowId xmlns:a16="http://schemas.microsoft.com/office/drawing/2014/main" val="10004"/>
                  </a:ext>
                </a:extLst>
              </a:tr>
              <a:tr h="254000">
                <a:tc>
                  <a:txBody>
                    <a:bodyPr/>
                    <a:lstStyle/>
                    <a:p>
                      <a:pPr algn="l"/>
                      <a:r>
                        <a:rPr sz="1200" b="0" i="0">
                          <a:solidFill>
                            <a:srgbClr val="000000"/>
                          </a:solidFill>
                          <a:latin typeface="Tahoma"/>
                        </a:rPr>
                        <a:t>65 years or older</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59%</a:t>
                      </a:r>
                    </a:p>
                  </a:txBody>
                  <a:tcPr anchor="ctr">
                    <a:solidFill>
                      <a:srgbClr val="E0E5F0"/>
                    </a:solidFill>
                  </a:tcPr>
                </a:tc>
                <a:tc>
                  <a:txBody>
                    <a:bodyPr/>
                    <a:lstStyle/>
                    <a:p>
                      <a:pPr algn="ctr"/>
                      <a:r>
                        <a:rPr sz="1200" b="0" i="0">
                          <a:solidFill>
                            <a:srgbClr val="000000"/>
                          </a:solidFill>
                          <a:latin typeface="Tahoma"/>
                        </a:rPr>
                        <a:t>37%</a:t>
                      </a:r>
                    </a:p>
                  </a:txBody>
                  <a:tcPr anchor="ctr">
                    <a:solidFill>
                      <a:srgbClr val="E0E5F0"/>
                    </a:solidFill>
                  </a:tcPr>
                </a:tc>
                <a:extLst>
                  <a:ext uri="{0D108BD9-81ED-4DB2-BD59-A6C34878D82A}">
                    <a16:rowId xmlns:a16="http://schemas.microsoft.com/office/drawing/2014/main" val="10005"/>
                  </a:ext>
                </a:extLst>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extLst>
                  <a:ext uri="{0D108BD9-81ED-4DB2-BD59-A6C34878D82A}">
                    <a16:rowId xmlns:a16="http://schemas.microsoft.com/office/drawing/2014/main" val="10006"/>
                  </a:ext>
                </a:extLst>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94199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54</a:t>
            </a:fld>
            <a:endParaRPr lang="en-US" altLang="en-US" sz="1400"/>
          </a:p>
        </p:txBody>
      </p:sp>
      <p:graphicFrame>
        <p:nvGraphicFramePr>
          <p:cNvPr id="23556" name="Table 3"/>
          <p:cNvGraphicFramePr>
            <a:graphicFrameLocks noGrp="1"/>
          </p:cNvGraphicFramePr>
          <p:nvPr/>
        </p:nvGraphicFramePr>
        <p:xfrm>
          <a:off x="457200" y="1554480"/>
          <a:ext cx="5943600" cy="402336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228600">
                <a:tc>
                  <a:txBody>
                    <a:bodyPr/>
                    <a:lstStyle/>
                    <a:p>
                      <a:pPr algn="ctr"/>
                      <a:r>
                        <a:rPr sz="1200" b="1" i="0">
                          <a:solidFill>
                            <a:srgbClr val="FFFFFF"/>
                          </a:solidFill>
                          <a:latin typeface="Tahoma"/>
                        </a:rPr>
                        <a:t>Ethnicity</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228600">
                <a:tc>
                  <a:txBody>
                    <a:bodyPr/>
                    <a:lstStyle/>
                    <a:p>
                      <a:pPr algn="l"/>
                      <a:r>
                        <a:rPr sz="1200" b="0" i="0">
                          <a:solidFill>
                            <a:srgbClr val="000000"/>
                          </a:solidFill>
                          <a:latin typeface="Tahoma"/>
                        </a:rPr>
                        <a:t>White</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51%</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extLst>
                  <a:ext uri="{0D108BD9-81ED-4DB2-BD59-A6C34878D82A}">
                    <a16:rowId xmlns:a16="http://schemas.microsoft.com/office/drawing/2014/main" val="10001"/>
                  </a:ext>
                </a:extLst>
              </a:tr>
              <a:tr h="228600">
                <a:tc>
                  <a:txBody>
                    <a:bodyPr/>
                    <a:lstStyle/>
                    <a:p>
                      <a:pPr algn="l"/>
                      <a:r>
                        <a:rPr sz="1200" b="0" i="0">
                          <a:solidFill>
                            <a:srgbClr val="000000"/>
                          </a:solidFill>
                          <a:latin typeface="Tahoma"/>
                        </a:rPr>
                        <a:t>Hispanic</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extLst>
                  <a:ext uri="{0D108BD9-81ED-4DB2-BD59-A6C34878D82A}">
                    <a16:rowId xmlns:a16="http://schemas.microsoft.com/office/drawing/2014/main" val="10002"/>
                  </a:ext>
                </a:extLst>
              </a:tr>
              <a:tr h="228600">
                <a:tc>
                  <a:txBody>
                    <a:bodyPr/>
                    <a:lstStyle/>
                    <a:p>
                      <a:pPr algn="l"/>
                      <a:r>
                        <a:rPr sz="1200" b="0" i="0">
                          <a:solidFill>
                            <a:srgbClr val="000000"/>
                          </a:solidFill>
                          <a:latin typeface="Tahoma"/>
                        </a:rPr>
                        <a:t>African American</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extLst>
                  <a:ext uri="{0D108BD9-81ED-4DB2-BD59-A6C34878D82A}">
                    <a16:rowId xmlns:a16="http://schemas.microsoft.com/office/drawing/2014/main" val="10003"/>
                  </a:ext>
                </a:extLst>
              </a:tr>
              <a:tr h="228600">
                <a:tc>
                  <a:txBody>
                    <a:bodyPr/>
                    <a:lstStyle/>
                    <a:p>
                      <a:pPr algn="l"/>
                      <a:r>
                        <a:rPr sz="1200" b="0" i="0">
                          <a:solidFill>
                            <a:srgbClr val="000000"/>
                          </a:solidFill>
                          <a:latin typeface="Tahoma"/>
                        </a:rPr>
                        <a:t>Two or more races</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extLst>
                  <a:ext uri="{0D108BD9-81ED-4DB2-BD59-A6C34878D82A}">
                    <a16:rowId xmlns:a16="http://schemas.microsoft.com/office/drawing/2014/main" val="10004"/>
                  </a:ext>
                </a:extLst>
              </a:tr>
              <a:tr h="228600">
                <a:tc>
                  <a:txBody>
                    <a:bodyPr/>
                    <a:lstStyle/>
                    <a:p>
                      <a:pPr algn="l"/>
                      <a:r>
                        <a:rPr sz="1200" b="0" i="0">
                          <a:solidFill>
                            <a:srgbClr val="000000"/>
                          </a:solidFill>
                          <a:latin typeface="Tahoma"/>
                        </a:rPr>
                        <a:t>Asian or Pacific Islander</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228600">
                <a:tc>
                  <a:txBody>
                    <a:bodyPr/>
                    <a:lstStyle/>
                    <a:p>
                      <a:pPr algn="l"/>
                      <a:r>
                        <a:rPr sz="1200" b="0" i="0">
                          <a:solidFill>
                            <a:srgbClr val="000000"/>
                          </a:solidFill>
                          <a:latin typeface="Tahoma"/>
                        </a:rPr>
                        <a:t>Aleutian, Eskimo, or American Indian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228600">
                <a:tc>
                  <a:txBody>
                    <a:bodyPr/>
                    <a:lstStyle/>
                    <a:p>
                      <a:pPr algn="l"/>
                      <a:r>
                        <a:rPr sz="1200" b="0" i="0">
                          <a:solidFill>
                            <a:srgbClr val="000000"/>
                          </a:solidFill>
                          <a:latin typeface="Tahoma"/>
                        </a:rPr>
                        <a:t>Other</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extLst>
                  <a:ext uri="{0D108BD9-81ED-4DB2-BD59-A6C34878D82A}">
                    <a16:rowId xmlns:a16="http://schemas.microsoft.com/office/drawing/2014/main" val="10008"/>
                  </a:ext>
                </a:extLst>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55</a:t>
            </a:fld>
            <a:endParaRPr lang="en-US" altLang="en-US" sz="1400"/>
          </a:p>
        </p:txBody>
      </p:sp>
      <p:graphicFrame>
        <p:nvGraphicFramePr>
          <p:cNvPr id="23556" name="Table 1"/>
          <p:cNvGraphicFramePr>
            <a:graphicFrameLocks noGrp="1"/>
          </p:cNvGraphicFramePr>
          <p:nvPr>
            <p:extLst>
              <p:ext uri="{D42A27DB-BD31-4B8C-83A1-F6EECF244321}">
                <p14:modId xmlns:p14="http://schemas.microsoft.com/office/powerpoint/2010/main" val="2229155644"/>
              </p:ext>
            </p:extLst>
          </p:nvPr>
        </p:nvGraphicFramePr>
        <p:xfrm>
          <a:off x="457200" y="1554480"/>
          <a:ext cx="5943600" cy="2468880"/>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20000"/>
                    </a:ext>
                  </a:extLst>
                </a:gridCol>
                <a:gridCol w="1059180">
                  <a:extLst>
                    <a:ext uri="{9D8B030D-6E8A-4147-A177-3AD203B41FA5}">
                      <a16:colId xmlns:a16="http://schemas.microsoft.com/office/drawing/2014/main" val="20001"/>
                    </a:ext>
                  </a:extLst>
                </a:gridCol>
                <a:gridCol w="1059180">
                  <a:extLst>
                    <a:ext uri="{9D8B030D-6E8A-4147-A177-3AD203B41FA5}">
                      <a16:colId xmlns:a16="http://schemas.microsoft.com/office/drawing/2014/main" val="20002"/>
                    </a:ext>
                  </a:extLst>
                </a:gridCol>
                <a:gridCol w="1059180">
                  <a:extLst>
                    <a:ext uri="{9D8B030D-6E8A-4147-A177-3AD203B41FA5}">
                      <a16:colId xmlns:a16="http://schemas.microsoft.com/office/drawing/2014/main" val="20003"/>
                    </a:ext>
                  </a:extLst>
                </a:gridCol>
                <a:gridCol w="1059180">
                  <a:extLst>
                    <a:ext uri="{9D8B030D-6E8A-4147-A177-3AD203B41FA5}">
                      <a16:colId xmlns:a16="http://schemas.microsoft.com/office/drawing/2014/main" val="20004"/>
                    </a:ext>
                  </a:extLst>
                </a:gridCol>
              </a:tblGrid>
              <a:tr h="254000">
                <a:tc>
                  <a:txBody>
                    <a:bodyPr/>
                    <a:lstStyle/>
                    <a:p>
                      <a:pPr algn="ctr"/>
                      <a:r>
                        <a:rPr sz="1200" b="1" i="0">
                          <a:solidFill>
                            <a:srgbClr val="FFFFFF"/>
                          </a:solidFill>
                          <a:latin typeface="Tahoma"/>
                        </a:rPr>
                        <a:t>Education</a:t>
                      </a:r>
                    </a:p>
                  </a:txBody>
                  <a:tcPr anchor="ctr">
                    <a:solidFill>
                      <a:srgbClr val="5A80B8"/>
                    </a:solidFill>
                  </a:tcPr>
                </a:tc>
                <a:tc>
                  <a:txBody>
                    <a:bodyPr/>
                    <a:lstStyle/>
                    <a:p>
                      <a:pPr algn="ctr"/>
                      <a:r>
                        <a:rPr sz="1200" b="1" i="0" dirty="0">
                          <a:solidFill>
                            <a:srgbClr val="FFFFFF"/>
                          </a:solidFill>
                          <a:latin typeface="Tahoma"/>
                        </a:rPr>
                        <a:t>Q4 2024</a:t>
                      </a:r>
                    </a:p>
                  </a:txBody>
                  <a:tcPr anchor="ctr">
                    <a:solidFill>
                      <a:srgbClr val="5A80B8"/>
                    </a:solidFill>
                  </a:tcPr>
                </a:tc>
                <a:tc>
                  <a:txBody>
                    <a:bodyPr/>
                    <a:lstStyle/>
                    <a:p>
                      <a:pPr algn="ctr"/>
                      <a:r>
                        <a:rPr sz="1200" b="1" i="0" dirty="0">
                          <a:solidFill>
                            <a:srgbClr val="FFFFFF"/>
                          </a:solidFill>
                          <a:latin typeface="Tahoma"/>
                        </a:rPr>
                        <a:t>Q1 2025</a:t>
                      </a:r>
                    </a:p>
                  </a:txBody>
                  <a:tcPr anchor="ctr">
                    <a:solidFill>
                      <a:srgbClr val="5A80B8"/>
                    </a:solidFill>
                  </a:tcPr>
                </a:tc>
                <a:tc>
                  <a:txBody>
                    <a:bodyPr/>
                    <a:lstStyle/>
                    <a:p>
                      <a:pPr algn="ctr"/>
                      <a:r>
                        <a:rPr sz="1200" b="1" i="0" dirty="0">
                          <a:solidFill>
                            <a:srgbClr val="FFFFFF"/>
                          </a:solidFill>
                          <a:latin typeface="Tahoma"/>
                        </a:rPr>
                        <a:t>Q2 2025</a:t>
                      </a:r>
                    </a:p>
                  </a:txBody>
                  <a:tcPr anchor="ctr">
                    <a:solidFill>
                      <a:srgbClr val="5A80B8"/>
                    </a:solidFill>
                  </a:tcPr>
                </a:tc>
                <a:tc>
                  <a:txBody>
                    <a:bodyPr/>
                    <a:lstStyle/>
                    <a:p>
                      <a:pPr algn="ctr"/>
                      <a:r>
                        <a:rPr sz="1200" b="1" i="0" dirty="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25400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1"/>
                  </a:ext>
                </a:extLst>
              </a:tr>
              <a:tr h="25400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dirty="0">
                          <a:solidFill>
                            <a:srgbClr val="000000"/>
                          </a:solidFill>
                          <a:latin typeface="Tahoma"/>
                        </a:rPr>
                        <a:t>18%</a:t>
                      </a:r>
                    </a:p>
                  </a:txBody>
                  <a:tcPr anchor="ctr">
                    <a:solidFill>
                      <a:srgbClr val="E0E5F0"/>
                    </a:solidFill>
                  </a:tcPr>
                </a:tc>
                <a:extLst>
                  <a:ext uri="{0D108BD9-81ED-4DB2-BD59-A6C34878D82A}">
                    <a16:rowId xmlns:a16="http://schemas.microsoft.com/office/drawing/2014/main" val="10002"/>
                  </a:ext>
                </a:extLst>
              </a:tr>
              <a:tr h="25400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dirty="0">
                          <a:solidFill>
                            <a:srgbClr val="000000"/>
                          </a:solidFill>
                          <a:latin typeface="Tahoma"/>
                        </a:rPr>
                        <a:t>29%</a:t>
                      </a:r>
                    </a:p>
                  </a:txBody>
                  <a:tcPr anchor="ctr">
                    <a:solidFill>
                      <a:srgbClr val="E0E5F0"/>
                    </a:solidFill>
                  </a:tcPr>
                </a:tc>
                <a:extLst>
                  <a:ext uri="{0D108BD9-81ED-4DB2-BD59-A6C34878D82A}">
                    <a16:rowId xmlns:a16="http://schemas.microsoft.com/office/drawing/2014/main" val="10003"/>
                  </a:ext>
                </a:extLst>
              </a:tr>
              <a:tr h="25400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42%</a:t>
                      </a:r>
                    </a:p>
                  </a:txBody>
                  <a:tcPr anchor="ctr">
                    <a:solidFill>
                      <a:srgbClr val="E0E5F0"/>
                    </a:solidFill>
                  </a:tcPr>
                </a:tc>
                <a:tc>
                  <a:txBody>
                    <a:bodyPr/>
                    <a:lstStyle/>
                    <a:p>
                      <a:pPr algn="ctr"/>
                      <a:r>
                        <a:rPr sz="1200" b="0" i="0">
                          <a:solidFill>
                            <a:srgbClr val="000000"/>
                          </a:solidFill>
                          <a:latin typeface="Tahoma"/>
                        </a:rPr>
                        <a:t>35%</a:t>
                      </a:r>
                    </a:p>
                  </a:txBody>
                  <a:tcPr anchor="ctr">
                    <a:solidFill>
                      <a:srgbClr val="E0E5F0"/>
                    </a:solidFill>
                  </a:tcPr>
                </a:tc>
                <a:tc>
                  <a:txBody>
                    <a:bodyPr/>
                    <a:lstStyle/>
                    <a:p>
                      <a:pPr algn="ctr"/>
                      <a:r>
                        <a:rPr sz="1200" b="0" i="0" dirty="0">
                          <a:solidFill>
                            <a:srgbClr val="000000"/>
                          </a:solidFill>
                          <a:latin typeface="Tahoma"/>
                        </a:rPr>
                        <a:t>39%</a:t>
                      </a:r>
                    </a:p>
                  </a:txBody>
                  <a:tcPr anchor="ctr">
                    <a:solidFill>
                      <a:srgbClr val="E0E5F0"/>
                    </a:solidFill>
                  </a:tcPr>
                </a:tc>
                <a:extLst>
                  <a:ext uri="{0D108BD9-81ED-4DB2-BD59-A6C34878D82A}">
                    <a16:rowId xmlns:a16="http://schemas.microsoft.com/office/drawing/2014/main" val="10004"/>
                  </a:ext>
                </a:extLst>
              </a:tr>
              <a:tr h="25400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5"/>
                  </a:ext>
                </a:extLst>
              </a:tr>
              <a:tr h="254000">
                <a:tc>
                  <a:txBody>
                    <a:bodyPr/>
                    <a:lstStyle/>
                    <a:p>
                      <a:pPr algn="l"/>
                      <a:r>
                        <a:rPr sz="1200" b="0" i="0">
                          <a:solidFill>
                            <a:srgbClr val="000000"/>
                          </a:solidFill>
                          <a:latin typeface="Tahoma"/>
                        </a:rPr>
                        <a:t>Do not know/unsure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dirty="0">
                          <a:solidFill>
                            <a:srgbClr val="000000"/>
                          </a:solidFill>
                          <a:latin typeface="Tahoma"/>
                        </a:rPr>
                        <a:t>11%</a:t>
                      </a:r>
                    </a:p>
                  </a:txBody>
                  <a:tcPr anchor="ctr">
                    <a:solidFill>
                      <a:srgbClr val="E0E5F0"/>
                    </a:solidFill>
                  </a:tcPr>
                </a:tc>
                <a:extLst>
                  <a:ext uri="{0D108BD9-81ED-4DB2-BD59-A6C34878D82A}">
                    <a16:rowId xmlns:a16="http://schemas.microsoft.com/office/drawing/2014/main" val="10007"/>
                  </a:ext>
                </a:extLst>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08"/>
                  </a:ext>
                </a:extLst>
              </a:tr>
            </a:tbl>
          </a:graphicData>
        </a:graphic>
      </p:graphicFrame>
      <p:graphicFrame>
        <p:nvGraphicFramePr>
          <p:cNvPr id="23557" name="Table 5"/>
          <p:cNvGraphicFramePr>
            <a:graphicFrameLocks noGrp="1"/>
          </p:cNvGraphicFramePr>
          <p:nvPr>
            <p:extLst>
              <p:ext uri="{D42A27DB-BD31-4B8C-83A1-F6EECF244321}">
                <p14:modId xmlns:p14="http://schemas.microsoft.com/office/powerpoint/2010/main" val="686192212"/>
              </p:ext>
            </p:extLst>
          </p:nvPr>
        </p:nvGraphicFramePr>
        <p:xfrm>
          <a:off x="457200" y="5181600"/>
          <a:ext cx="5943600" cy="2164080"/>
        </p:xfrm>
        <a:graphic>
          <a:graphicData uri="http://schemas.openxmlformats.org/drawingml/2006/table">
            <a:tbl>
              <a:tblPr firstRow="1" bandRow="1">
                <a:tableStyleId>{5C22544A-7EE6-4342-B048-85BDC9FD1C3A}</a:tableStyleId>
              </a:tblPr>
              <a:tblGrid>
                <a:gridCol w="1661160">
                  <a:extLst>
                    <a:ext uri="{9D8B030D-6E8A-4147-A177-3AD203B41FA5}">
                      <a16:colId xmlns:a16="http://schemas.microsoft.com/office/drawing/2014/main" val="20000"/>
                    </a:ext>
                  </a:extLst>
                </a:gridCol>
                <a:gridCol w="1070610">
                  <a:extLst>
                    <a:ext uri="{9D8B030D-6E8A-4147-A177-3AD203B41FA5}">
                      <a16:colId xmlns:a16="http://schemas.microsoft.com/office/drawing/2014/main" val="20001"/>
                    </a:ext>
                  </a:extLst>
                </a:gridCol>
                <a:gridCol w="1070610">
                  <a:extLst>
                    <a:ext uri="{9D8B030D-6E8A-4147-A177-3AD203B41FA5}">
                      <a16:colId xmlns:a16="http://schemas.microsoft.com/office/drawing/2014/main" val="20002"/>
                    </a:ext>
                  </a:extLst>
                </a:gridCol>
                <a:gridCol w="1070610">
                  <a:extLst>
                    <a:ext uri="{9D8B030D-6E8A-4147-A177-3AD203B41FA5}">
                      <a16:colId xmlns:a16="http://schemas.microsoft.com/office/drawing/2014/main" val="20003"/>
                    </a:ext>
                  </a:extLst>
                </a:gridCol>
                <a:gridCol w="1070610">
                  <a:extLst>
                    <a:ext uri="{9D8B030D-6E8A-4147-A177-3AD203B41FA5}">
                      <a16:colId xmlns:a16="http://schemas.microsoft.com/office/drawing/2014/main" val="20004"/>
                    </a:ext>
                  </a:extLst>
                </a:gridCol>
              </a:tblGrid>
              <a:tr h="381000">
                <a:tc>
                  <a:txBody>
                    <a:bodyPr/>
                    <a:lstStyle/>
                    <a:p>
                      <a:pPr algn="ctr"/>
                      <a:r>
                        <a:rPr sz="1200" b="1" i="0">
                          <a:solidFill>
                            <a:srgbClr val="FFFFFF"/>
                          </a:solidFill>
                          <a:latin typeface="Tahoma"/>
                        </a:rPr>
                        <a:t>Have Anyone Under the Age of 18 Living In Home</a:t>
                      </a:r>
                    </a:p>
                  </a:txBody>
                  <a:tcPr anchor="ctr">
                    <a:solidFill>
                      <a:srgbClr val="5A80B8"/>
                    </a:solidFill>
                  </a:tcPr>
                </a:tc>
                <a:tc>
                  <a:txBody>
                    <a:bodyPr/>
                    <a:lstStyle/>
                    <a:p>
                      <a:pPr algn="ctr"/>
                      <a:r>
                        <a:rPr sz="1200" b="1" i="0" dirty="0">
                          <a:solidFill>
                            <a:srgbClr val="FFFFFF"/>
                          </a:solidFill>
                          <a:latin typeface="Tahoma"/>
                        </a:rPr>
                        <a:t>Q4 2024</a:t>
                      </a:r>
                    </a:p>
                  </a:txBody>
                  <a:tcPr anchor="ctr">
                    <a:solidFill>
                      <a:srgbClr val="5A80B8"/>
                    </a:solidFill>
                  </a:tcPr>
                </a:tc>
                <a:tc>
                  <a:txBody>
                    <a:bodyPr/>
                    <a:lstStyle/>
                    <a:p>
                      <a:pPr algn="ctr"/>
                      <a:r>
                        <a:rPr sz="1200" b="1" i="0" dirty="0">
                          <a:solidFill>
                            <a:srgbClr val="FFFFFF"/>
                          </a:solidFill>
                          <a:latin typeface="Tahoma"/>
                        </a:rPr>
                        <a:t>Q1 2025</a:t>
                      </a:r>
                    </a:p>
                  </a:txBody>
                  <a:tcPr anchor="ctr">
                    <a:solidFill>
                      <a:srgbClr val="5A80B8"/>
                    </a:solidFill>
                  </a:tcPr>
                </a:tc>
                <a:tc>
                  <a:txBody>
                    <a:bodyPr/>
                    <a:lstStyle/>
                    <a:p>
                      <a:pPr algn="ctr"/>
                      <a:r>
                        <a:rPr sz="1200" b="1" i="0" dirty="0">
                          <a:solidFill>
                            <a:srgbClr val="FFFFFF"/>
                          </a:solidFill>
                          <a:latin typeface="Tahoma"/>
                        </a:rPr>
                        <a:t>Q2 2025</a:t>
                      </a:r>
                    </a:p>
                  </a:txBody>
                  <a:tcPr anchor="ctr">
                    <a:solidFill>
                      <a:srgbClr val="5A80B8"/>
                    </a:solidFill>
                  </a:tcPr>
                </a:tc>
                <a:tc>
                  <a:txBody>
                    <a:bodyPr/>
                    <a:lstStyle/>
                    <a:p>
                      <a:pPr algn="ctr"/>
                      <a:r>
                        <a:rPr sz="1200" b="1" i="0" dirty="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381000">
                <a:tc>
                  <a:txBody>
                    <a:bodyPr/>
                    <a:lstStyle/>
                    <a:p>
                      <a:pPr algn="l"/>
                      <a:r>
                        <a:rPr sz="1200" b="0" i="0">
                          <a:solidFill>
                            <a:srgbClr val="000000"/>
                          </a:solidFill>
                          <a:latin typeface="Tahoma"/>
                        </a:rPr>
                        <a:t>Yes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dirty="0">
                          <a:solidFill>
                            <a:srgbClr val="000000"/>
                          </a:solidFill>
                          <a:latin typeface="Tahoma"/>
                        </a:rPr>
                        <a:t>24%</a:t>
                      </a:r>
                    </a:p>
                  </a:txBody>
                  <a:tcPr anchor="ctr">
                    <a:solidFill>
                      <a:srgbClr val="E0E5F0"/>
                    </a:solidFill>
                  </a:tcPr>
                </a:tc>
                <a:tc>
                  <a:txBody>
                    <a:bodyPr/>
                    <a:lstStyle/>
                    <a:p>
                      <a:pPr algn="ctr"/>
                      <a:r>
                        <a:rPr sz="1200" b="0" i="0" dirty="0">
                          <a:solidFill>
                            <a:srgbClr val="000000"/>
                          </a:solidFill>
                          <a:latin typeface="Tahoma"/>
                        </a:rPr>
                        <a:t>11%</a:t>
                      </a:r>
                    </a:p>
                  </a:txBody>
                  <a:tcPr anchor="ctr">
                    <a:solidFill>
                      <a:srgbClr val="E0E5F0"/>
                    </a:solidFill>
                  </a:tcPr>
                </a:tc>
                <a:tc>
                  <a:txBody>
                    <a:bodyPr/>
                    <a:lstStyle/>
                    <a:p>
                      <a:pPr algn="ctr"/>
                      <a:r>
                        <a:rPr sz="1200" b="0" i="0" dirty="0">
                          <a:solidFill>
                            <a:srgbClr val="000000"/>
                          </a:solidFill>
                          <a:latin typeface="Tahoma"/>
                        </a:rPr>
                        <a:t>26%</a:t>
                      </a:r>
                    </a:p>
                  </a:txBody>
                  <a:tcPr anchor="ctr">
                    <a:solidFill>
                      <a:srgbClr val="E0E5F0"/>
                    </a:solidFill>
                  </a:tcPr>
                </a:tc>
                <a:extLst>
                  <a:ext uri="{0D108BD9-81ED-4DB2-BD59-A6C34878D82A}">
                    <a16:rowId xmlns:a16="http://schemas.microsoft.com/office/drawing/2014/main" val="10001"/>
                  </a:ext>
                </a:extLst>
              </a:tr>
              <a:tr h="38100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91%</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c>
                  <a:txBody>
                    <a:bodyPr/>
                    <a:lstStyle/>
                    <a:p>
                      <a:pPr algn="ctr"/>
                      <a:r>
                        <a:rPr sz="1200" b="0" i="0">
                          <a:solidFill>
                            <a:srgbClr val="000000"/>
                          </a:solidFill>
                          <a:latin typeface="Tahoma"/>
                        </a:rPr>
                        <a:t>85%</a:t>
                      </a:r>
                    </a:p>
                  </a:txBody>
                  <a:tcPr anchor="ctr">
                    <a:solidFill>
                      <a:srgbClr val="E0E5F0"/>
                    </a:solidFill>
                  </a:tcPr>
                </a:tc>
                <a:tc>
                  <a:txBody>
                    <a:bodyPr/>
                    <a:lstStyle/>
                    <a:p>
                      <a:pPr algn="ctr"/>
                      <a:r>
                        <a:rPr sz="1200" b="0" i="0" dirty="0">
                          <a:solidFill>
                            <a:srgbClr val="000000"/>
                          </a:solidFill>
                          <a:latin typeface="Tahoma"/>
                        </a:rPr>
                        <a:t>71%</a:t>
                      </a:r>
                    </a:p>
                  </a:txBody>
                  <a:tcPr anchor="ctr">
                    <a:solidFill>
                      <a:srgbClr val="E0E5F0"/>
                    </a:solidFill>
                  </a:tcPr>
                </a:tc>
                <a:extLst>
                  <a:ext uri="{0D108BD9-81ED-4DB2-BD59-A6C34878D82A}">
                    <a16:rowId xmlns:a16="http://schemas.microsoft.com/office/drawing/2014/main" val="10002"/>
                  </a:ext>
                </a:extLst>
              </a:tr>
              <a:tr h="381000">
                <a:tc>
                  <a:txBody>
                    <a:bodyPr/>
                    <a:lstStyle/>
                    <a:p>
                      <a:pPr algn="l"/>
                      <a:r>
                        <a:rPr sz="1200" b="0" i="0" dirty="0">
                          <a:solidFill>
                            <a:srgbClr val="000000"/>
                          </a:solidFill>
                          <a:latin typeface="Tahoma"/>
                        </a:rPr>
                        <a:t>Refused</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tc>
                  <a:txBody>
                    <a:bodyPr/>
                    <a:lstStyle/>
                    <a:p>
                      <a:pPr algn="ctr"/>
                      <a:r>
                        <a:rPr lang="en-US" sz="1200" b="0" i="0" dirty="0">
                          <a:solidFill>
                            <a:srgbClr val="000000"/>
                          </a:solidFill>
                          <a:latin typeface="Tahoma"/>
                        </a:rPr>
                        <a:t>5</a:t>
                      </a:r>
                      <a:r>
                        <a:rPr sz="1200" b="0" i="0" dirty="0">
                          <a:solidFill>
                            <a:srgbClr val="000000"/>
                          </a:solidFill>
                          <a:latin typeface="Tahoma"/>
                        </a:rPr>
                        <a:t>%</a:t>
                      </a:r>
                    </a:p>
                  </a:txBody>
                  <a:tcPr anchor="ctr">
                    <a:solidFill>
                      <a:srgbClr val="E0E5F0"/>
                    </a:solidFill>
                  </a:tcPr>
                </a:tc>
                <a:tc>
                  <a:txBody>
                    <a:bodyPr/>
                    <a:lstStyle/>
                    <a:p>
                      <a:pPr algn="ctr"/>
                      <a:r>
                        <a:rPr sz="1200" b="0" i="0" dirty="0">
                          <a:solidFill>
                            <a:srgbClr val="000000"/>
                          </a:solidFill>
                          <a:latin typeface="Tahoma"/>
                        </a:rPr>
                        <a:t>4%</a:t>
                      </a:r>
                    </a:p>
                  </a:txBody>
                  <a:tcPr anchor="ctr">
                    <a:solidFill>
                      <a:srgbClr val="E0E5F0"/>
                    </a:solidFill>
                  </a:tcPr>
                </a:tc>
                <a:tc>
                  <a:txBody>
                    <a:bodyPr/>
                    <a:lstStyle/>
                    <a:p>
                      <a:pPr algn="ctr"/>
                      <a:r>
                        <a:rPr lang="en-US" sz="1200" b="0" i="0" dirty="0">
                          <a:solidFill>
                            <a:srgbClr val="000000"/>
                          </a:solidFill>
                          <a:latin typeface="Tahoma"/>
                        </a:rPr>
                        <a:t>3</a:t>
                      </a:r>
                      <a:r>
                        <a:rPr sz="1200" b="0" i="0" dirty="0">
                          <a:solidFill>
                            <a:srgbClr val="000000"/>
                          </a:solidFill>
                          <a:latin typeface="Tahoma"/>
                        </a:rPr>
                        <a:t>%</a:t>
                      </a:r>
                    </a:p>
                  </a:txBody>
                  <a:tcPr anchor="ctr">
                    <a:solidFill>
                      <a:srgbClr val="E0E5F0"/>
                    </a:solidFill>
                  </a:tcPr>
                </a:tc>
                <a:extLst>
                  <a:ext uri="{0D108BD9-81ED-4DB2-BD59-A6C34878D82A}">
                    <a16:rowId xmlns:a16="http://schemas.microsoft.com/office/drawing/2014/main" val="10003"/>
                  </a:ext>
                </a:extLst>
              </a:tr>
              <a:tr h="381000">
                <a:tc>
                  <a:txBody>
                    <a:bodyPr/>
                    <a:lstStyle/>
                    <a:p>
                      <a:pPr algn="l"/>
                      <a:r>
                        <a:rPr sz="1200" b="1" i="0" dirty="0">
                          <a:solidFill>
                            <a:srgbClr val="FFFFFF"/>
                          </a:solidFill>
                          <a:latin typeface="Tahoma"/>
                        </a:rPr>
                        <a:t>Base:</a:t>
                      </a:r>
                    </a:p>
                  </a:txBody>
                  <a:tcPr anchor="ctr">
                    <a:solidFill>
                      <a:srgbClr val="5A80B8"/>
                    </a:solidFill>
                  </a:tcPr>
                </a:tc>
                <a:tc>
                  <a:txBody>
                    <a:bodyPr/>
                    <a:lstStyle/>
                    <a:p>
                      <a:pPr algn="ctr"/>
                      <a:r>
                        <a:rPr sz="1200" b="1" i="0" dirty="0">
                          <a:solidFill>
                            <a:schemeClr val="bg1"/>
                          </a:solidFill>
                          <a:latin typeface="Tahoma"/>
                        </a:rPr>
                        <a:t>33</a:t>
                      </a:r>
                    </a:p>
                  </a:txBody>
                  <a:tcPr anchor="ctr">
                    <a:solidFill>
                      <a:srgbClr val="5A80B8"/>
                    </a:solidFill>
                  </a:tcPr>
                </a:tc>
                <a:tc>
                  <a:txBody>
                    <a:bodyPr/>
                    <a:lstStyle/>
                    <a:p>
                      <a:pPr algn="ctr"/>
                      <a:r>
                        <a:rPr sz="1200" b="1" i="0" dirty="0">
                          <a:solidFill>
                            <a:schemeClr val="bg1"/>
                          </a:solidFill>
                          <a:latin typeface="Tahoma"/>
                        </a:rPr>
                        <a:t>45</a:t>
                      </a:r>
                    </a:p>
                  </a:txBody>
                  <a:tcPr anchor="ctr">
                    <a:solidFill>
                      <a:srgbClr val="5A80B8"/>
                    </a:solidFill>
                  </a:tcPr>
                </a:tc>
                <a:tc>
                  <a:txBody>
                    <a:bodyPr/>
                    <a:lstStyle/>
                    <a:p>
                      <a:pPr algn="ctr"/>
                      <a:r>
                        <a:rPr sz="1200" b="1" i="0" dirty="0">
                          <a:solidFill>
                            <a:schemeClr val="bg1"/>
                          </a:solidFill>
                          <a:latin typeface="Tahoma"/>
                        </a:rPr>
                        <a:t>46</a:t>
                      </a:r>
                    </a:p>
                  </a:txBody>
                  <a:tcPr anchor="ctr">
                    <a:solidFill>
                      <a:srgbClr val="5A80B8"/>
                    </a:solidFill>
                  </a:tcPr>
                </a:tc>
                <a:tc>
                  <a:txBody>
                    <a:bodyPr/>
                    <a:lstStyle/>
                    <a:p>
                      <a:pPr algn="ctr"/>
                      <a:r>
                        <a:rPr sz="1200" b="1" i="0" dirty="0">
                          <a:solidFill>
                            <a:schemeClr val="bg1"/>
                          </a:solidFill>
                          <a:latin typeface="Tahoma"/>
                        </a:rPr>
                        <a:t>38</a:t>
                      </a:r>
                    </a:p>
                  </a:txBody>
                  <a:tcPr anchor="ctr">
                    <a:solidFill>
                      <a:srgbClr val="5A80B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3556" name="Table 1"/>
          <p:cNvGraphicFramePr>
            <a:graphicFrameLocks noGrp="1"/>
          </p:cNvGraphicFramePr>
          <p:nvPr>
            <p:extLst>
              <p:ext uri="{D42A27DB-BD31-4B8C-83A1-F6EECF244321}">
                <p14:modId xmlns:p14="http://schemas.microsoft.com/office/powerpoint/2010/main" val="1181365593"/>
              </p:ext>
            </p:extLst>
          </p:nvPr>
        </p:nvGraphicFramePr>
        <p:xfrm>
          <a:off x="457200" y="1554480"/>
          <a:ext cx="5943600" cy="2926080"/>
        </p:xfrm>
        <a:graphic>
          <a:graphicData uri="http://schemas.openxmlformats.org/drawingml/2006/table">
            <a:tbl>
              <a:tblPr firstRow="1" bandRow="1">
                <a:tableStyleId>{5C22544A-7EE6-4342-B048-85BDC9FD1C3A}</a:tableStyleId>
              </a:tblPr>
              <a:tblGrid>
                <a:gridCol w="1653540">
                  <a:extLst>
                    <a:ext uri="{9D8B030D-6E8A-4147-A177-3AD203B41FA5}">
                      <a16:colId xmlns:a16="http://schemas.microsoft.com/office/drawing/2014/main" val="20000"/>
                    </a:ext>
                  </a:extLst>
                </a:gridCol>
                <a:gridCol w="1072515">
                  <a:extLst>
                    <a:ext uri="{9D8B030D-6E8A-4147-A177-3AD203B41FA5}">
                      <a16:colId xmlns:a16="http://schemas.microsoft.com/office/drawing/2014/main" val="20001"/>
                    </a:ext>
                  </a:extLst>
                </a:gridCol>
                <a:gridCol w="1072515">
                  <a:extLst>
                    <a:ext uri="{9D8B030D-6E8A-4147-A177-3AD203B41FA5}">
                      <a16:colId xmlns:a16="http://schemas.microsoft.com/office/drawing/2014/main" val="20002"/>
                    </a:ext>
                  </a:extLst>
                </a:gridCol>
                <a:gridCol w="1072515">
                  <a:extLst>
                    <a:ext uri="{9D8B030D-6E8A-4147-A177-3AD203B41FA5}">
                      <a16:colId xmlns:a16="http://schemas.microsoft.com/office/drawing/2014/main" val="20003"/>
                    </a:ext>
                  </a:extLst>
                </a:gridCol>
                <a:gridCol w="1072515">
                  <a:extLst>
                    <a:ext uri="{9D8B030D-6E8A-4147-A177-3AD203B41FA5}">
                      <a16:colId xmlns:a16="http://schemas.microsoft.com/office/drawing/2014/main" val="20004"/>
                    </a:ext>
                  </a:extLst>
                </a:gridCol>
              </a:tblGrid>
              <a:tr h="228600">
                <a:tc>
                  <a:txBody>
                    <a:bodyPr/>
                    <a:lstStyle/>
                    <a:p>
                      <a:pPr algn="ctr"/>
                      <a:r>
                        <a:rPr sz="1200" b="1" i="0">
                          <a:solidFill>
                            <a:srgbClr val="FFFFFF"/>
                          </a:solidFill>
                          <a:latin typeface="Tahoma"/>
                        </a:rPr>
                        <a:t>Years Lived In Residence</a:t>
                      </a:r>
                    </a:p>
                  </a:txBody>
                  <a:tcPr anchor="ctr">
                    <a:solidFill>
                      <a:srgbClr val="5A80B8"/>
                    </a:solidFill>
                  </a:tcPr>
                </a:tc>
                <a:tc>
                  <a:txBody>
                    <a:bodyPr/>
                    <a:lstStyle/>
                    <a:p>
                      <a:pPr algn="ctr"/>
                      <a:r>
                        <a:rPr sz="1200" b="1" i="0" dirty="0">
                          <a:solidFill>
                            <a:srgbClr val="FFFFFF"/>
                          </a:solidFill>
                          <a:latin typeface="Tahoma"/>
                        </a:rPr>
                        <a:t>Q4 2024</a:t>
                      </a:r>
                    </a:p>
                  </a:txBody>
                  <a:tcPr anchor="ctr">
                    <a:solidFill>
                      <a:srgbClr val="5A80B8"/>
                    </a:solidFill>
                  </a:tcPr>
                </a:tc>
                <a:tc>
                  <a:txBody>
                    <a:bodyPr/>
                    <a:lstStyle/>
                    <a:p>
                      <a:pPr algn="ctr"/>
                      <a:r>
                        <a:rPr sz="1200" b="1" i="0" dirty="0">
                          <a:solidFill>
                            <a:srgbClr val="FFFFFF"/>
                          </a:solidFill>
                          <a:latin typeface="Tahoma"/>
                        </a:rPr>
                        <a:t>Q1 2025</a:t>
                      </a:r>
                    </a:p>
                  </a:txBody>
                  <a:tcPr anchor="ctr">
                    <a:solidFill>
                      <a:srgbClr val="5A80B8"/>
                    </a:solidFill>
                  </a:tcPr>
                </a:tc>
                <a:tc>
                  <a:txBody>
                    <a:bodyPr/>
                    <a:lstStyle/>
                    <a:p>
                      <a:pPr algn="ctr"/>
                      <a:r>
                        <a:rPr sz="1200" b="1" i="0" dirty="0">
                          <a:solidFill>
                            <a:srgbClr val="FFFFFF"/>
                          </a:solidFill>
                          <a:latin typeface="Tahoma"/>
                        </a:rPr>
                        <a:t>Q2 2025</a:t>
                      </a:r>
                    </a:p>
                  </a:txBody>
                  <a:tcPr anchor="ctr">
                    <a:solidFill>
                      <a:srgbClr val="5A80B8"/>
                    </a:solidFill>
                  </a:tcPr>
                </a:tc>
                <a:tc>
                  <a:txBody>
                    <a:bodyPr/>
                    <a:lstStyle/>
                    <a:p>
                      <a:pPr algn="ctr"/>
                      <a:r>
                        <a:rPr sz="1200" b="1" i="0" dirty="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228600">
                <a:tc>
                  <a:txBody>
                    <a:bodyPr/>
                    <a:lstStyle/>
                    <a:p>
                      <a:pPr algn="l"/>
                      <a:r>
                        <a:rPr sz="1200" b="0" i="0">
                          <a:solidFill>
                            <a:srgbClr val="000000"/>
                          </a:solidFill>
                          <a:latin typeface="Tahoma"/>
                        </a:rPr>
                        <a:t>Less than 1 year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1"/>
                  </a:ext>
                </a:extLst>
              </a:tr>
              <a:tr h="228600">
                <a:tc>
                  <a:txBody>
                    <a:bodyPr/>
                    <a:lstStyle/>
                    <a:p>
                      <a:pPr algn="l"/>
                      <a:r>
                        <a:rPr sz="1200" b="0" i="0">
                          <a:solidFill>
                            <a:srgbClr val="000000"/>
                          </a:solidFill>
                          <a:latin typeface="Tahoma"/>
                        </a:rPr>
                        <a:t>1 to 2 years</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dirty="0">
                          <a:solidFill>
                            <a:srgbClr val="000000"/>
                          </a:solidFill>
                          <a:latin typeface="Tahoma"/>
                        </a:rPr>
                        <a:t>8%</a:t>
                      </a:r>
                    </a:p>
                  </a:txBody>
                  <a:tcPr anchor="ctr">
                    <a:solidFill>
                      <a:srgbClr val="E0E5F0"/>
                    </a:solidFill>
                  </a:tcPr>
                </a:tc>
                <a:extLst>
                  <a:ext uri="{0D108BD9-81ED-4DB2-BD59-A6C34878D82A}">
                    <a16:rowId xmlns:a16="http://schemas.microsoft.com/office/drawing/2014/main" val="10002"/>
                  </a:ext>
                </a:extLst>
              </a:tr>
              <a:tr h="228600">
                <a:tc>
                  <a:txBody>
                    <a:bodyPr/>
                    <a:lstStyle/>
                    <a:p>
                      <a:pPr algn="l"/>
                      <a:r>
                        <a:rPr sz="1200" b="0" i="0">
                          <a:solidFill>
                            <a:srgbClr val="000000"/>
                          </a:solidFill>
                          <a:latin typeface="Tahoma"/>
                        </a:rPr>
                        <a:t>3 to 5 years</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dirty="0">
                          <a:solidFill>
                            <a:srgbClr val="000000"/>
                          </a:solidFill>
                          <a:latin typeface="Tahoma"/>
                        </a:rPr>
                        <a:t>13%</a:t>
                      </a:r>
                    </a:p>
                  </a:txBody>
                  <a:tcPr anchor="ctr">
                    <a:solidFill>
                      <a:srgbClr val="E0E5F0"/>
                    </a:solidFill>
                  </a:tcPr>
                </a:tc>
                <a:extLst>
                  <a:ext uri="{0D108BD9-81ED-4DB2-BD59-A6C34878D82A}">
                    <a16:rowId xmlns:a16="http://schemas.microsoft.com/office/drawing/2014/main" val="10003"/>
                  </a:ext>
                </a:extLst>
              </a:tr>
              <a:tr h="2286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dirty="0">
                          <a:solidFill>
                            <a:srgbClr val="000000"/>
                          </a:solidFill>
                          <a:latin typeface="Tahoma"/>
                        </a:rPr>
                        <a:t>8%</a:t>
                      </a:r>
                    </a:p>
                  </a:txBody>
                  <a:tcPr anchor="ctr">
                    <a:solidFill>
                      <a:srgbClr val="E0E5F0"/>
                    </a:solidFill>
                  </a:tcPr>
                </a:tc>
                <a:extLst>
                  <a:ext uri="{0D108BD9-81ED-4DB2-BD59-A6C34878D82A}">
                    <a16:rowId xmlns:a16="http://schemas.microsoft.com/office/drawing/2014/main" val="10004"/>
                  </a:ext>
                </a:extLst>
              </a:tr>
              <a:tr h="2286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dirty="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dirty="0">
                          <a:solidFill>
                            <a:srgbClr val="000000"/>
                          </a:solidFill>
                          <a:latin typeface="Tahoma"/>
                        </a:rPr>
                        <a:t>21%</a:t>
                      </a:r>
                    </a:p>
                  </a:txBody>
                  <a:tcPr anchor="ctr">
                    <a:solidFill>
                      <a:srgbClr val="E0E5F0"/>
                    </a:solidFill>
                  </a:tcPr>
                </a:tc>
                <a:extLst>
                  <a:ext uri="{0D108BD9-81ED-4DB2-BD59-A6C34878D82A}">
                    <a16:rowId xmlns:a16="http://schemas.microsoft.com/office/drawing/2014/main" val="10005"/>
                  </a:ext>
                </a:extLst>
              </a:tr>
              <a:tr h="2286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dirty="0">
                          <a:solidFill>
                            <a:srgbClr val="000000"/>
                          </a:solidFill>
                          <a:latin typeface="Tahoma"/>
                        </a:rPr>
                        <a:t>13%</a:t>
                      </a:r>
                    </a:p>
                  </a:txBody>
                  <a:tcPr anchor="ctr">
                    <a:solidFill>
                      <a:srgbClr val="E0E5F0"/>
                    </a:solidFill>
                  </a:tcPr>
                </a:tc>
                <a:extLst>
                  <a:ext uri="{0D108BD9-81ED-4DB2-BD59-A6C34878D82A}">
                    <a16:rowId xmlns:a16="http://schemas.microsoft.com/office/drawing/2014/main" val="10006"/>
                  </a:ext>
                </a:extLst>
              </a:tr>
              <a:tr h="2286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c>
                  <a:txBody>
                    <a:bodyPr/>
                    <a:lstStyle/>
                    <a:p>
                      <a:pPr algn="ctr"/>
                      <a:r>
                        <a:rPr sz="1200" b="0" i="0">
                          <a:solidFill>
                            <a:srgbClr val="000000"/>
                          </a:solidFill>
                          <a:latin typeface="Tahoma"/>
                        </a:rPr>
                        <a:t>56%</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c>
                  <a:txBody>
                    <a:bodyPr/>
                    <a:lstStyle/>
                    <a:p>
                      <a:pPr algn="ctr"/>
                      <a:r>
                        <a:rPr sz="1200" b="0" i="0" dirty="0">
                          <a:solidFill>
                            <a:srgbClr val="000000"/>
                          </a:solidFill>
                          <a:latin typeface="Tahoma"/>
                        </a:rPr>
                        <a:t>34%</a:t>
                      </a:r>
                    </a:p>
                  </a:txBody>
                  <a:tcPr anchor="ctr">
                    <a:solidFill>
                      <a:srgbClr val="E0E5F0"/>
                    </a:solidFill>
                  </a:tcPr>
                </a:tc>
                <a:extLst>
                  <a:ext uri="{0D108BD9-81ED-4DB2-BD59-A6C34878D82A}">
                    <a16:rowId xmlns:a16="http://schemas.microsoft.com/office/drawing/2014/main" val="10007"/>
                  </a:ext>
                </a:extLst>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09"/>
                  </a:ext>
                </a:extLst>
              </a:tr>
            </a:tbl>
          </a:graphicData>
        </a:graphic>
      </p:graphicFrame>
      <p:graphicFrame>
        <p:nvGraphicFramePr>
          <p:cNvPr id="23557" name="Table 2"/>
          <p:cNvGraphicFramePr>
            <a:graphicFrameLocks noGrp="1"/>
          </p:cNvGraphicFramePr>
          <p:nvPr>
            <p:extLst>
              <p:ext uri="{D42A27DB-BD31-4B8C-83A1-F6EECF244321}">
                <p14:modId xmlns:p14="http://schemas.microsoft.com/office/powerpoint/2010/main" val="2862209821"/>
              </p:ext>
            </p:extLst>
          </p:nvPr>
        </p:nvGraphicFramePr>
        <p:xfrm>
          <a:off x="457200" y="5204460"/>
          <a:ext cx="5943600" cy="2651760"/>
        </p:xfrm>
        <a:graphic>
          <a:graphicData uri="http://schemas.openxmlformats.org/drawingml/2006/table">
            <a:tbl>
              <a:tblPr firstRow="1" bandRow="1">
                <a:tableStyleId>{5C22544A-7EE6-4342-B048-85BDC9FD1C3A}</a:tableStyleId>
              </a:tblPr>
              <a:tblGrid>
                <a:gridCol w="1630680">
                  <a:extLst>
                    <a:ext uri="{9D8B030D-6E8A-4147-A177-3AD203B41FA5}">
                      <a16:colId xmlns:a16="http://schemas.microsoft.com/office/drawing/2014/main" val="20000"/>
                    </a:ext>
                  </a:extLst>
                </a:gridCol>
                <a:gridCol w="1078230">
                  <a:extLst>
                    <a:ext uri="{9D8B030D-6E8A-4147-A177-3AD203B41FA5}">
                      <a16:colId xmlns:a16="http://schemas.microsoft.com/office/drawing/2014/main" val="20001"/>
                    </a:ext>
                  </a:extLst>
                </a:gridCol>
                <a:gridCol w="1078230">
                  <a:extLst>
                    <a:ext uri="{9D8B030D-6E8A-4147-A177-3AD203B41FA5}">
                      <a16:colId xmlns:a16="http://schemas.microsoft.com/office/drawing/2014/main" val="20002"/>
                    </a:ext>
                  </a:extLst>
                </a:gridCol>
                <a:gridCol w="1078230">
                  <a:extLst>
                    <a:ext uri="{9D8B030D-6E8A-4147-A177-3AD203B41FA5}">
                      <a16:colId xmlns:a16="http://schemas.microsoft.com/office/drawing/2014/main" val="20003"/>
                    </a:ext>
                  </a:extLst>
                </a:gridCol>
                <a:gridCol w="1078230">
                  <a:extLst>
                    <a:ext uri="{9D8B030D-6E8A-4147-A177-3AD203B41FA5}">
                      <a16:colId xmlns:a16="http://schemas.microsoft.com/office/drawing/2014/main" val="20004"/>
                    </a:ext>
                  </a:extLst>
                </a:gridCol>
              </a:tblGrid>
              <a:tr h="254000">
                <a:tc>
                  <a:txBody>
                    <a:bodyPr/>
                    <a:lstStyle/>
                    <a:p>
                      <a:pPr algn="ctr"/>
                      <a:r>
                        <a:rPr sz="1200" b="1" i="0">
                          <a:solidFill>
                            <a:srgbClr val="FFFFFF"/>
                          </a:solidFill>
                          <a:latin typeface="Tahoma"/>
                        </a:rPr>
                        <a:t>Years Lived In Austin</a:t>
                      </a:r>
                    </a:p>
                  </a:txBody>
                  <a:tcPr anchor="ctr">
                    <a:solidFill>
                      <a:srgbClr val="5A80B8"/>
                    </a:solidFill>
                  </a:tcPr>
                </a:tc>
                <a:tc>
                  <a:txBody>
                    <a:bodyPr/>
                    <a:lstStyle/>
                    <a:p>
                      <a:pPr algn="ctr"/>
                      <a:r>
                        <a:rPr sz="1200" b="1" i="0" dirty="0">
                          <a:solidFill>
                            <a:srgbClr val="FFFFFF"/>
                          </a:solidFill>
                          <a:latin typeface="Tahoma"/>
                        </a:rPr>
                        <a:t>Q4 2024</a:t>
                      </a:r>
                    </a:p>
                  </a:txBody>
                  <a:tcPr anchor="ctr">
                    <a:solidFill>
                      <a:srgbClr val="5A80B8"/>
                    </a:solidFill>
                  </a:tcPr>
                </a:tc>
                <a:tc>
                  <a:txBody>
                    <a:bodyPr/>
                    <a:lstStyle/>
                    <a:p>
                      <a:pPr algn="ctr"/>
                      <a:r>
                        <a:rPr sz="1200" b="1" i="0" dirty="0">
                          <a:solidFill>
                            <a:srgbClr val="FFFFFF"/>
                          </a:solidFill>
                          <a:latin typeface="Tahoma"/>
                        </a:rPr>
                        <a:t>Q1 2025</a:t>
                      </a:r>
                    </a:p>
                  </a:txBody>
                  <a:tcPr anchor="ctr">
                    <a:solidFill>
                      <a:srgbClr val="5A80B8"/>
                    </a:solidFill>
                  </a:tcPr>
                </a:tc>
                <a:tc>
                  <a:txBody>
                    <a:bodyPr/>
                    <a:lstStyle/>
                    <a:p>
                      <a:pPr algn="ctr"/>
                      <a:r>
                        <a:rPr sz="1200" b="1" i="0" dirty="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254000">
                <a:tc>
                  <a:txBody>
                    <a:bodyPr/>
                    <a:lstStyle/>
                    <a:p>
                      <a:pPr algn="l"/>
                      <a:r>
                        <a:rPr sz="1200" b="0" i="0">
                          <a:solidFill>
                            <a:srgbClr val="000000"/>
                          </a:solidFill>
                          <a:latin typeface="Tahoma"/>
                        </a:rPr>
                        <a:t>1 to 5 years</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dirty="0">
                          <a:solidFill>
                            <a:srgbClr val="000000"/>
                          </a:solidFill>
                          <a:latin typeface="Tahoma"/>
                        </a:rPr>
                        <a:t>4%</a:t>
                      </a:r>
                    </a:p>
                  </a:txBody>
                  <a:tcPr anchor="ctr">
                    <a:solidFill>
                      <a:srgbClr val="E0E5F0"/>
                    </a:solidFill>
                  </a:tcPr>
                </a:tc>
                <a:tc>
                  <a:txBody>
                    <a:bodyPr/>
                    <a:lstStyle/>
                    <a:p>
                      <a:pPr algn="ctr"/>
                      <a:r>
                        <a:rPr sz="1200" b="0" i="0" dirty="0">
                          <a:solidFill>
                            <a:srgbClr val="000000"/>
                          </a:solidFill>
                          <a:latin typeface="Tahoma"/>
                        </a:rPr>
                        <a:t>5%</a:t>
                      </a:r>
                    </a:p>
                  </a:txBody>
                  <a:tcPr anchor="ctr">
                    <a:solidFill>
                      <a:srgbClr val="E0E5F0"/>
                    </a:solidFill>
                  </a:tcPr>
                </a:tc>
                <a:extLst>
                  <a:ext uri="{0D108BD9-81ED-4DB2-BD59-A6C34878D82A}">
                    <a16:rowId xmlns:a16="http://schemas.microsoft.com/office/drawing/2014/main" val="10001"/>
                  </a:ext>
                </a:extLst>
              </a:tr>
              <a:tr h="2540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2"/>
                  </a:ext>
                </a:extLst>
              </a:tr>
              <a:tr h="2540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dirty="0">
                          <a:solidFill>
                            <a:srgbClr val="000000"/>
                          </a:solidFill>
                          <a:latin typeface="Tahoma"/>
                        </a:rPr>
                        <a:t>11%</a:t>
                      </a:r>
                    </a:p>
                  </a:txBody>
                  <a:tcPr anchor="ctr">
                    <a:solidFill>
                      <a:srgbClr val="E0E5F0"/>
                    </a:solidFill>
                  </a:tcPr>
                </a:tc>
                <a:extLst>
                  <a:ext uri="{0D108BD9-81ED-4DB2-BD59-A6C34878D82A}">
                    <a16:rowId xmlns:a16="http://schemas.microsoft.com/office/drawing/2014/main" val="10003"/>
                  </a:ext>
                </a:extLst>
              </a:tr>
              <a:tr h="2540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dirty="0">
                          <a:solidFill>
                            <a:srgbClr val="000000"/>
                          </a:solidFill>
                          <a:latin typeface="Tahoma"/>
                        </a:rPr>
                        <a:t>5%</a:t>
                      </a:r>
                    </a:p>
                  </a:txBody>
                  <a:tcPr anchor="ctr">
                    <a:solidFill>
                      <a:srgbClr val="E0E5F0"/>
                    </a:solidFill>
                  </a:tcPr>
                </a:tc>
                <a:extLst>
                  <a:ext uri="{0D108BD9-81ED-4DB2-BD59-A6C34878D82A}">
                    <a16:rowId xmlns:a16="http://schemas.microsoft.com/office/drawing/2014/main" val="10004"/>
                  </a:ext>
                </a:extLst>
              </a:tr>
              <a:tr h="2540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58%</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dirty="0">
                          <a:solidFill>
                            <a:srgbClr val="000000"/>
                          </a:solidFill>
                          <a:latin typeface="Tahoma"/>
                        </a:rPr>
                        <a:t>74%</a:t>
                      </a:r>
                    </a:p>
                  </a:txBody>
                  <a:tcPr anchor="ctr">
                    <a:solidFill>
                      <a:srgbClr val="E0E5F0"/>
                    </a:solidFill>
                  </a:tcPr>
                </a:tc>
                <a:extLst>
                  <a:ext uri="{0D108BD9-81ED-4DB2-BD59-A6C34878D82A}">
                    <a16:rowId xmlns:a16="http://schemas.microsoft.com/office/drawing/2014/main" val="10005"/>
                  </a:ext>
                </a:extLst>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6"/>
                  </a:ext>
                </a:extLst>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18297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1"/>
          <p:cNvGraphicFramePr>
            <a:graphicFrameLocks noGrp="1"/>
          </p:cNvGraphicFramePr>
          <p:nvPr>
            <p:extLst>
              <p:ext uri="{D42A27DB-BD31-4B8C-83A1-F6EECF244321}">
                <p14:modId xmlns:p14="http://schemas.microsoft.com/office/powerpoint/2010/main" val="3359782334"/>
              </p:ext>
            </p:extLst>
          </p:nvPr>
        </p:nvGraphicFramePr>
        <p:xfrm>
          <a:off x="457200" y="1554480"/>
          <a:ext cx="5943600" cy="6217916"/>
        </p:xfrm>
        <a:graphic>
          <a:graphicData uri="http://schemas.openxmlformats.org/drawingml/2006/table">
            <a:tbl>
              <a:tblPr firstRow="1" bandRow="1">
                <a:tableStyleId>{5C22544A-7EE6-4342-B048-85BDC9FD1C3A}</a:tableStyleId>
              </a:tblPr>
              <a:tblGrid>
                <a:gridCol w="1653540">
                  <a:extLst>
                    <a:ext uri="{9D8B030D-6E8A-4147-A177-3AD203B41FA5}">
                      <a16:colId xmlns:a16="http://schemas.microsoft.com/office/drawing/2014/main" val="20000"/>
                    </a:ext>
                  </a:extLst>
                </a:gridCol>
                <a:gridCol w="1072515">
                  <a:extLst>
                    <a:ext uri="{9D8B030D-6E8A-4147-A177-3AD203B41FA5}">
                      <a16:colId xmlns:a16="http://schemas.microsoft.com/office/drawing/2014/main" val="20001"/>
                    </a:ext>
                  </a:extLst>
                </a:gridCol>
                <a:gridCol w="1072515">
                  <a:extLst>
                    <a:ext uri="{9D8B030D-6E8A-4147-A177-3AD203B41FA5}">
                      <a16:colId xmlns:a16="http://schemas.microsoft.com/office/drawing/2014/main" val="20002"/>
                    </a:ext>
                  </a:extLst>
                </a:gridCol>
                <a:gridCol w="1072515">
                  <a:extLst>
                    <a:ext uri="{9D8B030D-6E8A-4147-A177-3AD203B41FA5}">
                      <a16:colId xmlns:a16="http://schemas.microsoft.com/office/drawing/2014/main" val="20003"/>
                    </a:ext>
                  </a:extLst>
                </a:gridCol>
                <a:gridCol w="1072515">
                  <a:extLst>
                    <a:ext uri="{9D8B030D-6E8A-4147-A177-3AD203B41FA5}">
                      <a16:colId xmlns:a16="http://schemas.microsoft.com/office/drawing/2014/main" val="20004"/>
                    </a:ext>
                  </a:extLst>
                </a:gridCol>
              </a:tblGrid>
              <a:tr h="791372">
                <a:tc>
                  <a:txBody>
                    <a:bodyPr/>
                    <a:lstStyle/>
                    <a:p>
                      <a:pPr algn="ctr"/>
                      <a:r>
                        <a:rPr sz="1200" b="1" i="0">
                          <a:solidFill>
                            <a:srgbClr val="FFFFFF"/>
                          </a:solidFill>
                          <a:latin typeface="Tahoma"/>
                        </a:rPr>
                        <a:t>Physical Health Not Good In the Past 30 Days</a:t>
                      </a:r>
                    </a:p>
                  </a:txBody>
                  <a:tcPr anchor="ctr">
                    <a:solidFill>
                      <a:srgbClr val="5A80B8"/>
                    </a:solidFill>
                  </a:tcPr>
                </a:tc>
                <a:tc>
                  <a:txBody>
                    <a:bodyPr/>
                    <a:lstStyle/>
                    <a:p>
                      <a:pPr algn="ctr"/>
                      <a:r>
                        <a:rPr sz="1200" b="1" i="0" dirty="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339159">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dirty="0">
                          <a:solidFill>
                            <a:srgbClr val="000000"/>
                          </a:solidFill>
                          <a:latin typeface="Tahoma"/>
                        </a:rPr>
                        <a:t>64%</a:t>
                      </a:r>
                    </a:p>
                  </a:txBody>
                  <a:tcPr anchor="ctr">
                    <a:solidFill>
                      <a:srgbClr val="E0E5F0"/>
                    </a:solidFill>
                  </a:tcPr>
                </a:tc>
                <a:tc>
                  <a:txBody>
                    <a:bodyPr/>
                    <a:lstStyle/>
                    <a:p>
                      <a:pPr algn="ctr"/>
                      <a:r>
                        <a:rPr sz="1200" b="0" i="0" dirty="0">
                          <a:solidFill>
                            <a:srgbClr val="000000"/>
                          </a:solidFill>
                          <a:latin typeface="Tahoma"/>
                        </a:rPr>
                        <a:t>53%</a:t>
                      </a:r>
                    </a:p>
                  </a:txBody>
                  <a:tcPr anchor="ctr">
                    <a:solidFill>
                      <a:srgbClr val="E0E5F0"/>
                    </a:solidFill>
                  </a:tcPr>
                </a:tc>
                <a:tc>
                  <a:txBody>
                    <a:bodyPr/>
                    <a:lstStyle/>
                    <a:p>
                      <a:pPr algn="ctr"/>
                      <a:r>
                        <a:rPr sz="1200" b="0" i="0" dirty="0">
                          <a:solidFill>
                            <a:srgbClr val="000000"/>
                          </a:solidFill>
                          <a:latin typeface="Tahoma"/>
                        </a:rPr>
                        <a:t>49%</a:t>
                      </a:r>
                    </a:p>
                  </a:txBody>
                  <a:tcPr anchor="ctr">
                    <a:solidFill>
                      <a:srgbClr val="E0E5F0"/>
                    </a:solidFill>
                  </a:tcPr>
                </a:tc>
                <a:tc>
                  <a:txBody>
                    <a:bodyPr/>
                    <a:lstStyle/>
                    <a:p>
                      <a:pPr algn="ctr"/>
                      <a:r>
                        <a:rPr sz="1200" b="0" i="0" dirty="0">
                          <a:solidFill>
                            <a:srgbClr val="000000"/>
                          </a:solidFill>
                          <a:latin typeface="Tahoma"/>
                        </a:rPr>
                        <a:t>61%</a:t>
                      </a:r>
                    </a:p>
                  </a:txBody>
                  <a:tcPr anchor="ctr">
                    <a:solidFill>
                      <a:srgbClr val="E0E5F0"/>
                    </a:solidFill>
                  </a:tcPr>
                </a:tc>
                <a:extLst>
                  <a:ext uri="{0D108BD9-81ED-4DB2-BD59-A6C34878D82A}">
                    <a16:rowId xmlns:a16="http://schemas.microsoft.com/office/drawing/2014/main" val="10001"/>
                  </a:ext>
                </a:extLst>
              </a:tr>
              <a:tr h="339159">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dirty="0">
                          <a:solidFill>
                            <a:srgbClr val="000000"/>
                          </a:solidFill>
                          <a:latin typeface="Tahoma"/>
                        </a:rPr>
                        <a:t>6%</a:t>
                      </a:r>
                    </a:p>
                  </a:txBody>
                  <a:tcPr anchor="ctr">
                    <a:solidFill>
                      <a:srgbClr val="E0E5F0"/>
                    </a:solidFill>
                  </a:tcPr>
                </a:tc>
                <a:extLst>
                  <a:ext uri="{0D108BD9-81ED-4DB2-BD59-A6C34878D82A}">
                    <a16:rowId xmlns:a16="http://schemas.microsoft.com/office/drawing/2014/main" val="10002"/>
                  </a:ext>
                </a:extLst>
              </a:tr>
              <a:tr h="339159">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17%</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3"/>
                  </a:ext>
                </a:extLst>
              </a:tr>
              <a:tr h="339159">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4"/>
                  </a:ext>
                </a:extLst>
              </a:tr>
              <a:tr h="339159">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5"/>
                  </a:ext>
                </a:extLst>
              </a:tr>
              <a:tr h="339159">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6"/>
                  </a:ext>
                </a:extLst>
              </a:tr>
              <a:tr h="339159">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339159">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339159">
                <a:tc>
                  <a:txBody>
                    <a:bodyPr/>
                    <a:lstStyle/>
                    <a:p>
                      <a:pPr algn="l"/>
                      <a:r>
                        <a:rPr sz="1200" b="0" i="0">
                          <a:solidFill>
                            <a:srgbClr val="000000"/>
                          </a:solidFill>
                          <a:latin typeface="Tahoma"/>
                        </a:rPr>
                        <a:t>8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9"/>
                  </a:ext>
                </a:extLst>
              </a:tr>
              <a:tr h="339159">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10"/>
                  </a:ext>
                </a:extLst>
              </a:tr>
              <a:tr h="339159">
                <a:tc>
                  <a:txBody>
                    <a:bodyPr/>
                    <a:lstStyle/>
                    <a:p>
                      <a:pPr algn="l"/>
                      <a:r>
                        <a:rPr sz="1200" b="0" i="0">
                          <a:solidFill>
                            <a:srgbClr val="000000"/>
                          </a:solidFill>
                          <a:latin typeface="Tahoma"/>
                        </a:rPr>
                        <a:t>12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11"/>
                  </a:ext>
                </a:extLst>
              </a:tr>
              <a:tr h="339159">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dirty="0">
                          <a:solidFill>
                            <a:srgbClr val="000000"/>
                          </a:solidFill>
                          <a:latin typeface="Tahoma"/>
                        </a:rPr>
                        <a:t>6%</a:t>
                      </a:r>
                    </a:p>
                  </a:txBody>
                  <a:tcPr anchor="ctr">
                    <a:solidFill>
                      <a:srgbClr val="E0E5F0"/>
                    </a:solidFill>
                  </a:tcPr>
                </a:tc>
                <a:extLst>
                  <a:ext uri="{0D108BD9-81ED-4DB2-BD59-A6C34878D82A}">
                    <a16:rowId xmlns:a16="http://schemas.microsoft.com/office/drawing/2014/main" val="10012"/>
                  </a:ext>
                </a:extLst>
              </a:tr>
              <a:tr h="339159">
                <a:tc>
                  <a:txBody>
                    <a:bodyPr/>
                    <a:lstStyle/>
                    <a:p>
                      <a:pPr algn="l"/>
                      <a:r>
                        <a:rPr sz="1200" b="0" i="0">
                          <a:solidFill>
                            <a:srgbClr val="000000"/>
                          </a:solidFill>
                          <a:latin typeface="Tahoma"/>
                        </a:rPr>
                        <a:t>21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13"/>
                  </a:ext>
                </a:extLst>
              </a:tr>
              <a:tr h="339159">
                <a:tc>
                  <a:txBody>
                    <a:bodyPr/>
                    <a:lstStyle/>
                    <a:p>
                      <a:pPr algn="l"/>
                      <a:r>
                        <a:rPr sz="1200" b="0" i="0">
                          <a:solidFill>
                            <a:srgbClr val="000000"/>
                          </a:solidFill>
                          <a:latin typeface="Tahoma"/>
                        </a:rPr>
                        <a:t>25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14"/>
                  </a:ext>
                </a:extLst>
              </a:tr>
              <a:tr h="339159">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dirty="0">
                          <a:solidFill>
                            <a:srgbClr val="000000"/>
                          </a:solidFill>
                          <a:latin typeface="Tahoma"/>
                        </a:rPr>
                        <a:t>16%</a:t>
                      </a:r>
                    </a:p>
                  </a:txBody>
                  <a:tcPr anchor="ctr">
                    <a:solidFill>
                      <a:srgbClr val="E0E5F0"/>
                    </a:solidFill>
                  </a:tcPr>
                </a:tc>
                <a:extLst>
                  <a:ext uri="{0D108BD9-81ED-4DB2-BD59-A6C34878D82A}">
                    <a16:rowId xmlns:a16="http://schemas.microsoft.com/office/drawing/2014/main" val="10015"/>
                  </a:ext>
                </a:extLst>
              </a:tr>
              <a:tr h="339159">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dirty="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41</a:t>
                      </a:r>
                    </a:p>
                  </a:txBody>
                  <a:tcPr anchor="ctr">
                    <a:solidFill>
                      <a:srgbClr val="5A80B8"/>
                    </a:solidFill>
                  </a:tcPr>
                </a:tc>
                <a:tc>
                  <a:txBody>
                    <a:bodyPr/>
                    <a:lstStyle/>
                    <a:p>
                      <a:pPr algn="ctr"/>
                      <a:r>
                        <a:rPr sz="12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3313889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2"/>
          <p:cNvGraphicFramePr>
            <a:graphicFrameLocks noGrp="1"/>
          </p:cNvGraphicFramePr>
          <p:nvPr>
            <p:extLst>
              <p:ext uri="{D42A27DB-BD31-4B8C-83A1-F6EECF244321}">
                <p14:modId xmlns:p14="http://schemas.microsoft.com/office/powerpoint/2010/main" val="4080558735"/>
              </p:ext>
            </p:extLst>
          </p:nvPr>
        </p:nvGraphicFramePr>
        <p:xfrm>
          <a:off x="457200" y="1554480"/>
          <a:ext cx="5943600" cy="6080759"/>
        </p:xfrm>
        <a:graphic>
          <a:graphicData uri="http://schemas.openxmlformats.org/drawingml/2006/table">
            <a:tbl>
              <a:tblPr firstRow="1" bandRow="1">
                <a:tableStyleId>{5C22544A-7EE6-4342-B048-85BDC9FD1C3A}</a:tableStyleId>
              </a:tblPr>
              <a:tblGrid>
                <a:gridCol w="1478280">
                  <a:extLst>
                    <a:ext uri="{9D8B030D-6E8A-4147-A177-3AD203B41FA5}">
                      <a16:colId xmlns:a16="http://schemas.microsoft.com/office/drawing/2014/main" val="20000"/>
                    </a:ext>
                  </a:extLst>
                </a:gridCol>
                <a:gridCol w="1116330">
                  <a:extLst>
                    <a:ext uri="{9D8B030D-6E8A-4147-A177-3AD203B41FA5}">
                      <a16:colId xmlns:a16="http://schemas.microsoft.com/office/drawing/2014/main" val="20001"/>
                    </a:ext>
                  </a:extLst>
                </a:gridCol>
                <a:gridCol w="1116330">
                  <a:extLst>
                    <a:ext uri="{9D8B030D-6E8A-4147-A177-3AD203B41FA5}">
                      <a16:colId xmlns:a16="http://schemas.microsoft.com/office/drawing/2014/main" val="20002"/>
                    </a:ext>
                  </a:extLst>
                </a:gridCol>
                <a:gridCol w="1116330">
                  <a:extLst>
                    <a:ext uri="{9D8B030D-6E8A-4147-A177-3AD203B41FA5}">
                      <a16:colId xmlns:a16="http://schemas.microsoft.com/office/drawing/2014/main" val="20003"/>
                    </a:ext>
                  </a:extLst>
                </a:gridCol>
                <a:gridCol w="1116330">
                  <a:extLst>
                    <a:ext uri="{9D8B030D-6E8A-4147-A177-3AD203B41FA5}">
                      <a16:colId xmlns:a16="http://schemas.microsoft.com/office/drawing/2014/main" val="20004"/>
                    </a:ext>
                  </a:extLst>
                </a:gridCol>
              </a:tblGrid>
              <a:tr h="818564">
                <a:tc>
                  <a:txBody>
                    <a:bodyPr/>
                    <a:lstStyle/>
                    <a:p>
                      <a:pPr algn="ctr"/>
                      <a:r>
                        <a:rPr sz="1200" b="1" i="0">
                          <a:solidFill>
                            <a:srgbClr val="FFFFFF"/>
                          </a:solidFill>
                          <a:latin typeface="Tahoma"/>
                        </a:rPr>
                        <a:t>Mental Health Not Good In the Past 30 Days</a:t>
                      </a:r>
                    </a:p>
                  </a:txBody>
                  <a:tcPr anchor="ctr">
                    <a:solidFill>
                      <a:srgbClr val="5A80B8"/>
                    </a:solidFill>
                  </a:tcPr>
                </a:tc>
                <a:tc>
                  <a:txBody>
                    <a:bodyPr/>
                    <a:lstStyle/>
                    <a:p>
                      <a:pPr algn="ctr"/>
                      <a:r>
                        <a:rPr sz="1200" b="1" i="0" dirty="0">
                          <a:solidFill>
                            <a:srgbClr val="FFFFFF"/>
                          </a:solidFill>
                          <a:latin typeface="Tahoma"/>
                        </a:rPr>
                        <a:t>Q4 2024</a:t>
                      </a:r>
                    </a:p>
                  </a:txBody>
                  <a:tcPr anchor="ctr">
                    <a:solidFill>
                      <a:srgbClr val="5A80B8"/>
                    </a:solidFill>
                  </a:tcPr>
                </a:tc>
                <a:tc>
                  <a:txBody>
                    <a:bodyPr/>
                    <a:lstStyle/>
                    <a:p>
                      <a:pPr algn="ctr"/>
                      <a:r>
                        <a:rPr sz="1200" b="1" i="0" dirty="0">
                          <a:solidFill>
                            <a:srgbClr val="FFFFFF"/>
                          </a:solidFill>
                          <a:latin typeface="Tahoma"/>
                        </a:rPr>
                        <a:t>Q1 2025</a:t>
                      </a:r>
                    </a:p>
                  </a:txBody>
                  <a:tcPr anchor="ctr">
                    <a:solidFill>
                      <a:srgbClr val="5A80B8"/>
                    </a:solidFill>
                  </a:tcPr>
                </a:tc>
                <a:tc>
                  <a:txBody>
                    <a:bodyPr/>
                    <a:lstStyle/>
                    <a:p>
                      <a:pPr algn="ctr"/>
                      <a:r>
                        <a:rPr sz="1200" b="1" i="0" dirty="0">
                          <a:solidFill>
                            <a:srgbClr val="FFFFFF"/>
                          </a:solidFill>
                          <a:latin typeface="Tahoma"/>
                        </a:rPr>
                        <a:t>Q2 2025</a:t>
                      </a:r>
                    </a:p>
                  </a:txBody>
                  <a:tcPr anchor="ctr">
                    <a:solidFill>
                      <a:srgbClr val="5A80B8"/>
                    </a:solidFill>
                  </a:tcPr>
                </a:tc>
                <a:tc>
                  <a:txBody>
                    <a:bodyPr/>
                    <a:lstStyle/>
                    <a:p>
                      <a:pPr algn="ctr"/>
                      <a:r>
                        <a:rPr sz="1200" b="1" i="0" dirty="0">
                          <a:solidFill>
                            <a:srgbClr val="FFFFFF"/>
                          </a:solidFill>
                          <a:latin typeface="Tahoma"/>
                        </a:rPr>
                        <a:t>Q3 2025</a:t>
                      </a:r>
                    </a:p>
                  </a:txBody>
                  <a:tcPr anchor="ctr">
                    <a:solidFill>
                      <a:srgbClr val="5A80B8"/>
                    </a:solidFill>
                  </a:tcPr>
                </a:tc>
                <a:extLst>
                  <a:ext uri="{0D108BD9-81ED-4DB2-BD59-A6C34878D82A}">
                    <a16:rowId xmlns:a16="http://schemas.microsoft.com/office/drawing/2014/main" val="10000"/>
                  </a:ext>
                </a:extLst>
              </a:tr>
              <a:tr h="350813">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48%</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c>
                  <a:txBody>
                    <a:bodyPr/>
                    <a:lstStyle/>
                    <a:p>
                      <a:pPr algn="ctr"/>
                      <a:r>
                        <a:rPr sz="1200" b="0" i="0" dirty="0">
                          <a:solidFill>
                            <a:srgbClr val="000000"/>
                          </a:solidFill>
                          <a:latin typeface="Tahoma"/>
                        </a:rPr>
                        <a:t>62%</a:t>
                      </a:r>
                    </a:p>
                  </a:txBody>
                  <a:tcPr anchor="ctr">
                    <a:solidFill>
                      <a:srgbClr val="E0E5F0"/>
                    </a:solidFill>
                  </a:tcPr>
                </a:tc>
                <a:extLst>
                  <a:ext uri="{0D108BD9-81ED-4DB2-BD59-A6C34878D82A}">
                    <a16:rowId xmlns:a16="http://schemas.microsoft.com/office/drawing/2014/main" val="10001"/>
                  </a:ext>
                </a:extLst>
              </a:tr>
              <a:tr h="350813">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2"/>
                  </a:ext>
                </a:extLst>
              </a:tr>
              <a:tr h="350813">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3"/>
                  </a:ext>
                </a:extLst>
              </a:tr>
              <a:tr h="350813">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4"/>
                  </a:ext>
                </a:extLst>
              </a:tr>
              <a:tr h="350813">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5"/>
                  </a:ext>
                </a:extLst>
              </a:tr>
              <a:tr h="350813">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6"/>
                  </a:ext>
                </a:extLst>
              </a:tr>
              <a:tr h="350813">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7"/>
                  </a:ext>
                </a:extLst>
              </a:tr>
              <a:tr h="350813">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08"/>
                  </a:ext>
                </a:extLst>
              </a:tr>
              <a:tr h="350813">
                <a:tc>
                  <a:txBody>
                    <a:bodyPr/>
                    <a:lstStyle/>
                    <a:p>
                      <a:pPr algn="l"/>
                      <a:r>
                        <a:rPr sz="1200" b="0" i="0">
                          <a:solidFill>
                            <a:srgbClr val="000000"/>
                          </a:solidFill>
                          <a:latin typeface="Tahoma"/>
                        </a:rPr>
                        <a:t>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09"/>
                  </a:ext>
                </a:extLst>
              </a:tr>
              <a:tr h="350813">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10%</a:t>
                      </a:r>
                    </a:p>
                  </a:txBody>
                  <a:tcPr anchor="ctr">
                    <a:solidFill>
                      <a:srgbClr val="E0E5F0"/>
                    </a:solidFill>
                  </a:tcPr>
                </a:tc>
                <a:extLst>
                  <a:ext uri="{0D108BD9-81ED-4DB2-BD59-A6C34878D82A}">
                    <a16:rowId xmlns:a16="http://schemas.microsoft.com/office/drawing/2014/main" val="10010"/>
                  </a:ext>
                </a:extLst>
              </a:tr>
              <a:tr h="350813">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3%</a:t>
                      </a:r>
                    </a:p>
                  </a:txBody>
                  <a:tcPr anchor="ctr">
                    <a:solidFill>
                      <a:srgbClr val="E0E5F0"/>
                    </a:solidFill>
                  </a:tcPr>
                </a:tc>
                <a:extLst>
                  <a:ext uri="{0D108BD9-81ED-4DB2-BD59-A6C34878D82A}">
                    <a16:rowId xmlns:a16="http://schemas.microsoft.com/office/drawing/2014/main" val="10011"/>
                  </a:ext>
                </a:extLst>
              </a:tr>
              <a:tr h="350813">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dirty="0">
                          <a:solidFill>
                            <a:srgbClr val="000000"/>
                          </a:solidFill>
                          <a:latin typeface="Tahoma"/>
                        </a:rPr>
                        <a:t>0%</a:t>
                      </a:r>
                    </a:p>
                  </a:txBody>
                  <a:tcPr anchor="ctr">
                    <a:solidFill>
                      <a:srgbClr val="E0E5F0"/>
                    </a:solidFill>
                  </a:tcPr>
                </a:tc>
                <a:extLst>
                  <a:ext uri="{0D108BD9-81ED-4DB2-BD59-A6C34878D82A}">
                    <a16:rowId xmlns:a16="http://schemas.microsoft.com/office/drawing/2014/main" val="10012"/>
                  </a:ext>
                </a:extLst>
              </a:tr>
              <a:tr h="350813">
                <a:tc>
                  <a:txBody>
                    <a:bodyPr/>
                    <a:lstStyle/>
                    <a:p>
                      <a:pPr algn="l"/>
                      <a:r>
                        <a:rPr sz="1200" b="0" i="0">
                          <a:solidFill>
                            <a:srgbClr val="000000"/>
                          </a:solidFill>
                          <a:latin typeface="Tahoma"/>
                        </a:rPr>
                        <a:t>29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dirty="0">
                          <a:solidFill>
                            <a:srgbClr val="000000"/>
                          </a:solidFill>
                          <a:latin typeface="Tahoma"/>
                        </a:rPr>
                        <a:t>7%</a:t>
                      </a:r>
                    </a:p>
                  </a:txBody>
                  <a:tcPr anchor="ctr">
                    <a:solidFill>
                      <a:srgbClr val="E0E5F0"/>
                    </a:solidFill>
                  </a:tcPr>
                </a:tc>
                <a:extLst>
                  <a:ext uri="{0D108BD9-81ED-4DB2-BD59-A6C34878D82A}">
                    <a16:rowId xmlns:a16="http://schemas.microsoft.com/office/drawing/2014/main" val="10013"/>
                  </a:ext>
                </a:extLst>
              </a:tr>
              <a:tr h="350813">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dirty="0">
                          <a:solidFill>
                            <a:srgbClr val="000000"/>
                          </a:solidFill>
                          <a:latin typeface="Tahoma"/>
                        </a:rPr>
                        <a:t>7%</a:t>
                      </a:r>
                    </a:p>
                  </a:txBody>
                  <a:tcPr anchor="ctr">
                    <a:solidFill>
                      <a:srgbClr val="E0E5F0"/>
                    </a:solidFill>
                  </a:tcPr>
                </a:tc>
                <a:extLst>
                  <a:ext uri="{0D108BD9-81ED-4DB2-BD59-A6C34878D82A}">
                    <a16:rowId xmlns:a16="http://schemas.microsoft.com/office/drawing/2014/main" val="10014"/>
                  </a:ext>
                </a:extLst>
              </a:tr>
              <a:tr h="350813">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39</a:t>
                      </a:r>
                    </a:p>
                  </a:txBody>
                  <a:tcPr anchor="ctr">
                    <a:solidFill>
                      <a:srgbClr val="5A80B8"/>
                    </a:solidFill>
                  </a:tcPr>
                </a:tc>
                <a:tc>
                  <a:txBody>
                    <a:bodyPr/>
                    <a:lstStyle/>
                    <a:p>
                      <a:pPr algn="ctr"/>
                      <a:r>
                        <a:rPr sz="1200" b="1" i="0">
                          <a:solidFill>
                            <a:srgbClr val="FFFFFF"/>
                          </a:solidFill>
                          <a:latin typeface="Tahoma"/>
                        </a:rPr>
                        <a:t>41</a:t>
                      </a:r>
                    </a:p>
                  </a:txBody>
                  <a:tcPr anchor="ctr">
                    <a:solidFill>
                      <a:srgbClr val="5A80B8"/>
                    </a:solidFill>
                  </a:tcPr>
                </a:tc>
                <a:tc>
                  <a:txBody>
                    <a:bodyPr/>
                    <a:lstStyle/>
                    <a:p>
                      <a:pPr algn="ctr"/>
                      <a:r>
                        <a:rPr sz="1200" b="1" i="0" dirty="0">
                          <a:solidFill>
                            <a:srgbClr val="FFFFFF"/>
                          </a:solidFill>
                          <a:latin typeface="Tahoma"/>
                        </a:rPr>
                        <a:t>38</a:t>
                      </a:r>
                    </a:p>
                  </a:txBody>
                  <a:tcPr anchor="ctr">
                    <a:solidFill>
                      <a:srgbClr val="5A80B8"/>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587676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3481043043"/>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60</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sz="1800" dirty="0">
                <a:cs typeface="Tahoma"/>
              </a:rPr>
              <a:t>Creative Consumer Research (CCR) mailed an invitation to complete the survey online to Low Income Weatherization customers. This invitation included a $1 bill.</a:t>
            </a:r>
            <a:endParaRPr lang="en-US" dirty="0">
              <a:cs typeface="Tahoma"/>
            </a:endParaRPr>
          </a:p>
          <a:p>
            <a:r>
              <a:rPr lang="en-US" sz="1800" dirty="0">
                <a:ea typeface="Tahoma"/>
                <a:cs typeface="Tahoma"/>
              </a:rPr>
              <a:t>Of those who received an invitation, 38 contacts completed the survey, and the average survey length was 17 minutes.</a:t>
            </a:r>
            <a:endParaRPr lang="en-US" dirty="0">
              <a:ea typeface="Tahoma"/>
              <a:cs typeface="Tahoma"/>
            </a:endParaRPr>
          </a:p>
          <a:p>
            <a:pPr>
              <a:spcBef>
                <a:spcPts val="600"/>
              </a:spcBef>
            </a:pPr>
            <a:r>
              <a:rPr lang="en-US" altLang="en-US" sz="1800" dirty="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dirty="0">
                <a:ea typeface="Geneva"/>
                <a:cs typeface="Geneva"/>
              </a:rPr>
              <a:t>For reference throughout the report, a ‘Top Box’ score is the percentage of ‘8’, ‘9’, and ‘10’ scores on a </a:t>
            </a:r>
            <a:br>
              <a:rPr lang="en-US" altLang="en-US" sz="1800" dirty="0">
                <a:ea typeface="Geneva"/>
                <a:cs typeface="Geneva"/>
              </a:rPr>
            </a:br>
            <a:r>
              <a:rPr lang="en-US" altLang="en-US" sz="1800" dirty="0">
                <a:ea typeface="Geneva"/>
                <a:cs typeface="Geneva"/>
              </a:rPr>
              <a:t>10-point scale.</a:t>
            </a:r>
          </a:p>
          <a:p>
            <a:pPr marL="0" indent="0">
              <a:buNone/>
            </a:pPr>
            <a:r>
              <a:rPr lang="en-US" altLang="en-US" sz="1800" dirty="0">
                <a:ea typeface="Geneva"/>
                <a:cs typeface="Geneva"/>
              </a:rPr>
              <a:t> </a:t>
            </a:r>
          </a:p>
          <a:p>
            <a:endParaRPr lang="en-US" altLang="en-US" sz="1800" dirty="0">
              <a:ea typeface="Geneva"/>
              <a:cs typeface="Geneva"/>
            </a:endParaRPr>
          </a:p>
          <a:p>
            <a:pPr marL="0" indent="0">
              <a:buNone/>
            </a:pPr>
            <a:endParaRPr lang="en-US" altLang="en-US" sz="1800" dirty="0">
              <a:ea typeface="MS PGothic" panose="020B0600070205080204" pitchFamily="34" charset="-128"/>
            </a:endParaRPr>
          </a:p>
          <a:p>
            <a:pPr marL="0" indent="0">
              <a:buNone/>
            </a:pPr>
            <a:endParaRPr lang="en-US" altLang="en-US" sz="1800" dirty="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0D050B2-3251-403C-968B-F8C9227395F9}">
  <ds:schemaRefs>
    <ds:schemaRef ds:uri="http://schemas.microsoft.com/sharepoint/v3/contenttype/forms"/>
  </ds:schemaRefs>
</ds:datastoreItem>
</file>

<file path=docMetadata/LabelInfo.xml><?xml version="1.0" encoding="utf-8"?>
<clbl:labelList xmlns:clbl="http://schemas.microsoft.com/office/2020/mipLabelMetadata">
  <clbl:label id="{d08aee54-23a1-44bc-928c-69bab9445b32}" enabled="0" method="" siteId="{d08aee54-23a1-44bc-928c-69bab9445b32}" removed="1"/>
</clbl:labelList>
</file>

<file path=docProps/app.xml><?xml version="1.0" encoding="utf-8"?>
<Properties xmlns="http://schemas.openxmlformats.org/officeDocument/2006/extended-properties" xmlns:vt="http://schemas.openxmlformats.org/officeDocument/2006/docPropsVTypes">
  <Template/>
  <TotalTime>3223</TotalTime>
  <Words>4984</Words>
  <Application>Microsoft Macintosh PowerPoint</Application>
  <PresentationFormat>On-screen Show (4:3)</PresentationFormat>
  <Paragraphs>1393</Paragraphs>
  <Slides>61</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MS PGothic</vt:lpstr>
      <vt:lpstr>MS PGothic</vt:lpstr>
      <vt:lpstr>Arial</vt:lpstr>
      <vt:lpstr>Geneva</vt:lpstr>
      <vt:lpstr>Helvetica</vt:lpstr>
      <vt:lpstr>Tahoma</vt:lpstr>
      <vt:lpstr>Times New Roman</vt:lpstr>
      <vt:lpstr>Univers 49 Light Ultra Condense</vt:lpstr>
      <vt:lpstr>Default Design</vt:lpstr>
      <vt:lpstr>Low Income Weatherization Survey
FY2025 Q3
   December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Contractor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Staff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29</cp:revision>
  <cp:lastPrinted>2025-12-10T19:29:18Z</cp:lastPrinted>
  <dcterms:created xsi:type="dcterms:W3CDTF">2004-11-29T14:50:58Z</dcterms:created>
  <dcterms:modified xsi:type="dcterms:W3CDTF">2025-12-14T13:06:49Z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