
<file path=[Content_Types].xml><?xml version="1.0" encoding="utf-8"?>
<Types xmlns="http://schemas.openxmlformats.org/package/2006/content-types">
  <Default Extension="emf" ContentType="image/x-emf"/>
  <Default Extension="gif" ContentType="image/gif"/>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s/modernComment_254_66F63346.xml" ContentType="application/vnd.ms-powerpoint.comments+xml"/>
  <Override PartName="/ppt/drawings/drawing1.xml" ContentType="application/vnd.openxmlformats-officedocument.drawingml.chartshapes+xml"/>
  <Override PartName="/ppt/drawings/drawing10.xml" ContentType="application/vnd.openxmlformats-officedocument.drawingml.chartshapes+xml"/>
  <Override PartName="/ppt/drawings/drawing11.xml" ContentType="application/vnd.openxmlformats-officedocument.drawingml.chartshapes+xml"/>
  <Override PartName="/ppt/drawings/drawing12.xml" ContentType="application/vnd.openxmlformats-officedocument.drawingml.chartshapes+xml"/>
  <Override PartName="/ppt/drawings/drawing13.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drawings/drawing7.xml" ContentType="application/vnd.openxmlformats-officedocument.drawingml.chartshapes+xml"/>
  <Override PartName="/ppt/drawings/drawing8.xml" ContentType="application/vnd.openxmlformats-officedocument.drawingml.chartshapes+xml"/>
  <Override PartName="/ppt/drawings/drawing9.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7"/>
  </p:notesMasterIdLst>
  <p:handoutMasterIdLst>
    <p:handoutMasterId r:id="rId68"/>
  </p:handoutMasterIdLst>
  <p:sldIdLst>
    <p:sldId id="474" r:id="rId5"/>
    <p:sldId id="689" r:id="rId6"/>
    <p:sldId id="662" r:id="rId7"/>
    <p:sldId id="661" r:id="rId8"/>
    <p:sldId id="616" r:id="rId9"/>
    <p:sldId id="617"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693" r:id="rId28"/>
    <p:sldId id="664" r:id="rId29"/>
    <p:sldId id="665" r:id="rId30"/>
    <p:sldId id="630" r:id="rId31"/>
    <p:sldId id="631" r:id="rId32"/>
    <p:sldId id="632" r:id="rId33"/>
    <p:sldId id="666" r:id="rId34"/>
    <p:sldId id="684" r:id="rId35"/>
    <p:sldId id="668" r:id="rId36"/>
    <p:sldId id="633" r:id="rId37"/>
    <p:sldId id="634" r:id="rId38"/>
    <p:sldId id="685"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699" r:id="rId55"/>
    <p:sldId id="698" r:id="rId56"/>
    <p:sldId id="648" r:id="rId57"/>
    <p:sldId id="649" r:id="rId58"/>
    <p:sldId id="672" r:id="rId59"/>
    <p:sldId id="650" r:id="rId60"/>
    <p:sldId id="656" r:id="rId61"/>
    <p:sldId id="673" r:id="rId62"/>
    <p:sldId id="687" r:id="rId63"/>
    <p:sldId id="676" r:id="rId64"/>
    <p:sldId id="596" r:id="rId65"/>
    <p:sldId id="659" r:id="rId66"/>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8F3"/>
    <a:srgbClr val="4F81BD"/>
    <a:srgbClr val="DDE7F2"/>
    <a:srgbClr val="FFC003"/>
    <a:srgbClr val="00CC99"/>
    <a:srgbClr val="3233CC"/>
    <a:srgbClr val="00CC9A"/>
    <a:srgbClr val="FFC000"/>
    <a:srgbClr val="0F6FC6"/>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EA0C28D-1679-5B46-A457-EFDD3CED51B1}" v="39" dt="2024-11-23T12:53:53.0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793"/>
    <p:restoredTop sz="94694"/>
  </p:normalViewPr>
  <p:slideViewPr>
    <p:cSldViewPr snapToGrid="0">
      <p:cViewPr varScale="1">
        <p:scale>
          <a:sx n="81" d="100"/>
          <a:sy n="81" d="100"/>
        </p:scale>
        <p:origin x="176" y="1136"/>
      </p:cViewPr>
      <p:guideLst>
        <p:guide orient="horz" pos="2880"/>
        <p:guide pos="2160"/>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notesMaster" Target="notesMasters/notesMaster1.xml"/><Relationship Id="rId68" Type="http://schemas.openxmlformats.org/officeDocument/2006/relationships/handoutMaster" Target="handoutMasters/handout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microsoft.com/office/2015/10/relationships/revisionInfo" Target="revisionInfo.xml"/><Relationship Id="rId74"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 Id="rId2" Type="http://schemas.openxmlformats.org/officeDocument/2006/relationships/chartUserShapes" Target="../drawings/drawing3.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 Id="rId2" Type="http://schemas.openxmlformats.org/officeDocument/2006/relationships/chartUserShapes" Target="../drawings/drawing4.xml"/></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 Id="rId2" Type="http://schemas.openxmlformats.org/officeDocument/2006/relationships/chartUserShapes" Target="../drawings/drawing5.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 Id="rId2" Type="http://schemas.openxmlformats.org/officeDocument/2006/relationships/chartUserShapes" Target="../drawings/drawing6.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 Id="rId2" Type="http://schemas.openxmlformats.org/officeDocument/2006/relationships/chartUserShapes" Target="../drawings/drawing7.xml"/></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 Id="rId2" Type="http://schemas.openxmlformats.org/officeDocument/2006/relationships/chartUserShapes" Target="../drawings/drawing8.xml"/></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 Id="rId2" Type="http://schemas.openxmlformats.org/officeDocument/2006/relationships/chartUserShapes" Target="../drawings/drawing9.xml"/></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 Id="rId2" Type="http://schemas.openxmlformats.org/officeDocument/2006/relationships/chartUserShapes" Target="../drawings/drawing10.xml"/></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 Id="rId2" Type="http://schemas.openxmlformats.org/officeDocument/2006/relationships/chartUserShapes" Target="../drawings/drawing11.xml"/></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 Id="rId2" Type="http://schemas.openxmlformats.org/officeDocument/2006/relationships/chartUserShapes" Target="../drawings/drawing12.xml"/></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 Id="rId2" Type="http://schemas.openxmlformats.org/officeDocument/2006/relationships/chartUserShapes" Target="../drawings/drawing13.xml"/></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0.08333333333333331</c:v>
                </c:pt>
                <c:pt idx="1">
                  <c:v>0.9166666666666665</c:v>
                </c:pt>
                <c:pt idx="2">
                  <c:v>0.0</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Q2 2024
(N=44)</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0.25</c:v>
                </c:pt>
                <c:pt idx="1">
                  <c:v>0.75</c:v>
                </c:pt>
                <c:pt idx="2">
                  <c:v>0.0</c:v>
                </c:pt>
              </c:numCache>
            </c:numRef>
          </c:val>
          <c:extLst>
            <c:ext xmlns:c16="http://schemas.microsoft.com/office/drawing/2014/chart" uri="{C3380CC4-5D6E-409C-BE32-E72D297353CC}">
              <c16:uniqueId val="{00000001-5341-4021-8530-F4858413767C}"/>
            </c:ext>
          </c:extLst>
        </c:ser>
        <c:ser>
          <c:idx val="2"/>
          <c:order val="2"/>
          <c:tx>
            <c:strRef>
              <c:f>Sheet1!$D$1</c:f>
              <c:strCache>
                <c:ptCount val="1"/>
                <c:pt idx="0">
                  <c:v>Q3 2024
(N=19)</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Sheet1!$D$2:$D$4</c:f>
              <c:numCache>
                <c:formatCode>0%</c:formatCode>
                <c:ptCount val="3"/>
                <c:pt idx="0">
                  <c:v>0.15789473684210525</c:v>
                </c:pt>
                <c:pt idx="1">
                  <c:v>0.8421052631578947</c:v>
                </c:pt>
                <c:pt idx="2">
                  <c:v>0.0</c:v>
                </c:pt>
              </c:numCache>
            </c:numRef>
          </c:val>
          <c:extLst>
            <c:ext xmlns:c16="http://schemas.microsoft.com/office/drawing/2014/chart" uri="{C3380CC4-5D6E-409C-BE32-E72D297353CC}">
              <c16:uniqueId val="{00000002-5341-4021-8530-F4858413767C}"/>
            </c:ext>
          </c:extLst>
        </c:ser>
        <c:ser>
          <c:idx val="3"/>
          <c:order val="3"/>
          <c:tx>
            <c:strRef>
              <c:f>Sheet1!$E$1</c:f>
              <c:strCache>
                <c:ptCount val="1"/>
                <c:pt idx="0">
                  <c:v>Q4 2024
(N=33)</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Sheet1!$E$2:$E$3</c:f>
              <c:numCache>
                <c:formatCode>0%</c:formatCode>
                <c:ptCount val="2"/>
                <c:pt idx="0">
                  <c:v>0.24242424242424243</c:v>
                </c:pt>
                <c:pt idx="1">
                  <c:v>0.7575757575757576</c:v>
                </c:pt>
              </c:numCache>
            </c:numRef>
          </c:val>
          <c:extLst>
            <c:ext xmlns:c16="http://schemas.microsoft.com/office/drawing/2014/chart" uri="{C3380CC4-5D6E-409C-BE32-E72D297353CC}">
              <c16:uniqueId val="{00000003-5341-4021-8530-F4858413767C}"/>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0">
                  <c:v>0.08</c:v>
                </c:pt>
                <c:pt idx="1">
                  <c:v>0.04545454545454546</c:v>
                </c:pt>
                <c:pt idx="2">
                  <c:v>0.05263157894736842</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1">
                  <c:v>0.04545454545454546</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0.83</c:v>
                </c:pt>
                <c:pt idx="1">
                  <c:v>0.8636363636363636</c:v>
                </c:pt>
                <c:pt idx="2">
                  <c:v>0.9473684210526315</c:v>
                </c:pt>
                <c:pt idx="3">
                  <c:v>0.9393939393939394</c:v>
                </c:pt>
              </c:numCache>
            </c:numRef>
          </c:val>
          <c:extLst>
            <c:ext xmlns:c16="http://schemas.microsoft.com/office/drawing/2014/chart" uri="{C3380CC4-5D6E-409C-BE32-E72D297353CC}">
              <c16:uniqueId val="{00000006-B9B0-4EA2-8CFB-1195A0386E81}"/>
            </c:ext>
          </c:extLst>
        </c:ser>
        <c:ser>
          <c:idx val="3"/>
          <c:order val="3"/>
          <c:tx>
            <c:strRef>
              <c:f>Sheet1!$E$1</c:f>
              <c:strCache>
                <c:ptCount val="1"/>
                <c:pt idx="0">
                  <c:v>sum of displayed values</c:v>
                </c:pt>
              </c:strCache>
            </c:strRef>
          </c:tx>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0.9099999999999999</c:v>
                </c:pt>
                <c:pt idx="1">
                  <c:v>0.96</c:v>
                </c:pt>
                <c:pt idx="2">
                  <c:v>1.0</c:v>
                </c:pt>
                <c:pt idx="3">
                  <c:v>0.9393939393939394</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0">
                  <c:v>0.08333333333333331</c:v>
                </c:pt>
                <c:pt idx="1">
                  <c:v>0.09090909090909093</c:v>
                </c:pt>
                <c:pt idx="2">
                  <c:v>0.10526315789473684</c:v>
                </c:pt>
                <c:pt idx="3">
                  <c:v>0.12121212121212122</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0">
                  <c:v>0.08333333333333331</c:v>
                </c:pt>
                <c:pt idx="1">
                  <c:v>0.02272727272727273</c:v>
                </c:pt>
                <c:pt idx="2">
                  <c:v>0.10526315789473684</c:v>
                </c:pt>
                <c:pt idx="3">
                  <c:v>0.06060606060606061</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0.5833333333333334</c:v>
                </c:pt>
                <c:pt idx="1">
                  <c:v>0.6136363636363636</c:v>
                </c:pt>
                <c:pt idx="2">
                  <c:v>0.47368421052631576</c:v>
                </c:pt>
                <c:pt idx="3">
                  <c:v>0.48484848484848486</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sum of diplayed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0.74</c:v>
                </c:pt>
                <c:pt idx="1">
                  <c:v>0.72</c:v>
                </c:pt>
                <c:pt idx="2">
                  <c:v>0.69</c:v>
                </c:pt>
              </c:numCache>
            </c:numRef>
          </c:val>
          <c:extLst>
            <c:ext xmlns:c16="http://schemas.microsoft.com/office/drawing/2014/chart" uri="{C3380CC4-5D6E-409C-BE32-E72D297353CC}">
              <c16:uniqueId val="{00000004-BA82-4646-B133-ACCBD878F7F2}"/>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Sheet1!$F$2:$F$5</c:f>
              <c:numCache>
                <c:formatCode>0%</c:formatCode>
                <c:ptCount val="4"/>
                <c:pt idx="3">
                  <c:v>0.6666666666666667</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0.0</c:v>
                </c:pt>
                <c:pt idx="1">
                  <c:v>3.0</c:v>
                </c:pt>
                <c:pt idx="2">
                  <c:v>3.0</c:v>
                </c:pt>
                <c:pt idx="3">
                  <c:v>4.0</c:v>
                </c:pt>
                <c:pt idx="4">
                  <c:v>0.0</c:v>
                </c:pt>
                <c:pt idx="5">
                  <c:v>2.0</c:v>
                </c:pt>
                <c:pt idx="6">
                  <c:v>2.0</c:v>
                </c:pt>
                <c:pt idx="7">
                  <c:v>8.0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Q2 2024
(N=44)</c:v>
                </c:pt>
              </c:strCache>
            </c:strRef>
          </c:tx>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0.0</c:v>
                </c:pt>
                <c:pt idx="1">
                  <c:v>12.0</c:v>
                </c:pt>
                <c:pt idx="2">
                  <c:v>18.0</c:v>
                </c:pt>
                <c:pt idx="3">
                  <c:v>13.0</c:v>
                </c:pt>
                <c:pt idx="4">
                  <c:v>0.0</c:v>
                </c:pt>
                <c:pt idx="5">
                  <c:v>8.0</c:v>
                </c:pt>
                <c:pt idx="6">
                  <c:v>4.0</c:v>
                </c:pt>
                <c:pt idx="7">
                  <c:v>31.0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Q3 2024
(N=19)</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1.0</c:v>
                </c:pt>
                <c:pt idx="1">
                  <c:v>5.0</c:v>
                </c:pt>
                <c:pt idx="2">
                  <c:v>10.0</c:v>
                </c:pt>
                <c:pt idx="3">
                  <c:v>3.0</c:v>
                </c:pt>
                <c:pt idx="4">
                  <c:v>2.0</c:v>
                </c:pt>
                <c:pt idx="5">
                  <c:v>2.0</c:v>
                </c:pt>
                <c:pt idx="6">
                  <c:v>2.0</c:v>
                </c:pt>
                <c:pt idx="7">
                  <c:v>13.0</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Q4 2024
(N=33)</c:v>
                </c:pt>
              </c:strCache>
            </c:strRef>
          </c:tx>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2</c:v>
                </c:pt>
                <c:pt idx="1">
                  <c:v>14</c:v>
                </c:pt>
                <c:pt idx="2">
                  <c:v>11</c:v>
                </c:pt>
                <c:pt idx="3">
                  <c:v>6</c:v>
                </c:pt>
                <c:pt idx="4">
                  <c:v>1</c:v>
                </c:pt>
                <c:pt idx="5">
                  <c:v>5</c:v>
                </c:pt>
                <c:pt idx="6">
                  <c:v>6</c:v>
                </c:pt>
                <c:pt idx="7">
                  <c:v>20</c:v>
                </c:pt>
              </c:numCache>
            </c:numRef>
          </c:val>
          <c:extLst>
            <c:ext xmlns:c16="http://schemas.microsoft.com/office/drawing/2014/chart" uri="{C3380CC4-5D6E-409C-BE32-E72D297353CC}">
              <c16:uniqueId val="{00000005-228A-4467-BB3A-D385FE43A01E}"/>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0.0</c:v>
                </c:pt>
                <c:pt idx="1">
                  <c:v>2.0</c:v>
                </c:pt>
                <c:pt idx="2">
                  <c:v>5.0</c:v>
                </c:pt>
                <c:pt idx="3">
                  <c:v>5.0</c:v>
                </c:pt>
                <c:pt idx="4">
                  <c:v>3.0</c:v>
                </c:pt>
                <c:pt idx="5">
                  <c:v>4.0</c:v>
                </c:pt>
                <c:pt idx="6">
                  <c:v>0.0</c:v>
                </c:pt>
                <c:pt idx="7">
                  <c:v>3.0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Q2 2024
(N=44)</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2.0</c:v>
                </c:pt>
                <c:pt idx="1">
                  <c:v>10.0</c:v>
                </c:pt>
                <c:pt idx="2">
                  <c:v>9.0</c:v>
                </c:pt>
                <c:pt idx="3">
                  <c:v>18.0</c:v>
                </c:pt>
                <c:pt idx="4">
                  <c:v>24.0</c:v>
                </c:pt>
                <c:pt idx="5">
                  <c:v>11.0</c:v>
                </c:pt>
                <c:pt idx="6">
                  <c:v>1.0</c:v>
                </c:pt>
                <c:pt idx="7">
                  <c:v>7.0</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Q3 2024
(N=19)</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4.0</c:v>
                </c:pt>
                <c:pt idx="1">
                  <c:v>5.0</c:v>
                </c:pt>
                <c:pt idx="2">
                  <c:v>3.0</c:v>
                </c:pt>
                <c:pt idx="3">
                  <c:v>7.0</c:v>
                </c:pt>
                <c:pt idx="4">
                  <c:v>9.0</c:v>
                </c:pt>
                <c:pt idx="5">
                  <c:v>6.0</c:v>
                </c:pt>
                <c:pt idx="6">
                  <c:v>1.0</c:v>
                </c:pt>
                <c:pt idx="7">
                  <c:v>3.0</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Q4 2024
(N=33)</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3</c:v>
                </c:pt>
                <c:pt idx="1">
                  <c:v>4</c:v>
                </c:pt>
                <c:pt idx="2">
                  <c:v>13</c:v>
                </c:pt>
                <c:pt idx="3">
                  <c:v>11</c:v>
                </c:pt>
                <c:pt idx="4">
                  <c:v>9</c:v>
                </c:pt>
                <c:pt idx="5">
                  <c:v>15</c:v>
                </c:pt>
                <c:pt idx="6">
                  <c:v>2</c:v>
                </c:pt>
                <c:pt idx="7">
                  <c:v>6</c:v>
                </c:pt>
              </c:numCache>
            </c:numRef>
          </c:val>
          <c:extLst>
            <c:ext xmlns:c16="http://schemas.microsoft.com/office/drawing/2014/chart" uri="{C3380CC4-5D6E-409C-BE32-E72D297353CC}">
              <c16:uniqueId val="{00000005-6C66-4CAF-81AB-F70542D9BDB7}"/>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4.0</c:v>
                </c:pt>
                <c:pt idx="1">
                  <c:v>5.0</c:v>
                </c:pt>
                <c:pt idx="2">
                  <c:v>1.0</c:v>
                </c:pt>
                <c:pt idx="3">
                  <c:v>0.0</c:v>
                </c:pt>
                <c:pt idx="4">
                  <c:v>10.0</c:v>
                </c:pt>
                <c:pt idx="5">
                  <c:v>0.0</c:v>
                </c:pt>
                <c:pt idx="6">
                  <c:v>2.0</c:v>
                </c:pt>
                <c:pt idx="7">
                  <c:v>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Q2 2024
(N=44)</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8.0</c:v>
                </c:pt>
                <c:pt idx="1">
                  <c:v>16.0</c:v>
                </c:pt>
                <c:pt idx="2">
                  <c:v>10.0</c:v>
                </c:pt>
                <c:pt idx="3">
                  <c:v>9.0</c:v>
                </c:pt>
                <c:pt idx="4">
                  <c:v>34.0</c:v>
                </c:pt>
                <c:pt idx="5">
                  <c:v>7.0</c:v>
                </c:pt>
                <c:pt idx="6">
                  <c:v>0.0</c:v>
                </c:pt>
                <c:pt idx="7">
                  <c:v>1.0</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Q3 2024
(N=19)</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1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1.0</c:v>
                </c:pt>
                <c:pt idx="1">
                  <c:v>14.0</c:v>
                </c:pt>
                <c:pt idx="2">
                  <c:v>1.0</c:v>
                </c:pt>
                <c:pt idx="3">
                  <c:v>3.0</c:v>
                </c:pt>
                <c:pt idx="4">
                  <c:v>15.0</c:v>
                </c:pt>
                <c:pt idx="5">
                  <c:v>4.0</c:v>
                </c:pt>
                <c:pt idx="6">
                  <c:v>0.0</c:v>
                </c:pt>
                <c:pt idx="7">
                  <c:v>0.0</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Q4 2024
(N=33)</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3</c:v>
                </c:pt>
                <c:pt idx="1">
                  <c:v>19</c:v>
                </c:pt>
                <c:pt idx="2">
                  <c:v>4</c:v>
                </c:pt>
                <c:pt idx="3">
                  <c:v>6</c:v>
                </c:pt>
                <c:pt idx="4">
                  <c:v>22</c:v>
                </c:pt>
                <c:pt idx="5">
                  <c:v>8</c:v>
                </c:pt>
                <c:pt idx="6">
                  <c:v>3</c:v>
                </c:pt>
                <c:pt idx="7">
                  <c:v>0</c:v>
                </c:pt>
              </c:numCache>
            </c:numRef>
          </c:val>
          <c:extLst>
            <c:ext xmlns:c16="http://schemas.microsoft.com/office/drawing/2014/chart" uri="{C3380CC4-5D6E-409C-BE32-E72D297353CC}">
              <c16:uniqueId val="{00000000-4866-694C-B315-C018B2EC4AEF}"/>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1.0</c:v>
                </c:pt>
                <c:pt idx="1">
                  <c:v>5.0</c:v>
                </c:pt>
                <c:pt idx="2">
                  <c:v>0.0</c:v>
                </c:pt>
                <c:pt idx="3">
                  <c:v>6.0</c:v>
                </c:pt>
                <c:pt idx="4">
                  <c:v>5.0</c:v>
                </c:pt>
                <c:pt idx="5">
                  <c:v>4.0</c:v>
                </c:pt>
                <c:pt idx="6">
                  <c:v>0.0</c:v>
                </c:pt>
                <c:pt idx="7">
                  <c:v>2.0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Q2 2024
(N=44)</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11.0</c:v>
                </c:pt>
                <c:pt idx="1">
                  <c:v>11.0</c:v>
                </c:pt>
                <c:pt idx="2">
                  <c:v>1.0</c:v>
                </c:pt>
                <c:pt idx="3">
                  <c:v>21.0</c:v>
                </c:pt>
                <c:pt idx="4">
                  <c:v>29.0</c:v>
                </c:pt>
                <c:pt idx="5">
                  <c:v>6.0</c:v>
                </c:pt>
                <c:pt idx="6">
                  <c:v>2.0</c:v>
                </c:pt>
                <c:pt idx="7">
                  <c:v>6.0</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Q3 2024
(N=19)</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7.0</c:v>
                </c:pt>
                <c:pt idx="1">
                  <c:v>5.0</c:v>
                </c:pt>
                <c:pt idx="2">
                  <c:v>0.0</c:v>
                </c:pt>
                <c:pt idx="3">
                  <c:v>7.0</c:v>
                </c:pt>
                <c:pt idx="4">
                  <c:v>13.0</c:v>
                </c:pt>
                <c:pt idx="5">
                  <c:v>2.0</c:v>
                </c:pt>
                <c:pt idx="6">
                  <c:v>1.0</c:v>
                </c:pt>
                <c:pt idx="7">
                  <c:v>2.0</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Q4 2024
(N=33)</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6</c:v>
                </c:pt>
                <c:pt idx="1">
                  <c:v>16</c:v>
                </c:pt>
                <c:pt idx="2">
                  <c:v>1</c:v>
                </c:pt>
                <c:pt idx="3">
                  <c:v>9</c:v>
                </c:pt>
                <c:pt idx="4">
                  <c:v>20</c:v>
                </c:pt>
                <c:pt idx="5">
                  <c:v>11</c:v>
                </c:pt>
                <c:pt idx="6">
                  <c:v>0</c:v>
                </c:pt>
                <c:pt idx="7">
                  <c:v>1</c:v>
                </c:pt>
              </c:numCache>
            </c:numRef>
          </c:val>
          <c:extLst>
            <c:ext xmlns:c16="http://schemas.microsoft.com/office/drawing/2014/chart" uri="{C3380CC4-5D6E-409C-BE32-E72D297353CC}">
              <c16:uniqueId val="{00000003-A189-4DD3-B104-E94BF8E7B46F}"/>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3.0</c:v>
                </c:pt>
                <c:pt idx="1">
                  <c:v>2.0</c:v>
                </c:pt>
                <c:pt idx="2">
                  <c:v>0.0</c:v>
                </c:pt>
                <c:pt idx="3">
                  <c:v>6.0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Q2 2024
(N=44)</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17.0</c:v>
                </c:pt>
                <c:pt idx="1">
                  <c:v>12.0</c:v>
                </c:pt>
                <c:pt idx="2">
                  <c:v>4.0</c:v>
                </c:pt>
                <c:pt idx="3">
                  <c:v>9.0</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Q3 2024
(N=19)</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9.0</c:v>
                </c:pt>
                <c:pt idx="1">
                  <c:v>5.0</c:v>
                </c:pt>
                <c:pt idx="2">
                  <c:v>0.0</c:v>
                </c:pt>
                <c:pt idx="3">
                  <c:v>5.0</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Q4 2024
(N=33)</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16</c:v>
                </c:pt>
                <c:pt idx="1">
                  <c:v>7</c:v>
                </c:pt>
                <c:pt idx="2">
                  <c:v>0</c:v>
                </c:pt>
                <c:pt idx="3">
                  <c:v>9</c:v>
                </c:pt>
              </c:numCache>
            </c:numRef>
          </c:val>
          <c:extLst>
            <c:ext xmlns:c16="http://schemas.microsoft.com/office/drawing/2014/chart" uri="{C3380CC4-5D6E-409C-BE32-E72D297353CC}">
              <c16:uniqueId val="{00000005-2D8F-4DC4-8B87-B0638A575DEB}"/>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1">
                  <c:v>0.06818181818181818</c:v>
                </c:pt>
                <c:pt idx="2">
                  <c:v>0.05263157894736842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1.1278195488721804E-2"/>
                  <c:y val="-3.494540125005478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3">
                  <c:v>0.06060606060606061</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0.92</c:v>
                </c:pt>
                <c:pt idx="1">
                  <c:v>0.9318181818181818</c:v>
                </c:pt>
                <c:pt idx="2">
                  <c:v>0.8947368421052632</c:v>
                </c:pt>
                <c:pt idx="3">
                  <c:v>0.8181818181818182</c:v>
                </c:pt>
              </c:numCache>
            </c:numRef>
          </c:val>
          <c:extLst>
            <c:ext xmlns:c16="http://schemas.microsoft.com/office/drawing/2014/chart" uri="{C3380CC4-5D6E-409C-BE32-E72D297353CC}">
              <c16:uniqueId val="{00000003-33C6-46D0-A451-9992BB76C127}"/>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0.92</c:v>
                </c:pt>
                <c:pt idx="1">
                  <c:v>1.0</c:v>
                </c:pt>
                <c:pt idx="2">
                  <c:v>0.9473684210526316</c:v>
                </c:pt>
                <c:pt idx="3">
                  <c:v>0.8787878787878789</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Q1 2024
(N=12)</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1.0</c:v>
                </c:pt>
                <c:pt idx="1">
                  <c:v>0.0</c:v>
                </c:pt>
                <c:pt idx="2">
                  <c:v>0.0</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Q2 2024
(N=44)</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1.0</c:v>
                </c:pt>
                <c:pt idx="1">
                  <c:v>0.0</c:v>
                </c:pt>
                <c:pt idx="2">
                  <c:v>0.0</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Q3 2024
(N=19)</c:v>
                </c:pt>
              </c:strCache>
            </c:strRef>
          </c:tx>
          <c:spPr>
            <a:solidFill>
              <a:srgbClr val="00CC99"/>
            </a:solidFill>
          </c:spPr>
          <c:invertIfNegative val="0"/>
          <c:dLbls>
            <c:dLbl>
              <c:idx val="0"/>
              <c:layout>
                <c:manualLayout>
                  <c:x val="3.759398496240567E-3"/>
                  <c:y val="-2.334630350194551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2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Sheet1!$D$2:$D$4</c:f>
              <c:numCache>
                <c:formatCode>0%</c:formatCode>
                <c:ptCount val="3"/>
                <c:pt idx="0">
                  <c:v>1.0</c:v>
                </c:pt>
                <c:pt idx="1">
                  <c:v>0.0</c:v>
                </c:pt>
                <c:pt idx="2">
                  <c:v>0.0</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Q4 2024
(N=33)</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Sheet1!$E$2:$E$3</c:f>
              <c:numCache>
                <c:formatCode>0%</c:formatCode>
                <c:ptCount val="2"/>
                <c:pt idx="0">
                  <c:v>0.9090909090909091</c:v>
                </c:pt>
                <c:pt idx="1">
                  <c:v>0.09090909090909091</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Sheet1!$B$2:$B$9</c:f>
              <c:numCache>
                <c:formatCode>0%</c:formatCode>
                <c:ptCount val="8"/>
                <c:pt idx="0">
                  <c:v>0.08333333333333331</c:v>
                </c:pt>
                <c:pt idx="1">
                  <c:v>0.09090909090909093</c:v>
                </c:pt>
                <c:pt idx="2">
                  <c:v>0.0526315789473684</c:v>
                </c:pt>
                <c:pt idx="3">
                  <c:v>0.06060606060606061</c:v>
                </c:pt>
                <c:pt idx="4">
                  <c:v>0.08333333333333331</c:v>
                </c:pt>
                <c:pt idx="5">
                  <c:v>0.02272727272727273</c:v>
                </c:pt>
                <c:pt idx="6">
                  <c:v>0.05263157894736842</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Sheet1!$C$2:$C$9</c:f>
              <c:numCache>
                <c:formatCode>0%</c:formatCode>
                <c:ptCount val="8"/>
                <c:pt idx="0">
                  <c:v>0.08333333333333331</c:v>
                </c:pt>
                <c:pt idx="1">
                  <c:v>0.13636363636363635</c:v>
                </c:pt>
                <c:pt idx="2">
                  <c:v>0.10526315789473684</c:v>
                </c:pt>
                <c:pt idx="3">
                  <c:v>0.15151515151515152</c:v>
                </c:pt>
                <c:pt idx="4">
                  <c:v>0.08333333333333331</c:v>
                </c:pt>
                <c:pt idx="5">
                  <c:v>0.09090909090909093</c:v>
                </c:pt>
                <c:pt idx="7">
                  <c:v>0.09090909090909091</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Sheet1!$D$2:$D$9</c:f>
              <c:numCache>
                <c:formatCode>0%</c:formatCode>
                <c:ptCount val="8"/>
                <c:pt idx="0">
                  <c:v>0.75</c:v>
                </c:pt>
                <c:pt idx="1">
                  <c:v>0.7045454545454546</c:v>
                </c:pt>
                <c:pt idx="2">
                  <c:v>0.7368421052631579</c:v>
                </c:pt>
                <c:pt idx="3">
                  <c:v>0.696969696969697</c:v>
                </c:pt>
                <c:pt idx="4">
                  <c:v>0.75</c:v>
                </c:pt>
                <c:pt idx="5">
                  <c:v>0.8636363636363636</c:v>
                </c:pt>
                <c:pt idx="6">
                  <c:v>0.8421052631578947</c:v>
                </c:pt>
                <c:pt idx="7">
                  <c:v>0.8484848484848485</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Sheet1!$E$2:$E$9</c:f>
              <c:numCache>
                <c:formatCode>0%</c:formatCode>
                <c:ptCount val="8"/>
                <c:pt idx="0">
                  <c:v>0.91</c:v>
                </c:pt>
                <c:pt idx="1">
                  <c:v>0.9299999999999999</c:v>
                </c:pt>
                <c:pt idx="2">
                  <c:v>0.9</c:v>
                </c:pt>
                <c:pt idx="3">
                  <c:v>0.9090909090909092</c:v>
                </c:pt>
                <c:pt idx="4">
                  <c:v>0.91</c:v>
                </c:pt>
                <c:pt idx="5">
                  <c:v>0.97</c:v>
                </c:pt>
                <c:pt idx="6">
                  <c:v>0.89</c:v>
                </c:pt>
                <c:pt idx="7">
                  <c:v>0.9393939393939394</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Sheet1!$B$2:$B$9</c:f>
              <c:numCache>
                <c:formatCode>0%</c:formatCode>
                <c:ptCount val="8"/>
                <c:pt idx="3">
                  <c:v>0.09090909090909091</c:v>
                </c:pt>
                <c:pt idx="4">
                  <c:v>0.16666666666666663</c:v>
                </c:pt>
                <c:pt idx="5">
                  <c:v>0.02272727272727273</c:v>
                </c:pt>
                <c:pt idx="6">
                  <c:v>0.05263157894736842</c:v>
                </c:pt>
                <c:pt idx="7">
                  <c:v>0.030303030303030304</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Sheet1!$C$2:$C$9</c:f>
              <c:numCache>
                <c:formatCode>0%</c:formatCode>
                <c:ptCount val="8"/>
                <c:pt idx="0">
                  <c:v>0.25</c:v>
                </c:pt>
                <c:pt idx="1">
                  <c:v>0.11363636363636363</c:v>
                </c:pt>
                <c:pt idx="2">
                  <c:v>0.05263157894736842</c:v>
                </c:pt>
                <c:pt idx="4">
                  <c:v>0.08333333333333331</c:v>
                </c:pt>
                <c:pt idx="5">
                  <c:v>0.09090909090909093</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Sheet1!$D$2:$D$9</c:f>
              <c:numCache>
                <c:formatCode>0%</c:formatCode>
                <c:ptCount val="8"/>
                <c:pt idx="0">
                  <c:v>0.67</c:v>
                </c:pt>
                <c:pt idx="1">
                  <c:v>0.8636363636363636</c:v>
                </c:pt>
                <c:pt idx="2">
                  <c:v>0.7894736842105263</c:v>
                </c:pt>
                <c:pt idx="3">
                  <c:v>0.8181818181818182</c:v>
                </c:pt>
                <c:pt idx="4">
                  <c:v>0.75</c:v>
                </c:pt>
                <c:pt idx="5">
                  <c:v>0.8636363636363636</c:v>
                </c:pt>
                <c:pt idx="6">
                  <c:v>0.8421052631578947</c:v>
                </c:pt>
                <c:pt idx="7">
                  <c:v>0.8787878787878788</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Sheet1!$E$2:$E$9</c:f>
              <c:numCache>
                <c:formatCode>0%</c:formatCode>
                <c:ptCount val="8"/>
                <c:pt idx="0">
                  <c:v>0.92</c:v>
                </c:pt>
                <c:pt idx="1">
                  <c:v>0.97</c:v>
                </c:pt>
                <c:pt idx="2">
                  <c:v>0.8400000000000001</c:v>
                </c:pt>
                <c:pt idx="3">
                  <c:v>0.9090909090909092</c:v>
                </c:pt>
                <c:pt idx="4">
                  <c:v>1.0</c:v>
                </c:pt>
                <c:pt idx="5">
                  <c:v>0.97</c:v>
                </c:pt>
                <c:pt idx="6">
                  <c:v>0.89</c:v>
                </c:pt>
                <c:pt idx="7">
                  <c:v>0.9090909090909091</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Sheet1!$B$2:$B$9</c:f>
              <c:numCache>
                <c:formatCode>0%</c:formatCode>
                <c:ptCount val="8"/>
                <c:pt idx="0">
                  <c:v>0.08</c:v>
                </c:pt>
                <c:pt idx="1">
                  <c:v>0.02272727272727273</c:v>
                </c:pt>
                <c:pt idx="2">
                  <c:v>0.10526315789473684</c:v>
                </c:pt>
                <c:pt idx="5">
                  <c:v>0.02272727272727273</c:v>
                </c:pt>
                <c:pt idx="7">
                  <c:v>0.030303030303030304</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Sheet1!$C$2:$C$9</c:f>
              <c:numCache>
                <c:formatCode>0%</c:formatCode>
                <c:ptCount val="8"/>
                <c:pt idx="1">
                  <c:v>0.09090909090909093</c:v>
                </c:pt>
                <c:pt idx="2">
                  <c:v>0.05263157894736842</c:v>
                </c:pt>
                <c:pt idx="3">
                  <c:v>0.09090909090909091</c:v>
                </c:pt>
                <c:pt idx="4">
                  <c:v>0.17</c:v>
                </c:pt>
                <c:pt idx="5">
                  <c:v>0.06818181818181818</c:v>
                </c:pt>
                <c:pt idx="7">
                  <c:v>0.06060606060606061</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Sheet1!$D$2:$D$9</c:f>
              <c:numCache>
                <c:formatCode>0%</c:formatCode>
                <c:ptCount val="8"/>
                <c:pt idx="0">
                  <c:v>0.75</c:v>
                </c:pt>
                <c:pt idx="1">
                  <c:v>0.7954545454545455</c:v>
                </c:pt>
                <c:pt idx="2">
                  <c:v>0.7894736842105263</c:v>
                </c:pt>
                <c:pt idx="3">
                  <c:v>0.8484848484848485</c:v>
                </c:pt>
                <c:pt idx="4">
                  <c:v>0.75</c:v>
                </c:pt>
                <c:pt idx="5">
                  <c:v>0.8636363636363636</c:v>
                </c:pt>
                <c:pt idx="6">
                  <c:v>0.8421052631578947</c:v>
                </c:pt>
                <c:pt idx="7">
                  <c:v>0.8484848484848485</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Sheet1!$E$2:$E$9</c:f>
              <c:numCache>
                <c:formatCode>0%</c:formatCode>
                <c:ptCount val="8"/>
                <c:pt idx="0">
                  <c:v>0.83</c:v>
                </c:pt>
                <c:pt idx="1">
                  <c:v>0.91</c:v>
                </c:pt>
                <c:pt idx="2">
                  <c:v>0.9500000000000001</c:v>
                </c:pt>
                <c:pt idx="3">
                  <c:v>0.9393939393939394</c:v>
                </c:pt>
                <c:pt idx="4">
                  <c:v>0.92</c:v>
                </c:pt>
                <c:pt idx="5">
                  <c:v>0.95</c:v>
                </c:pt>
                <c:pt idx="6">
                  <c:v>0.84</c:v>
                </c:pt>
                <c:pt idx="7">
                  <c:v>0.9393939393939394</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Q1 2024
(N=12)</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0.33333333333333326</c:v>
                </c:pt>
                <c:pt idx="1">
                  <c:v>0.08333333333333331</c:v>
                </c:pt>
                <c:pt idx="2">
                  <c:v>0.5833333333333334</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Q2 2024
(N=44)</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0.3636363636363637</c:v>
                </c:pt>
                <c:pt idx="1">
                  <c:v>0.0</c:v>
                </c:pt>
                <c:pt idx="2">
                  <c:v>0.6363636363636364</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Q3 2024
(N=19)</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0.47368421052631576</c:v>
                </c:pt>
                <c:pt idx="1">
                  <c:v>0.0</c:v>
                </c:pt>
                <c:pt idx="2">
                  <c:v>0.5263157894736842</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Q4 2024
(N=33)</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0.696969696969697</c:v>
                </c:pt>
                <c:pt idx="1">
                  <c:v>0.06060606060606061</c:v>
                </c:pt>
                <c:pt idx="2">
                  <c:v>0.24242424242424243</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18460807530637618"/>
          <c:y val="1.0785303876998281E-2"/>
          <c:w val="0.60640370611568284"/>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Q1 2024
(n=5)</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0.8</c:v>
                </c:pt>
                <c:pt idx="1">
                  <c:v>0.2</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Q2 2024
(n=16)</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Sheet1!$C$2:$C$3</c:f>
              <c:numCache>
                <c:formatCode>0%</c:formatCode>
                <c:ptCount val="2"/>
                <c:pt idx="0">
                  <c:v>0.94</c:v>
                </c:pt>
                <c:pt idx="1">
                  <c:v>0.06</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Q3 2024
(n=9)</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0.6666666666666666</c:v>
                </c:pt>
                <c:pt idx="1">
                  <c:v>0.3333333333333333</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Q4 2024
(n=25)</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0.84</c:v>
                </c:pt>
                <c:pt idx="1">
                  <c:v>0.16</c:v>
                </c:pt>
              </c:numCache>
            </c:numRef>
          </c:val>
          <c:extLst>
            <c:ext xmlns:c16="http://schemas.microsoft.com/office/drawing/2014/chart" uri="{C3380CC4-5D6E-409C-BE32-E72D297353CC}">
              <c16:uniqueId val="{00000000-AF88-4348-8696-5A67F3EFD30E}"/>
            </c:ext>
          </c:extLst>
        </c:ser>
        <c:dLbls>
          <c:showLegendKey val="0"/>
          <c:showVal val="0"/>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5039754899058669"/>
          <c:y val="1.0785303876998281E-2"/>
          <c:w val="0.61850526907820735"/>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Sheet1!$B$2:$B$9</c:f>
              <c:numCache>
                <c:formatCode>0%</c:formatCode>
                <c:ptCount val="8"/>
                <c:pt idx="1">
                  <c:v>0.02272727272727273</c:v>
                </c:pt>
                <c:pt idx="2">
                  <c:v>0.10526315789473684</c:v>
                </c:pt>
                <c:pt idx="4">
                  <c:v>0.08</c:v>
                </c:pt>
                <c:pt idx="6">
                  <c:v>0.10526315789473684</c:v>
                </c:pt>
                <c:pt idx="7">
                  <c:v>0.09090909090909091</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Sheet1!$C$2:$C$9</c:f>
              <c:numCache>
                <c:formatCode>0%</c:formatCode>
                <c:ptCount val="8"/>
                <c:pt idx="1">
                  <c:v>0.06818181818181818</c:v>
                </c:pt>
                <c:pt idx="3">
                  <c:v>0.09090909090909091</c:v>
                </c:pt>
                <c:pt idx="5">
                  <c:v>0.04545454545454546</c:v>
                </c:pt>
                <c:pt idx="7">
                  <c:v>0.06060606060606061</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Sheet1!$D$2:$D$9</c:f>
              <c:numCache>
                <c:formatCode>0%</c:formatCode>
                <c:ptCount val="8"/>
                <c:pt idx="0">
                  <c:v>0.92</c:v>
                </c:pt>
                <c:pt idx="1">
                  <c:v>0.9090909090909091</c:v>
                </c:pt>
                <c:pt idx="2">
                  <c:v>0.8421052631578947</c:v>
                </c:pt>
                <c:pt idx="3">
                  <c:v>0.8484848484848485</c:v>
                </c:pt>
                <c:pt idx="4">
                  <c:v>0.83</c:v>
                </c:pt>
                <c:pt idx="5">
                  <c:v>0.9318181818181818</c:v>
                </c:pt>
                <c:pt idx="6">
                  <c:v>0.7894736842105263</c:v>
                </c:pt>
                <c:pt idx="7">
                  <c:v>0.7878787878787878</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Sheet1!$E$2:$E$9</c:f>
              <c:numCache>
                <c:formatCode>0%</c:formatCode>
                <c:ptCount val="8"/>
                <c:pt idx="0">
                  <c:v>0.92</c:v>
                </c:pt>
                <c:pt idx="1">
                  <c:v>1.0</c:v>
                </c:pt>
                <c:pt idx="2">
                  <c:v>0.95</c:v>
                </c:pt>
                <c:pt idx="3">
                  <c:v>0.9393939393939394</c:v>
                </c:pt>
                <c:pt idx="4">
                  <c:v>0.9099999999999999</c:v>
                </c:pt>
                <c:pt idx="5">
                  <c:v>0.9800000000000001</c:v>
                </c:pt>
                <c:pt idx="6">
                  <c:v>0.9</c:v>
                </c:pt>
                <c:pt idx="7">
                  <c:v>0.9393939393939393</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General"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Sheet1!$B$2:$B$9</c:f>
              <c:numCache>
                <c:formatCode>0%</c:formatCode>
                <c:ptCount val="8"/>
                <c:pt idx="1">
                  <c:v>0.02272727272727273</c:v>
                </c:pt>
                <c:pt idx="2">
                  <c:v>0.10526315789473684</c:v>
                </c:pt>
                <c:pt idx="5">
                  <c:v>0.02272727272727273</c:v>
                </c:pt>
                <c:pt idx="6">
                  <c:v>0.10526315789473684</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Sheet1!$C$2:$C$9</c:f>
              <c:numCache>
                <c:formatCode>0%</c:formatCode>
                <c:ptCount val="8"/>
                <c:pt idx="0">
                  <c:v>0.08</c:v>
                </c:pt>
                <c:pt idx="1">
                  <c:v>0.04545454545454546</c:v>
                </c:pt>
                <c:pt idx="3">
                  <c:v>0.09090909090909091</c:v>
                </c:pt>
                <c:pt idx="4">
                  <c:v>0.08</c:v>
                </c:pt>
                <c:pt idx="5">
                  <c:v>0.06818181818181818</c:v>
                </c:pt>
                <c:pt idx="6">
                  <c:v>0.05263157894736842</c:v>
                </c:pt>
                <c:pt idx="7">
                  <c:v>0.030303030303030304</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Sheet1!$D$2:$D$9</c:f>
              <c:numCache>
                <c:formatCode>0%</c:formatCode>
                <c:ptCount val="8"/>
                <c:pt idx="0">
                  <c:v>0.75</c:v>
                </c:pt>
                <c:pt idx="1">
                  <c:v>0.9090909090909091</c:v>
                </c:pt>
                <c:pt idx="2">
                  <c:v>0.7894736842105263</c:v>
                </c:pt>
                <c:pt idx="3">
                  <c:v>0.8484848484848485</c:v>
                </c:pt>
                <c:pt idx="4">
                  <c:v>0.83</c:v>
                </c:pt>
                <c:pt idx="5">
                  <c:v>0.8863636363636365</c:v>
                </c:pt>
                <c:pt idx="6">
                  <c:v>0.7894736842105263</c:v>
                </c:pt>
                <c:pt idx="7">
                  <c:v>0.8787878787878788</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Q1 2024 
(N=12)</c:v>
                </c:pt>
                <c:pt idx="1">
                  <c:v>Q2 2024 
(N=44)</c:v>
                </c:pt>
                <c:pt idx="2">
                  <c:v>Q3 2024 
(N=19)</c:v>
                </c:pt>
                <c:pt idx="3">
                  <c:v>Q4 2024
(N=33)</c:v>
                </c:pt>
                <c:pt idx="4">
                  <c:v>Q1 2024 
(N=12)</c:v>
                </c:pt>
                <c:pt idx="5">
                  <c:v>Q2 2024 
(N=44)</c:v>
                </c:pt>
                <c:pt idx="6">
                  <c:v>Q3 2024 
(N=19)</c:v>
                </c:pt>
                <c:pt idx="7">
                  <c:v>Q4 2024
(N=33)</c:v>
                </c:pt>
              </c:strCache>
            </c:strRef>
          </c:cat>
          <c:val>
            <c:numRef>
              <c:f>Sheet1!$E$2:$E$9</c:f>
              <c:numCache>
                <c:formatCode>0%</c:formatCode>
                <c:ptCount val="8"/>
                <c:pt idx="0">
                  <c:v>0.83</c:v>
                </c:pt>
                <c:pt idx="1">
                  <c:v>0.98</c:v>
                </c:pt>
                <c:pt idx="2">
                  <c:v>0.9</c:v>
                </c:pt>
                <c:pt idx="3">
                  <c:v>0.9393939393939394</c:v>
                </c:pt>
                <c:pt idx="4">
                  <c:v>0.9099999999999999</c:v>
                </c:pt>
                <c:pt idx="5">
                  <c:v>0.98</c:v>
                </c:pt>
                <c:pt idx="6">
                  <c:v>0.9500000000000001</c:v>
                </c:pt>
                <c:pt idx="7">
                  <c:v>0.9090909090909091</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1">
                  <c:v>0.03</c:v>
                </c:pt>
                <c:pt idx="2">
                  <c:v>0.10526315789473684</c:v>
                </c:pt>
                <c:pt idx="3">
                  <c:v>0.030303030303030304</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0">
                  <c:v>0.06</c:v>
                </c:pt>
                <c:pt idx="1">
                  <c:v>0.08</c:v>
                </c:pt>
                <c:pt idx="3">
                  <c:v>0.09090909090909091</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0.81</c:v>
                </c:pt>
                <c:pt idx="1">
                  <c:v>0.85</c:v>
                </c:pt>
                <c:pt idx="2">
                  <c:v>0.8421052631578947</c:v>
                </c:pt>
                <c:pt idx="3">
                  <c:v>0.7878787878787878</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0.8700000000000001</c:v>
                </c:pt>
                <c:pt idx="1">
                  <c:v>0.96</c:v>
                </c:pt>
                <c:pt idx="2">
                  <c:v>0.95</c:v>
                </c:pt>
                <c:pt idx="3">
                  <c:v>0.9090909090909091</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Q1 2024
(N=12)</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0.5</c:v>
                </c:pt>
                <c:pt idx="1">
                  <c:v>0.08333333333333331</c:v>
                </c:pt>
                <c:pt idx="2">
                  <c:v>0.41666666666666674</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Q2 2024
(N=44)</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0.1590909090909091</c:v>
                </c:pt>
                <c:pt idx="1">
                  <c:v>0.02272727272727273</c:v>
                </c:pt>
                <c:pt idx="2">
                  <c:v>0.8181818181818183</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Q3 2024
(N=19)</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0.3684210526315789</c:v>
                </c:pt>
                <c:pt idx="1">
                  <c:v>0.05263157894736842</c:v>
                </c:pt>
                <c:pt idx="2">
                  <c:v>0.5789473684210527</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Q4 2024
(N=33)</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0.5757575757575758</c:v>
                </c:pt>
                <c:pt idx="1">
                  <c:v>0.15151515151515152</c:v>
                </c:pt>
                <c:pt idx="2">
                  <c:v>0.2727272727272727</c:v>
                </c:pt>
              </c:numCache>
            </c:numRef>
          </c:val>
          <c:extLst>
            <c:ext xmlns:c16="http://schemas.microsoft.com/office/drawing/2014/chart" uri="{C3380CC4-5D6E-409C-BE32-E72D297353CC}">
              <c16:uniqueId val="{00000000-A205-4F76-994F-922B6EF4212F}"/>
            </c:ext>
          </c:extLst>
        </c:ser>
        <c:dLbls>
          <c:showLegendKey val="0"/>
          <c:showVal val="0"/>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78944408264758"/>
          <c:h val="7.9494483465683302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Q1 2024
(n=7)</c:v>
                </c:pt>
              </c:strCache>
            </c:strRef>
          </c:tx>
          <c:spPr>
            <a:solidFill>
              <a:srgbClr val="FFC003"/>
            </a:solidFill>
            <a:ln w="20893">
              <a:noFill/>
            </a:ln>
          </c:spPr>
          <c:invertIfNegative val="0"/>
          <c:dLbls>
            <c:dLbl>
              <c:idx val="0"/>
              <c:layout>
                <c:manualLayout>
                  <c:x val="-1.8796992481203006E-2"/>
                  <c:y val="-2.433625162534436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A3B-4672-93AE-F5A1DBB78370}"/>
                </c:ext>
              </c:extLst>
            </c:dLbl>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0.8571428571428571</c:v>
                </c:pt>
                <c:pt idx="1">
                  <c:v>0.14285714285714285</c:v>
                </c:pt>
                <c:pt idx="2">
                  <c:v>0.0</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Q2 2024
(n=8)</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0.875</c:v>
                </c:pt>
                <c:pt idx="1">
                  <c:v>0.125</c:v>
                </c:pt>
                <c:pt idx="2">
                  <c:v>0.0</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Q3 2024
(n=8)</c:v>
                </c:pt>
              </c:strCache>
            </c:strRef>
          </c:tx>
          <c:spPr>
            <a:solidFill>
              <a:srgbClr val="00CC99"/>
            </a:solidFill>
          </c:spPr>
          <c:invertIfNegative val="0"/>
          <c:dLbls>
            <c:dLbl>
              <c:idx val="0"/>
              <c:layout>
                <c:manualLayout>
                  <c:x val="1.1278195488721804E-2"/>
                  <c:y val="-5.408055916743191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A3B-4672-93AE-F5A1DBB78370}"/>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0.875</c:v>
                </c:pt>
                <c:pt idx="1">
                  <c:v>0.125</c:v>
                </c:pt>
                <c:pt idx="2">
                  <c:v>0.0</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Q4 2024
(n=24)</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dLbl>
              <c:idx val="0"/>
              <c:layout>
                <c:manualLayout>
                  <c:x val="1.3157894736842072E-2"/>
                  <c:y val="5.408055916743191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746-504A-BA49-89DD2B9F1447}"/>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Sheet1!$E$2:$E$3</c:f>
              <c:numCache>
                <c:formatCode>0%</c:formatCode>
                <c:ptCount val="2"/>
                <c:pt idx="0">
                  <c:v>0.7916666666666666</c:v>
                </c:pt>
                <c:pt idx="1">
                  <c:v>0.20833333333333334</c:v>
                </c:pt>
              </c:numCache>
            </c:numRef>
          </c:val>
          <c:extLst>
            <c:ext xmlns:c16="http://schemas.microsoft.com/office/drawing/2014/chart" uri="{C3380CC4-5D6E-409C-BE32-E72D297353CC}">
              <c16:uniqueId val="{00000001-9A02-4932-A087-5B84C8851181}"/>
            </c:ext>
          </c:extLst>
        </c:ser>
        <c:dLbls>
          <c:showLegendKey val="0"/>
          <c:showVal val="0"/>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61676025694156655"/>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Q1 2024
(N=12)</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1.0</c:v>
                </c:pt>
                <c:pt idx="1">
                  <c:v>0.0</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Q2 2024
(N=44)</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1.0</c:v>
                </c:pt>
                <c:pt idx="1">
                  <c:v>0.0</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Q3 2024
(N=19)</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0.9473684210526315</c:v>
                </c:pt>
                <c:pt idx="1">
                  <c:v>0.05263157894736842</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Q4 2024
(N=33)</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2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0.9696969696969697</c:v>
                </c:pt>
                <c:pt idx="1">
                  <c:v>0.030303030303030304</c:v>
                </c:pt>
              </c:numCache>
            </c:numRef>
          </c:val>
          <c:extLst>
            <c:ext xmlns:c16="http://schemas.microsoft.com/office/drawing/2014/chart" uri="{C3380CC4-5D6E-409C-BE32-E72D297353CC}">
              <c16:uniqueId val="{00000003-B3BC-4399-9949-26421AA520BC}"/>
            </c:ext>
          </c:extLst>
        </c:ser>
        <c:dLbls>
          <c:showLegendKey val="0"/>
          <c:showVal val="0"/>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0">
                  <c:v>0.33333333333333326</c:v>
                </c:pt>
                <c:pt idx="1">
                  <c:v>0.09090909090909093</c:v>
                </c:pt>
                <c:pt idx="3">
                  <c:v>0.1875</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0">
                  <c:v>0.08333333333333331</c:v>
                </c:pt>
                <c:pt idx="1">
                  <c:v>0.11363636363636363</c:v>
                </c:pt>
                <c:pt idx="2">
                  <c:v>0.1111111111111111</c:v>
                </c:pt>
                <c:pt idx="3">
                  <c:v>0.03125</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0.41666666666666674</c:v>
                </c:pt>
                <c:pt idx="1">
                  <c:v>0.5227272727272727</c:v>
                </c:pt>
                <c:pt idx="2">
                  <c:v>0.5555555555555556</c:v>
                </c:pt>
                <c:pt idx="3">
                  <c:v>0.53125</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0.8300000000000001</c:v>
                </c:pt>
                <c:pt idx="1">
                  <c:v>0.72</c:v>
                </c:pt>
                <c:pt idx="2">
                  <c:v>0.67</c:v>
                </c:pt>
                <c:pt idx="3">
                  <c:v>0.75</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38291930613936415"/>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0">
                  <c:v>0.17</c:v>
                </c:pt>
                <c:pt idx="2">
                  <c:v>0.10526315789473684</c:v>
                </c:pt>
                <c:pt idx="3">
                  <c:v>0.09090909090909091</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1">
                  <c:v>0.02272727272727273</c:v>
                </c:pt>
                <c:pt idx="2">
                  <c:v>0.10526315789473684</c:v>
                </c:pt>
                <c:pt idx="3">
                  <c:v>0.09090909090909091</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0.08</c:v>
                </c:pt>
                <c:pt idx="1">
                  <c:v>0.2727272727272727</c:v>
                </c:pt>
                <c:pt idx="2">
                  <c:v>0.15789473684210525</c:v>
                </c:pt>
                <c:pt idx="3">
                  <c:v>0.3333333333333333</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0.25</c:v>
                </c:pt>
                <c:pt idx="1">
                  <c:v>0.29000000000000004</c:v>
                </c:pt>
                <c:pt idx="2">
                  <c:v>0.38</c:v>
                </c:pt>
                <c:pt idx="3">
                  <c:v>0.5151515151515151</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29772482387070043"/>
          <c:y val="2.137310269368508E-2"/>
          <c:w val="0.4825433662897400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0">
                  <c:v>0.17</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1">
                  <c:v>0.06818181818181818</c:v>
                </c:pt>
                <c:pt idx="2">
                  <c:v>0.05263157894736842</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0.33</c:v>
                </c:pt>
                <c:pt idx="1">
                  <c:v>0.4772727272727273</c:v>
                </c:pt>
                <c:pt idx="2">
                  <c:v>0.3684210526315789</c:v>
                </c:pt>
                <c:pt idx="3">
                  <c:v>0.3333333333333333</c:v>
                </c:pt>
              </c:numCache>
            </c:numRef>
          </c:val>
          <c:extLst>
            <c:ext xmlns:c16="http://schemas.microsoft.com/office/drawing/2014/chart" uri="{C3380CC4-5D6E-409C-BE32-E72D297353CC}">
              <c16:uniqueId val="{00000002-D709-46B7-8D5F-DCA6F61C30BE}"/>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0.5</c:v>
                </c:pt>
                <c:pt idx="1">
                  <c:v>0.55</c:v>
                </c:pt>
                <c:pt idx="2">
                  <c:v>0.42</c:v>
                </c:pt>
                <c:pt idx="3">
                  <c:v>0.3333333333333333</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Q4 2024
(N=33)</c:v>
                </c:pt>
              </c:strCache>
            </c:strRef>
          </c:tx>
          <c:spPr>
            <a:solidFill>
              <a:schemeClr val="tx1"/>
            </a:solidFill>
            <a:ln w="21264">
              <a:noFill/>
            </a:ln>
          </c:spPr>
          <c:invertIfNegative val="0"/>
          <c:dLbls>
            <c:dLbl>
              <c:idx val="0"/>
              <c:layout>
                <c:manualLayout>
                  <c:x val="1.1134420658704729E-2"/>
                  <c:y val="3.831417624521072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E-2498-46B6-9C63-2CEDD08F99FB}"/>
                </c:ext>
              </c:extLst>
            </c:dLbl>
            <c:dLbl>
              <c:idx val="1"/>
              <c:layout>
                <c:manualLayout>
                  <c:x val="9.2786838822539394E-3"/>
                  <c:y val="-1.915708812260536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D-2498-46B6-9C63-2CEDD08F99FB}"/>
                </c:ext>
              </c:extLst>
            </c:dLbl>
            <c:dLbl>
              <c:idx val="2"/>
              <c:layout>
                <c:manualLayout>
                  <c:x val="-5.567210329352398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C-2498-46B6-9C63-2CEDD08F99FB}"/>
                </c:ext>
              </c:extLst>
            </c:dLbl>
            <c:dLbl>
              <c:idx val="3"/>
              <c:layout>
                <c:manualLayout>
                  <c:x val="-5.5672103293523982E-3"/>
                  <c:y val="5.7471264367816091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FD5-9B4B-B15F-370C6B41CFCF}"/>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498-46B6-9C63-2CEDD08F99FB}"/>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2498-46B6-9C63-2CEDD08F99FB}"/>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498-46B6-9C63-2CEDD08F99FB}"/>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2498-46B6-9C63-2CEDD08F99FB}"/>
                </c:ext>
              </c:extLst>
            </c:dLbl>
            <c:dLbl>
              <c:idx val="10"/>
              <c:layout>
                <c:manualLayout>
                  <c:x val="0"/>
                  <c:y val="5.747126436781574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FD5-9B4B-B15F-370C6B41CFCF}"/>
                </c:ext>
              </c:extLst>
            </c:dLbl>
            <c:dLbl>
              <c:idx val="11"/>
              <c:layout>
                <c:manualLayout>
                  <c:x val="0"/>
                  <c:y val="-3.5120922504882739E-17"/>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FD5-9B4B-B15F-370C6B41CFCF}"/>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Austin 311</c:v>
                </c:pt>
                <c:pt idx="3">
                  <c:v>Austin Energy called me</c:v>
                </c:pt>
                <c:pt idx="4">
                  <c:v>On city's website</c:v>
                </c:pt>
                <c:pt idx="5">
                  <c:v>Utility Contact Center </c:v>
                </c:pt>
                <c:pt idx="6">
                  <c:v>Utility bill insert</c:v>
                </c:pt>
                <c:pt idx="7">
                  <c:v>Email</c:v>
                </c:pt>
                <c:pt idx="8">
                  <c:v>I called them</c:v>
                </c:pt>
                <c:pt idx="9">
                  <c:v>Word of mouth</c:v>
                </c:pt>
                <c:pt idx="10">
                  <c:v>Utility Contact Center</c:v>
                </c:pt>
                <c:pt idx="11">
                  <c:v>Austin Energy's website</c:v>
                </c:pt>
              </c:strCache>
            </c:strRef>
          </c:cat>
          <c:val>
            <c:numRef>
              <c:f>Sheet1!$B$2:$B$13</c:f>
              <c:numCache>
                <c:formatCode>0%</c:formatCode>
                <c:ptCount val="12"/>
                <c:pt idx="8">
                  <c:v>0.06060606060606061</c:v>
                </c:pt>
                <c:pt idx="9">
                  <c:v>0.09090909090909091</c:v>
                </c:pt>
                <c:pt idx="10">
                  <c:v>0.18181818181818182</c:v>
                </c:pt>
                <c:pt idx="11">
                  <c:v>0.6666666666666666</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Q3 2024
(N=19)</c:v>
                </c:pt>
              </c:strCache>
            </c:strRef>
          </c:tx>
          <c:spPr>
            <a:solidFill>
              <a:srgbClr val="00CC99"/>
            </a:solidFill>
          </c:spPr>
          <c:invertIfNegative val="0"/>
          <c:dLbls>
            <c:dLbl>
              <c:idx val="0"/>
              <c:layout>
                <c:manualLayout>
                  <c:x val="1.1134420658704729E-2"/>
                  <c:y val="-1.4048369001953096E-16"/>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5FD5-9B4B-B15F-370C6B41CFCF}"/>
                </c:ext>
              </c:extLst>
            </c:dLbl>
            <c:dLbl>
              <c:idx val="1"/>
              <c:layout>
                <c:manualLayout>
                  <c:x val="9.2786838822539394E-3"/>
                  <c:y val="-3.831417624521072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A05-294F-B2B7-24B10EF57FC1}"/>
                </c:ext>
              </c:extLst>
            </c:dLbl>
            <c:dLbl>
              <c:idx val="2"/>
              <c:layout>
                <c:manualLayout>
                  <c:x val="2.5980314870310998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5FD5-9B4B-B15F-370C6B41CFCF}"/>
                </c:ext>
              </c:extLst>
            </c:dLbl>
            <c:dLbl>
              <c:idx val="5"/>
              <c:layout>
                <c:manualLayout>
                  <c:x val="5.5672103293523643E-3"/>
                  <c:y val="1.915708812260466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854-2147-903F-0829DBEE9518}"/>
                </c:ext>
              </c:extLst>
            </c:dLbl>
            <c:dLbl>
              <c:idx val="11"/>
              <c:layout>
                <c:manualLayout>
                  <c:x val="9.4642575598990183E-2"/>
                  <c:y val="-4.7892720306513406E-3"/>
                </c:manualLayout>
              </c:layout>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Austin 311</c:v>
                </c:pt>
                <c:pt idx="3">
                  <c:v>Austin Energy called me</c:v>
                </c:pt>
                <c:pt idx="4">
                  <c:v>On city's website</c:v>
                </c:pt>
                <c:pt idx="5">
                  <c:v>Utility Contact Center </c:v>
                </c:pt>
                <c:pt idx="6">
                  <c:v>Utility bill insert</c:v>
                </c:pt>
                <c:pt idx="7">
                  <c:v>Email</c:v>
                </c:pt>
                <c:pt idx="8">
                  <c:v>I called them</c:v>
                </c:pt>
                <c:pt idx="9">
                  <c:v>Word of mouth</c:v>
                </c:pt>
                <c:pt idx="10">
                  <c:v>Utility Contact Center</c:v>
                </c:pt>
                <c:pt idx="11">
                  <c:v>Austin Energy's website</c:v>
                </c:pt>
              </c:strCache>
            </c:strRef>
          </c:cat>
          <c:val>
            <c:numRef>
              <c:f>Sheet1!$C$2:$C$13</c:f>
              <c:numCache>
                <c:formatCode>0%</c:formatCode>
                <c:ptCount val="12"/>
                <c:pt idx="0">
                  <c:v>0.10526315789473684</c:v>
                </c:pt>
                <c:pt idx="1">
                  <c:v>0.05263157894736842</c:v>
                </c:pt>
                <c:pt idx="6">
                  <c:v>0.05263157894736842</c:v>
                </c:pt>
                <c:pt idx="7">
                  <c:v>0.05263157894736842</c:v>
                </c:pt>
                <c:pt idx="8">
                  <c:v>0.05263157894736842</c:v>
                </c:pt>
                <c:pt idx="9">
                  <c:v>0.10526315789473684</c:v>
                </c:pt>
                <c:pt idx="11">
                  <c:v>0.5789473684210527</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Q2 2024
(N=44)</c:v>
                </c:pt>
              </c:strCache>
            </c:strRef>
          </c:tx>
          <c:spPr>
            <a:solidFill>
              <a:srgbClr val="3233CC"/>
            </a:solidFill>
          </c:spPr>
          <c:invertIfNegative val="0"/>
          <c:dLbls>
            <c:dLbl>
              <c:idx val="1"/>
              <c:layout>
                <c:manualLayout>
                  <c:x val="9.2786838822539394E-3"/>
                  <c:y val="-3.831417624521072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AF9-D842-945D-F49A2F6B2AE1}"/>
                </c:ext>
              </c:extLst>
            </c:dLbl>
            <c:dLbl>
              <c:idx val="2"/>
              <c:layout>
                <c:manualLayout>
                  <c:x val="-5.5672103293523982E-3"/>
                  <c:y val="-1.9157088122606768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FD5-9B4B-B15F-370C6B41CFCF}"/>
                </c:ext>
              </c:extLst>
            </c:dLbl>
            <c:dLbl>
              <c:idx val="5"/>
              <c:layout>
                <c:manualLayout>
                  <c:x val="3.7114735529015759E-3"/>
                  <c:y val="-7.0241845009765478E-17"/>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FD5-9B4B-B15F-370C6B41CFCF}"/>
                </c:ext>
              </c:extLst>
            </c:dLbl>
            <c:dLbl>
              <c:idx val="8"/>
              <c:layout>
                <c:manualLayout>
                  <c:x val="1.6701630988057093E-2"/>
                  <c:y val="-5.7471264367816091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5FD5-9B4B-B15F-370C6B41CFCF}"/>
                </c:ext>
              </c:extLst>
            </c:dLbl>
            <c:dLbl>
              <c:idx val="11"/>
              <c:layout>
                <c:manualLayout>
                  <c:x val="2.7836051646761787E-2"/>
                  <c:y val="-1.915708812260571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5FD5-9B4B-B15F-370C6B41CFCF}"/>
                </c:ext>
              </c:extLst>
            </c:dLbl>
            <c:dLbl>
              <c:idx val="12"/>
              <c:layout>
                <c:manualLayout>
                  <c:x val="1.6701630988057093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FD5-9B4B-B15F-370C6B41CFCF}"/>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Austin 311</c:v>
                </c:pt>
                <c:pt idx="3">
                  <c:v>Austin Energy called me</c:v>
                </c:pt>
                <c:pt idx="4">
                  <c:v>On city's website</c:v>
                </c:pt>
                <c:pt idx="5">
                  <c:v>Utility Contact Center </c:v>
                </c:pt>
                <c:pt idx="6">
                  <c:v>Utility bill insert</c:v>
                </c:pt>
                <c:pt idx="7">
                  <c:v>Email</c:v>
                </c:pt>
                <c:pt idx="8">
                  <c:v>I called them</c:v>
                </c:pt>
                <c:pt idx="9">
                  <c:v>Word of mouth</c:v>
                </c:pt>
                <c:pt idx="10">
                  <c:v>Utility Contact Center</c:v>
                </c:pt>
                <c:pt idx="11">
                  <c:v>Austin Energy's website</c:v>
                </c:pt>
              </c:strCache>
            </c:strRef>
          </c:cat>
          <c:val>
            <c:numRef>
              <c:f>Sheet1!$D$2:$D$13</c:f>
              <c:numCache>
                <c:formatCode>0%</c:formatCode>
                <c:ptCount val="12"/>
                <c:pt idx="0">
                  <c:v>0.11363636363636363</c:v>
                </c:pt>
                <c:pt idx="1">
                  <c:v>0.06818181818181818</c:v>
                </c:pt>
                <c:pt idx="3">
                  <c:v>0.02272727272727273</c:v>
                </c:pt>
                <c:pt idx="4">
                  <c:v>0.09090909090909093</c:v>
                </c:pt>
                <c:pt idx="5">
                  <c:v>0.18181818181818185</c:v>
                </c:pt>
                <c:pt idx="8">
                  <c:v>0.02272727272727273</c:v>
                </c:pt>
                <c:pt idx="11">
                  <c:v>0.5</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Q1 2024
(N=12)</c:v>
                </c:pt>
              </c:strCache>
            </c:strRef>
          </c:tx>
          <c:spPr>
            <a:solidFill>
              <a:srgbClr val="FFC003"/>
            </a:solidFill>
          </c:spPr>
          <c:invertIfNegative val="0"/>
          <c:dLbls>
            <c:dLbl>
              <c:idx val="1"/>
              <c:layout>
                <c:manualLayout>
                  <c:x val="-1.855736776450788E-3"/>
                  <c:y val="-5.7471264367816091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AF9-D842-945D-F49A2F6B2AE1}"/>
                </c:ext>
              </c:extLst>
            </c:dLbl>
            <c:dLbl>
              <c:idx val="5"/>
              <c:layout>
                <c:manualLayout>
                  <c:x val="-5.5672103293523982E-3"/>
                  <c:y val="-1.915708812260536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FD5-9B4B-B15F-370C6B41CFCF}"/>
                </c:ext>
              </c:extLst>
            </c:dLbl>
            <c:dLbl>
              <c:idx val="6"/>
              <c:layout>
                <c:manualLayout>
                  <c:x val="-5.5672103293523982E-3"/>
                  <c:y val="-5.747126436781679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FD5-9B4B-B15F-370C6B41CFCF}"/>
                </c:ext>
              </c:extLst>
            </c:dLbl>
            <c:dLbl>
              <c:idx val="8"/>
              <c:layout>
                <c:manualLayout>
                  <c:x val="-5.5672103293523982E-3"/>
                  <c:y val="-7.662835249042145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FD5-9B4B-B15F-370C6B41CFCF}"/>
                </c:ext>
              </c:extLst>
            </c:dLbl>
            <c:dLbl>
              <c:idx val="9"/>
              <c:layout>
                <c:manualLayout>
                  <c:x val="1.6701630988057093E-2"/>
                  <c:y val="-1.915708812260571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596-5445-9E8E-B4E6C15FCE73}"/>
                </c:ext>
              </c:extLst>
            </c:dLbl>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Austin 311</c:v>
                </c:pt>
                <c:pt idx="3">
                  <c:v>Austin Energy called me</c:v>
                </c:pt>
                <c:pt idx="4">
                  <c:v>On city's website</c:v>
                </c:pt>
                <c:pt idx="5">
                  <c:v>Utility Contact Center </c:v>
                </c:pt>
                <c:pt idx="6">
                  <c:v>Utility bill insert</c:v>
                </c:pt>
                <c:pt idx="7">
                  <c:v>Email</c:v>
                </c:pt>
                <c:pt idx="8">
                  <c:v>I called them</c:v>
                </c:pt>
                <c:pt idx="9">
                  <c:v>Word of mouth</c:v>
                </c:pt>
                <c:pt idx="10">
                  <c:v>Utility Contact Center</c:v>
                </c:pt>
                <c:pt idx="11">
                  <c:v>Austin Energy's website</c:v>
                </c:pt>
              </c:strCache>
            </c:strRef>
          </c:cat>
          <c:val>
            <c:numRef>
              <c:f>Sheet1!$E$2:$E$13</c:f>
              <c:numCache>
                <c:formatCode>0%</c:formatCode>
                <c:ptCount val="12"/>
                <c:pt idx="0">
                  <c:v>0.17</c:v>
                </c:pt>
                <c:pt idx="1">
                  <c:v>0.17</c:v>
                </c:pt>
                <c:pt idx="2">
                  <c:v>0.08</c:v>
                </c:pt>
                <c:pt idx="6">
                  <c:v>0.08</c:v>
                </c:pt>
                <c:pt idx="11">
                  <c:v>0.5</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Q1 2024
(N=12)</c:v>
                </c:pt>
              </c:strCache>
            </c:strRef>
          </c:tx>
          <c:spPr>
            <a:solidFill>
              <a:srgbClr val="FFC003"/>
            </a:solidFill>
            <a:ln w="21264">
              <a:noFill/>
            </a:ln>
          </c:spPr>
          <c:invertIfNegative val="0"/>
          <c:dLbls>
            <c:dLbl>
              <c:idx val="1"/>
              <c:layout>
                <c:manualLayout>
                  <c:x val="1.8726959020547603E-2"/>
                  <c:y val="1.4550096466308565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2D-8F45-BEA4-DD7B6F0918C9}"/>
                </c:ext>
              </c:extLst>
            </c:dLbl>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AE Customer Assistance Program (CAPS)</c:v>
                </c:pt>
                <c:pt idx="3">
                  <c:v>Contractors</c:v>
                </c:pt>
                <c:pt idx="4">
                  <c:v>Television</c:v>
                </c:pt>
                <c:pt idx="5">
                  <c:v>Email</c:v>
                </c:pt>
                <c:pt idx="6">
                  <c:v>All other </c:v>
                </c:pt>
                <c:pt idx="7">
                  <c:v>Utility bill inserts</c:v>
                </c:pt>
                <c:pt idx="8">
                  <c:v>Radio</c:v>
                </c:pt>
                <c:pt idx="9">
                  <c:v>Newspaper advertisement</c:v>
                </c:pt>
                <c:pt idx="10">
                  <c:v>Austin Energy's website</c:v>
                </c:pt>
                <c:pt idx="11">
                  <c:v>Friends/family/word-of-mouth</c:v>
                </c:pt>
              </c:strCache>
            </c:strRef>
          </c:cat>
          <c:val>
            <c:numRef>
              <c:f>Sheet1!$B$2:$B$13</c:f>
              <c:numCache>
                <c:formatCode>0%</c:formatCode>
                <c:ptCount val="12"/>
                <c:pt idx="1">
                  <c:v>0.08</c:v>
                </c:pt>
                <c:pt idx="5">
                  <c:v>0.08</c:v>
                </c:pt>
                <c:pt idx="6">
                  <c:v>0.17</c:v>
                </c:pt>
                <c:pt idx="7">
                  <c:v>0.08</c:v>
                </c:pt>
                <c:pt idx="10">
                  <c:v>0.17</c:v>
                </c:pt>
                <c:pt idx="11">
                  <c:v>0.42</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Q2 2024
(N=44)</c:v>
                </c:pt>
              </c:strCache>
            </c:strRef>
          </c:tx>
          <c:spPr>
            <a:solidFill>
              <a:srgbClr val="3233CC"/>
            </a:solidFill>
          </c:spPr>
          <c:invertIfNegative val="0"/>
          <c:dLbls>
            <c:dLbl>
              <c:idx val="0"/>
              <c:layout>
                <c:manualLayout>
                  <c:x val="1.8726959020547603E-2"/>
                  <c:y val="-4.7615298087738886E-3"/>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78F-9347-9FC8-FB69A09104DE}"/>
                </c:ext>
              </c:extLst>
            </c:dLbl>
            <c:dLbl>
              <c:idx val="1"/>
              <c:layout>
                <c:manualLayout>
                  <c:x val="6.804289576585734E-17"/>
                  <c:y val="6.3437269936690507E-3"/>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5E4-9746-BF4E-478D43DF2CB2}"/>
                </c:ext>
              </c:extLst>
            </c:dLbl>
            <c:dLbl>
              <c:idx val="11"/>
              <c:layout>
                <c:manualLayout>
                  <c:x val="7.4229471058030842E-3"/>
                  <c:y val="0"/>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2-85E4-9746-BF4E-478D43DF2CB2}"/>
                </c:ext>
              </c:extLst>
            </c:dLbl>
            <c:spPr>
              <a:noFill/>
              <a:ln w="21415">
                <a:noFill/>
              </a:ln>
            </c:spPr>
            <c:txPr>
              <a:bodyPr wrap="square" lIns="38100" tIns="19050" rIns="38100" bIns="19050" anchor="ctr">
                <a:spAutoFit/>
              </a:bodyPr>
              <a:lstStyle/>
              <a:p>
                <a:pPr>
                  <a:defRPr sz="928" b="0" i="0" baseline="0"/>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AE Customer Assistance Program (CAPS)</c:v>
                </c:pt>
                <c:pt idx="3">
                  <c:v>Contractors</c:v>
                </c:pt>
                <c:pt idx="4">
                  <c:v>Television</c:v>
                </c:pt>
                <c:pt idx="5">
                  <c:v>Email</c:v>
                </c:pt>
                <c:pt idx="6">
                  <c:v>All other </c:v>
                </c:pt>
                <c:pt idx="7">
                  <c:v>Utility bill inserts</c:v>
                </c:pt>
                <c:pt idx="8">
                  <c:v>Radio</c:v>
                </c:pt>
                <c:pt idx="9">
                  <c:v>Newspaper advertisement</c:v>
                </c:pt>
                <c:pt idx="10">
                  <c:v>Austin Energy's website</c:v>
                </c:pt>
                <c:pt idx="11">
                  <c:v>Friends/family/word-of-mouth</c:v>
                </c:pt>
              </c:strCache>
            </c:strRef>
          </c:cat>
          <c:val>
            <c:numRef>
              <c:f>Sheet1!$C$2:$C$13</c:f>
              <c:numCache>
                <c:formatCode>0%</c:formatCode>
                <c:ptCount val="12"/>
                <c:pt idx="1">
                  <c:v>0.022727272727272728</c:v>
                </c:pt>
                <c:pt idx="3">
                  <c:v>0.02272727272727273</c:v>
                </c:pt>
                <c:pt idx="4">
                  <c:v>0.02272727272727273</c:v>
                </c:pt>
                <c:pt idx="6">
                  <c:v>0.11363636363636363</c:v>
                </c:pt>
                <c:pt idx="7">
                  <c:v>0.25</c:v>
                </c:pt>
                <c:pt idx="8">
                  <c:v>0.06818181818181818</c:v>
                </c:pt>
                <c:pt idx="10">
                  <c:v>0.22727272727272727</c:v>
                </c:pt>
                <c:pt idx="11">
                  <c:v>0.29545454545454547</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Q3 2024
(N=19)</c:v>
                </c:pt>
              </c:strCache>
            </c:strRef>
          </c:tx>
          <c:spPr>
            <a:solidFill>
              <a:srgbClr val="00CC9A"/>
            </a:solidFill>
          </c:spPr>
          <c:invertIfNegative val="0"/>
          <c:dLbls>
            <c:dLbl>
              <c:idx val="2"/>
              <c:layout>
                <c:manualLayout>
                  <c:x val="-1.8726959020547603E-3"/>
                  <c:y val="-3.174603174603174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72D-8F45-BEA4-DD7B6F0918C9}"/>
                </c:ext>
              </c:extLst>
            </c:dLbl>
            <c:dLbl>
              <c:idx val="14"/>
              <c:layout>
                <c:manualLayout>
                  <c:x val="1.855736776450788E-3"/>
                  <c:y val="5.942041236206588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5E4-9746-BF4E-478D43DF2CB2}"/>
                </c:ext>
              </c:extLst>
            </c:dLbl>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Sheet1!$A$2:$A$13</c:f>
              <c:strCache>
                <c:ptCount val="12"/>
                <c:pt idx="0">
                  <c:v>All other</c:v>
                </c:pt>
                <c:pt idx="1">
                  <c:v>Do not know</c:v>
                </c:pt>
                <c:pt idx="2">
                  <c:v>AE Customer Assistance Program (CAPS)</c:v>
                </c:pt>
                <c:pt idx="3">
                  <c:v>Contractors</c:v>
                </c:pt>
                <c:pt idx="4">
                  <c:v>Television</c:v>
                </c:pt>
                <c:pt idx="5">
                  <c:v>Email</c:v>
                </c:pt>
                <c:pt idx="6">
                  <c:v>All other </c:v>
                </c:pt>
                <c:pt idx="7">
                  <c:v>Utility bill inserts</c:v>
                </c:pt>
                <c:pt idx="8">
                  <c:v>Radio</c:v>
                </c:pt>
                <c:pt idx="9">
                  <c:v>Newspaper advertisement</c:v>
                </c:pt>
                <c:pt idx="10">
                  <c:v>Austin Energy's website</c:v>
                </c:pt>
                <c:pt idx="11">
                  <c:v>Friends/family/word-of-mouth</c:v>
                </c:pt>
              </c:strCache>
            </c:strRef>
          </c:cat>
          <c:val>
            <c:numRef>
              <c:f>Sheet1!$D$2:$D$13</c:f>
              <c:numCache>
                <c:formatCode>0%</c:formatCode>
                <c:ptCount val="12"/>
                <c:pt idx="1">
                  <c:v>0.05</c:v>
                </c:pt>
                <c:pt idx="2">
                  <c:v>0.05263157894736842</c:v>
                </c:pt>
                <c:pt idx="6">
                  <c:v>0.32</c:v>
                </c:pt>
                <c:pt idx="7">
                  <c:v>0.05263157894736842</c:v>
                </c:pt>
                <c:pt idx="8">
                  <c:v>0.05263157894736842</c:v>
                </c:pt>
                <c:pt idx="9">
                  <c:v>0.05263157894736842</c:v>
                </c:pt>
                <c:pt idx="10">
                  <c:v>0.3684210526315789</c:v>
                </c:pt>
                <c:pt idx="11">
                  <c:v>0.05263157894736842</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Q4 2024
(N=33)</c:v>
                </c:pt>
              </c:strCache>
            </c:strRef>
          </c:tx>
          <c:spPr>
            <a:solidFill>
              <a:schemeClr val="tx1"/>
            </a:solidFill>
          </c:spPr>
          <c:invertIfNegative val="0"/>
          <c:dLbls>
            <c:dLbl>
              <c:idx val="1"/>
              <c:layout>
                <c:manualLayout>
                  <c:x val="2.0413104540958599E-2"/>
                  <c:y val="-1.980368493893733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85E4-9746-BF4E-478D43DF2CB2}"/>
                </c:ext>
              </c:extLst>
            </c:dLbl>
            <c:dLbl>
              <c:idx val="2"/>
              <c:layout>
                <c:manualLayout>
                  <c:x val="1.1236175412328561E-2"/>
                  <c:y val="-6.349081364829396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72D-8F45-BEA4-DD7B6F0918C9}"/>
                </c:ext>
              </c:extLst>
            </c:dLbl>
            <c:dLbl>
              <c:idx val="14"/>
              <c:layout>
                <c:manualLayout>
                  <c:x val="2.0413104540958599E-2"/>
                  <c:y val="3.961516783225290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5E4-9746-BF4E-478D43DF2CB2}"/>
                </c:ext>
              </c:extLst>
            </c:dLbl>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All other</c:v>
                </c:pt>
                <c:pt idx="1">
                  <c:v>Do not know</c:v>
                </c:pt>
                <c:pt idx="2">
                  <c:v>AE Customer Assistance Program (CAPS)</c:v>
                </c:pt>
                <c:pt idx="3">
                  <c:v>Contractors</c:v>
                </c:pt>
                <c:pt idx="4">
                  <c:v>Television</c:v>
                </c:pt>
                <c:pt idx="5">
                  <c:v>Email</c:v>
                </c:pt>
                <c:pt idx="6">
                  <c:v>All other </c:v>
                </c:pt>
                <c:pt idx="7">
                  <c:v>Utility bill inserts</c:v>
                </c:pt>
                <c:pt idx="8">
                  <c:v>Radio</c:v>
                </c:pt>
                <c:pt idx="9">
                  <c:v>Newspaper advertisement</c:v>
                </c:pt>
                <c:pt idx="10">
                  <c:v>Austin Energy's website</c:v>
                </c:pt>
                <c:pt idx="11">
                  <c:v>Friends/family/word-of-mouth</c:v>
                </c:pt>
              </c:strCache>
            </c:strRef>
          </c:cat>
          <c:val>
            <c:numRef>
              <c:f>Sheet1!$E$2:$E$13</c:f>
              <c:numCache>
                <c:formatCode>0%</c:formatCode>
                <c:ptCount val="12"/>
                <c:pt idx="0">
                  <c:v>0.3333333333333333</c:v>
                </c:pt>
                <c:pt idx="7">
                  <c:v>0.030303030303030304</c:v>
                </c:pt>
                <c:pt idx="8">
                  <c:v>0.030303030303030304</c:v>
                </c:pt>
                <c:pt idx="9">
                  <c:v>0.030303030303030304</c:v>
                </c:pt>
                <c:pt idx="10">
                  <c:v>0.09090909090909091</c:v>
                </c:pt>
                <c:pt idx="11">
                  <c:v>0.48484848484848486</c:v>
                </c:pt>
              </c:numCache>
            </c:numRef>
          </c:val>
          <c:extLst>
            <c:ext xmlns:c16="http://schemas.microsoft.com/office/drawing/2014/chart" uri="{C3380CC4-5D6E-409C-BE32-E72D297353CC}">
              <c16:uniqueId val="{00000003-CC47-4228-84BB-2FF78CC943F0}"/>
            </c:ext>
          </c:extLst>
        </c:ser>
        <c:dLbls>
          <c:showLegendKey val="0"/>
          <c:showVal val="0"/>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240756421689441"/>
          <c:h val="5.345872694943792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089572322811111"/>
          <c:y val="0.14592833876221498"/>
          <c:w val="0.65555640468095722"/>
          <c:h val="0.78987714483572291"/>
        </c:manualLayout>
      </c:layout>
      <c:barChart>
        <c:barDir val="bar"/>
        <c:grouping val="clustered"/>
        <c:varyColors val="0"/>
        <c:ser>
          <c:idx val="0"/>
          <c:order val="0"/>
          <c:tx>
            <c:strRef>
              <c:f>Sheet1!$B$1</c:f>
              <c:strCache>
                <c:ptCount val="1"/>
                <c:pt idx="0">
                  <c:v>Q1 2024
(N=12)</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All other</c:v>
                </c:pt>
                <c:pt idx="1">
                  <c:v>Email </c:v>
                </c:pt>
                <c:pt idx="2">
                  <c:v>Phone call</c:v>
                </c:pt>
                <c:pt idx="3">
                  <c:v>Facebook, Twitter, or other Social Media</c:v>
                </c:pt>
                <c:pt idx="4">
                  <c:v>Direct mail</c:v>
                </c:pt>
                <c:pt idx="5">
                  <c:v>Austin Energy’s website</c:v>
                </c:pt>
                <c:pt idx="6">
                  <c:v>Phone</c:v>
                </c:pt>
                <c:pt idx="7">
                  <c:v>Text messages</c:v>
                </c:pt>
                <c:pt idx="8">
                  <c:v>Email</c:v>
                </c:pt>
              </c:strCache>
            </c:strRef>
          </c:cat>
          <c:val>
            <c:numRef>
              <c:f>Sheet1!$B$2:$B$10</c:f>
              <c:numCache>
                <c:formatCode>0%</c:formatCode>
                <c:ptCount val="9"/>
                <c:pt idx="1">
                  <c:v>0.75</c:v>
                </c:pt>
                <c:pt idx="2">
                  <c:v>0.25</c:v>
                </c:pt>
                <c:pt idx="7">
                  <c:v>0.17</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Q2 2024
(N=44)</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All other</c:v>
                </c:pt>
                <c:pt idx="1">
                  <c:v>Email </c:v>
                </c:pt>
                <c:pt idx="2">
                  <c:v>Phone call</c:v>
                </c:pt>
                <c:pt idx="3">
                  <c:v>Facebook, Twitter, or other Social Media</c:v>
                </c:pt>
                <c:pt idx="4">
                  <c:v>Direct mail</c:v>
                </c:pt>
                <c:pt idx="5">
                  <c:v>Austin Energy’s website</c:v>
                </c:pt>
                <c:pt idx="6">
                  <c:v>Phone</c:v>
                </c:pt>
                <c:pt idx="7">
                  <c:v>Text messages</c:v>
                </c:pt>
                <c:pt idx="8">
                  <c:v>Email</c:v>
                </c:pt>
              </c:strCache>
            </c:strRef>
          </c:cat>
          <c:val>
            <c:numRef>
              <c:f>Sheet1!$C$2:$C$10</c:f>
              <c:numCache>
                <c:formatCode>0%</c:formatCode>
                <c:ptCount val="9"/>
                <c:pt idx="0">
                  <c:v>0.02272727272727273</c:v>
                </c:pt>
                <c:pt idx="1">
                  <c:v>0.7045454545454546</c:v>
                </c:pt>
                <c:pt idx="2">
                  <c:v>0.1590909090909091</c:v>
                </c:pt>
                <c:pt idx="4">
                  <c:v>0.11363636363636363</c:v>
                </c:pt>
                <c:pt idx="7">
                  <c:v>0.13636363636363635</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Q3 2024
(N=19)</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All other</c:v>
                </c:pt>
                <c:pt idx="1">
                  <c:v>Email </c:v>
                </c:pt>
                <c:pt idx="2">
                  <c:v>Phone call</c:v>
                </c:pt>
                <c:pt idx="3">
                  <c:v>Facebook, Twitter, or other Social Media</c:v>
                </c:pt>
                <c:pt idx="4">
                  <c:v>Direct mail</c:v>
                </c:pt>
                <c:pt idx="5">
                  <c:v>Austin Energy’s website</c:v>
                </c:pt>
                <c:pt idx="6">
                  <c:v>Phone</c:v>
                </c:pt>
                <c:pt idx="7">
                  <c:v>Text messages</c:v>
                </c:pt>
                <c:pt idx="8">
                  <c:v>Email</c:v>
                </c:pt>
              </c:strCache>
            </c:strRef>
          </c:cat>
          <c:val>
            <c:numRef>
              <c:f>Sheet1!$D$2:$D$10</c:f>
              <c:numCache>
                <c:formatCode>0%</c:formatCode>
                <c:ptCount val="9"/>
                <c:pt idx="0">
                  <c:v>0.05263157894736842</c:v>
                </c:pt>
                <c:pt idx="1">
                  <c:v>0.631578947368421</c:v>
                </c:pt>
                <c:pt idx="2">
                  <c:v>0.3157894736842105</c:v>
                </c:pt>
                <c:pt idx="4">
                  <c:v>0.10526315789473684</c:v>
                </c:pt>
                <c:pt idx="7">
                  <c:v>0.21052631578947367</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Q4 2024
(N=33)</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All other</c:v>
                </c:pt>
                <c:pt idx="1">
                  <c:v>Email </c:v>
                </c:pt>
                <c:pt idx="2">
                  <c:v>Phone call</c:v>
                </c:pt>
                <c:pt idx="3">
                  <c:v>Facebook, Twitter, or other Social Media</c:v>
                </c:pt>
                <c:pt idx="4">
                  <c:v>Direct mail</c:v>
                </c:pt>
                <c:pt idx="5">
                  <c:v>Austin Energy’s website</c:v>
                </c:pt>
                <c:pt idx="6">
                  <c:v>Phone</c:v>
                </c:pt>
                <c:pt idx="7">
                  <c:v>Text messages</c:v>
                </c:pt>
                <c:pt idx="8">
                  <c:v>Email</c:v>
                </c:pt>
              </c:strCache>
            </c:strRef>
          </c:cat>
          <c:val>
            <c:numRef>
              <c:f>Sheet1!$E$2:$E$10</c:f>
              <c:numCache>
                <c:formatCode>0%</c:formatCode>
                <c:ptCount val="9"/>
                <c:pt idx="3">
                  <c:v>0.030303030303030304</c:v>
                </c:pt>
                <c:pt idx="4">
                  <c:v>0.09090909090909091</c:v>
                </c:pt>
                <c:pt idx="5">
                  <c:v>0.12121212121212122</c:v>
                </c:pt>
                <c:pt idx="6">
                  <c:v>0.24242424242424243</c:v>
                </c:pt>
                <c:pt idx="7">
                  <c:v>0.45454545454545453</c:v>
                </c:pt>
                <c:pt idx="8">
                  <c:v>0.7575757575757576</c:v>
                </c:pt>
              </c:numCache>
            </c:numRef>
          </c:val>
          <c:extLst>
            <c:ext xmlns:c16="http://schemas.microsoft.com/office/drawing/2014/chart" uri="{C3380CC4-5D6E-409C-BE32-E72D297353CC}">
              <c16:uniqueId val="{00000003-08BA-4719-85C8-FABAF5FAC883}"/>
            </c:ext>
          </c:extLst>
        </c:ser>
        <c:dLbls>
          <c:showLegendKey val="0"/>
          <c:showVal val="0"/>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Sheet1!$B$2:$B$5</c:f>
              <c:numCache>
                <c:formatCode>0%</c:formatCode>
                <c:ptCount val="4"/>
                <c:pt idx="0">
                  <c:v>0.08</c:v>
                </c:pt>
                <c:pt idx="1">
                  <c:v>0.11363636363636363</c:v>
                </c:pt>
                <c:pt idx="2">
                  <c:v>0.3684210526315789</c:v>
                </c:pt>
                <c:pt idx="3">
                  <c:v>0.24242424242424243</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Sheet1!$C$2:$C$5</c:f>
              <c:numCache>
                <c:formatCode>0%</c:formatCode>
                <c:ptCount val="4"/>
                <c:pt idx="0">
                  <c:v>0.08</c:v>
                </c:pt>
                <c:pt idx="1">
                  <c:v>0.20454545454545459</c:v>
                </c:pt>
                <c:pt idx="2">
                  <c:v>0.05263157894736842</c:v>
                </c:pt>
                <c:pt idx="3">
                  <c:v>0.09090909090909091</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Sheet1!$D$2:$D$5</c:f>
              <c:numCache>
                <c:formatCode>0%</c:formatCode>
                <c:ptCount val="4"/>
                <c:pt idx="0">
                  <c:v>0.67</c:v>
                </c:pt>
                <c:pt idx="1">
                  <c:v>0.5681818181818182</c:v>
                </c:pt>
                <c:pt idx="2">
                  <c:v>0.47368421052631576</c:v>
                </c:pt>
                <c:pt idx="3">
                  <c:v>0.48484848484848486</c:v>
                </c:pt>
              </c:numCache>
            </c:numRef>
          </c:val>
          <c:extLst>
            <c:ext xmlns:c16="http://schemas.microsoft.com/office/drawing/2014/chart" uri="{C3380CC4-5D6E-409C-BE32-E72D297353CC}">
              <c16:uniqueId val="{00000003-3743-46B7-9453-554D3F76B7F0}"/>
            </c:ext>
          </c:extLst>
        </c:ser>
        <c:ser>
          <c:idx val="3"/>
          <c:order val="3"/>
          <c:tx>
            <c:strRef>
              <c:f>Sheet1!$E$1</c:f>
              <c:strCache>
                <c:ptCount val="1"/>
                <c:pt idx="0">
                  <c:v>sum of displayed values</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2024
(N=12)</c:v>
                </c:pt>
                <c:pt idx="1">
                  <c:v>Q2 2024
(N=44)</c:v>
                </c:pt>
                <c:pt idx="2">
                  <c:v>Q3 2024
(N=19)</c:v>
                </c:pt>
                <c:pt idx="3">
                  <c:v>Q4 2024
(N=33)</c:v>
                </c:pt>
              </c:strCache>
            </c:strRef>
          </c:cat>
          <c:val>
            <c:numRef>
              <c:f>Sheet1!$E$2:$E$5</c:f>
              <c:numCache>
                <c:formatCode>0%</c:formatCode>
                <c:ptCount val="4"/>
                <c:pt idx="0">
                  <c:v>0.8300000000000001</c:v>
                </c:pt>
                <c:pt idx="1">
                  <c:v>0.8799999999999999</c:v>
                </c:pt>
                <c:pt idx="2">
                  <c:v>0.8899999999999999</c:v>
                </c:pt>
                <c:pt idx="3">
                  <c:v>0.8181818181818182</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Q1 2024
(N=12)</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95000"/>
                        <a:lumOff val="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0.5</c:v>
                </c:pt>
                <c:pt idx="2">
                  <c:v>0.25</c:v>
                </c:pt>
                <c:pt idx="3">
                  <c:v>0.25</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Q2 2024
(N=44)</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0.4318181818181818</c:v>
                </c:pt>
                <c:pt idx="1">
                  <c:v>0.18181818181818185</c:v>
                </c:pt>
                <c:pt idx="2">
                  <c:v>0.20454545454545459</c:v>
                </c:pt>
                <c:pt idx="3">
                  <c:v>0.18181818181818185</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Q3 2024
(N=19)</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0.42105263157894735</c:v>
                </c:pt>
                <c:pt idx="1">
                  <c:v>0.15789473684210525</c:v>
                </c:pt>
                <c:pt idx="2">
                  <c:v>0.10526315789473684</c:v>
                </c:pt>
                <c:pt idx="3">
                  <c:v>0.3157894736842105</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Q4 2024
(N=33)</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0.36363636363636365</c:v>
                </c:pt>
                <c:pt idx="1">
                  <c:v>0.21212121212121213</c:v>
                </c:pt>
                <c:pt idx="2">
                  <c:v>0.24242424242424243</c:v>
                </c:pt>
                <c:pt idx="3">
                  <c:v>0.18181818181818182</c:v>
                </c:pt>
              </c:numCache>
            </c:numRef>
          </c:val>
          <c:extLst>
            <c:ext xmlns:c16="http://schemas.microsoft.com/office/drawing/2014/chart" uri="{C3380CC4-5D6E-409C-BE32-E72D297353CC}">
              <c16:uniqueId val="{00000001-7258-4992-8173-9478F5C9226D}"/>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2012358652536854"/>
          <c:y val="7.1924555082085506E-2"/>
          <c:w val="0.61070348114380435"/>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Q1 2024
(N=12)</c:v>
                </c:pt>
              </c:strCache>
            </c:strRef>
          </c:tx>
          <c:spPr>
            <a:solidFill>
              <a:srgbClr val="FFC000"/>
            </a:solidFill>
            <a:ln w="20893">
              <a:noFill/>
            </a:ln>
          </c:spPr>
          <c:invertIfNegative val="0"/>
          <c:dLbls>
            <c:dLbl>
              <c:idx val="1"/>
              <c:layout>
                <c:manualLayout>
                  <c:x val="-3.7593984962406013E-3"/>
                  <c:y val="-1.5564202334630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AFE-264A-AA8F-8C5E1D74083B}"/>
                </c:ext>
              </c:extLst>
            </c:dLbl>
            <c:dLbl>
              <c:idx val="2"/>
              <c:layout>
                <c:manualLayout>
                  <c:x val="1.8796992481203006E-3"/>
                  <c:y val="-1.5564202334630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08-5A44-AE10-D32273A62191}"/>
                </c:ext>
              </c:extLst>
            </c:dLbl>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0.17</c:v>
                </c:pt>
                <c:pt idx="3">
                  <c:v>0.33</c:v>
                </c:pt>
                <c:pt idx="4">
                  <c:v>0.42</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Q2 2024
(N=44)</c:v>
                </c:pt>
              </c:strCache>
            </c:strRef>
          </c:tx>
          <c:spPr>
            <a:solidFill>
              <a:srgbClr val="3233CC"/>
            </a:solidFill>
          </c:spPr>
          <c:invertIfNegative val="0"/>
          <c:dLbls>
            <c:dLbl>
              <c:idx val="4"/>
              <c:layout>
                <c:manualLayout>
                  <c:x val="5.6390977443609019E-3"/>
                  <c:y val="-2.3346303501945619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AFE-264A-AA8F-8C5E1D74083B}"/>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0">
                  <c:v>0.02272727272727273</c:v>
                </c:pt>
                <c:pt idx="1">
                  <c:v>0.11</c:v>
                </c:pt>
                <c:pt idx="2">
                  <c:v>0.3636363636363637</c:v>
                </c:pt>
                <c:pt idx="3">
                  <c:v>0.22727272727272727</c:v>
                </c:pt>
                <c:pt idx="4">
                  <c:v>0.13636363636363635</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Q3 2024
(N=19)</c:v>
                </c:pt>
              </c:strCache>
            </c:strRef>
          </c:tx>
          <c:spPr>
            <a:solidFill>
              <a:srgbClr val="00CC99"/>
            </a:solidFill>
          </c:spPr>
          <c:invertIfNegative val="0"/>
          <c:dLbls>
            <c:dLbl>
              <c:idx val="0"/>
              <c:layout>
                <c:manualLayout>
                  <c:x val="5.6390977443608681E-3"/>
                  <c:y val="-2.594033722438391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F-41DB-9749-29C4F283D6D5}"/>
                </c:ext>
              </c:extLst>
            </c:dLbl>
            <c:dLbl>
              <c:idx val="2"/>
              <c:layout>
                <c:manualLayout>
                  <c:x val="3.7593984962406013E-3"/>
                  <c:y val="-4.6692607003891148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AFE-264A-AA8F-8C5E1D74083B}"/>
                </c:ext>
              </c:extLst>
            </c:dLbl>
            <c:dLbl>
              <c:idx val="3"/>
              <c:layout>
                <c:manualLayout>
                  <c:x val="1.8796992481203006E-3"/>
                  <c:y val="-1.0376134889753566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AFE-264A-AA8F-8C5E1D74083B}"/>
                </c:ext>
              </c:extLst>
            </c:dLbl>
            <c:dLbl>
              <c:idx val="4"/>
              <c:layout>
                <c:manualLayout>
                  <c:x val="1.879699248120163E-3"/>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08-5A44-AE10-D32273A62191}"/>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1">
                  <c:v>0.10526315789473684</c:v>
                </c:pt>
                <c:pt idx="2">
                  <c:v>0.3157894736842105</c:v>
                </c:pt>
                <c:pt idx="3">
                  <c:v>0.3157894736842105</c:v>
                </c:pt>
                <c:pt idx="4">
                  <c:v>0.10526315789473684</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Q4 2024
(N=33)</c:v>
                </c:pt>
              </c:strCache>
            </c:strRef>
          </c:tx>
          <c:spPr>
            <a:solidFill>
              <a:schemeClr val="tx1"/>
            </a:solidFill>
          </c:spPr>
          <c:invertIfNegative val="0"/>
          <c:dLbls>
            <c:dLbl>
              <c:idx val="1"/>
              <c:layout>
                <c:manualLayout>
                  <c:x val="1.8796992481202937E-2"/>
                  <c:y val="-9.5113471063806945E-17"/>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A-8A48-8F90-56878AD48500}"/>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1">
                  <c:v>0.030303030303030304</c:v>
                </c:pt>
                <c:pt idx="2">
                  <c:v>0.30303030303030304</c:v>
                </c:pt>
                <c:pt idx="3">
                  <c:v>0.36363636363636365</c:v>
                </c:pt>
                <c:pt idx="4">
                  <c:v>0.30303030303030304</c:v>
                </c:pt>
              </c:numCache>
            </c:numRef>
          </c:val>
          <c:extLst>
            <c:ext xmlns:c16="http://schemas.microsoft.com/office/drawing/2014/chart" uri="{C3380CC4-5D6E-409C-BE32-E72D297353CC}">
              <c16:uniqueId val="{00000001-B251-43C1-89EF-86F39D1E8950}"/>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19380779705168433"/>
          <c:y val="5.9662775616083012E-2"/>
          <c:w val="0.61850526907820735"/>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omments/modernComment_254_66F63346.xml><?xml version="1.0" encoding="utf-8"?>
<p188:cmLst xmlns:a="http://schemas.openxmlformats.org/drawingml/2006/main" xmlns:r="http://schemas.openxmlformats.org/officeDocument/2006/relationships" xmlns:p188="http://schemas.microsoft.com/office/powerpoint/2018/8/main">
  <p188:cm id="{CF37E07D-6BEC-2943-A989-13B57669EC97}" authorId="{67A16604-D201-06CE-DBDB-10CEC180544C}" created="2024-07-19T11:39:55.880">
    <pc:sldMkLst xmlns:pc="http://schemas.microsoft.com/office/powerpoint/2013/main/command">
      <pc:docMk/>
      <pc:sldMk cId="1727411014" sldId="596"/>
    </pc:sldMkLst>
    <p188:txBody>
      <a:bodyPr/>
      <a:lstStyle/>
      <a:p>
        <a:r>
          <a:rPr lang="en-US"/>
          <a:t>I do not have the data to update the number of contacts provided .</a:t>
        </a:r>
      </a:p>
    </p188:txBody>
  </p188:cm>
</p188:cmLst>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53</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emf"/><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chart" Target="../charts/char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chart" Target="../charts/chart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microsoft.com/office/2018/10/relationships/comments" Target="../comments/modernComment_254_66F633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ctrTitle"/>
          </p:nvPr>
        </p:nvSpPr>
        <p:spPr>
          <a:xfrm>
            <a:off x="228598" y="3036421"/>
            <a:ext cx="6296025" cy="1524000"/>
          </a:xfrm>
        </p:spPr>
        <p:txBody>
          <a:bodyPr/>
          <a:lstStyle/>
          <a:p>
            <a:pPr eaLnBrk="1" hangingPunct="1"/>
            <a:r>
              <a:rPr sz="2800">
                <a:latin typeface="Arial"/>
              </a:rPr>
              <a:t>Low Income Weatherization Survey
FY2024 Q4
</a:t>
            </a:r>
            <a:r>
              <a:rPr sz="1600">
                <a:latin typeface="Arial"/>
              </a:rPr>
              <a:t>February 2025</a:t>
            </a:r>
            <a:endParaRPr lang="en-US" altLang="en-US" sz="1800" b="1" dirty="0">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5113" y="8382000"/>
            <a:ext cx="617537" cy="617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endParaRPr lang="en-US" altLang="en-US" sz="1600" dirty="0">
              <a:ea typeface="Geneva"/>
              <a:cs typeface="Geneva"/>
            </a:endParaRPr>
          </a:p>
          <a:p>
            <a:pPr algn="l"/>
            <a:r>
              <a:rPr sz="1800">
                <a:latin typeface="Tahoma"/>
              </a:rPr>
              <a:t>Customers’ overall satisfaction with Austin Energy’s Weatherization Program remained favorable with a score of 88% for Q4 2024.</a:t>
            </a:r>
          </a:p>
          <a:p>
            <a:pPr algn="l"/>
            <a:r>
              <a:rPr sz="1800">
                <a:latin typeface="Tahoma"/>
              </a:rPr>
              <a:t>Overall satisfaction level with Austin Energy improved to 82% in Q4 2024 from 89% in Q2 2024.</a:t>
            </a:r>
          </a:p>
          <a:p>
            <a:pPr algn="l"/>
            <a:r>
              <a:rPr sz="1800">
                <a:latin typeface="Tahoma"/>
              </a:rPr>
              <a:t>Customers indicated a need for the program and home weatherization assistance.</a:t>
            </a:r>
          </a:p>
          <a:p>
            <a:pPr algn="l"/>
            <a:r>
              <a:rPr sz="1800">
                <a:latin typeface="Tahoma"/>
              </a:rPr>
              <a:t>91% of customers would recommend this program to a friend or family member.</a:t>
            </a:r>
          </a:p>
          <a:p>
            <a:pPr algn="l"/>
            <a:r>
              <a:rPr sz="1800">
                <a:latin typeface="Tahoma"/>
              </a:rPr>
              <a:t>75% of customers appeared to have a high level of understanding when it comes to their utility bill and energy savings.</a:t>
            </a: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228600" y="1219200"/>
            <a:ext cx="6172200" cy="6934200"/>
          </a:xfrm>
        </p:spPr>
        <p:txBody>
          <a:bodyPr/>
          <a:lstStyle/>
          <a:p>
            <a:pPr algn="l" lvl="0">
              <a:lnSpc>
                <a:spcPts val="2000"/>
              </a:lnSpc>
              <a:defRPr/>
            </a:pPr>
            <a:r>
              <a:rPr sz="1800" b="0" i="0">
                <a:solidFill>
                  <a:srgbClr val="000000"/>
                </a:solidFill>
                <a:latin typeface="Tahoma"/>
              </a:rPr>
              <a:t>Overall satisfaction score with energy savings was 52% in Q4 2024, up from 50% in Q3 2024%.</a:t>
            </a:r>
          </a:p>
          <a:p/>
          <a:p>
            <a:pPr algn="l" lvl="0">
              <a:lnSpc>
                <a:spcPts val="2000"/>
              </a:lnSpc>
            </a:pPr>
            <a:r>
              <a:rPr sz="1800" b="0" i="0">
                <a:solidFill>
                  <a:srgbClr val="000000"/>
                </a:solidFill>
                <a:latin typeface="Tahoma"/>
              </a:rPr>
              <a:t>Contractor and customer service ratings remained relatively high for all attributes.</a:t>
            </a:r>
          </a:p>
          <a:p/>
          <a:p>
            <a:pPr algn="l" lvl="0">
              <a:lnSpc>
                <a:spcPts val="2000"/>
              </a:lnSpc>
            </a:pPr>
            <a:r>
              <a:rPr sz="1800" b="0" i="0">
                <a:solidFill>
                  <a:srgbClr val="000000"/>
                </a:solidFill>
                <a:latin typeface="Tahoma"/>
              </a:rPr>
              <a:t>Customers appeared to be satisfied with the follow-up phone calls and indicated that the Austin Energy staff member/contractor did an overall good job on the work done at their homes.</a:t>
            </a:r>
          </a:p>
          <a:p/>
          <a:p>
            <a:pPr algn="l" lvl="0">
              <a:lnSpc>
                <a:spcPts val="2000"/>
              </a:lnSpc>
            </a:pPr>
            <a:r>
              <a:rPr sz="1800" b="0" i="0">
                <a:solidFill>
                  <a:srgbClr val="000000"/>
                </a:solidFill>
                <a:latin typeface="Tahoma"/>
              </a:rPr>
              <a:t>For this quarter, Friends/family/word of mouth, Austin Energy’s website, and Utility bill inserts were the top responses for how customers first learned about the weatherization program.</a:t>
            </a:r>
          </a:p>
          <a:p/>
          <a:p>
            <a:pPr algn="l" lvl="0">
              <a:lnSpc>
                <a:spcPts val="2000"/>
              </a:lnSpc>
            </a:pPr>
            <a:r>
              <a:rPr sz="1800" b="0" i="0">
                <a:solidFill>
                  <a:srgbClr val="000000"/>
                </a:solidFill>
                <a:latin typeface="Tahoma"/>
              </a:rPr>
              <a:t>For this quarter, due to the small sample size, none of the changes can be deemed significant.</a:t>
            </a: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extLst>
              <p:ext uri="{D42A27DB-BD31-4B8C-83A1-F6EECF244321}">
                <p14:modId xmlns:p14="http://schemas.microsoft.com/office/powerpoint/2010/main" val="1363044449"/>
              </p:ext>
            </p:extLst>
          </p:nvPr>
        </p:nvGraphicFramePr>
        <p:xfrm>
          <a:off x="50801" y="12763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688363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402662036"/>
              </p:ext>
            </p:extLst>
          </p:nvPr>
        </p:nvGraphicFramePr>
        <p:xfrm>
          <a:off x="50800" y="14652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653142">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653142">
                <a:tc>
                  <a:txBody>
                    <a:bodyPr/>
                    <a:lstStyle/>
                    <a:p>
                      <a:pPr algn="l"/>
                      <a:r>
                        <a:rPr sz="1300" b="0" i="0">
                          <a:solidFill>
                            <a:srgbClr val="000000"/>
                          </a:solidFill>
                          <a:latin typeface="Tahoma"/>
                        </a:rPr>
                        <a:t>I have no idea.</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Because it's really up to them if they would prefer to do it.</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Good number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653142">
                <a:tc>
                  <a:txBody>
                    <a:bodyPr/>
                    <a:lstStyle/>
                    <a:p>
                      <a:pPr algn="l"/>
                      <a:r>
                        <a:rPr sz="1300" b="0" i="0">
                          <a:solidFill>
                            <a:srgbClr val="000000"/>
                          </a:solidFill>
                          <a:latin typeface="Tahoma"/>
                        </a:rPr>
                        <a:t>Over advertisement of the program</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653142">
                <a:tc>
                  <a:txBody>
                    <a:bodyPr/>
                    <a:lstStyle/>
                    <a:p>
                      <a:pPr algn="l"/>
                      <a:r>
                        <a:rPr sz="1300" b="0" i="0">
                          <a:solidFill>
                            <a:srgbClr val="000000"/>
                          </a:solidFill>
                          <a:latin typeface="Tahoma"/>
                        </a:rPr>
                        <a:t>Don't know</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653148">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2</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2</a:t>
                      </a:r>
                    </a:p>
                  </a:txBody>
                  <a:tcPr anchor="ctr">
                    <a:solidFill>
                      <a:srgbClr val="5A80B8"/>
                    </a:solidFill>
                  </a:tcPr>
                </a:tc>
              </a:tr>
            </a:tbl>
          </a:graphicData>
        </a:graphic>
      </p:graphicFrame>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300026645"/>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907070991"/>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675376874"/>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189529846"/>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242080027"/>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49826687"/>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88861395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653142">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653142">
                <a:tc>
                  <a:txBody>
                    <a:bodyPr/>
                    <a:lstStyle/>
                    <a:p>
                      <a:pPr algn="l"/>
                      <a:r>
                        <a:rPr sz="1300" b="0" i="0">
                          <a:solidFill>
                            <a:srgbClr val="000000"/>
                          </a:solidFill>
                          <a:latin typeface="Tahoma"/>
                        </a:rPr>
                        <a:t>Complete all promised work</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Do work correctly the first time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Better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653142">
                <a:tc>
                  <a:txBody>
                    <a:bodyPr/>
                    <a:lstStyle/>
                    <a:p>
                      <a:pPr algn="l"/>
                      <a:r>
                        <a:rPr sz="1300" b="0" i="0">
                          <a:solidFill>
                            <a:srgbClr val="000000"/>
                          </a:solidFill>
                          <a:latin typeface="Tahoma"/>
                        </a:rPr>
                        <a:t>Nothing</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Other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8">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4</a:t>
                      </a:r>
                    </a:p>
                  </a:txBody>
                  <a:tcPr anchor="ctr">
                    <a:solidFill>
                      <a:srgbClr val="5A80B8"/>
                    </a:solidFill>
                  </a:tcPr>
                </a:tc>
              </a:tr>
            </a:tbl>
          </a:graphicData>
        </a:graphic>
      </p:graphicFrame>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3687012250"/>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914400">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914400">
                <a:tc>
                  <a:txBody>
                    <a:bodyPr/>
                    <a:lstStyle/>
                    <a:p>
                      <a:pPr algn="l"/>
                      <a:r>
                        <a:rPr sz="1300" b="0" i="0">
                          <a:solidFill>
                            <a:srgbClr val="000000"/>
                          </a:solidFill>
                          <a:latin typeface="Tahoma"/>
                        </a:rPr>
                        <a:t>It took a really long time. I don't think they accomplished anything. It was just awful.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914400">
                <a:tc>
                  <a:txBody>
                    <a:bodyPr/>
                    <a:lstStyle/>
                    <a:p>
                      <a:pPr algn="l"/>
                      <a:r>
                        <a:rPr sz="1300" b="0" i="0">
                          <a:solidFill>
                            <a:srgbClr val="000000"/>
                          </a:solidFill>
                          <a:latin typeface="Tahoma"/>
                        </a:rPr>
                        <a:t>I don't think I got enough benefit out of it. I know it doesn't cost anything but I don't think it really helped at all.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914400">
                <a:tc>
                  <a:txBody>
                    <a:bodyPr/>
                    <a:lstStyle/>
                    <a:p>
                      <a:pPr algn="l"/>
                      <a:r>
                        <a:rPr sz="1300" b="0" i="0">
                          <a:solidFill>
                            <a:srgbClr val="000000"/>
                          </a:solidFill>
                          <a:latin typeface="Tahoma"/>
                        </a:rPr>
                        <a:t>Because of the moisture for one. For a long time it was very humid. I feel like it didn't really change anything.</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9144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3</a:t>
                      </a:r>
                    </a:p>
                  </a:txBody>
                  <a:tcPr anchor="ctr">
                    <a:solidFill>
                      <a:srgbClr val="5A80B8"/>
                    </a:solidFill>
                  </a:tcPr>
                </a:tc>
              </a:tr>
            </a:tbl>
          </a:graphicData>
        </a:graphic>
      </p:graphicFrame>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04800">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304800">
                <a:tc>
                  <a:txBody>
                    <a:bodyPr/>
                    <a:lstStyle/>
                    <a:p>
                      <a:pPr algn="l"/>
                      <a:r>
                        <a:rPr sz="1300" b="0" i="0">
                          <a:solidFill>
                            <a:srgbClr val="000000"/>
                          </a:solidFill>
                          <a:latin typeface="Tahoma"/>
                        </a:rPr>
                        <a:t>Nothing/no changes needed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r>
              <a:tr h="304800">
                <a:tc>
                  <a:txBody>
                    <a:bodyPr/>
                    <a:lstStyle/>
                    <a:p>
                      <a:pPr algn="l"/>
                      <a:r>
                        <a:rPr sz="1300" b="0" i="0">
                          <a:solidFill>
                            <a:srgbClr val="000000"/>
                          </a:solidFill>
                          <a:latin typeface="Tahoma"/>
                        </a:rPr>
                        <a:t>Promote, advertise more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304800">
                <a:tc>
                  <a:txBody>
                    <a:bodyPr/>
                    <a:lstStyle/>
                    <a:p>
                      <a:pPr algn="l"/>
                      <a:r>
                        <a:rPr sz="1300" b="0" i="0">
                          <a:solidFill>
                            <a:srgbClr val="000000"/>
                          </a:solidFill>
                          <a:latin typeface="Tahoma"/>
                        </a:rPr>
                        <a:t>Replace doors, windows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304800">
                <a:tc>
                  <a:txBody>
                    <a:bodyPr/>
                    <a:lstStyle/>
                    <a:p>
                      <a:pPr algn="l"/>
                      <a:r>
                        <a:rPr sz="1300" b="0" i="0">
                          <a:solidFill>
                            <a:srgbClr val="000000"/>
                          </a:solidFill>
                          <a:latin typeface="Tahoma"/>
                        </a:rPr>
                        <a:t>Faster response, shorter wait times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304800">
                <a:tc>
                  <a:txBody>
                    <a:bodyPr/>
                    <a:lstStyle/>
                    <a:p>
                      <a:pPr algn="l"/>
                      <a:r>
                        <a:rPr sz="1300" b="0" i="0">
                          <a:solidFill>
                            <a:srgbClr val="000000"/>
                          </a:solidFill>
                          <a:latin typeface="Tahoma"/>
                        </a:rPr>
                        <a:t>More communication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300" b="0" i="0">
                          <a:solidFill>
                            <a:srgbClr val="000000"/>
                          </a:solidFill>
                          <a:latin typeface="Tahoma"/>
                        </a:rPr>
                        <a:t>Have more repair options available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300" b="0" i="0">
                          <a:solidFill>
                            <a:srgbClr val="000000"/>
                          </a:solidFill>
                          <a:latin typeface="Tahoma"/>
                        </a:rPr>
                        <a:t>Better planning, improve budgeting</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Increase water, energy saving options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Use more skilled contractors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Enroll more people in program</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Follow-up, Supervise contractor work</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3048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3048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12</a:t>
                      </a:r>
                    </a:p>
                  </a:txBody>
                  <a:tcPr anchor="ctr">
                    <a:solidFill>
                      <a:srgbClr val="5A80B8"/>
                    </a:solidFill>
                  </a:tcPr>
                </a:tc>
                <a:tc>
                  <a:txBody>
                    <a:bodyPr/>
                    <a:lstStyle/>
                    <a:p>
                      <a:pPr algn="ctr"/>
                      <a:r>
                        <a:rPr sz="1300" b="0" i="0">
                          <a:solidFill>
                            <a:srgbClr val="FFFFFF"/>
                          </a:solidFill>
                          <a:latin typeface="Tahoma"/>
                        </a:rPr>
                        <a:t>44</a:t>
                      </a:r>
                    </a:p>
                  </a:txBody>
                  <a:tcPr anchor="ctr">
                    <a:solidFill>
                      <a:srgbClr val="5A80B8"/>
                    </a:solidFill>
                  </a:tcPr>
                </a:tc>
                <a:tc>
                  <a:txBody>
                    <a:bodyPr/>
                    <a:lstStyle/>
                    <a:p>
                      <a:pPr algn="ctr"/>
                      <a:r>
                        <a:rPr sz="1300" b="0" i="0">
                          <a:solidFill>
                            <a:srgbClr val="FFFFFF"/>
                          </a:solidFill>
                          <a:latin typeface="Tahoma"/>
                        </a:rPr>
                        <a:t>19</a:t>
                      </a:r>
                    </a:p>
                  </a:txBody>
                  <a:tcPr anchor="ctr">
                    <a:solidFill>
                      <a:srgbClr val="5A80B8"/>
                    </a:solidFill>
                  </a:tcPr>
                </a:tc>
                <a:tc>
                  <a:txBody>
                    <a:bodyPr/>
                    <a:lstStyle/>
                    <a:p>
                      <a:pPr algn="ctr"/>
                      <a:r>
                        <a:rPr sz="1300" b="0" i="0">
                          <a:solidFill>
                            <a:srgbClr val="FFFFFF"/>
                          </a:solidFill>
                          <a:latin typeface="Tahoma"/>
                        </a:rPr>
                        <a:t>36</a:t>
                      </a:r>
                    </a:p>
                  </a:txBody>
                  <a:tcPr anchor="ctr">
                    <a:solidFill>
                      <a:srgbClr val="5A80B8"/>
                    </a:solidFill>
                  </a:tcPr>
                </a:tc>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929659632"/>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2254647065"/>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97873484"/>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extLst>
              <p:ext uri="{D42A27DB-BD31-4B8C-83A1-F6EECF244321}">
                <p14:modId xmlns:p14="http://schemas.microsoft.com/office/powerpoint/2010/main" val="343333021"/>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5852573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518025454"/>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4888867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571500">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571500">
                <a:tc>
                  <a:txBody>
                    <a:bodyPr/>
                    <a:lstStyle/>
                    <a:p>
                      <a:pPr algn="l"/>
                      <a:r>
                        <a:rPr sz="1300" b="0" i="0">
                          <a:solidFill>
                            <a:srgbClr val="000000"/>
                          </a:solidFill>
                          <a:latin typeface="Tahoma"/>
                        </a:rPr>
                        <a:t>Cleaned up mess, repaired damage they caused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571500">
                <a:tc>
                  <a:txBody>
                    <a:bodyPr/>
                    <a:lstStyle/>
                    <a:p>
                      <a:pPr algn="l"/>
                      <a:r>
                        <a:rPr sz="1300" b="0" i="0">
                          <a:solidFill>
                            <a:srgbClr val="000000"/>
                          </a:solidFill>
                          <a:latin typeface="Tahoma"/>
                        </a:rPr>
                        <a:t>Complete work correctly, properly</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571500">
                <a:tc>
                  <a:txBody>
                    <a:bodyPr/>
                    <a:lstStyle/>
                    <a:p>
                      <a:pPr algn="l"/>
                      <a:r>
                        <a:rPr sz="1300" b="0" i="0">
                          <a:solidFill>
                            <a:srgbClr val="000000"/>
                          </a:solidFill>
                          <a:latin typeface="Tahoma"/>
                        </a:rPr>
                        <a:t>Inform me of what is being repaired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571500">
                <a:tc>
                  <a:txBody>
                    <a:bodyPr/>
                    <a:lstStyle/>
                    <a:p>
                      <a:pPr algn="l"/>
                      <a:r>
                        <a:rPr sz="1300" b="0" i="0">
                          <a:solidFill>
                            <a:srgbClr val="000000"/>
                          </a:solidFill>
                          <a:latin typeface="Tahoma"/>
                        </a:rPr>
                        <a:t>Improve, increase communication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571500">
                <a:tc>
                  <a:txBody>
                    <a:bodyPr/>
                    <a:lstStyle/>
                    <a:p>
                      <a:pPr algn="l"/>
                      <a:r>
                        <a:rPr sz="1300" b="0" i="0">
                          <a:solidFill>
                            <a:srgbClr val="000000"/>
                          </a:solidFill>
                          <a:latin typeface="Tahoma"/>
                        </a:rPr>
                        <a:t>Followed up, reviewed work</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571500">
                <a:tc>
                  <a:txBody>
                    <a:bodyPr/>
                    <a:lstStyle/>
                    <a:p>
                      <a:pPr algn="l"/>
                      <a:r>
                        <a:rPr sz="1300" b="0" i="0">
                          <a:solidFill>
                            <a:srgbClr val="000000"/>
                          </a:solidFill>
                          <a:latin typeface="Tahoma"/>
                        </a:rPr>
                        <a:t>Nothing</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5715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4</a:t>
                      </a:r>
                    </a:p>
                  </a:txBody>
                  <a:tcPr anchor="ctr">
                    <a:solidFill>
                      <a:srgbClr val="5A80B8"/>
                    </a:solidFill>
                  </a:tcPr>
                </a:tc>
                <a:tc>
                  <a:txBody>
                    <a:bodyPr/>
                    <a:lstStyle/>
                    <a:p>
                      <a:pPr algn="ctr"/>
                      <a:r>
                        <a:rPr sz="1300" b="0"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478679095"/>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87721324"/>
              </p:ext>
            </p:extLst>
          </p:nvPr>
        </p:nvGraphicFramePr>
        <p:xfrm>
          <a:off x="50801" y="137160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350003221"/>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extLst>
              <p:ext uri="{D42A27DB-BD31-4B8C-83A1-F6EECF244321}">
                <p14:modId xmlns:p14="http://schemas.microsoft.com/office/powerpoint/2010/main" val="3680786904"/>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86607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extLst>
              <p:ext uri="{D42A27DB-BD31-4B8C-83A1-F6EECF244321}">
                <p14:modId xmlns:p14="http://schemas.microsoft.com/office/powerpoint/2010/main" val="1548366839"/>
              </p:ext>
            </p:extLst>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16403928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653142">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653142">
                <a:tc>
                  <a:txBody>
                    <a:bodyPr/>
                    <a:lstStyle/>
                    <a:p>
                      <a:pPr algn="l"/>
                      <a:r>
                        <a:rPr sz="1300" b="0" i="0">
                          <a:solidFill>
                            <a:srgbClr val="000000"/>
                          </a:solidFill>
                          <a:latin typeface="Tahoma"/>
                        </a:rPr>
                        <a:t>Improve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653142">
                <a:tc>
                  <a:txBody>
                    <a:bodyPr/>
                    <a:lstStyle/>
                    <a:p>
                      <a:pPr algn="l"/>
                      <a:r>
                        <a:rPr sz="1300" b="0" i="0">
                          <a:solidFill>
                            <a:srgbClr val="000000"/>
                          </a:solidFill>
                          <a:latin typeface="Tahoma"/>
                        </a:rPr>
                        <a:t>Complete repair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Follow up after a few month to check on work performed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Don't know</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Other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653148">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13. Was there anything about your experience with the people who weatherized your home that you would like to share with Austin Energy?</a:t>
            </a:r>
            <a:endParaRPr lang="en-US" sz="1100" b="1">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285750">
                <a:tc>
                  <a:txBody>
                    <a:bodyPr/>
                    <a:lstStyle/>
                    <a:p>
                      <a:pPr algn="l"/>
                      <a:r>
                        <a:rPr sz="1300" b="0" i="0">
                          <a:solidFill>
                            <a:srgbClr val="000000"/>
                          </a:solidFill>
                          <a:latin typeface="Tahoma"/>
                        </a:rPr>
                        <a:t>Satisfied with work, no complaints</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23</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r>
              <a:tr h="285750">
                <a:tc>
                  <a:txBody>
                    <a:bodyPr/>
                    <a:lstStyle/>
                    <a:p>
                      <a:pPr algn="l"/>
                      <a:r>
                        <a:rPr sz="1300" b="0" i="0">
                          <a:solidFill>
                            <a:srgbClr val="000000"/>
                          </a:solidFill>
                          <a:latin typeface="Tahoma"/>
                        </a:rPr>
                        <a:t>Patient, kind, nice, friendly, caring, polite employee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Provided helpful information, knowledgeable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Professional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285750">
                <a:tc>
                  <a:txBody>
                    <a:bodyPr/>
                    <a:lstStyle/>
                    <a:p>
                      <a:pPr algn="l"/>
                      <a:r>
                        <a:rPr sz="1300" b="0" i="0">
                          <a:solidFill>
                            <a:srgbClr val="000000"/>
                          </a:solidFill>
                          <a:latin typeface="Tahoma"/>
                        </a:rPr>
                        <a:t>Nothing/no changes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0" i="0">
                          <a:solidFill>
                            <a:srgbClr val="000000"/>
                          </a:solidFill>
                          <a:latin typeface="Tahoma"/>
                        </a:rPr>
                        <a:t>Quick, punctual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Did not leave area clean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Incomplete job, items or issues not addressed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Good communication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Cleaned up after themselves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They should talk to homeowner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Appreciate program, service</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Other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12</a:t>
                      </a:r>
                    </a:p>
                  </a:txBody>
                  <a:tcPr anchor="ctr">
                    <a:solidFill>
                      <a:srgbClr val="5A80B8"/>
                    </a:solidFill>
                  </a:tcPr>
                </a:tc>
                <a:tc>
                  <a:txBody>
                    <a:bodyPr/>
                    <a:lstStyle/>
                    <a:p>
                      <a:pPr algn="ctr"/>
                      <a:r>
                        <a:rPr sz="1300" b="0" i="0">
                          <a:solidFill>
                            <a:srgbClr val="FFFFFF"/>
                          </a:solidFill>
                          <a:latin typeface="Tahoma"/>
                        </a:rPr>
                        <a:t>50</a:t>
                      </a:r>
                    </a:p>
                  </a:txBody>
                  <a:tcPr anchor="ctr">
                    <a:solidFill>
                      <a:srgbClr val="5A80B8"/>
                    </a:solidFill>
                  </a:tcPr>
                </a:tc>
                <a:tc>
                  <a:txBody>
                    <a:bodyPr/>
                    <a:lstStyle/>
                    <a:p>
                      <a:pPr algn="ctr"/>
                      <a:r>
                        <a:rPr sz="1300" b="0" i="0">
                          <a:solidFill>
                            <a:srgbClr val="FFFFFF"/>
                          </a:solidFill>
                          <a:latin typeface="Tahoma"/>
                        </a:rPr>
                        <a:t>24</a:t>
                      </a:r>
                    </a:p>
                  </a:txBody>
                  <a:tcPr anchor="ctr">
                    <a:solidFill>
                      <a:srgbClr val="5A80B8"/>
                    </a:solidFill>
                  </a:tcPr>
                </a:tc>
                <a:tc>
                  <a:txBody>
                    <a:bodyPr/>
                    <a:lstStyle/>
                    <a:p>
                      <a:pPr algn="ctr"/>
                      <a:r>
                        <a:rPr sz="1300" b="0"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extLst>
              <p:ext uri="{D42A27DB-BD31-4B8C-83A1-F6EECF244321}">
                <p14:modId xmlns:p14="http://schemas.microsoft.com/office/powerpoint/2010/main" val="1257885736"/>
              </p:ext>
            </p:extLst>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29296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dirty="0">
                <a:ea typeface="MS PGothic" panose="020B0600070205080204" pitchFamily="34" charset="-128"/>
              </a:rPr>
              <a:t>Level of Understanding with </a:t>
            </a:r>
            <a:br>
              <a:rPr lang="en-US" altLang="en-US" dirty="0">
                <a:ea typeface="MS PGothic" panose="020B0600070205080204" pitchFamily="34" charset="-128"/>
              </a:rPr>
            </a:br>
            <a:r>
              <a:rPr lang="en-US" altLang="en-US" dirty="0">
                <a:ea typeface="MS PGothic" panose="020B0600070205080204" pitchFamily="34" charset="-128"/>
              </a:rPr>
              <a:t>Utility Bill and Energy Savings </a:t>
            </a:r>
            <a:endParaRPr lang="en-US" altLang="en-US" dirty="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851175235"/>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57200">
                <a:tc>
                  <a:txBody>
                    <a:bodyPr/>
                    <a:lstStyle/>
                    <a:p>
                      <a:pPr algn="ctr"/>
                    </a:p>
                  </a:txBody>
                  <a:tcPr anchor="ctr">
                    <a:solidFill>
                      <a:srgbClr val="5A80B8"/>
                    </a:solidFill>
                  </a:tcPr>
                </a:tc>
                <a:tc>
                  <a:txBody>
                    <a:bodyPr/>
                    <a:lstStyle/>
                    <a:p>
                      <a:pPr algn="ctr"/>
                      <a:r>
                        <a:rPr sz="1300" b="1" i="0">
                          <a:solidFill>
                            <a:srgbClr val="FFFFFF"/>
                          </a:solidFill>
                          <a:latin typeface="Tahoma"/>
                        </a:rPr>
                        <a:t>Q1 2024</a:t>
                      </a:r>
                    </a:p>
                  </a:txBody>
                  <a:tcPr anchor="ctr">
                    <a:solidFill>
                      <a:srgbClr val="5A80B8"/>
                    </a:solidFill>
                  </a:tcPr>
                </a:tc>
                <a:tc>
                  <a:txBody>
                    <a:bodyPr/>
                    <a:lstStyle/>
                    <a:p>
                      <a:pPr algn="ctr"/>
                      <a:r>
                        <a:rPr sz="1300" b="1" i="0">
                          <a:solidFill>
                            <a:srgbClr val="FFFFFF"/>
                          </a:solidFill>
                          <a:latin typeface="Tahoma"/>
                        </a:rPr>
                        <a:t>Q2 2024</a:t>
                      </a:r>
                    </a:p>
                  </a:txBody>
                  <a:tcPr anchor="ctr">
                    <a:solidFill>
                      <a:srgbClr val="5A80B8"/>
                    </a:solidFill>
                  </a:tcPr>
                </a:tc>
                <a:tc>
                  <a:txBody>
                    <a:bodyPr/>
                    <a:lstStyle/>
                    <a:p>
                      <a:pPr algn="ctr"/>
                      <a:r>
                        <a:rPr sz="1300" b="1" i="0">
                          <a:solidFill>
                            <a:srgbClr val="FFFFFF"/>
                          </a:solidFill>
                          <a:latin typeface="Tahoma"/>
                        </a:rPr>
                        <a:t>Q3 2024</a:t>
                      </a: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r>
              <a:tr h="457200">
                <a:tc>
                  <a:txBody>
                    <a:bodyPr/>
                    <a:lstStyle/>
                    <a:p>
                      <a:pPr algn="l"/>
                      <a:r>
                        <a:rPr sz="1300" b="0" i="0">
                          <a:solidFill>
                            <a:srgbClr val="000000"/>
                          </a:solidFill>
                          <a:latin typeface="Tahoma"/>
                        </a:rPr>
                        <a:t>Saving money on my utility bill</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34</a:t>
                      </a:r>
                    </a:p>
                  </a:txBody>
                  <a:tcPr anchor="ctr">
                    <a:solidFill>
                      <a:srgbClr val="E0E5F0"/>
                    </a:solidFill>
                  </a:tcPr>
                </a:tc>
                <a:tc>
                  <a:txBody>
                    <a:bodyPr/>
                    <a:lstStyle/>
                    <a:p>
                      <a:pPr algn="ctr"/>
                      <a:r>
                        <a:rPr sz="1300" b="0" i="0">
                          <a:solidFill>
                            <a:srgbClr val="000000"/>
                          </a:solidFill>
                          <a:latin typeface="Tahoma"/>
                        </a:rPr>
                        <a:t>19</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r>
              <a:tr h="457200">
                <a:tc>
                  <a:txBody>
                    <a:bodyPr/>
                    <a:lstStyle/>
                    <a:p>
                      <a:pPr algn="l"/>
                      <a:r>
                        <a:rPr sz="1300" b="0" i="0">
                          <a:solidFill>
                            <a:srgbClr val="000000"/>
                          </a:solidFill>
                          <a:latin typeface="Tahoma"/>
                        </a:rPr>
                        <a:t>Saving energy and/or water</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r>
              <a:tr h="457200">
                <a:tc>
                  <a:txBody>
                    <a:bodyPr/>
                    <a:lstStyle/>
                    <a:p>
                      <a:pPr algn="l"/>
                      <a:r>
                        <a:rPr sz="1300" b="0" i="0">
                          <a:solidFill>
                            <a:srgbClr val="000000"/>
                          </a:solidFill>
                          <a:latin typeface="Tahoma"/>
                        </a:rPr>
                        <a:t>Knowing I am doing my part for the planet</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r>
              <a:tr h="457200">
                <a:tc>
                  <a:txBody>
                    <a:bodyPr/>
                    <a:lstStyle/>
                    <a:p>
                      <a:pPr algn="l"/>
                      <a:r>
                        <a:rPr sz="1300" b="0" i="0">
                          <a:solidFill>
                            <a:srgbClr val="000000"/>
                          </a:solidFill>
                          <a:latin typeface="Tahoma"/>
                        </a:rPr>
                        <a:t>Using less energy and/or water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r>
              <a:tr h="457200">
                <a:tc>
                  <a:txBody>
                    <a:bodyPr/>
                    <a:lstStyle/>
                    <a:p>
                      <a:pPr algn="l"/>
                      <a:r>
                        <a:rPr sz="1300" b="0" i="0">
                          <a:solidFill>
                            <a:srgbClr val="000000"/>
                          </a:solidFill>
                          <a:latin typeface="Tahoma"/>
                        </a:rPr>
                        <a:t>Participating in/using renewable energy</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r>
              <a:tr h="457200">
                <a:tc>
                  <a:txBody>
                    <a:bodyPr/>
                    <a:lstStyle/>
                    <a:p>
                      <a:pPr algn="l"/>
                      <a:r>
                        <a:rPr sz="1300" b="0" i="0">
                          <a:solidFill>
                            <a:srgbClr val="000000"/>
                          </a:solidFill>
                          <a:latin typeface="Tahoma"/>
                        </a:rPr>
                        <a:t>Feeling more comfortable in my home</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r>
              <a:tr h="457200">
                <a:tc>
                  <a:txBody>
                    <a:bodyPr/>
                    <a:lstStyle/>
                    <a:p>
                      <a:pPr algn="l"/>
                      <a:r>
                        <a:rPr sz="1300" b="0" i="0">
                          <a:solidFill>
                            <a:srgbClr val="000000"/>
                          </a:solidFill>
                          <a:latin typeface="Tahoma"/>
                        </a:rPr>
                        <a:t>Setting my thermostat at a higher temperature</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r>
              <a:tr h="4572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4572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12</a:t>
                      </a:r>
                    </a:p>
                  </a:txBody>
                  <a:tcPr anchor="ctr">
                    <a:solidFill>
                      <a:srgbClr val="5A80B8"/>
                    </a:solidFill>
                  </a:tcPr>
                </a:tc>
                <a:tc>
                  <a:txBody>
                    <a:bodyPr/>
                    <a:lstStyle/>
                    <a:p>
                      <a:pPr algn="ctr"/>
                      <a:r>
                        <a:rPr sz="1300" b="1" i="0">
                          <a:solidFill>
                            <a:srgbClr val="FFFFFF"/>
                          </a:solidFill>
                          <a:latin typeface="Tahoma"/>
                        </a:rPr>
                        <a:t>44</a:t>
                      </a:r>
                    </a:p>
                  </a:txBody>
                  <a:tcPr anchor="ctr">
                    <a:solidFill>
                      <a:srgbClr val="5A80B8"/>
                    </a:solidFill>
                  </a:tcPr>
                </a:tc>
                <a:tc>
                  <a:txBody>
                    <a:bodyPr/>
                    <a:lstStyle/>
                    <a:p>
                      <a:pPr algn="ctr"/>
                      <a:r>
                        <a:rPr sz="1300" b="1" i="0">
                          <a:solidFill>
                            <a:srgbClr val="FFFFFF"/>
                          </a:solidFill>
                          <a:latin typeface="Tahoma"/>
                        </a:rPr>
                        <a:t>19</a:t>
                      </a:r>
                    </a:p>
                  </a:txBody>
                  <a:tcPr anchor="ctr">
                    <a:solidFill>
                      <a:srgbClr val="5A80B8"/>
                    </a:solidFill>
                  </a:tcPr>
                </a:tc>
                <a:tc>
                  <a:txBody>
                    <a:bodyPr/>
                    <a:lstStyle/>
                    <a:p>
                      <a:pPr algn="ctr"/>
                      <a:r>
                        <a:rPr sz="1300" b="1" i="0">
                          <a:solidFill>
                            <a:srgbClr val="FFFFFF"/>
                          </a:solidFill>
                          <a:latin typeface="Tahoma"/>
                        </a:rPr>
                        <a:t>32</a:t>
                      </a:r>
                    </a:p>
                  </a:txBody>
                  <a:tcPr anchor="ctr">
                    <a:solidFill>
                      <a:srgbClr val="5A80B8"/>
                    </a:solidFill>
                  </a:tcPr>
                </a:tc>
              </a:tr>
            </a:tbl>
          </a:graphicData>
        </a:graphic>
      </p:graphicFrame>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915063031"/>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p>
                  </a:txBody>
                  <a:tcPr anchor="ctr">
                    <a:solidFill>
                      <a:srgbClr val="5A80B8"/>
                    </a:solidFill>
                  </a:tcPr>
                </a:tc>
                <a:tc>
                  <a:txBody>
                    <a:bodyPr/>
                    <a:lstStyle/>
                    <a:p>
                      <a:pPr algn="ctr"/>
                      <a:r>
                        <a:rPr sz="1300" b="1" i="0">
                          <a:solidFill>
                            <a:srgbClr val="FFFFFF"/>
                          </a:solidFill>
                          <a:latin typeface="Tahoma"/>
                        </a:rPr>
                        <a:t>Q1 2024</a:t>
                      </a:r>
                    </a:p>
                  </a:txBody>
                  <a:tcPr anchor="ctr">
                    <a:solidFill>
                      <a:srgbClr val="5A80B8"/>
                    </a:solidFill>
                  </a:tcPr>
                </a:tc>
                <a:tc>
                  <a:txBody>
                    <a:bodyPr/>
                    <a:lstStyle/>
                    <a:p>
                      <a:pPr algn="ctr"/>
                      <a:r>
                        <a:rPr sz="1300" b="1" i="0">
                          <a:solidFill>
                            <a:srgbClr val="FFFFFF"/>
                          </a:solidFill>
                          <a:latin typeface="Tahoma"/>
                        </a:rPr>
                        <a:t>Q2 2024</a:t>
                      </a:r>
                    </a:p>
                  </a:txBody>
                  <a:tcPr anchor="ctr">
                    <a:solidFill>
                      <a:srgbClr val="5A80B8"/>
                    </a:solidFill>
                  </a:tcPr>
                </a:tc>
                <a:tc>
                  <a:txBody>
                    <a:bodyPr/>
                    <a:lstStyle/>
                    <a:p>
                      <a:pPr algn="ctr"/>
                      <a:r>
                        <a:rPr sz="1300" b="1" i="0">
                          <a:solidFill>
                            <a:srgbClr val="FFFFFF"/>
                          </a:solidFill>
                          <a:latin typeface="Tahoma"/>
                        </a:rPr>
                        <a:t>Q3 2024</a:t>
                      </a: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r>
              <a:tr h="254000">
                <a:tc>
                  <a:txBody>
                    <a:bodyPr/>
                    <a:lstStyle/>
                    <a:p>
                      <a:pPr algn="l"/>
                      <a:r>
                        <a:rPr sz="1300" b="0" i="0">
                          <a:solidFill>
                            <a:srgbClr val="000000"/>
                          </a:solidFill>
                          <a:latin typeface="Tahoma"/>
                        </a:rPr>
                        <a:t>Replace windows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54000">
                <a:tc>
                  <a:txBody>
                    <a:bodyPr/>
                    <a:lstStyle/>
                    <a:p>
                      <a:pPr algn="l"/>
                      <a:r>
                        <a:rPr sz="1300" b="0" i="0">
                          <a:solidFill>
                            <a:srgbClr val="000000"/>
                          </a:solidFill>
                          <a:latin typeface="Tahoma"/>
                        </a:rPr>
                        <a:t>Show ways to lower energy costs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54000">
                <a:tc>
                  <a:txBody>
                    <a:bodyPr/>
                    <a:lstStyle/>
                    <a:p>
                      <a:pPr algn="l"/>
                      <a:r>
                        <a:rPr sz="1300" b="0" i="0">
                          <a:solidFill>
                            <a:srgbClr val="000000"/>
                          </a:solidFill>
                          <a:latin typeface="Tahoma"/>
                        </a:rPr>
                        <a:t>Solar screens, panels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54000">
                <a:tc>
                  <a:txBody>
                    <a:bodyPr/>
                    <a:lstStyle/>
                    <a:p>
                      <a:pPr algn="l"/>
                      <a:r>
                        <a:rPr sz="1300" b="0" i="0">
                          <a:solidFill>
                            <a:srgbClr val="000000"/>
                          </a:solidFill>
                          <a:latin typeface="Tahoma"/>
                        </a:rPr>
                        <a:t>Lower rates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54000">
                <a:tc>
                  <a:txBody>
                    <a:bodyPr/>
                    <a:lstStyle/>
                    <a:p>
                      <a:pPr algn="l"/>
                      <a:r>
                        <a:rPr sz="1300" b="0" i="0">
                          <a:solidFill>
                            <a:srgbClr val="000000"/>
                          </a:solidFill>
                          <a:latin typeface="Tahoma"/>
                        </a:rPr>
                        <a:t>Provide insulation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54000">
                <a:tc>
                  <a:txBody>
                    <a:bodyPr/>
                    <a:lstStyle/>
                    <a:p>
                      <a:pPr algn="l"/>
                      <a:r>
                        <a:rPr sz="1300" b="0" i="0">
                          <a:solidFill>
                            <a:srgbClr val="000000"/>
                          </a:solidFill>
                          <a:latin typeface="Tahoma"/>
                        </a:rPr>
                        <a:t>Replace, repair roof</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54000">
                <a:tc>
                  <a:txBody>
                    <a:bodyPr/>
                    <a:lstStyle/>
                    <a:p>
                      <a:pPr algn="l"/>
                      <a:r>
                        <a:rPr sz="1300" b="0" i="0">
                          <a:solidFill>
                            <a:srgbClr val="000000"/>
                          </a:solidFill>
                          <a:latin typeface="Tahoma"/>
                        </a:rPr>
                        <a:t>Bigger rebates, more rebates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54000">
                <a:tc>
                  <a:txBody>
                    <a:bodyPr/>
                    <a:lstStyle/>
                    <a:p>
                      <a:pPr algn="l"/>
                      <a:r>
                        <a:rPr sz="1300" b="0" i="0">
                          <a:solidFill>
                            <a:srgbClr val="000000"/>
                          </a:solidFill>
                          <a:latin typeface="Tahoma"/>
                        </a:rPr>
                        <a:t>Solar screens/panels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54000">
                <a:tc>
                  <a:txBody>
                    <a:bodyPr/>
                    <a:lstStyle/>
                    <a:p>
                      <a:pPr algn="l"/>
                      <a:r>
                        <a:rPr sz="1300" b="0" i="0">
                          <a:solidFill>
                            <a:srgbClr val="000000"/>
                          </a:solidFill>
                          <a:latin typeface="Tahoma"/>
                        </a:rPr>
                        <a:t>Replace appliances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54000">
                <a:tc>
                  <a:txBody>
                    <a:bodyPr/>
                    <a:lstStyle/>
                    <a:p>
                      <a:pPr algn="l"/>
                      <a:r>
                        <a:rPr sz="1300" b="0" i="0">
                          <a:solidFill>
                            <a:srgbClr val="000000"/>
                          </a:solidFill>
                          <a:latin typeface="Tahoma"/>
                        </a:rPr>
                        <a:t>Better quality materials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54000">
                <a:tc>
                  <a:txBody>
                    <a:bodyPr/>
                    <a:lstStyle/>
                    <a:p>
                      <a:pPr algn="l"/>
                      <a:r>
                        <a:rPr sz="1300" b="0" i="0">
                          <a:solidFill>
                            <a:srgbClr val="000000"/>
                          </a:solidFill>
                          <a:latin typeface="Tahoma"/>
                        </a:rPr>
                        <a:t>Replace, repair doors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54000">
                <a:tc>
                  <a:txBody>
                    <a:bodyPr/>
                    <a:lstStyle/>
                    <a:p>
                      <a:pPr algn="l"/>
                      <a:r>
                        <a:rPr sz="1300" b="0" i="0">
                          <a:solidFill>
                            <a:srgbClr val="000000"/>
                          </a:solidFill>
                          <a:latin typeface="Tahoma"/>
                        </a:rPr>
                        <a:t>Help provide more material (thermostat, etc.)</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54000">
                <a:tc>
                  <a:txBody>
                    <a:bodyPr/>
                    <a:lstStyle/>
                    <a:p>
                      <a:pPr algn="l"/>
                      <a:r>
                        <a:rPr sz="1300" b="0" i="0">
                          <a:solidFill>
                            <a:srgbClr val="000000"/>
                          </a:solidFill>
                          <a:latin typeface="Tahoma"/>
                        </a:rPr>
                        <a:t>Repair non-energy efficiency related issues</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54000">
                <a:tc>
                  <a:txBody>
                    <a:bodyPr/>
                    <a:lstStyle/>
                    <a:p>
                      <a:pPr algn="l"/>
                      <a:r>
                        <a:rPr sz="1300" b="0" i="0">
                          <a:solidFill>
                            <a:srgbClr val="000000"/>
                          </a:solidFill>
                          <a:latin typeface="Tahoma"/>
                        </a:rPr>
                        <a:t>Nothing/no suggestions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254000">
                <a:tc>
                  <a:txBody>
                    <a:bodyPr/>
                    <a:lstStyle/>
                    <a:p>
                      <a:pPr algn="l"/>
                      <a:r>
                        <a:rPr sz="1300" b="0" i="0">
                          <a:solidFill>
                            <a:srgbClr val="000000"/>
                          </a:solidFill>
                          <a:latin typeface="Tahoma"/>
                        </a:rPr>
                        <a:t>Do not know, unsure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r>
              <a:tr h="2540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540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12</a:t>
                      </a:r>
                    </a:p>
                  </a:txBody>
                  <a:tcPr anchor="ctr">
                    <a:solidFill>
                      <a:srgbClr val="5A80B8"/>
                    </a:solidFill>
                  </a:tcPr>
                </a:tc>
                <a:tc>
                  <a:txBody>
                    <a:bodyPr/>
                    <a:lstStyle/>
                    <a:p>
                      <a:pPr algn="ctr"/>
                      <a:r>
                        <a:rPr sz="1300" b="1" i="0">
                          <a:solidFill>
                            <a:srgbClr val="FFFFFF"/>
                          </a:solidFill>
                          <a:latin typeface="Tahoma"/>
                        </a:rPr>
                        <a:t>44</a:t>
                      </a:r>
                    </a:p>
                  </a:txBody>
                  <a:tcPr anchor="ctr">
                    <a:solidFill>
                      <a:srgbClr val="5A80B8"/>
                    </a:solidFill>
                  </a:tcPr>
                </a:tc>
                <a:tc>
                  <a:txBody>
                    <a:bodyPr/>
                    <a:lstStyle/>
                    <a:p>
                      <a:pPr algn="ctr"/>
                      <a:r>
                        <a:rPr sz="1300" b="1" i="0">
                          <a:solidFill>
                            <a:srgbClr val="FFFFFF"/>
                          </a:solidFill>
                          <a:latin typeface="Tahoma"/>
                        </a:rPr>
                        <a:t>19</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211557513"/>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653142">
                <a:tc>
                  <a:txBody>
                    <a:bodyPr/>
                    <a:lstStyle/>
                    <a:p>
                      <a:pPr algn="ctr"/>
                    </a:p>
                  </a:txBody>
                  <a:tcPr anchor="ctr">
                    <a:solidFill>
                      <a:srgbClr val="5A80B8"/>
                    </a:solidFill>
                  </a:tcPr>
                </a:tc>
                <a:tc>
                  <a:txBody>
                    <a:bodyPr/>
                    <a:lstStyle/>
                    <a:p>
                      <a:pPr algn="ctr"/>
                      <a:r>
                        <a:rPr sz="1300" b="1" i="0">
                          <a:solidFill>
                            <a:srgbClr val="FFFFFF"/>
                          </a:solidFill>
                          <a:latin typeface="Tahoma"/>
                        </a:rPr>
                        <a:t>Q1 2024</a:t>
                      </a:r>
                    </a:p>
                  </a:txBody>
                  <a:tcPr anchor="ctr">
                    <a:solidFill>
                      <a:srgbClr val="5A80B8"/>
                    </a:solidFill>
                  </a:tcPr>
                </a:tc>
                <a:tc>
                  <a:txBody>
                    <a:bodyPr/>
                    <a:lstStyle/>
                    <a:p>
                      <a:pPr algn="ctr"/>
                      <a:r>
                        <a:rPr sz="1300" b="1" i="0">
                          <a:solidFill>
                            <a:srgbClr val="FFFFFF"/>
                          </a:solidFill>
                          <a:latin typeface="Tahoma"/>
                        </a:rPr>
                        <a:t>Q2 2024</a:t>
                      </a:r>
                    </a:p>
                  </a:txBody>
                  <a:tcPr anchor="ctr">
                    <a:solidFill>
                      <a:srgbClr val="5A80B8"/>
                    </a:solidFill>
                  </a:tcPr>
                </a:tc>
                <a:tc>
                  <a:txBody>
                    <a:bodyPr/>
                    <a:lstStyle/>
                    <a:p>
                      <a:pPr algn="ctr"/>
                      <a:r>
                        <a:rPr sz="1300" b="1" i="0">
                          <a:solidFill>
                            <a:srgbClr val="FFFFFF"/>
                          </a:solidFill>
                          <a:latin typeface="Tahoma"/>
                        </a:rPr>
                        <a:t>Q3 2024</a:t>
                      </a: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r>
              <a:tr h="653142">
                <a:tc>
                  <a:txBody>
                    <a:bodyPr/>
                    <a:lstStyle/>
                    <a:p>
                      <a:pPr algn="l"/>
                      <a:r>
                        <a:rPr sz="1300" b="0" i="0">
                          <a:solidFill>
                            <a:srgbClr val="000000"/>
                          </a:solidFill>
                          <a:latin typeface="Tahoma"/>
                        </a:rPr>
                        <a:t>Increase energy savings, lower bill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2">
                <a:tc>
                  <a:txBody>
                    <a:bodyPr/>
                    <a:lstStyle/>
                    <a:p>
                      <a:pPr algn="l"/>
                      <a:r>
                        <a:rPr sz="1300" b="0" i="0">
                          <a:solidFill>
                            <a:srgbClr val="000000"/>
                          </a:solidFill>
                          <a:latin typeface="Tahoma"/>
                        </a:rPr>
                        <a:t>More communication, more information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653142">
                <a:tc>
                  <a:txBody>
                    <a:bodyPr/>
                    <a:lstStyle/>
                    <a:p>
                      <a:pPr algn="l"/>
                      <a:r>
                        <a:rPr sz="1300" b="0" i="0">
                          <a:solidFill>
                            <a:srgbClr val="000000"/>
                          </a:solidFill>
                          <a:latin typeface="Tahoma"/>
                        </a:rPr>
                        <a:t>Nothing, satisfied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653142">
                <a:tc>
                  <a:txBody>
                    <a:bodyPr/>
                    <a:lstStyle/>
                    <a:p>
                      <a:pPr algn="l"/>
                      <a:r>
                        <a:rPr sz="1300" b="0" i="0">
                          <a:solidFill>
                            <a:srgbClr val="000000"/>
                          </a:solidFill>
                          <a:latin typeface="Tahoma"/>
                        </a:rPr>
                        <a:t>Do not know, not familiar with program</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17</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18</a:t>
                      </a:r>
                    </a:p>
                  </a:txBody>
                  <a:tcPr anchor="ctr">
                    <a:solidFill>
                      <a:srgbClr val="E0E5F0"/>
                    </a:solidFill>
                  </a:tcPr>
                </a:tc>
              </a:tr>
              <a:tr h="653142">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653148">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6</a:t>
                      </a:r>
                    </a:p>
                  </a:txBody>
                  <a:tcPr anchor="ctr">
                    <a:solidFill>
                      <a:srgbClr val="5A80B8"/>
                    </a:solidFill>
                  </a:tcPr>
                </a:tc>
                <a:tc>
                  <a:txBody>
                    <a:bodyPr/>
                    <a:lstStyle/>
                    <a:p>
                      <a:pPr algn="ctr"/>
                      <a:r>
                        <a:rPr sz="1300" b="1" i="0">
                          <a:solidFill>
                            <a:srgbClr val="FFFFFF"/>
                          </a:solidFill>
                          <a:latin typeface="Tahoma"/>
                        </a:rPr>
                        <a:t>20</a:t>
                      </a:r>
                    </a:p>
                  </a:txBody>
                  <a:tcPr anchor="ctr">
                    <a:solidFill>
                      <a:srgbClr val="5A80B8"/>
                    </a:solidFill>
                  </a:tcPr>
                </a:tc>
                <a:tc>
                  <a:txBody>
                    <a:bodyPr/>
                    <a:lstStyle/>
                    <a:p>
                      <a:pPr algn="ctr"/>
                      <a:r>
                        <a:rPr sz="1300" b="1" i="0">
                          <a:solidFill>
                            <a:srgbClr val="FFFFFF"/>
                          </a:solidFill>
                          <a:latin typeface="Tahoma"/>
                        </a:rPr>
                        <a:t>9</a:t>
                      </a:r>
                    </a:p>
                  </a:txBody>
                  <a:tcPr anchor="ctr">
                    <a:solidFill>
                      <a:srgbClr val="5A80B8"/>
                    </a:solidFill>
                  </a:tcPr>
                </a:tc>
                <a:tc>
                  <a:txBody>
                    <a:bodyPr/>
                    <a:lstStyle/>
                    <a:p>
                      <a:pPr algn="ctr"/>
                      <a:r>
                        <a:rPr sz="1300" b="1" i="0">
                          <a:solidFill>
                            <a:srgbClr val="FFFFFF"/>
                          </a:solidFill>
                          <a:latin typeface="Tahoma"/>
                        </a:rPr>
                        <a:t>5</a:t>
                      </a:r>
                    </a:p>
                  </a:txBody>
                  <a:tcPr anchor="ctr">
                    <a:solidFill>
                      <a:srgbClr val="5A80B8"/>
                    </a:solidFill>
                  </a:tcPr>
                </a:tc>
              </a:tr>
            </a:tbl>
          </a:graphicData>
        </a:graphic>
      </p:graphicFrame>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615007050"/>
              </p:ext>
            </p:extLst>
          </p:nvPr>
        </p:nvGraphicFramePr>
        <p:xfrm>
          <a:off x="14356" y="1371600"/>
          <a:ext cx="6843643" cy="6629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2166342819"/>
              </p:ext>
            </p:extLst>
          </p:nvPr>
        </p:nvGraphicFramePr>
        <p:xfrm>
          <a:off x="133" y="990600"/>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3494886093"/>
              </p:ext>
            </p:extLst>
          </p:nvPr>
        </p:nvGraphicFramePr>
        <p:xfrm>
          <a:off x="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15636">
                <a:tc>
                  <a:txBody>
                    <a:bodyPr/>
                    <a:lstStyle/>
                    <a:p>
                      <a:pPr algn="ctr"/>
                    </a:p>
                  </a:txBody>
                  <a:tcPr anchor="ctr">
                    <a:solidFill>
                      <a:srgbClr val="5A80B8"/>
                    </a:solidFill>
                  </a:tcPr>
                </a:tc>
                <a:tc>
                  <a:txBody>
                    <a:bodyPr/>
                    <a:lstStyle/>
                    <a:p>
                      <a:pPr algn="ctr"/>
                      <a:r>
                        <a:rPr sz="1400" b="1" i="0">
                          <a:solidFill>
                            <a:srgbClr val="FFFFFF"/>
                          </a:solidFill>
                          <a:latin typeface="Tahoma"/>
                        </a:rPr>
                        <a:t>Q1 2024</a:t>
                      </a:r>
                    </a:p>
                  </a:txBody>
                  <a:tcPr anchor="ctr">
                    <a:solidFill>
                      <a:srgbClr val="5A80B8"/>
                    </a:solidFill>
                  </a:tcPr>
                </a:tc>
                <a:tc>
                  <a:txBody>
                    <a:bodyPr/>
                    <a:lstStyle/>
                    <a:p>
                      <a:pPr algn="ctr"/>
                      <a:r>
                        <a:rPr sz="1400" b="1" i="0">
                          <a:solidFill>
                            <a:srgbClr val="FFFFFF"/>
                          </a:solidFill>
                          <a:latin typeface="Tahoma"/>
                        </a:rPr>
                        <a:t>Q2 2024</a:t>
                      </a:r>
                    </a:p>
                  </a:txBody>
                  <a:tcPr anchor="ctr">
                    <a:solidFill>
                      <a:srgbClr val="5A80B8"/>
                    </a:solidFill>
                  </a:tcPr>
                </a:tc>
                <a:tc>
                  <a:txBody>
                    <a:bodyPr/>
                    <a:lstStyle/>
                    <a:p>
                      <a:pPr algn="ctr"/>
                      <a:r>
                        <a:rPr sz="1400" b="1" i="0">
                          <a:solidFill>
                            <a:srgbClr val="FFFFFF"/>
                          </a:solidFill>
                          <a:latin typeface="Tahoma"/>
                        </a:rPr>
                        <a:t>Q3 2024</a:t>
                      </a: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r>
              <a:tr h="415636">
                <a:tc>
                  <a:txBody>
                    <a:bodyPr/>
                    <a:lstStyle/>
                    <a:p>
                      <a:pPr algn="l"/>
                      <a:r>
                        <a:rPr sz="1300" b="0" i="0">
                          <a:solidFill>
                            <a:srgbClr val="000000"/>
                          </a:solidFill>
                          <a:latin typeface="Tahoma"/>
                        </a:rPr>
                        <a:t>Tips on reducing energy and water costs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415636">
                <a:tc>
                  <a:txBody>
                    <a:bodyPr/>
                    <a:lstStyle/>
                    <a:p>
                      <a:pPr algn="l"/>
                      <a:r>
                        <a:rPr sz="1300" b="0" i="0">
                          <a:solidFill>
                            <a:srgbClr val="000000"/>
                          </a:solidFill>
                          <a:latin typeface="Tahoma"/>
                        </a:rPr>
                        <a:t>Any new programs or recaps of old programs</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27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r>
              <a:tr h="415636">
                <a:tc>
                  <a:txBody>
                    <a:bodyPr/>
                    <a:lstStyle/>
                    <a:p>
                      <a:pPr algn="l"/>
                      <a:r>
                        <a:rPr sz="1300" b="0" i="0">
                          <a:solidFill>
                            <a:srgbClr val="000000"/>
                          </a:solidFill>
                          <a:latin typeface="Tahoma"/>
                        </a:rPr>
                        <a:t>Power outages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415636">
                <a:tc>
                  <a:txBody>
                    <a:bodyPr/>
                    <a:lstStyle/>
                    <a:p>
                      <a:pPr algn="l"/>
                      <a:r>
                        <a:rPr sz="1300" b="0" i="0">
                          <a:solidFill>
                            <a:srgbClr val="000000"/>
                          </a:solidFill>
                          <a:latin typeface="Tahoma"/>
                        </a:rPr>
                        <a:t>Usage information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415636">
                <a:tc>
                  <a:txBody>
                    <a:bodyPr/>
                    <a:lstStyle/>
                    <a:p>
                      <a:pPr algn="l"/>
                      <a:r>
                        <a:rPr sz="1300" b="0" i="0">
                          <a:solidFill>
                            <a:srgbClr val="000000"/>
                          </a:solidFill>
                          <a:latin typeface="Tahoma"/>
                        </a:rPr>
                        <a:t>Rate changes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415636">
                <a:tc>
                  <a:txBody>
                    <a:bodyPr/>
                    <a:lstStyle/>
                    <a:p>
                      <a:pPr algn="l"/>
                      <a:r>
                        <a:rPr sz="1300" b="0" i="0">
                          <a:solidFill>
                            <a:srgbClr val="000000"/>
                          </a:solidFill>
                          <a:latin typeface="Tahoma"/>
                        </a:rPr>
                        <a:t>General information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415636">
                <a:tc>
                  <a:txBody>
                    <a:bodyPr/>
                    <a:lstStyle/>
                    <a:p>
                      <a:pPr algn="l"/>
                      <a:r>
                        <a:rPr sz="1300" b="0" i="0">
                          <a:solidFill>
                            <a:srgbClr val="000000"/>
                          </a:solidFill>
                          <a:latin typeface="Tahoma"/>
                        </a:rPr>
                        <a:t>No complaints, nothing</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415636">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415636">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41564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12</a:t>
                      </a:r>
                    </a:p>
                  </a:txBody>
                  <a:tcPr anchor="ctr">
                    <a:solidFill>
                      <a:srgbClr val="5A80B8"/>
                    </a:solidFill>
                  </a:tcPr>
                </a:tc>
                <a:tc>
                  <a:txBody>
                    <a:bodyPr/>
                    <a:lstStyle/>
                    <a:p>
                      <a:pPr algn="ctr"/>
                      <a:r>
                        <a:rPr sz="1300" b="0" i="0">
                          <a:solidFill>
                            <a:srgbClr val="FFFFFF"/>
                          </a:solidFill>
                          <a:latin typeface="Tahoma"/>
                        </a:rPr>
                        <a:t>44</a:t>
                      </a:r>
                    </a:p>
                  </a:txBody>
                  <a:tcPr anchor="ctr">
                    <a:solidFill>
                      <a:srgbClr val="5A80B8"/>
                    </a:solidFill>
                  </a:tcPr>
                </a:tc>
                <a:tc>
                  <a:txBody>
                    <a:bodyPr/>
                    <a:lstStyle/>
                    <a:p>
                      <a:pPr algn="ctr"/>
                      <a:r>
                        <a:rPr sz="1300" b="0" i="0">
                          <a:solidFill>
                            <a:srgbClr val="FFFFFF"/>
                          </a:solidFill>
                          <a:latin typeface="Tahoma"/>
                        </a:rPr>
                        <a:t>19</a:t>
                      </a:r>
                    </a:p>
                  </a:txBody>
                  <a:tcPr anchor="ctr">
                    <a:solidFill>
                      <a:srgbClr val="5A80B8"/>
                    </a:solidFill>
                  </a:tcPr>
                </a:tc>
                <a:tc>
                  <a:txBody>
                    <a:bodyPr/>
                    <a:lstStyle/>
                    <a:p>
                      <a:pPr algn="ctr"/>
                      <a:r>
                        <a:rPr sz="1300" b="0"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611207392"/>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dirty="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546248819"/>
              </p:ext>
            </p:extLst>
          </p:nvPr>
        </p:nvGraphicFramePr>
        <p:xfrm>
          <a:off x="29308" y="10336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dirty="0">
                <a:ea typeface="MS PGothic" panose="020B0600070205080204" pitchFamily="34" charset="-128"/>
              </a:rPr>
              <a:t>Possible Low Income Weatherization Program Names  </a:t>
            </a:r>
            <a:r>
              <a:rPr lang="en-US" altLang="en-US" sz="2400" dirty="0">
                <a:ea typeface="MS PGothic" panose="020B0600070205080204" pitchFamily="34" charset="-128"/>
              </a:rPr>
              <a:t>(Table 1 of 2)</a:t>
            </a:r>
            <a:endParaRPr lang="en-US" altLang="en-US" dirty="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a:solidFill>
                  <a:srgbClr val="000000"/>
                </a:solidFill>
                <a:latin typeface="Tahoma"/>
                <a:ea typeface="ＭＳ Ｐゴシック" charset="-128"/>
              </a:rPr>
              <a:t>D12</a:t>
            </a: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7" name="Table 6">
            <a:extLst>
              <a:ext uri="{FF2B5EF4-FFF2-40B4-BE49-F238E27FC236}">
                <a16:creationId xmlns:a16="http://schemas.microsoft.com/office/drawing/2014/main" id="{F3C71BD1-16DA-4B42-ADF2-996C2A908553}"/>
              </a:ext>
            </a:extLst>
          </p:cNvPr>
          <p:cNvGraphicFramePr>
            <a:graphicFrameLocks noGrp="1"/>
          </p:cNvGraphicFramePr>
          <p:nvPr>
            <p:extLst>
              <p:ext uri="{D42A27DB-BD31-4B8C-83A1-F6EECF244321}">
                <p14:modId xmlns:p14="http://schemas.microsoft.com/office/powerpoint/2010/main" val="4312100"/>
              </p:ext>
            </p:extLst>
          </p:nvPr>
        </p:nvGraphicFramePr>
        <p:xfrm>
          <a:off x="485927" y="1493952"/>
          <a:ext cx="5886145" cy="6718093"/>
        </p:xfrm>
        <a:graphic>
          <a:graphicData uri="http://schemas.openxmlformats.org/drawingml/2006/table">
            <a:tbl>
              <a:tblPr firstRow="1">
                <a:tableStyleId>{5C22544A-7EE6-4342-B048-85BDC9FD1C3A}</a:tableStyleId>
              </a:tblPr>
              <a:tblGrid>
                <a:gridCol w="2152346">
                  <a:extLst>
                    <a:ext uri="{9D8B030D-6E8A-4147-A177-3AD203B41FA5}">
                      <a16:colId xmlns:a16="http://schemas.microsoft.com/office/drawing/2014/main" val="20000"/>
                    </a:ext>
                  </a:extLst>
                </a:gridCol>
                <a:gridCol w="1136972">
                  <a:extLst>
                    <a:ext uri="{9D8B030D-6E8A-4147-A177-3AD203B41FA5}">
                      <a16:colId xmlns:a16="http://schemas.microsoft.com/office/drawing/2014/main" val="3387442301"/>
                    </a:ext>
                  </a:extLst>
                </a:gridCol>
                <a:gridCol w="865609">
                  <a:extLst>
                    <a:ext uri="{9D8B030D-6E8A-4147-A177-3AD203B41FA5}">
                      <a16:colId xmlns:a16="http://schemas.microsoft.com/office/drawing/2014/main" val="3096603461"/>
                    </a:ext>
                  </a:extLst>
                </a:gridCol>
                <a:gridCol w="865609">
                  <a:extLst>
                    <a:ext uri="{9D8B030D-6E8A-4147-A177-3AD203B41FA5}">
                      <a16:colId xmlns:a16="http://schemas.microsoft.com/office/drawing/2014/main" val="335781355"/>
                    </a:ext>
                  </a:extLst>
                </a:gridCol>
                <a:gridCol w="865609">
                  <a:extLst>
                    <a:ext uri="{9D8B030D-6E8A-4147-A177-3AD203B41FA5}">
                      <a16:colId xmlns:a16="http://schemas.microsoft.com/office/drawing/2014/main" val="2532583466"/>
                    </a:ext>
                  </a:extLst>
                </a:gridCol>
              </a:tblGrid>
              <a:tr h="342674">
                <a:tc>
                  <a:txBody>
                    <a:bodyPr/>
                    <a:lstStyle/>
                    <a:p>
                      <a:pPr algn="ctr" rtl="0" fontAlgn="ctr"/>
                      <a:r>
                        <a:rPr lang="en-US" sz="1200" b="1" i="0" u="none" strike="noStrike" dirty="0">
                          <a:solidFill>
                            <a:srgbClr val="FFFFFF"/>
                          </a:solidFill>
                          <a:effectLst/>
                          <a:latin typeface="Tahoma" panose="020B0604030504040204" pitchFamily="34" charset="0"/>
                        </a:rPr>
                        <a:t>Words to Describe Program to Other Participants</a:t>
                      </a:r>
                    </a:p>
                  </a:txBody>
                  <a:tcPr marL="9525" marR="9525" marT="9525" marB="0" anchor="ctr">
                    <a:solidFill>
                      <a:srgbClr val="4F81BD"/>
                    </a:solidFill>
                  </a:tcPr>
                </a:tc>
                <a:tc>
                  <a:txBody>
                    <a:bodyPr/>
                    <a:lstStyle/>
                    <a:p>
                      <a:pPr algn="ctr" rtl="0" fontAlgn="ctr"/>
                      <a:r>
                        <a:rPr lang="en-US" sz="1200" b="1" i="0" u="none" strike="noStrike" dirty="0">
                          <a:solidFill>
                            <a:srgbClr val="FFFFFF"/>
                          </a:solidFill>
                          <a:effectLst/>
                          <a:latin typeface="Tahoma" panose="020B0604030504040204" pitchFamily="34" charset="0"/>
                        </a:rPr>
                        <a:t>Q4 2023</a:t>
                      </a:r>
                    </a:p>
                  </a:txBody>
                  <a:tcPr marL="9525" marR="9525" marT="9525" marB="0" anchor="ctr">
                    <a:solidFill>
                      <a:srgbClr val="4F81BD"/>
                    </a:solidFill>
                  </a:tcPr>
                </a:tc>
                <a:tc>
                  <a:txBody>
                    <a:bodyPr/>
                    <a:lstStyle/>
                    <a:p>
                      <a:pPr algn="ctr" rtl="0" fontAlgn="ctr"/>
                      <a:r>
                        <a:rPr lang="en-US" sz="1200" b="1" i="0" u="none" strike="noStrike" dirty="0">
                          <a:solidFill>
                            <a:srgbClr val="FFFFFF"/>
                          </a:solidFill>
                          <a:effectLst/>
                          <a:latin typeface="Tahoma" panose="020B0604030504040204" pitchFamily="34" charset="0"/>
                        </a:rPr>
                        <a:t>Q1 2024</a:t>
                      </a:r>
                    </a:p>
                  </a:txBody>
                  <a:tcPr marL="9525" marR="9525" marT="9525" marB="0" anchor="ctr">
                    <a:solidFill>
                      <a:srgbClr val="4F81BD"/>
                    </a:solidFill>
                  </a:tcPr>
                </a:tc>
                <a:tc>
                  <a:txBody>
                    <a:bodyPr/>
                    <a:lstStyle/>
                    <a:p>
                      <a:pPr algn="ctr" rtl="0" fontAlgn="ctr"/>
                      <a:r>
                        <a:rPr lang="en-US" sz="1200" b="1" i="0" u="none" strike="noStrike" dirty="0">
                          <a:solidFill>
                            <a:srgbClr val="FFFFFF"/>
                          </a:solidFill>
                          <a:effectLst/>
                          <a:latin typeface="Tahoma" panose="020B0604030504040204" pitchFamily="34" charset="0"/>
                        </a:rPr>
                        <a:t>Q2 2024</a:t>
                      </a:r>
                    </a:p>
                  </a:txBody>
                  <a:tcPr marL="9525" marR="9525" marT="9525" marB="0" anchor="ctr">
                    <a:solidFill>
                      <a:srgbClr val="4F81BD"/>
                    </a:solidFill>
                  </a:tcPr>
                </a:tc>
                <a:tc>
                  <a:txBody>
                    <a:bodyPr/>
                    <a:lstStyle/>
                    <a:p>
                      <a:pPr algn="ctr" rtl="0" fontAlgn="ctr"/>
                      <a:r>
                        <a:rPr lang="en-US" sz="1200" b="1" i="0" u="none" strike="noStrike" dirty="0">
                          <a:solidFill>
                            <a:srgbClr val="FFFFFF"/>
                          </a:solidFill>
                          <a:effectLst/>
                          <a:latin typeface="Tahoma" panose="020B0604030504040204" pitchFamily="34" charset="0"/>
                        </a:rPr>
                        <a:t>Q3 2024</a:t>
                      </a:r>
                    </a:p>
                  </a:txBody>
                  <a:tcPr marL="9525" marR="9525" marT="9525" marB="0" anchor="ctr">
                    <a:solidFill>
                      <a:srgbClr val="4F81BD"/>
                    </a:solidFill>
                  </a:tcPr>
                </a:tc>
                <a:extLst>
                  <a:ext uri="{0D108BD9-81ED-4DB2-BD59-A6C34878D82A}">
                    <a16:rowId xmlns:a16="http://schemas.microsoft.com/office/drawing/2014/main" val="10000"/>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I can't remember how I described it to other people</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extLst>
                  <a:ext uri="{0D108BD9-81ED-4DB2-BD59-A6C34878D82A}">
                    <a16:rowId xmlns:a16="http://schemas.microsoft.com/office/drawing/2014/main" val="2387274723"/>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Very helpful</a:t>
                      </a:r>
                    </a:p>
                  </a:txBody>
                  <a:tcPr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5%</a:t>
                      </a:r>
                    </a:p>
                  </a:txBody>
                  <a:tcPr marL="9525" marR="9525" marT="9525" marB="0" anchor="ctr">
                    <a:solidFill>
                      <a:srgbClr val="DDE7F2"/>
                    </a:solidFill>
                  </a:tcPr>
                </a:tc>
                <a:extLst>
                  <a:ext uri="{0D108BD9-81ED-4DB2-BD59-A6C34878D82A}">
                    <a16:rowId xmlns:a16="http://schemas.microsoft.com/office/drawing/2014/main" val="1308531572"/>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Pretty good</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5%</a:t>
                      </a:r>
                    </a:p>
                  </a:txBody>
                  <a:tcPr marL="9525" marR="9525" marT="9525" marB="0" anchor="ctr">
                    <a:solidFill>
                      <a:srgbClr val="DDE7F2"/>
                    </a:solidFill>
                  </a:tcPr>
                </a:tc>
                <a:extLst>
                  <a:ext uri="{0D108BD9-81ED-4DB2-BD59-A6C34878D82A}">
                    <a16:rowId xmlns:a16="http://schemas.microsoft.com/office/drawing/2014/main" val="3174395123"/>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No, I think that says it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5%</a:t>
                      </a:r>
                    </a:p>
                  </a:txBody>
                  <a:tcPr marL="9525" marR="9525" marT="9525" marB="0" anchor="ctr">
                    <a:solidFill>
                      <a:srgbClr val="DDE7F2"/>
                    </a:solidFill>
                  </a:tcPr>
                </a:tc>
                <a:extLst>
                  <a:ext uri="{0D108BD9-81ED-4DB2-BD59-A6C34878D82A}">
                    <a16:rowId xmlns:a16="http://schemas.microsoft.com/office/drawing/2014/main" val="3459153912"/>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It will help the environment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5%</a:t>
                      </a:r>
                    </a:p>
                  </a:txBody>
                  <a:tcPr marL="9525" marR="9525" marT="9525" marB="0" anchor="ctr">
                    <a:solidFill>
                      <a:srgbClr val="DDE7F2"/>
                    </a:solidFill>
                  </a:tcPr>
                </a:tc>
                <a:extLst>
                  <a:ext uri="{0D108BD9-81ED-4DB2-BD59-A6C34878D82A}">
                    <a16:rowId xmlns:a16="http://schemas.microsoft.com/office/drawing/2014/main" val="333574110"/>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Worth it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4268332777"/>
                  </a:ext>
                </a:extLst>
              </a:tr>
              <a:tr h="337245">
                <a:tc>
                  <a:txBody>
                    <a:bodyPr/>
                    <a:lstStyle/>
                    <a:p>
                      <a:pPr algn="l" rtl="0" fontAlgn="ctr"/>
                      <a:r>
                        <a:rPr lang="en-US" sz="1200" b="0" i="0" u="none" strike="noStrike" dirty="0">
                          <a:solidFill>
                            <a:srgbClr val="000000"/>
                          </a:solidFill>
                          <a:effectLst/>
                          <a:latin typeface="Tahoma" panose="020B0604030504040204" pitchFamily="34" charset="0"/>
                        </a:rPr>
                        <a:t>Great program</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977933919"/>
                  </a:ext>
                </a:extLst>
              </a:tr>
              <a:tr h="342674">
                <a:tc>
                  <a:txBody>
                    <a:bodyPr/>
                    <a:lstStyle/>
                    <a:p>
                      <a:pPr algn="l" rtl="0" fontAlgn="ctr"/>
                      <a:r>
                        <a:rPr lang="en-US" sz="1200" b="0" i="0" u="none" strike="noStrike" dirty="0">
                          <a:solidFill>
                            <a:srgbClr val="000000"/>
                          </a:solidFill>
                          <a:effectLst/>
                          <a:latin typeface="Tahoma" panose="020B0604030504040204" pitchFamily="34" charset="0"/>
                        </a:rPr>
                        <a:t>A way to reduce your energy use in the summer</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631922504"/>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All around great program</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569965966"/>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Blessing</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068219562"/>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Check it out</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372764997"/>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Cool</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781579863"/>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Customer assistance weatherization</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132018358"/>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Doing a great job to help</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942575442"/>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Easy</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95744215"/>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Energy saving assist</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659477187"/>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Excellent</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44456270"/>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Home energy improvements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522531287"/>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Home improvements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0001"/>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Income qualified weatherization upgrade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0002"/>
                  </a:ext>
                </a:extLst>
              </a:tr>
              <a:tr h="247168">
                <a:tc>
                  <a:txBody>
                    <a:bodyPr/>
                    <a:lstStyle/>
                    <a:p>
                      <a:pPr algn="l" rtl="0" fontAlgn="ctr"/>
                      <a:r>
                        <a:rPr lang="en-US" sz="1200" b="0" i="0" u="none" strike="noStrike" dirty="0">
                          <a:solidFill>
                            <a:srgbClr val="000000"/>
                          </a:solidFill>
                          <a:effectLst/>
                          <a:latin typeface="Tahoma" panose="020B0604030504040204" pitchFamily="34" charset="0"/>
                        </a:rPr>
                        <a:t>Incredibly beneficial</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603236547"/>
                  </a:ext>
                </a:extLst>
              </a:tr>
              <a:tr h="233730">
                <a:tc>
                  <a:txBody>
                    <a:bodyPr/>
                    <a:lstStyle/>
                    <a:p>
                      <a:pPr algn="l" rtl="0" fontAlgn="ctr"/>
                      <a:r>
                        <a:rPr lang="en-US" sz="1200" b="0" i="0" u="none" strike="noStrike" dirty="0">
                          <a:solidFill>
                            <a:srgbClr val="000000"/>
                          </a:solidFill>
                          <a:effectLst/>
                          <a:latin typeface="Tahoma" panose="020B0604030504040204" pitchFamily="34" charset="0"/>
                        </a:rPr>
                        <a:t>Outstanding value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040325196"/>
                  </a:ext>
                </a:extLst>
              </a:tr>
            </a:tbl>
          </a:graphicData>
        </a:graphic>
      </p:graphicFrame>
    </p:spTree>
    <p:extLst>
      <p:ext uri="{BB962C8B-B14F-4D97-AF65-F5344CB8AC3E}">
        <p14:creationId xmlns:p14="http://schemas.microsoft.com/office/powerpoint/2010/main" val="21069105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dirty="0">
                <a:ea typeface="MS PGothic" panose="020B0600070205080204" pitchFamily="34" charset="-128"/>
              </a:rPr>
              <a:t>Possible Low Income Weatherization Program Names </a:t>
            </a:r>
            <a:r>
              <a:rPr lang="en-US" altLang="en-US" sz="2400" dirty="0">
                <a:ea typeface="MS PGothic" panose="020B0600070205080204" pitchFamily="34" charset="-128"/>
              </a:rPr>
              <a:t>(Table 2 of 2)</a:t>
            </a:r>
            <a:endParaRPr lang="en-US" altLang="en-US" dirty="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52</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a:solidFill>
                  <a:srgbClr val="000000"/>
                </a:solidFill>
                <a:latin typeface="Tahoma"/>
                <a:ea typeface="ＭＳ Ｐゴシック" charset="-128"/>
              </a:rPr>
              <a:t>D12</a:t>
            </a: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97276">
                <a:tc>
                  <a:txBody>
                    <a:bodyPr/>
                    <a:lstStyle/>
                    <a:p>
                      <a:pPr algn="ct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97276">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r>
              <a:tr h="97276">
                <a:tc>
                  <a:txBody>
                    <a:bodyPr/>
                    <a:lstStyle/>
                    <a:p>
                      <a:pPr algn="l"/>
                      <a:r>
                        <a:rPr sz="1200" b="0" i="0">
                          <a:solidFill>
                            <a:srgbClr val="000000"/>
                          </a:solidFill>
                          <a:latin typeface="Tahoma"/>
                        </a:rPr>
                        <a:t>I don't know.</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97276">
                <a:tc>
                  <a:txBody>
                    <a:bodyPr/>
                    <a:lstStyle/>
                    <a:p>
                      <a:pPr algn="l"/>
                      <a:r>
                        <a:rPr sz="1200" b="0" i="0">
                          <a:solidFill>
                            <a:srgbClr val="000000"/>
                          </a:solidFill>
                          <a:latin typeface="Tahoma"/>
                        </a:rPr>
                        <a:t>None I can think of.</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97276">
                <a:tc>
                  <a:txBody>
                    <a:bodyPr/>
                    <a:lstStyle/>
                    <a:p>
                      <a:pPr algn="l"/>
                      <a:r>
                        <a:rPr sz="1200" b="0" i="0">
                          <a:solidFill>
                            <a:srgbClr val="000000"/>
                          </a:solidFill>
                          <a:latin typeface="Tahoma"/>
                        </a:rPr>
                        <a:t>Equitable Weatherization.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I already got three people signed up by telling them what I had done.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Efficiency.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Enviornmentally Friendly.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Not that I can think of right now.</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Very good program that many should take advantage of if eligible.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Older home weatherization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Homeowner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I think it's wonderful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I can't think of anything.</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A pain in the butt. there was an issue with my water heater getting tagged after they did the work. whatever they did caused the gas company to shut off my gas. They were difficult to acknowledge that.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The way it was worded was Low to moderate income individuals.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 It's something everybody needs to try.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Nothing comes to mind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Extremely helpful.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 I think it's pretty clear.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Austin weatherization program to qualifying customers.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The title now is great. Austin Energy Efficiency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I can't think of any.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Exceptional.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 those pretty much cut it.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None that I can think of.</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97276">
                <a:tc>
                  <a:txBody>
                    <a:bodyPr/>
                    <a:lstStyle/>
                    <a:p>
                      <a:pPr algn="l"/>
                      <a:r>
                        <a:rPr sz="1200" b="0" i="0">
                          <a:solidFill>
                            <a:srgbClr val="000000"/>
                          </a:solidFill>
                          <a:latin typeface="Tahoma"/>
                        </a:rPr>
                        <a:t>Cost efficient home weatherization improvement.</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Relieving</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The program is good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Very useful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Weatherization assistance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Helpful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Amazing</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Home improvements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Free program</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Perfect program for somebody who can afford the upgrades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Justifiable</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Patients on the waiting list</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Surreal</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Try to get enrolled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None/nothing</a:t>
                      </a:r>
                    </a:p>
                  </a:txBody>
                  <a:tcPr anchor="ctr">
                    <a:solidFill>
                      <a:srgbClr val="E0E5F0"/>
                    </a:solidFill>
                  </a:tcPr>
                </a:tc>
                <a:tc>
                  <a:txBody>
                    <a:bodyPr/>
                    <a:lstStyle/>
                    <a:p>
                      <a:pPr algn="ctr"/>
                      <a:r>
                        <a:rPr sz="1200" b="0" i="0">
                          <a:solidFill>
                            <a:srgbClr val="000000"/>
                          </a:solidFill>
                          <a:latin typeface="Tahoma"/>
                        </a:rPr>
                        <a:t>25%</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55%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Pass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Don’t know</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276">
                <a:tc>
                  <a:txBody>
                    <a:bodyPr/>
                    <a:lstStyle/>
                    <a:p>
                      <a:pPr algn="l"/>
                      <a:r>
                        <a:rPr sz="1200" b="0" i="0">
                          <a:solidFill>
                            <a:srgbClr val="000000"/>
                          </a:solidFill>
                          <a:latin typeface="Tahoma"/>
                        </a:rPr>
                        <a:t>All other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97304">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2507339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54</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57200">
                <a:tc>
                  <a:txBody>
                    <a:bodyPr/>
                    <a:lstStyle/>
                    <a:p>
                      <a:pPr algn="ctr"/>
                      <a:r>
                        <a:rPr sz="1200" b="1" i="0">
                          <a:solidFill>
                            <a:srgbClr val="FFFFFF"/>
                          </a:solidFill>
                          <a:latin typeface="Tahoma"/>
                        </a:rPr>
                        <a:t>Gender</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457200">
                <a:tc>
                  <a:txBody>
                    <a:bodyPr/>
                    <a:lstStyle/>
                    <a:p>
                      <a:pPr algn="l"/>
                      <a:r>
                        <a:rPr sz="1200" b="0" i="0">
                          <a:solidFill>
                            <a:srgbClr val="000000"/>
                          </a:solidFill>
                          <a:latin typeface="Tahoma"/>
                        </a:rPr>
                        <a:t>Male</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32%</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r>
              <a:tr h="457200">
                <a:tc>
                  <a:txBody>
                    <a:bodyPr/>
                    <a:lstStyle/>
                    <a:p>
                      <a:pPr algn="l"/>
                      <a:r>
                        <a:rPr sz="1200" b="0" i="0">
                          <a:solidFill>
                            <a:srgbClr val="000000"/>
                          </a:solidFill>
                          <a:latin typeface="Tahoma"/>
                        </a:rPr>
                        <a:t>Female</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c>
                  <a:txBody>
                    <a:bodyPr/>
                    <a:lstStyle/>
                    <a:p>
                      <a:pPr algn="ctr"/>
                      <a:r>
                        <a:rPr sz="1200" b="0" i="0">
                          <a:solidFill>
                            <a:srgbClr val="000000"/>
                          </a:solidFill>
                          <a:latin typeface="Tahoma"/>
                        </a:rPr>
                        <a:t>50%</a:t>
                      </a:r>
                    </a:p>
                  </a:txBody>
                  <a:tcPr anchor="ctr">
                    <a:solidFill>
                      <a:srgbClr val="E0E5F0"/>
                    </a:solidFill>
                  </a:tcPr>
                </a:tc>
                <a:tc>
                  <a:txBody>
                    <a:bodyPr/>
                    <a:lstStyle/>
                    <a:p>
                      <a:pPr algn="ctr"/>
                      <a:r>
                        <a:rPr sz="1200" b="0" i="0">
                          <a:solidFill>
                            <a:srgbClr val="000000"/>
                          </a:solidFill>
                          <a:latin typeface="Tahoma"/>
                        </a:rPr>
                        <a:t>63%</a:t>
                      </a:r>
                    </a:p>
                  </a:txBody>
                  <a:tcPr anchor="ctr">
                    <a:solidFill>
                      <a:srgbClr val="E0E5F0"/>
                    </a:solidFill>
                  </a:tcPr>
                </a:tc>
                <a:tc>
                  <a:txBody>
                    <a:bodyPr/>
                    <a:lstStyle/>
                    <a:p>
                      <a:pPr algn="ctr"/>
                      <a:r>
                        <a:rPr sz="1200" b="0" i="0">
                          <a:solidFill>
                            <a:srgbClr val="000000"/>
                          </a:solidFill>
                          <a:latin typeface="Tahoma"/>
                        </a:rPr>
                        <a:t>70%</a:t>
                      </a:r>
                    </a:p>
                  </a:txBody>
                  <a:tcPr anchor="ctr">
                    <a:solidFill>
                      <a:srgbClr val="E0E5F0"/>
                    </a:solidFill>
                  </a:tcPr>
                </a:tc>
              </a:tr>
              <a:tr h="4572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4572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Age</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254000">
                <a:tc>
                  <a:txBody>
                    <a:bodyPr/>
                    <a:lstStyle/>
                    <a:p>
                      <a:pPr algn="l"/>
                      <a:r>
                        <a:rPr sz="1200" b="0" i="0">
                          <a:solidFill>
                            <a:srgbClr val="000000"/>
                          </a:solidFill>
                          <a:latin typeface="Tahoma"/>
                        </a:rPr>
                        <a:t>18 to 24</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25 to 34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35 to 44</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54000">
                <a:tc>
                  <a:txBody>
                    <a:bodyPr/>
                    <a:lstStyle/>
                    <a:p>
                      <a:pPr algn="l"/>
                      <a:r>
                        <a:rPr sz="1200" b="0" i="0">
                          <a:solidFill>
                            <a:srgbClr val="000000"/>
                          </a:solidFill>
                          <a:latin typeface="Tahoma"/>
                        </a:rPr>
                        <a:t>45 to 54</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23%</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254000">
                <a:tc>
                  <a:txBody>
                    <a:bodyPr/>
                    <a:lstStyle/>
                    <a:p>
                      <a:pPr algn="l"/>
                      <a:r>
                        <a:rPr sz="1200" b="0" i="0">
                          <a:solidFill>
                            <a:srgbClr val="000000"/>
                          </a:solidFill>
                          <a:latin typeface="Tahoma"/>
                        </a:rPr>
                        <a:t>55 to 64</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54000">
                <a:tc>
                  <a:txBody>
                    <a:bodyPr/>
                    <a:lstStyle/>
                    <a:p>
                      <a:pPr algn="l"/>
                      <a:r>
                        <a:rPr sz="1200" b="0" i="0">
                          <a:solidFill>
                            <a:srgbClr val="000000"/>
                          </a:solidFill>
                          <a:latin typeface="Tahoma"/>
                        </a:rPr>
                        <a:t>65 years or older</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27%</a:t>
                      </a:r>
                    </a:p>
                  </a:txBody>
                  <a:tcPr anchor="ctr">
                    <a:solidFill>
                      <a:srgbClr val="E0E5F0"/>
                    </a:solidFill>
                  </a:tcPr>
                </a:tc>
                <a:tc>
                  <a:txBody>
                    <a:bodyPr/>
                    <a:lstStyle/>
                    <a:p>
                      <a:pPr algn="ctr"/>
                      <a:r>
                        <a:rPr sz="1200" b="0" i="0">
                          <a:solidFill>
                            <a:srgbClr val="000000"/>
                          </a:solidFill>
                          <a:latin typeface="Tahoma"/>
                        </a:rPr>
                        <a:t>32%</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6941998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55</a:t>
            </a:fld>
            <a:endParaRPr lang="en-US" altLang="en-US" sz="1400"/>
          </a:p>
        </p:txBody>
      </p:sp>
      <p:graphicFrame>
        <p:nvGraphicFramePr>
          <p:cNvPr id="23556" name="Table 3"/>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Ethnicity</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228600">
                <a:tc>
                  <a:txBody>
                    <a:bodyPr/>
                    <a:lstStyle/>
                    <a:p>
                      <a:pPr algn="l"/>
                      <a:r>
                        <a:rPr sz="1200" b="0" i="0">
                          <a:solidFill>
                            <a:srgbClr val="000000"/>
                          </a:solidFill>
                          <a:latin typeface="Tahoma"/>
                        </a:rPr>
                        <a:t>White</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r>
              <a:tr h="228600">
                <a:tc>
                  <a:txBody>
                    <a:bodyPr/>
                    <a:lstStyle/>
                    <a:p>
                      <a:pPr algn="l"/>
                      <a:r>
                        <a:rPr sz="1200" b="0" i="0">
                          <a:solidFill>
                            <a:srgbClr val="000000"/>
                          </a:solidFill>
                          <a:latin typeface="Tahoma"/>
                        </a:rPr>
                        <a:t>Two or more races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r>
              <a:tr h="228600">
                <a:tc>
                  <a:txBody>
                    <a:bodyPr/>
                    <a:lstStyle/>
                    <a:p>
                      <a:pPr algn="l"/>
                      <a:r>
                        <a:rPr sz="1200" b="0" i="0">
                          <a:solidFill>
                            <a:srgbClr val="000000"/>
                          </a:solidFill>
                          <a:latin typeface="Tahoma"/>
                        </a:rPr>
                        <a:t>African American</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r>
              <a:tr h="228600">
                <a:tc>
                  <a:txBody>
                    <a:bodyPr/>
                    <a:lstStyle/>
                    <a:p>
                      <a:pPr algn="l"/>
                      <a:r>
                        <a:rPr sz="1200" b="0" i="0">
                          <a:solidFill>
                            <a:srgbClr val="000000"/>
                          </a:solidFill>
                          <a:latin typeface="Tahoma"/>
                        </a:rPr>
                        <a:t>Hispanic</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r>
              <a:tr h="228600">
                <a:tc>
                  <a:txBody>
                    <a:bodyPr/>
                    <a:lstStyle/>
                    <a:p>
                      <a:pPr algn="l"/>
                      <a:r>
                        <a:rPr sz="1200" b="0" i="0">
                          <a:solidFill>
                            <a:srgbClr val="000000"/>
                          </a:solidFill>
                          <a:latin typeface="Tahoma"/>
                        </a:rPr>
                        <a:t>Asian or Pacific Islander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228600">
                <a:tc>
                  <a:txBody>
                    <a:bodyPr/>
                    <a:lstStyle/>
                    <a:p>
                      <a:pPr algn="l"/>
                      <a:r>
                        <a:rPr sz="1200" b="0" i="0">
                          <a:solidFill>
                            <a:srgbClr val="000000"/>
                          </a:solidFill>
                          <a:latin typeface="Tahoma"/>
                        </a:rPr>
                        <a:t>Aleutian, Eskimo, or American Indian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Other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Education</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254000">
                <a:tc>
                  <a:txBody>
                    <a:bodyPr/>
                    <a:lstStyle/>
                    <a:p>
                      <a:pPr algn="l"/>
                      <a:r>
                        <a:rPr sz="1200" b="0" i="0">
                          <a:solidFill>
                            <a:srgbClr val="000000"/>
                          </a:solidFill>
                          <a:latin typeface="Tahoma"/>
                        </a:rPr>
                        <a:t>Some high school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Graduated high school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254000">
                <a:tc>
                  <a:txBody>
                    <a:bodyPr/>
                    <a:lstStyle/>
                    <a:p>
                      <a:pPr algn="l"/>
                      <a:r>
                        <a:rPr sz="1200" b="0" i="0">
                          <a:solidFill>
                            <a:srgbClr val="000000"/>
                          </a:solidFill>
                          <a:latin typeface="Tahoma"/>
                        </a:rPr>
                        <a:t>Some college</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c>
                  <a:txBody>
                    <a:bodyPr/>
                    <a:lstStyle/>
                    <a:p>
                      <a:pPr algn="ctr"/>
                      <a:r>
                        <a:rPr sz="1200" b="0" i="0">
                          <a:solidFill>
                            <a:srgbClr val="000000"/>
                          </a:solidFill>
                          <a:latin typeface="Tahoma"/>
                        </a:rPr>
                        <a:t>37%</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r>
              <a:tr h="254000">
                <a:tc>
                  <a:txBody>
                    <a:bodyPr/>
                    <a:lstStyle/>
                    <a:p>
                      <a:pPr algn="l"/>
                      <a:r>
                        <a:rPr sz="1200" b="0" i="0">
                          <a:solidFill>
                            <a:srgbClr val="000000"/>
                          </a:solidFill>
                          <a:latin typeface="Tahoma"/>
                        </a:rPr>
                        <a:t>Graduated college</a:t>
                      </a:r>
                    </a:p>
                  </a:txBody>
                  <a:tcPr anchor="ctr">
                    <a:solidFill>
                      <a:srgbClr val="E0E5F0"/>
                    </a:solidFill>
                  </a:tcPr>
                </a:tc>
                <a:tc>
                  <a:txBody>
                    <a:bodyPr/>
                    <a:lstStyle/>
                    <a:p>
                      <a:pPr algn="ctr"/>
                      <a:r>
                        <a:rPr sz="1200" b="0" i="0">
                          <a:solidFill>
                            <a:srgbClr val="000000"/>
                          </a:solidFill>
                          <a:latin typeface="Tahoma"/>
                        </a:rPr>
                        <a:t>25%</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r>
              <a:tr h="254000">
                <a:tc>
                  <a:txBody>
                    <a:bodyPr/>
                    <a:lstStyle/>
                    <a:p>
                      <a:pPr algn="l"/>
                      <a:r>
                        <a:rPr sz="1200" b="0" i="0">
                          <a:solidFill>
                            <a:srgbClr val="000000"/>
                          </a:solidFill>
                          <a:latin typeface="Tahoma"/>
                        </a:rPr>
                        <a:t>Post-graduate work</a:t>
                      </a:r>
                    </a:p>
                  </a:txBody>
                  <a:tcPr anchor="ctr">
                    <a:solidFill>
                      <a:srgbClr val="E0E5F0"/>
                    </a:solidFill>
                  </a:tcPr>
                </a:tc>
                <a:tc>
                  <a:txBody>
                    <a:bodyPr/>
                    <a:lstStyle/>
                    <a:p>
                      <a:pPr algn="ctr"/>
                      <a:r>
                        <a:rPr sz="1200" b="0" i="0">
                          <a:solidFill>
                            <a:srgbClr val="000000"/>
                          </a:solidFill>
                          <a:latin typeface="Tahoma"/>
                        </a:rPr>
                        <a:t>25%</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32%</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Base:</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44</a:t>
                      </a:r>
                    </a:p>
                  </a:txBody>
                  <a:tcPr anchor="ctr">
                    <a:solidFill>
                      <a:srgbClr val="E0E5F0"/>
                    </a:solidFill>
                  </a:tcPr>
                </a:tc>
                <a:tc>
                  <a:txBody>
                    <a:bodyPr/>
                    <a:lstStyle/>
                    <a:p>
                      <a:pPr algn="ctr"/>
                      <a:r>
                        <a:rPr sz="1200" b="0" i="0">
                          <a:solidFill>
                            <a:srgbClr val="000000"/>
                          </a:solidFill>
                          <a:latin typeface="Tahoma"/>
                        </a:rPr>
                        <a:t>19</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3%</a:t>
                      </a:r>
                    </a:p>
                  </a:txBody>
                  <a:tcPr anchor="ctr">
                    <a:solidFill>
                      <a:srgbClr val="5A80B8"/>
                    </a:solidFill>
                  </a:tcPr>
                </a:tc>
              </a:tr>
            </a:tbl>
          </a:graphicData>
        </a:graphic>
      </p:graphicFrame>
      <p:graphicFrame>
        <p:nvGraphicFramePr>
          <p:cNvPr id="23557" name="Table 5"/>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57200">
                <a:tc>
                  <a:txBody>
                    <a:bodyPr/>
                    <a:lstStyle/>
                    <a:p>
                      <a:pPr algn="ctr"/>
                      <a:r>
                        <a:rPr sz="1200" b="1" i="0">
                          <a:solidFill>
                            <a:srgbClr val="FFFFFF"/>
                          </a:solidFill>
                          <a:latin typeface="Tahoma"/>
                        </a:rPr>
                        <a:t>Have Anyone Under the Age of 18 Living In Home</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457200">
                <a:tc>
                  <a:txBody>
                    <a:bodyPr/>
                    <a:lstStyle/>
                    <a:p>
                      <a:pPr algn="l"/>
                      <a:r>
                        <a:rPr sz="1200" b="0" i="0">
                          <a:solidFill>
                            <a:srgbClr val="000000"/>
                          </a:solidFill>
                          <a:latin typeface="Tahoma"/>
                        </a:rPr>
                        <a:t>Yes</a:t>
                      </a:r>
                    </a:p>
                  </a:txBody>
                  <a:tcPr anchor="ctr">
                    <a:solidFill>
                      <a:srgbClr val="E0E5F0"/>
                    </a:solidFill>
                  </a:tcPr>
                </a:tc>
                <a:tc>
                  <a:txBody>
                    <a:bodyPr/>
                    <a:lstStyle/>
                    <a:p>
                      <a:pPr algn="ctr"/>
                      <a:r>
                        <a:rPr sz="1200" b="0" i="0">
                          <a:solidFill>
                            <a:srgbClr val="000000"/>
                          </a:solidFill>
                          <a:latin typeface="Tahoma"/>
                        </a:rPr>
                        <a:t>25%</a:t>
                      </a:r>
                    </a:p>
                  </a:txBody>
                  <a:tcPr anchor="ctr">
                    <a:solidFill>
                      <a:srgbClr val="E0E5F0"/>
                    </a:solidFill>
                  </a:tcPr>
                </a:tc>
                <a:tc>
                  <a:txBody>
                    <a:bodyPr/>
                    <a:lstStyle/>
                    <a:p>
                      <a:pPr algn="ctr"/>
                      <a:r>
                        <a:rPr sz="1200" b="0" i="0">
                          <a:solidFill>
                            <a:srgbClr val="000000"/>
                          </a:solidFill>
                          <a:latin typeface="Tahoma"/>
                        </a:rPr>
                        <a:t>39%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45720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67%</a:t>
                      </a:r>
                    </a:p>
                  </a:txBody>
                  <a:tcPr anchor="ctr">
                    <a:solidFill>
                      <a:srgbClr val="E0E5F0"/>
                    </a:solidFill>
                  </a:tcPr>
                </a:tc>
                <a:tc>
                  <a:txBody>
                    <a:bodyPr/>
                    <a:lstStyle/>
                    <a:p>
                      <a:pPr algn="ctr"/>
                      <a:r>
                        <a:rPr sz="1200" b="0" i="0">
                          <a:solidFill>
                            <a:srgbClr val="000000"/>
                          </a:solidFill>
                          <a:latin typeface="Tahoma"/>
                        </a:rPr>
                        <a:t>50%</a:t>
                      </a:r>
                    </a:p>
                  </a:txBody>
                  <a:tcPr anchor="ctr">
                    <a:solidFill>
                      <a:srgbClr val="E0E5F0"/>
                    </a:solidFill>
                  </a:tcPr>
                </a:tc>
                <a:tc>
                  <a:txBody>
                    <a:bodyPr/>
                    <a:lstStyle/>
                    <a:p>
                      <a:pPr algn="ctr"/>
                      <a:r>
                        <a:rPr sz="1200" b="0" i="0">
                          <a:solidFill>
                            <a:srgbClr val="000000"/>
                          </a:solidFill>
                          <a:latin typeface="Tahoma"/>
                        </a:rPr>
                        <a:t>84%</a:t>
                      </a:r>
                    </a:p>
                  </a:txBody>
                  <a:tcPr anchor="ctr">
                    <a:solidFill>
                      <a:srgbClr val="E0E5F0"/>
                    </a:solidFill>
                  </a:tcPr>
                </a:tc>
                <a:tc>
                  <a:txBody>
                    <a:bodyPr/>
                    <a:lstStyle/>
                    <a:p>
                      <a:pPr algn="ctr"/>
                      <a:r>
                        <a:rPr sz="1200" b="0" i="0">
                          <a:solidFill>
                            <a:srgbClr val="000000"/>
                          </a:solidFill>
                          <a:latin typeface="Tahoma"/>
                        </a:rPr>
                        <a:t>91%</a:t>
                      </a:r>
                    </a:p>
                  </a:txBody>
                  <a:tcPr anchor="ctr">
                    <a:solidFill>
                      <a:srgbClr val="E0E5F0"/>
                    </a:solidFill>
                  </a:tcPr>
                </a:tc>
              </a:tr>
              <a:tr h="4572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4572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Years Lived In Residence</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228600">
                <a:tc>
                  <a:txBody>
                    <a:bodyPr/>
                    <a:lstStyle/>
                    <a:p>
                      <a:pPr algn="l"/>
                      <a:r>
                        <a:rPr sz="1200" b="0" i="0">
                          <a:solidFill>
                            <a:srgbClr val="000000"/>
                          </a:solidFill>
                          <a:latin typeface="Tahoma"/>
                        </a:rPr>
                        <a:t>Less than 1 year</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1 to 2 years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r>
              <a:tr h="228600">
                <a:tc>
                  <a:txBody>
                    <a:bodyPr/>
                    <a:lstStyle/>
                    <a:p>
                      <a:pPr algn="l"/>
                      <a:r>
                        <a:rPr sz="1200" b="0" i="0">
                          <a:solidFill>
                            <a:srgbClr val="000000"/>
                          </a:solidFill>
                          <a:latin typeface="Tahoma"/>
                        </a:rPr>
                        <a:t>3 to 5 years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r>
              <a:tr h="2286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2286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286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2286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32%</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27%</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r>
                        <a:rPr sz="1200" b="1" i="0">
                          <a:solidFill>
                            <a:srgbClr val="FFFFFF"/>
                          </a:solidFill>
                          <a:latin typeface="Tahoma"/>
                        </a:rPr>
                        <a:t>Years Lived In Austin</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285750">
                <a:tc>
                  <a:txBody>
                    <a:bodyPr/>
                    <a:lstStyle/>
                    <a:p>
                      <a:pPr algn="l"/>
                      <a:r>
                        <a:rPr sz="1200" b="0" i="0">
                          <a:solidFill>
                            <a:srgbClr val="000000"/>
                          </a:solidFill>
                          <a:latin typeface="Tahoma"/>
                        </a:rPr>
                        <a:t>1 to 5 years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8575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r>
              <a:tr h="28575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8575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28575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c>
                  <a:txBody>
                    <a:bodyPr/>
                    <a:lstStyle/>
                    <a:p>
                      <a:pPr algn="ctr"/>
                      <a:r>
                        <a:rPr sz="1200" b="0" i="0">
                          <a:solidFill>
                            <a:srgbClr val="000000"/>
                          </a:solidFill>
                          <a:latin typeface="Tahoma"/>
                        </a:rPr>
                        <a:t>73%</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r>
              <a:tr h="28575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8575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12</a:t>
                      </a:r>
                    </a:p>
                  </a:txBody>
                  <a:tcPr anchor="ctr">
                    <a:solidFill>
                      <a:srgbClr val="5A80B8"/>
                    </a:solidFill>
                  </a:tcPr>
                </a:tc>
                <a:tc>
                  <a:txBody>
                    <a:bodyPr/>
                    <a:lstStyle/>
                    <a:p>
                      <a:pPr algn="ctr"/>
                      <a:r>
                        <a:rPr sz="1200" b="1" i="0">
                          <a:solidFill>
                            <a:srgbClr val="FFFFFF"/>
                          </a:solidFill>
                          <a:latin typeface="Tahoma"/>
                        </a:rPr>
                        <a:t>44</a:t>
                      </a:r>
                    </a:p>
                  </a:txBody>
                  <a:tcPr anchor="ctr">
                    <a:solidFill>
                      <a:srgbClr val="5A80B8"/>
                    </a:solidFill>
                  </a:tcPr>
                </a:tc>
                <a:tc>
                  <a:txBody>
                    <a:bodyPr/>
                    <a:lstStyle/>
                    <a:p>
                      <a:pPr algn="ctr"/>
                      <a:r>
                        <a:rPr sz="1200" b="1" i="0">
                          <a:solidFill>
                            <a:srgbClr val="FFFFFF"/>
                          </a:solidFill>
                          <a:latin typeface="Tahoma"/>
                        </a:rPr>
                        <a:t>19</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34182975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63285">
                <a:tc>
                  <a:txBody>
                    <a:bodyPr/>
                    <a:lstStyle/>
                    <a:p>
                      <a:pPr algn="ctr"/>
                      <a:r>
                        <a:rPr sz="1200" b="1" i="0">
                          <a:solidFill>
                            <a:srgbClr val="FFFFFF"/>
                          </a:solidFill>
                          <a:latin typeface="Tahoma"/>
                        </a:rPr>
                        <a:t>Physical Health Not Good In the Past 30 Days</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163285">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70%</a:t>
                      </a:r>
                    </a:p>
                  </a:txBody>
                  <a:tcPr anchor="ctr">
                    <a:solidFill>
                      <a:srgbClr val="E0E5F0"/>
                    </a:solidFill>
                  </a:tcPr>
                </a:tc>
                <a:tc>
                  <a:txBody>
                    <a:bodyPr/>
                    <a:lstStyle/>
                    <a:p>
                      <a:pPr algn="ctr"/>
                      <a:r>
                        <a:rPr sz="1200" b="0" i="0">
                          <a:solidFill>
                            <a:srgbClr val="000000"/>
                          </a:solidFill>
                          <a:latin typeface="Tahoma"/>
                        </a:rPr>
                        <a:t>50%</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64%</a:t>
                      </a:r>
                    </a:p>
                  </a:txBody>
                  <a:tcPr anchor="ctr">
                    <a:solidFill>
                      <a:srgbClr val="E0E5F0"/>
                    </a:solidFill>
                  </a:tcPr>
                </a:tc>
              </a:tr>
              <a:tr h="163285">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63285">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63285">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63285">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63285">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63285">
                <a:tc>
                  <a:txBody>
                    <a:bodyPr/>
                    <a:lstStyle/>
                    <a:p>
                      <a:pPr algn="l"/>
                      <a:r>
                        <a:rPr sz="1200" b="0" i="0">
                          <a:solidFill>
                            <a:srgbClr val="000000"/>
                          </a:solidFill>
                          <a:latin typeface="Tahoma"/>
                        </a:rPr>
                        <a:t>20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63285">
                <a:tc>
                  <a:txBody>
                    <a:bodyPr/>
                    <a:lstStyle/>
                    <a:p>
                      <a:pPr algn="l"/>
                      <a:r>
                        <a:rPr sz="1200" b="0" i="0">
                          <a:solidFill>
                            <a:srgbClr val="000000"/>
                          </a:solidFill>
                          <a:latin typeface="Tahoma"/>
                        </a:rPr>
                        <a:t>25 times</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63285">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163295">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10</a:t>
                      </a:r>
                    </a:p>
                  </a:txBody>
                  <a:tcPr anchor="ctr">
                    <a:solidFill>
                      <a:srgbClr val="5A80B8"/>
                    </a:solidFill>
                  </a:tcPr>
                </a:tc>
                <a:tc>
                  <a:txBody>
                    <a:bodyPr/>
                    <a:lstStyle/>
                    <a:p>
                      <a:pPr algn="ctr"/>
                      <a:r>
                        <a:rPr sz="1200" b="1" i="0">
                          <a:solidFill>
                            <a:srgbClr val="FFFFFF"/>
                          </a:solidFill>
                          <a:latin typeface="Tahoma"/>
                        </a:rPr>
                        <a:t>34</a:t>
                      </a:r>
                    </a:p>
                  </a:txBody>
                  <a:tcPr anchor="ctr">
                    <a:solidFill>
                      <a:srgbClr val="5A80B8"/>
                    </a:solidFill>
                  </a:tcPr>
                </a:tc>
                <a:tc>
                  <a:txBody>
                    <a:bodyPr/>
                    <a:lstStyle/>
                    <a:p>
                      <a:pPr algn="ctr"/>
                      <a:r>
                        <a:rPr sz="1200" b="1" i="0">
                          <a:solidFill>
                            <a:srgbClr val="FFFFFF"/>
                          </a:solidFill>
                          <a:latin typeface="Tahoma"/>
                        </a:rPr>
                        <a:t>13</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33313889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2"/>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63285">
                <a:tc>
                  <a:txBody>
                    <a:bodyPr/>
                    <a:lstStyle/>
                    <a:p>
                      <a:pPr algn="ctr"/>
                      <a:r>
                        <a:rPr sz="1200" b="1" i="0">
                          <a:solidFill>
                            <a:srgbClr val="FFFFFF"/>
                          </a:solidFill>
                          <a:latin typeface="Tahoma"/>
                        </a:rPr>
                        <a:t>Mental Health Not Good In the Past 30 Days</a:t>
                      </a:r>
                    </a:p>
                  </a:txBody>
                  <a:tcPr anchor="ctr">
                    <a:solidFill>
                      <a:srgbClr val="5A80B8"/>
                    </a:solidFill>
                  </a:tcPr>
                </a:tc>
                <a:tc>
                  <a:txBody>
                    <a:bodyPr/>
                    <a:lstStyle/>
                    <a:p>
                      <a:pPr algn="ctr"/>
                      <a:r>
                        <a:rPr sz="1200" b="1" i="0">
                          <a:solidFill>
                            <a:srgbClr val="FFFFFF"/>
                          </a:solidFill>
                          <a:latin typeface="Tahoma"/>
                        </a:rPr>
                        <a:t>Q1 2024</a:t>
                      </a:r>
                    </a:p>
                  </a:txBody>
                  <a:tcPr anchor="ctr">
                    <a:solidFill>
                      <a:srgbClr val="5A80B8"/>
                    </a:solidFill>
                  </a:tcPr>
                </a:tc>
                <a:tc>
                  <a:txBody>
                    <a:bodyPr/>
                    <a:lstStyle/>
                    <a:p>
                      <a:pPr algn="ctr"/>
                      <a:r>
                        <a:rPr sz="1200" b="1" i="0">
                          <a:solidFill>
                            <a:srgbClr val="FFFFFF"/>
                          </a:solidFill>
                          <a:latin typeface="Tahoma"/>
                        </a:rPr>
                        <a:t>Q2 2024</a:t>
                      </a:r>
                    </a:p>
                  </a:txBody>
                  <a:tcPr anchor="ctr">
                    <a:solidFill>
                      <a:srgbClr val="5A80B8"/>
                    </a:solidFill>
                  </a:tcPr>
                </a:tc>
                <a:tc>
                  <a:txBody>
                    <a:bodyPr/>
                    <a:lstStyle/>
                    <a:p>
                      <a:pPr algn="ctr"/>
                      <a:r>
                        <a:rPr sz="1200" b="1" i="0">
                          <a:solidFill>
                            <a:srgbClr val="FFFFFF"/>
                          </a:solidFill>
                          <a:latin typeface="Tahoma"/>
                        </a:rPr>
                        <a:t>Q3 2024</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r>
              <a:tr h="163285">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60%</a:t>
                      </a:r>
                    </a:p>
                  </a:txBody>
                  <a:tcPr anchor="ctr">
                    <a:solidFill>
                      <a:srgbClr val="E0E5F0"/>
                    </a:solidFill>
                  </a:tcPr>
                </a:tc>
                <a:tc>
                  <a:txBody>
                    <a:bodyPr/>
                    <a:lstStyle/>
                    <a:p>
                      <a:pPr algn="ctr"/>
                      <a:r>
                        <a:rPr sz="1200" b="0" i="0">
                          <a:solidFill>
                            <a:srgbClr val="000000"/>
                          </a:solidFill>
                          <a:latin typeface="Tahoma"/>
                        </a:rPr>
                        <a:t>69%</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r>
              <a:tr h="163285">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63285">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14%</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r>
              <a:tr h="163285">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63285">
                <a:tc>
                  <a:txBody>
                    <a:bodyPr/>
                    <a:lstStyle/>
                    <a:p>
                      <a:pPr algn="l"/>
                      <a:r>
                        <a:rPr sz="1200" b="0" i="0">
                          <a:solidFill>
                            <a:srgbClr val="000000"/>
                          </a:solidFill>
                          <a:latin typeface="Tahoma"/>
                        </a:rPr>
                        <a:t>14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63285">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63285">
                <a:tc>
                  <a:txBody>
                    <a:bodyPr/>
                    <a:lstStyle/>
                    <a:p>
                      <a:pPr algn="l"/>
                      <a:r>
                        <a:rPr sz="1200" b="0" i="0">
                          <a:solidFill>
                            <a:srgbClr val="000000"/>
                          </a:solidFill>
                          <a:latin typeface="Tahoma"/>
                        </a:rPr>
                        <a:t>20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63285">
                <a:tc>
                  <a:txBody>
                    <a:bodyPr/>
                    <a:lstStyle/>
                    <a:p>
                      <a:pPr algn="l"/>
                      <a:r>
                        <a:rPr sz="1200" b="0" i="0">
                          <a:solidFill>
                            <a:srgbClr val="000000"/>
                          </a:solidFill>
                          <a:latin typeface="Tahoma"/>
                        </a:rPr>
                        <a:t>25 times</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63285">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r>
              <a:tr h="163295">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10</a:t>
                      </a:r>
                    </a:p>
                  </a:txBody>
                  <a:tcPr anchor="ctr">
                    <a:solidFill>
                      <a:srgbClr val="5A80B8"/>
                    </a:solidFill>
                  </a:tcPr>
                </a:tc>
                <a:tc>
                  <a:txBody>
                    <a:bodyPr/>
                    <a:lstStyle/>
                    <a:p>
                      <a:pPr algn="ctr"/>
                      <a:r>
                        <a:rPr sz="1200" b="1" i="0">
                          <a:solidFill>
                            <a:srgbClr val="FFFFFF"/>
                          </a:solidFill>
                          <a:latin typeface="Tahoma"/>
                        </a:rPr>
                        <a:t>32</a:t>
                      </a:r>
                    </a:p>
                  </a:txBody>
                  <a:tcPr anchor="ctr">
                    <a:solidFill>
                      <a:srgbClr val="5A80B8"/>
                    </a:solidFill>
                  </a:tcPr>
                </a:tc>
                <a:tc>
                  <a:txBody>
                    <a:bodyPr/>
                    <a:lstStyle/>
                    <a:p>
                      <a:pPr algn="ctr"/>
                      <a:r>
                        <a:rPr sz="1200" b="1" i="0">
                          <a:solidFill>
                            <a:srgbClr val="FFFFFF"/>
                          </a:solidFill>
                          <a:latin typeface="Tahoma"/>
                        </a:rPr>
                        <a:t>14</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r>
            </a:tbl>
          </a:graphicData>
        </a:graphic>
      </p:graphicFrame>
    </p:spTree>
    <p:extLst>
      <p:ext uri="{BB962C8B-B14F-4D97-AF65-F5344CB8AC3E}">
        <p14:creationId xmlns:p14="http://schemas.microsoft.com/office/powerpoint/2010/main" val="158767608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60</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3864361388"/>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dirty="0">
                <a:cs typeface="Geneva" charset="0"/>
              </a:rPr>
              <a:t>Methodology</a:t>
            </a:r>
            <a:endParaRPr lang="en-US" altLang="en-US" dirty="0"/>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61</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altLang="en-US" sz="1800" dirty="0">
                <a:cs typeface="Geneva"/>
              </a:rPr>
              <a:t>During October, and November 2024, Creative Consumer Research (CCR) conducted 19 telephone interviews with individuals living in homes that went through Austin Energy’s Low Income Weatherization Program.</a:t>
            </a:r>
          </a:p>
          <a:p>
            <a:pPr>
              <a:spcBef>
                <a:spcPts val="600"/>
              </a:spcBef>
            </a:pPr>
            <a:r>
              <a:rPr lang="en-US" altLang="en-US" sz="1800" dirty="0">
                <a:ea typeface="Geneva"/>
                <a:cs typeface="Geneva"/>
              </a:rPr>
              <a:t>This quarter 36 contacts were provided, and the average survey length was 17 minutes.</a:t>
            </a:r>
          </a:p>
          <a:p>
            <a:pPr>
              <a:spcBef>
                <a:spcPts val="600"/>
              </a:spcBef>
            </a:pPr>
            <a:r>
              <a:rPr lang="en-US" altLang="en-US" sz="1800" dirty="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dirty="0">
                <a:ea typeface="Geneva"/>
                <a:cs typeface="Geneva"/>
              </a:rPr>
              <a:t>For reference throughout the report, a ‘Top Box’ score is the percentage of ‘8’, ‘9’, and ‘10’ scores on a </a:t>
            </a:r>
            <a:br>
              <a:rPr lang="en-US" altLang="en-US" sz="1800" dirty="0">
                <a:ea typeface="Geneva"/>
                <a:cs typeface="Geneva"/>
              </a:rPr>
            </a:br>
            <a:r>
              <a:rPr lang="en-US" altLang="en-US" sz="1800" dirty="0">
                <a:ea typeface="Geneva"/>
                <a:cs typeface="Geneva"/>
              </a:rPr>
              <a:t>10-point scale.</a:t>
            </a:r>
          </a:p>
          <a:p>
            <a:pPr marL="0" indent="0">
              <a:buNone/>
            </a:pPr>
            <a:r>
              <a:rPr lang="en-US" altLang="en-US" sz="1800" dirty="0">
                <a:ea typeface="Geneva"/>
                <a:cs typeface="Geneva"/>
              </a:rPr>
              <a:t> </a:t>
            </a:r>
          </a:p>
          <a:p>
            <a:endParaRPr lang="en-US" altLang="en-US" sz="1800" dirty="0">
              <a:ea typeface="Geneva"/>
              <a:cs typeface="Geneva"/>
            </a:endParaRPr>
          </a:p>
          <a:p>
            <a:pPr marL="0" indent="0">
              <a:buNone/>
            </a:pPr>
            <a:endParaRPr lang="en-US" altLang="en-US" sz="1800" dirty="0">
              <a:ea typeface="MS PGothic" panose="020B0600070205080204" pitchFamily="34" charset="-128"/>
            </a:endParaRPr>
          </a:p>
          <a:p>
            <a:pPr marL="0" indent="0">
              <a:buNone/>
            </a:pPr>
            <a:endParaRPr lang="en-US" altLang="en-US" sz="1800" dirty="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extLst>
    <p:ext uri="{6950BFC3-D8DA-4A85-94F7-54DA5524770B}">
      <p188:commentRel xmlns:p188="http://schemas.microsoft.com/office/powerpoint/2018/8/main" r:id="rId2"/>
    </p:ext>
  </p:extLs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62</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26332</TotalTime>
  <Words>4984</Words>
  <Application>Microsoft Macintosh PowerPoint</Application>
  <PresentationFormat>On-screen Show (4:3)</PresentationFormat>
  <Paragraphs>1462</Paragraphs>
  <Slides>62</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62</vt:i4>
      </vt:variant>
    </vt:vector>
  </HeadingPairs>
  <TitlesOfParts>
    <vt:vector size="73" baseType="lpstr">
      <vt:lpstr>ＭＳ Ｐゴシック</vt:lpstr>
      <vt:lpstr>ＭＳ Ｐゴシック</vt:lpstr>
      <vt:lpstr>Arial</vt:lpstr>
      <vt:lpstr>Calibri</vt:lpstr>
      <vt:lpstr>Courier New</vt:lpstr>
      <vt:lpstr>Geneva</vt:lpstr>
      <vt:lpstr>Helvetica</vt:lpstr>
      <vt:lpstr>Tahoma</vt:lpstr>
      <vt:lpstr>Times New Roman</vt:lpstr>
      <vt:lpstr>Univers 49 Light Ultra Condense</vt:lpstr>
      <vt:lpstr>Default Design</vt:lpstr>
      <vt:lpstr>Low Income Weatherization Survey FY2024 Q3  November 2024</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  (Table 1 of 2)</vt:lpstr>
      <vt:lpstr>Possible Low Income Weatherization Program Names (Table 2 of 2)</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14</cp:revision>
  <cp:lastPrinted>2024-11-19T11:53:05Z</cp:lastPrinted>
  <dcterms:created xsi:type="dcterms:W3CDTF">2004-11-29T14:50:58Z</dcterms:created>
  <dcterms:modified xsi:type="dcterms:W3CDTF">2025-07-21T21:38:04Z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