
<file path=[Content_Types].xml><?xml version="1.0" encoding="utf-8"?>
<Types xmlns="http://schemas.openxmlformats.org/package/2006/content-types">
  <Default Extension="emf" ContentType="image/x-emf"/>
  <Default Extension="gif" ContentType="image/gi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10.xml" ContentType="application/vnd.openxmlformats-officedocument.drawingml.chartshapes+xml"/>
  <Override PartName="/ppt/drawings/drawing11.xml" ContentType="application/vnd.openxmlformats-officedocument.drawingml.chartshapes+xml"/>
  <Override PartName="/ppt/drawings/drawing12.xml" ContentType="application/vnd.openxmlformats-officedocument.drawingml.chartshapes+xml"/>
  <Override PartName="/ppt/drawings/drawing13.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drawings/drawing5.xml" ContentType="application/vnd.openxmlformats-officedocument.drawingml.chartshapes+xml"/>
  <Override PartName="/ppt/drawings/drawing6.xml" ContentType="application/vnd.openxmlformats-officedocument.drawingml.chartshapes+xml"/>
  <Override PartName="/ppt/drawings/drawing7.xml" ContentType="application/vnd.openxmlformats-officedocument.drawingml.chartshapes+xml"/>
  <Override PartName="/ppt/drawings/drawing8.xml" ContentType="application/vnd.openxmlformats-officedocument.drawingml.chartshapes+xml"/>
  <Override PartName="/ppt/drawings/drawing9.xml" ContentType="application/vnd.openxmlformats-officedocument.drawingml.chartshap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4"/>
  </p:sldMasterIdLst>
  <p:notesMasterIdLst>
    <p:notesMasterId r:id="rId66"/>
  </p:notesMasterIdLst>
  <p:handoutMasterIdLst>
    <p:handoutMasterId r:id="rId67"/>
  </p:handoutMasterIdLst>
  <p:sldIdLst>
    <p:sldId id="474" r:id="rId5"/>
    <p:sldId id="689" r:id="rId6"/>
    <p:sldId id="662" r:id="rId7"/>
    <p:sldId id="661" r:id="rId8"/>
    <p:sldId id="616" r:id="rId9"/>
    <p:sldId id="700" r:id="rId10"/>
    <p:sldId id="690" r:id="rId11"/>
    <p:sldId id="619" r:id="rId12"/>
    <p:sldId id="620" r:id="rId13"/>
    <p:sldId id="691" r:id="rId14"/>
    <p:sldId id="680" r:id="rId15"/>
    <p:sldId id="686" r:id="rId16"/>
    <p:sldId id="682" r:id="rId17"/>
    <p:sldId id="683" r:id="rId18"/>
    <p:sldId id="695" r:id="rId19"/>
    <p:sldId id="622" r:id="rId20"/>
    <p:sldId id="696" r:id="rId21"/>
    <p:sldId id="624" r:id="rId22"/>
    <p:sldId id="625" r:id="rId23"/>
    <p:sldId id="626" r:id="rId24"/>
    <p:sldId id="694" r:id="rId25"/>
    <p:sldId id="628" r:id="rId26"/>
    <p:sldId id="629" r:id="rId27"/>
    <p:sldId id="702" r:id="rId28"/>
    <p:sldId id="703" r:id="rId29"/>
    <p:sldId id="665" r:id="rId30"/>
    <p:sldId id="630" r:id="rId31"/>
    <p:sldId id="631" r:id="rId32"/>
    <p:sldId id="632" r:id="rId33"/>
    <p:sldId id="704" r:id="rId34"/>
    <p:sldId id="705" r:id="rId35"/>
    <p:sldId id="668" r:id="rId36"/>
    <p:sldId id="633" r:id="rId37"/>
    <p:sldId id="634" r:id="rId38"/>
    <p:sldId id="706" r:id="rId39"/>
    <p:sldId id="669" r:id="rId40"/>
    <p:sldId id="670" r:id="rId41"/>
    <p:sldId id="636" r:id="rId42"/>
    <p:sldId id="637" r:id="rId43"/>
    <p:sldId id="638" r:id="rId44"/>
    <p:sldId id="639" r:id="rId45"/>
    <p:sldId id="640" r:id="rId46"/>
    <p:sldId id="697" r:id="rId47"/>
    <p:sldId id="643" r:id="rId48"/>
    <p:sldId id="645" r:id="rId49"/>
    <p:sldId id="647" r:id="rId50"/>
    <p:sldId id="615" r:id="rId51"/>
    <p:sldId id="608" r:id="rId52"/>
    <p:sldId id="678" r:id="rId53"/>
    <p:sldId id="677" r:id="rId54"/>
    <p:sldId id="708" r:id="rId55"/>
    <p:sldId id="648" r:id="rId56"/>
    <p:sldId id="649" r:id="rId57"/>
    <p:sldId id="672" r:id="rId58"/>
    <p:sldId id="650" r:id="rId59"/>
    <p:sldId id="656" r:id="rId60"/>
    <p:sldId id="673" r:id="rId61"/>
    <p:sldId id="687" r:id="rId62"/>
    <p:sldId id="676" r:id="rId63"/>
    <p:sldId id="596" r:id="rId64"/>
    <p:sldId id="659" r:id="rId65"/>
  </p:sldIdLst>
  <p:sldSz cx="6858000" cy="9144000" type="screen4x3"/>
  <p:notesSz cx="9296400" cy="7010400"/>
  <p:defaultTextStyle>
    <a:defPPr>
      <a:defRPr lang="en-US"/>
    </a:defPPr>
    <a:lvl1pPr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205" userDrawn="1">
          <p15:clr>
            <a:srgbClr val="A4A3A4"/>
          </p15:clr>
        </p15:guide>
        <p15:guide id="2" pos="2924" userDrawn="1">
          <p15:clr>
            <a:srgbClr val="A4A3A4"/>
          </p15:clr>
        </p15:guide>
        <p15:guide id="3" orient="horz" pos="2208" userDrawn="1">
          <p15:clr>
            <a:srgbClr val="A4A3A4"/>
          </p15:clr>
        </p15:guide>
        <p15:guide id="4" pos="292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A16604-D201-06CE-DBDB-10CEC180544C}" name="pat escalona" initials="pe" userId="9d691d3bd590836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33CC"/>
    <a:srgbClr val="3233CC"/>
    <a:srgbClr val="FFC003"/>
    <a:srgbClr val="DEE8F3"/>
    <a:srgbClr val="4F81BD"/>
    <a:srgbClr val="DDE7F2"/>
    <a:srgbClr val="00CC99"/>
    <a:srgbClr val="00CC9A"/>
    <a:srgbClr val="FFC000"/>
    <a:srgbClr val="0F6F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14230A-9BCE-1B40-9BA6-D681992CA0EA}" v="111" dt="2025-08-05T14:05:13.1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4685"/>
  </p:normalViewPr>
  <p:slideViewPr>
    <p:cSldViewPr snapToGrid="0">
      <p:cViewPr varScale="1">
        <p:scale>
          <a:sx n="146" d="100"/>
          <a:sy n="146" d="100"/>
        </p:scale>
        <p:origin x="176" y="1120"/>
      </p:cViewPr>
      <p:guideLst>
        <p:guide orient="horz" pos="2880"/>
        <p:guide pos="2160"/>
      </p:guideLst>
    </p:cSldViewPr>
  </p:slideViewPr>
  <p:notesTextViewPr>
    <p:cViewPr>
      <p:scale>
        <a:sx n="1" d="1"/>
        <a:sy n="1" d="1"/>
      </p:scale>
      <p:origin x="0" y="0"/>
    </p:cViewPr>
  </p:notesTextViewPr>
  <p:notesViewPr>
    <p:cSldViewPr snapToGrid="0">
      <p:cViewPr>
        <p:scale>
          <a:sx n="1" d="2"/>
          <a:sy n="1" d="2"/>
        </p:scale>
        <p:origin x="0" y="0"/>
      </p:cViewPr>
      <p:guideLst>
        <p:guide orient="horz" pos="2205"/>
        <p:guide pos="2924"/>
        <p:guide orient="horz" pos="2208"/>
        <p:guide pos="2929"/>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microsoft.com/office/2015/10/relationships/revisionInfo" Target="revisionInfo.xml"/><Relationship Id="rId73"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 Id="rId2"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 Id="rId2"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 Id="rId2" Type="http://schemas.openxmlformats.org/officeDocument/2006/relationships/chartUserShapes" Target="../drawings/drawing3.xml"/></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 Id="rId2" Type="http://schemas.openxmlformats.org/officeDocument/2006/relationships/chartUserShapes" Target="../drawings/drawing4.xml"/></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 Id="rId2" Type="http://schemas.openxmlformats.org/officeDocument/2006/relationships/chartUserShapes" Target="../drawings/drawing5.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 Id="rId2" Type="http://schemas.openxmlformats.org/officeDocument/2006/relationships/chartUserShapes" Target="../drawings/drawing6.xml"/></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 Id="rId2" Type="http://schemas.openxmlformats.org/officeDocument/2006/relationships/chartUserShapes" Target="../drawings/drawing7.xml"/></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 Id="rId2" Type="http://schemas.openxmlformats.org/officeDocument/2006/relationships/chartUserShapes" Target="../drawings/drawing8.xml"/></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 Id="rId2" Type="http://schemas.openxmlformats.org/officeDocument/2006/relationships/chartUserShapes" Target="../drawings/drawing9.xml"/></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 Id="rId2" Type="http://schemas.openxmlformats.org/officeDocument/2006/relationships/chartUserShapes" Target="../drawings/drawing10.xml"/></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 Id="rId2" Type="http://schemas.openxmlformats.org/officeDocument/2006/relationships/chartUserShapes" Target="../drawings/drawing11.xml"/></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 Id="rId2" Type="http://schemas.openxmlformats.org/officeDocument/2006/relationships/chartUserShapes" Target="../drawings/drawing12.xml"/></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 Id="rId2" Type="http://schemas.openxmlformats.org/officeDocument/2006/relationships/chartUserShapes" Target="../drawings/drawing13.xml"/></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Q4 2024
(N=33)</c:v>
                </c:pt>
              </c:strCache>
            </c:strRef>
          </c:tx>
          <c:spPr>
            <a:solidFill>
              <a:srgbClr val="FFC003"/>
            </a:solidFill>
            <a:ln>
              <a:noFill/>
            </a:ln>
            <a:effectLst/>
          </c:spPr>
          <c:invertIfNegative val="0"/>
          <c:dLbls>
            <c:spPr>
              <a:noFill/>
              <a:ln w="20893">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0.2424242424242424</c:v>
                </c:pt>
                <c:pt idx="1">
                  <c:v>0.7575757575757576</c:v>
                </c:pt>
                <c:pt idx="2">
                  <c:v>0.0</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Q1 2025
(N=45)</c:v>
                </c:pt>
              </c:strCache>
            </c:strRef>
          </c:tx>
          <c:spPr>
            <a:solidFill>
              <a:srgbClr val="3133C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Yes</c:v>
                </c:pt>
                <c:pt idx="1">
                  <c:v>No</c:v>
                </c:pt>
                <c:pt idx="2">
                  <c:v>Do not know</c:v>
                </c:pt>
              </c:strCache>
            </c:strRef>
          </c:cat>
          <c:val>
            <c:numRef>
              <c:f>Sheet1!$C$2:$C$4</c:f>
              <c:numCache>
                <c:formatCode>0%</c:formatCode>
                <c:ptCount val="3"/>
                <c:pt idx="0">
                  <c:v>0.07</c:v>
                </c:pt>
                <c:pt idx="1">
                  <c:v>0.8</c:v>
                </c:pt>
                <c:pt idx="2">
                  <c:v>0.13</c:v>
                </c:pt>
              </c:numCache>
            </c:numRef>
          </c:val>
          <c:extLst>
            <c:ext xmlns:c16="http://schemas.microsoft.com/office/drawing/2014/chart" uri="{C3380CC4-5D6E-409C-BE32-E72D297353CC}">
              <c16:uniqueId val="{00000001-FBB7-AB40-8E52-76733A6959E6}"/>
            </c:ext>
          </c:extLst>
        </c:ser>
        <c:ser>
          <c:idx val="2"/>
          <c:order val="2"/>
          <c:tx>
            <c:strRef>
              <c:f>Sheet1!$D$1</c:f>
              <c:strCache>
                <c:ptCount val="1"/>
                <c:pt idx="0">
                  <c:v>Q2 2025
(N=46)</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Yes</c:v>
                </c:pt>
                <c:pt idx="1">
                  <c:v>No</c:v>
                </c:pt>
                <c:pt idx="2">
                  <c:v>Do not know</c:v>
                </c:pt>
              </c:strCache>
            </c:strRef>
          </c:cat>
          <c:val>
            <c:numRef>
              <c:f>Sheet1!$D$2:$D$4</c:f>
              <c:numCache>
                <c:formatCode>0%</c:formatCode>
                <c:ptCount val="3"/>
                <c:pt idx="0">
                  <c:v>0.04</c:v>
                </c:pt>
                <c:pt idx="1">
                  <c:v>0.83</c:v>
                </c:pt>
                <c:pt idx="2">
                  <c:v>0.13</c:v>
                </c:pt>
              </c:numCache>
            </c:numRef>
          </c:val>
          <c:extLst>
            <c:ext xmlns:c16="http://schemas.microsoft.com/office/drawing/2014/chart" uri="{C3380CC4-5D6E-409C-BE32-E72D297353CC}">
              <c16:uniqueId val="{00000002-FBB7-AB40-8E52-76733A6959E6}"/>
            </c:ext>
          </c:extLst>
        </c:ser>
        <c:ser>
          <c:idx val="3"/>
          <c:order val="3"/>
          <c:tx>
            <c:strRef>
              <c:f>Sheet1!$E$1</c:f>
              <c:strCache>
                <c:ptCount val="1"/>
                <c:pt idx="0">
                  <c:v>Q3 2025
(N=38)</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Yes</c:v>
                </c:pt>
                <c:pt idx="1">
                  <c:v>No</c:v>
                </c:pt>
                <c:pt idx="2">
                  <c:v>Do not know</c:v>
                </c:pt>
              </c:strCache>
            </c:strRef>
          </c:cat>
          <c:val>
            <c:numRef>
              <c:f>Sheet1!$E$2:$E$4</c:f>
              <c:numCache>
                <c:formatCode>0%</c:formatCode>
                <c:ptCount val="3"/>
                <c:pt idx="0">
                  <c:v>0.13157894736842105</c:v>
                </c:pt>
                <c:pt idx="1">
                  <c:v>0.6052631578947368</c:v>
                </c:pt>
                <c:pt idx="2">
                  <c:v>0.2631578947368421</c:v>
                </c:pt>
              </c:numCache>
            </c:numRef>
          </c:val>
          <c:extLst>
            <c:ext xmlns:c16="http://schemas.microsoft.com/office/drawing/2014/chart" uri="{C3380CC4-5D6E-409C-BE32-E72D297353CC}">
              <c16:uniqueId val="{00000003-FBB7-AB40-8E52-76733A6959E6}"/>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prstDash val="solid"/>
              <a:round/>
            </a:ln>
            <a:effectLst/>
          </c:spPr>
        </c:majorGridlines>
        <c:numFmt formatCode="0%" sourceLinked="1"/>
        <c:majorTickMark val="none"/>
        <c:minorTickMark val="none"/>
        <c:tickLblPos val="nextTo"/>
        <c:spPr>
          <a:noFill/>
          <a:ln w="5223" cap="flat" cmpd="sng" algn="ctr">
            <a:solidFill>
              <a:schemeClr val="bg1">
                <a:lumMod val="8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a:effectLst/>
      </c:spPr>
    </c:plotArea>
    <c:legend>
      <c:legendPos val="t"/>
      <c:layout>
        <c:manualLayout>
          <c:xMode val="edge"/>
          <c:yMode val="edge"/>
          <c:x val="0.19246181398377835"/>
          <c:y val="1.556420233463035E-2"/>
          <c:w val="0.60379817654372159"/>
          <c:h val="7.650479487729403E-2"/>
        </c:manualLayout>
      </c:layout>
      <c:overlay val="0"/>
      <c:spPr>
        <a:noFill/>
        <a:ln w="20893">
          <a:noFill/>
        </a:ln>
        <a:effectLst/>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prstDash val="soli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dLbl>
              <c:idx val="3"/>
              <c:layout>
                <c:manualLayout>
                  <c:x val="1.879699248120163E-3"/>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1">
                  <c:v>0.02</c:v>
                </c:pt>
                <c:pt idx="3">
                  <c:v>0.02631578947368421</c:v>
                </c:pt>
              </c:numCache>
            </c:numRef>
          </c:val>
          <c:extLst>
            <c:ext xmlns:c16="http://schemas.microsoft.com/office/drawing/2014/chart" uri="{C3380CC4-5D6E-409C-BE32-E72D297353CC}">
              <c16:uniqueId val="{00000001-B9B0-4EA2-8CFB-1195A0386E81}"/>
            </c:ext>
          </c:extLst>
        </c:ser>
        <c:ser>
          <c:idx val="1"/>
          <c:order val="1"/>
          <c:tx>
            <c:strRef>
              <c:f>Sheet1!$C$1</c:f>
              <c:strCache>
                <c:ptCount val="1"/>
                <c:pt idx="0">
                  <c:v>9</c:v>
                </c:pt>
              </c:strCache>
            </c:strRef>
          </c:tx>
          <c:spPr>
            <a:solidFill>
              <a:srgbClr val="59AAF2"/>
            </a:solidFill>
            <a:ln w="20273">
              <a:noFill/>
            </a:ln>
          </c:spPr>
          <c:invertIfNegative val="0"/>
          <c:dLbls>
            <c:dLbl>
              <c:idx val="0"/>
              <c:layout>
                <c:manualLayout>
                  <c:x val="3.7593984962406013E-3"/>
                  <c:y val="-4.992200178579164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9B0-4EA2-8CFB-1195A0386E81}"/>
                </c:ext>
              </c:extLst>
            </c:dLbl>
            <c:dLbl>
              <c:idx val="3"/>
              <c:layout>
                <c:manualLayout>
                  <c:x val="0"/>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1">
                  <c:v>0.04</c:v>
                </c:pt>
                <c:pt idx="2">
                  <c:v>0.04</c:v>
                </c:pt>
                <c:pt idx="3">
                  <c:v>0.02631578947368421</c:v>
                </c:pt>
              </c:numCache>
            </c:numRef>
          </c:val>
          <c:extLst>
            <c:ext xmlns:c16="http://schemas.microsoft.com/office/drawing/2014/chart" uri="{C3380CC4-5D6E-409C-BE32-E72D297353CC}">
              <c16:uniqueId val="{00000004-B9B0-4EA2-8CFB-1195A0386E81}"/>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5-B9B0-4EA2-8CFB-1195A0386E81}"/>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0.94</c:v>
                </c:pt>
                <c:pt idx="1">
                  <c:v>0.91</c:v>
                </c:pt>
                <c:pt idx="2">
                  <c:v>0.96</c:v>
                </c:pt>
                <c:pt idx="3">
                  <c:v>0.9210526315789473</c:v>
                </c:pt>
              </c:numCache>
            </c:numRef>
          </c:val>
          <c:extLst>
            <c:ext xmlns:c16="http://schemas.microsoft.com/office/drawing/2014/chart" uri="{C3380CC4-5D6E-409C-BE32-E72D297353CC}">
              <c16:uniqueId val="{00000006-B9B0-4EA2-8CFB-1195A0386E81}"/>
            </c:ext>
          </c:extLst>
        </c:ser>
        <c:ser>
          <c:idx val="3"/>
          <c:order val="3"/>
          <c:tx>
            <c:strRef>
              <c:f>Sheet1!$E$1</c:f>
              <c:strCache>
                <c:ptCount val="1"/>
                <c:pt idx="0">
                  <c:v>sum of displayed values</c:v>
                </c:pt>
              </c:strCache>
            </c:strRef>
          </c:tx>
          <c:spPr>
            <a:noFill/>
          </c:spPr>
          <c:invertIfNegative val="0"/>
          <c:dLbls>
            <c:dLbl>
              <c:idx val="0"/>
              <c:tx>
                <c:rich>
                  <a:bodyPr/>
                  <a:lstStyle/>
                  <a:p>
                    <a:r>
                      <a:rPr lang="en-US"/>
                      <a:t>100%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125-234F-8BC4-7AE29D876D23}"/>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0.94</c:v>
                </c:pt>
                <c:pt idx="1">
                  <c:v>0.97</c:v>
                </c:pt>
                <c:pt idx="2">
                  <c:v>1</c:v>
                </c:pt>
                <c:pt idx="3">
                  <c:v>0.9736842105263157</c:v>
                </c:pt>
              </c:numCache>
            </c:numRef>
          </c:val>
          <c:extLst>
            <c:ext xmlns:c16="http://schemas.microsoft.com/office/drawing/2014/chart" uri="{C3380CC4-5D6E-409C-BE32-E72D297353CC}">
              <c16:uniqueId val="{00000007-B9B0-4EA2-8CFB-1195A0386E81}"/>
            </c:ext>
          </c:extLst>
        </c:ser>
        <c:dLbls>
          <c:showLegendKey val="0"/>
          <c:showVal val="0"/>
          <c:showCatName val="0"/>
          <c:showSerName val="0"/>
          <c:showPercent val="0"/>
          <c:showBubbleSize val="0"/>
        </c:dLbls>
        <c:gapWidth val="100"/>
        <c:overlap val="100"/>
        <c:axId val="319815888"/>
        <c:axId val="319816448"/>
      </c:barChart>
      <c:catAx>
        <c:axId val="319815888"/>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6448"/>
        <c:crosses val="autoZero"/>
        <c:auto val="1"/>
        <c:lblAlgn val="ctr"/>
        <c:lblOffset val="100"/>
        <c:noMultiLvlLbl val="0"/>
      </c:catAx>
      <c:valAx>
        <c:axId val="319816448"/>
        <c:scaling>
          <c:orientation val="minMax"/>
          <c:max val="1"/>
        </c:scaling>
        <c:delete val="0"/>
        <c:axPos val="l"/>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5888"/>
        <c:crosses val="autoZero"/>
        <c:crossBetween val="between"/>
      </c:valAx>
      <c:spPr>
        <a:noFill/>
        <a:ln w="20453">
          <a:noFill/>
        </a:ln>
      </c:spPr>
    </c:plotArea>
    <c:legend>
      <c:legendPos val="b"/>
      <c:legendEntry>
        <c:idx val="3"/>
        <c:delete val="1"/>
      </c:legendEntry>
      <c:layout>
        <c:manualLayout>
          <c:xMode val="edge"/>
          <c:yMode val="edge"/>
          <c:x val="0.36727369605115151"/>
          <c:y val="0"/>
          <c:w val="0.29457344147771003"/>
          <c:h val="7.3359398907651585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0">
                  <c:v>0.12121212121212122</c:v>
                </c:pt>
                <c:pt idx="1">
                  <c:v>0.11</c:v>
                </c:pt>
                <c:pt idx="2">
                  <c:v>0.13</c:v>
                </c:pt>
                <c:pt idx="3">
                  <c:v>0.15789473684210525</c:v>
                </c:pt>
              </c:numCache>
            </c:numRef>
          </c:val>
          <c:extLst>
            <c:ext xmlns:c16="http://schemas.microsoft.com/office/drawing/2014/chart" uri="{C3380CC4-5D6E-409C-BE32-E72D297353CC}">
              <c16:uniqueId val="{00000000-BA82-4646-B133-ACCBD878F7F2}"/>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0">
                  <c:v>0.06060606060606061</c:v>
                </c:pt>
                <c:pt idx="1">
                  <c:v>0.11</c:v>
                </c:pt>
                <c:pt idx="2">
                  <c:v>0.07</c:v>
                </c:pt>
                <c:pt idx="3">
                  <c:v>0.07894736842105263</c:v>
                </c:pt>
              </c:numCache>
            </c:numRef>
          </c:val>
          <c:extLst>
            <c:ext xmlns:c16="http://schemas.microsoft.com/office/drawing/2014/chart" uri="{C3380CC4-5D6E-409C-BE32-E72D297353CC}">
              <c16:uniqueId val="{00000001-BA82-4646-B133-ACCBD878F7F2}"/>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BA82-4646-B133-ACCBD878F7F2}"/>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0.48484848484848486</c:v>
                </c:pt>
                <c:pt idx="1">
                  <c:v>0.51</c:v>
                </c:pt>
                <c:pt idx="2">
                  <c:v>0.7</c:v>
                </c:pt>
                <c:pt idx="3">
                  <c:v>0.5526315789473685</c:v>
                </c:pt>
              </c:numCache>
            </c:numRef>
          </c:val>
          <c:extLst>
            <c:ext xmlns:c16="http://schemas.microsoft.com/office/drawing/2014/chart" uri="{C3380CC4-5D6E-409C-BE32-E72D297353CC}">
              <c16:uniqueId val="{00000003-BA82-4646-B133-ACCBD878F7F2}"/>
            </c:ext>
          </c:extLst>
        </c:ser>
        <c:ser>
          <c:idx val="3"/>
          <c:order val="3"/>
          <c:tx>
            <c:strRef>
              <c:f>Sheet1!$E$1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0.66</c:v>
                </c:pt>
                <c:pt idx="1">
                  <c:v>0.73</c:v>
                </c:pt>
                <c:pt idx="2">
                  <c:v>0.9</c:v>
                </c:pt>
                <c:pt idx="3">
                  <c:v>0.7894736842105263</c:v>
                </c:pt>
              </c:numCache>
            </c:numRef>
          </c:val>
          <c:extLst>
            <c:ext xmlns:c16="http://schemas.microsoft.com/office/drawing/2014/chart" uri="{C3380CC4-5D6E-409C-BE32-E72D297353CC}">
              <c16:uniqueId val="{00000004-BA82-4646-B133-ACCBD878F7F2}"/>
            </c:ext>
          </c:extLst>
        </c:ser>
        <c:dLbls>
          <c:showLegendKey val="0"/>
          <c:showVal val="0"/>
          <c:showCatName val="0"/>
          <c:showSerName val="0"/>
          <c:showPercent val="0"/>
          <c:showBubbleSize val="0"/>
        </c:dLbls>
        <c:gapWidth val="100"/>
        <c:overlap val="100"/>
        <c:axId val="320148480"/>
        <c:axId val="320149040"/>
      </c:barChart>
      <c:catAx>
        <c:axId val="32014848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9040"/>
        <c:crosses val="autoZero"/>
        <c:auto val="1"/>
        <c:lblAlgn val="ctr"/>
        <c:lblOffset val="100"/>
        <c:noMultiLvlLbl val="0"/>
      </c:catAx>
      <c:valAx>
        <c:axId val="32014904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848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2.0</c:v>
                </c:pt>
                <c:pt idx="1">
                  <c:v>14.0</c:v>
                </c:pt>
                <c:pt idx="2">
                  <c:v>11.0</c:v>
                </c:pt>
                <c:pt idx="3">
                  <c:v>6.0</c:v>
                </c:pt>
                <c:pt idx="4">
                  <c:v>1.0</c:v>
                </c:pt>
                <c:pt idx="5">
                  <c:v>5.0</c:v>
                </c:pt>
                <c:pt idx="6">
                  <c:v>6.0</c:v>
                </c:pt>
                <c:pt idx="7">
                  <c:v>20.0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Q1 2025
(N=45)</c:v>
                </c:pt>
              </c:strCache>
            </c:strRef>
          </c:tx>
          <c:invertIfNegative val="0"/>
          <c:dLbls>
            <c:spPr>
              <a:noFill/>
              <a:ln>
                <a:noFill/>
              </a:ln>
              <a:effectLst/>
            </c:spPr>
            <c:txPr>
              <a:bodyPr wrap="square" lIns="38100" tIns="19050" rIns="38100" bIns="19050" anchor="ctr">
                <a:spAutoFit/>
              </a:bodyPr>
              <a:lstStyle/>
              <a:p>
                <a:pPr>
                  <a:defRPr sz="10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2.0</c:v>
                </c:pt>
                <c:pt idx="1">
                  <c:v>15.0</c:v>
                </c:pt>
                <c:pt idx="2">
                  <c:v>15.0</c:v>
                </c:pt>
                <c:pt idx="3">
                  <c:v>8.0</c:v>
                </c:pt>
                <c:pt idx="4">
                  <c:v>0.0</c:v>
                </c:pt>
                <c:pt idx="5">
                  <c:v>6.0</c:v>
                </c:pt>
                <c:pt idx="6">
                  <c:v>6.0</c:v>
                </c:pt>
                <c:pt idx="7">
                  <c:v>30.0</c:v>
                </c:pt>
              </c:numCache>
            </c:numRef>
          </c:val>
          <c:extLst>
            <c:ext xmlns:c16="http://schemas.microsoft.com/office/drawing/2014/chart" uri="{C3380CC4-5D6E-409C-BE32-E72D297353CC}">
              <c16:uniqueId val="{00000003-228A-4467-BB3A-D385FE43A01E}"/>
            </c:ext>
          </c:extLst>
        </c:ser>
        <c:ser>
          <c:idx val="2"/>
          <c:order val="2"/>
          <c:tx>
            <c:strRef>
              <c:f>Sheet1!$D$1</c:f>
              <c:strCache>
                <c:ptCount val="1"/>
                <c:pt idx="0">
                  <c:v>Q2 2025
(N=46)</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0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4.0</c:v>
                </c:pt>
                <c:pt idx="1">
                  <c:v>13.0</c:v>
                </c:pt>
                <c:pt idx="2">
                  <c:v>21.0</c:v>
                </c:pt>
                <c:pt idx="3">
                  <c:v>7.0</c:v>
                </c:pt>
                <c:pt idx="4">
                  <c:v>1.0</c:v>
                </c:pt>
                <c:pt idx="5">
                  <c:v>4.0</c:v>
                </c:pt>
                <c:pt idx="6">
                  <c:v>10.0</c:v>
                </c:pt>
                <c:pt idx="7">
                  <c:v>29.0</c:v>
                </c:pt>
              </c:numCache>
            </c:numRef>
          </c:val>
          <c:extLst>
            <c:ext xmlns:c16="http://schemas.microsoft.com/office/drawing/2014/chart" uri="{C3380CC4-5D6E-409C-BE32-E72D297353CC}">
              <c16:uniqueId val="{00000004-228A-4467-BB3A-D385FE43A01E}"/>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1</c:v>
                </c:pt>
                <c:pt idx="1">
                  <c:v>7</c:v>
                </c:pt>
                <c:pt idx="2">
                  <c:v>18</c:v>
                </c:pt>
                <c:pt idx="3">
                  <c:v>10</c:v>
                </c:pt>
                <c:pt idx="4">
                  <c:v>0</c:v>
                </c:pt>
                <c:pt idx="5">
                  <c:v>1</c:v>
                </c:pt>
                <c:pt idx="6">
                  <c:v>4</c:v>
                </c:pt>
                <c:pt idx="7">
                  <c:v>33</c:v>
                </c:pt>
              </c:numCache>
            </c:numRef>
          </c:val>
          <c:extLst>
            <c:ext xmlns:c16="http://schemas.microsoft.com/office/drawing/2014/chart" uri="{C3380CC4-5D6E-409C-BE32-E72D297353CC}">
              <c16:uniqueId val="{00000000-2997-DA46-B45F-D672517A6AC1}"/>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3.0</c:v>
                </c:pt>
                <c:pt idx="1">
                  <c:v>4.0</c:v>
                </c:pt>
                <c:pt idx="2">
                  <c:v>13.0</c:v>
                </c:pt>
                <c:pt idx="3">
                  <c:v>11.0</c:v>
                </c:pt>
                <c:pt idx="4">
                  <c:v>9.0</c:v>
                </c:pt>
                <c:pt idx="5">
                  <c:v>15.0</c:v>
                </c:pt>
                <c:pt idx="6">
                  <c:v>2.0</c:v>
                </c:pt>
                <c:pt idx="7">
                  <c:v>6.0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Q1 2025
(N=45)</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1.0</c:v>
                </c:pt>
                <c:pt idx="1">
                  <c:v>11.0</c:v>
                </c:pt>
                <c:pt idx="2">
                  <c:v>10.0</c:v>
                </c:pt>
                <c:pt idx="3">
                  <c:v>18.0</c:v>
                </c:pt>
                <c:pt idx="4">
                  <c:v>7.0</c:v>
                </c:pt>
                <c:pt idx="5">
                  <c:v>20.0</c:v>
                </c:pt>
                <c:pt idx="6">
                  <c:v>1.0</c:v>
                </c:pt>
                <c:pt idx="7">
                  <c:v>16.0</c:v>
                </c:pt>
              </c:numCache>
            </c:numRef>
          </c:val>
          <c:extLst>
            <c:ext xmlns:c16="http://schemas.microsoft.com/office/drawing/2014/chart" uri="{C3380CC4-5D6E-409C-BE32-E72D297353CC}">
              <c16:uniqueId val="{00000003-6C66-4CAF-81AB-F70542D9BDB7}"/>
            </c:ext>
          </c:extLst>
        </c:ser>
        <c:ser>
          <c:idx val="2"/>
          <c:order val="2"/>
          <c:tx>
            <c:strRef>
              <c:f>Sheet1!$D$1</c:f>
              <c:strCache>
                <c:ptCount val="1"/>
                <c:pt idx="0">
                  <c:v>Q2 2025
(N=46)</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2.0</c:v>
                </c:pt>
                <c:pt idx="1">
                  <c:v>5.0</c:v>
                </c:pt>
                <c:pt idx="2">
                  <c:v>11.0</c:v>
                </c:pt>
                <c:pt idx="3">
                  <c:v>21.0</c:v>
                </c:pt>
                <c:pt idx="4">
                  <c:v>15.0</c:v>
                </c:pt>
                <c:pt idx="5">
                  <c:v>17.0</c:v>
                </c:pt>
                <c:pt idx="6">
                  <c:v>1.0</c:v>
                </c:pt>
                <c:pt idx="7">
                  <c:v>13.0</c:v>
                </c:pt>
              </c:numCache>
            </c:numRef>
          </c:val>
          <c:extLst>
            <c:ext xmlns:c16="http://schemas.microsoft.com/office/drawing/2014/chart" uri="{C3380CC4-5D6E-409C-BE32-E72D297353CC}">
              <c16:uniqueId val="{00000004-6C66-4CAF-81AB-F70542D9BDB7}"/>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0</c:v>
                </c:pt>
                <c:pt idx="1">
                  <c:v>4</c:v>
                </c:pt>
                <c:pt idx="2">
                  <c:v>9</c:v>
                </c:pt>
                <c:pt idx="3">
                  <c:v>19</c:v>
                </c:pt>
                <c:pt idx="4">
                  <c:v>14</c:v>
                </c:pt>
                <c:pt idx="5">
                  <c:v>6</c:v>
                </c:pt>
                <c:pt idx="6">
                  <c:v>1</c:v>
                </c:pt>
                <c:pt idx="7">
                  <c:v>16</c:v>
                </c:pt>
              </c:numCache>
            </c:numRef>
          </c:val>
          <c:extLst>
            <c:ext xmlns:c16="http://schemas.microsoft.com/office/drawing/2014/chart" uri="{C3380CC4-5D6E-409C-BE32-E72D297353CC}">
              <c16:uniqueId val="{00000000-EBC8-684C-8161-18B832E2650C}"/>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3.0</c:v>
                </c:pt>
                <c:pt idx="1">
                  <c:v>19.0</c:v>
                </c:pt>
                <c:pt idx="2">
                  <c:v>4.0</c:v>
                </c:pt>
                <c:pt idx="3">
                  <c:v>6.0</c:v>
                </c:pt>
                <c:pt idx="4">
                  <c:v>22.0</c:v>
                </c:pt>
                <c:pt idx="5">
                  <c:v>8.0</c:v>
                </c:pt>
                <c:pt idx="6">
                  <c:v>3.0</c:v>
                </c:pt>
                <c:pt idx="7">
                  <c:v>0.0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Q1 2025
(N=45)</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3.0</c:v>
                </c:pt>
                <c:pt idx="1">
                  <c:v>23.0</c:v>
                </c:pt>
                <c:pt idx="2">
                  <c:v>3.0</c:v>
                </c:pt>
                <c:pt idx="3">
                  <c:v>14.0</c:v>
                </c:pt>
                <c:pt idx="4">
                  <c:v>33.0</c:v>
                </c:pt>
                <c:pt idx="5">
                  <c:v>6.0</c:v>
                </c:pt>
                <c:pt idx="6">
                  <c:v>1.0</c:v>
                </c:pt>
                <c:pt idx="7">
                  <c:v>3.0</c:v>
                </c:pt>
              </c:numCache>
            </c:numRef>
          </c:val>
          <c:extLst>
            <c:ext xmlns:c16="http://schemas.microsoft.com/office/drawing/2014/chart" uri="{C3380CC4-5D6E-409C-BE32-E72D297353CC}">
              <c16:uniqueId val="{00000001-7166-4E76-8E2A-79BCFE23BBB4}"/>
            </c:ext>
          </c:extLst>
        </c:ser>
        <c:ser>
          <c:idx val="2"/>
          <c:order val="2"/>
          <c:tx>
            <c:strRef>
              <c:f>Sheet1!$D$1</c:f>
              <c:strCache>
                <c:ptCount val="1"/>
                <c:pt idx="0">
                  <c:v>Q2 2025
(N=46)</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5.0</c:v>
                </c:pt>
                <c:pt idx="1">
                  <c:v>23.0</c:v>
                </c:pt>
                <c:pt idx="2">
                  <c:v>2.0</c:v>
                </c:pt>
                <c:pt idx="3">
                  <c:v>15.0</c:v>
                </c:pt>
                <c:pt idx="4">
                  <c:v>31.0</c:v>
                </c:pt>
                <c:pt idx="5">
                  <c:v>10.0</c:v>
                </c:pt>
                <c:pt idx="6">
                  <c:v>1.0</c:v>
                </c:pt>
                <c:pt idx="7">
                  <c:v>4.0</c:v>
                </c:pt>
              </c:numCache>
            </c:numRef>
          </c:val>
          <c:extLst>
            <c:ext xmlns:c16="http://schemas.microsoft.com/office/drawing/2014/chart" uri="{C3380CC4-5D6E-409C-BE32-E72D297353CC}">
              <c16:uniqueId val="{00000002-7166-4E76-8E2A-79BCFE23BBB4}"/>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4</c:v>
                </c:pt>
                <c:pt idx="1">
                  <c:v>4</c:v>
                </c:pt>
                <c:pt idx="2">
                  <c:v>4</c:v>
                </c:pt>
                <c:pt idx="3">
                  <c:v>25</c:v>
                </c:pt>
                <c:pt idx="4">
                  <c:v>31</c:v>
                </c:pt>
                <c:pt idx="5">
                  <c:v>3</c:v>
                </c:pt>
                <c:pt idx="6">
                  <c:v>1</c:v>
                </c:pt>
                <c:pt idx="7">
                  <c:v>2</c:v>
                </c:pt>
              </c:numCache>
            </c:numRef>
          </c:val>
          <c:extLst>
            <c:ext xmlns:c16="http://schemas.microsoft.com/office/drawing/2014/chart" uri="{C3380CC4-5D6E-409C-BE32-E72D297353CC}">
              <c16:uniqueId val="{00000000-2146-D84E-B9E7-8807836484F1}"/>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6.0</c:v>
                </c:pt>
                <c:pt idx="1">
                  <c:v>16.0</c:v>
                </c:pt>
                <c:pt idx="2">
                  <c:v>1.0</c:v>
                </c:pt>
                <c:pt idx="3">
                  <c:v>9.0</c:v>
                </c:pt>
                <c:pt idx="4">
                  <c:v>20.0</c:v>
                </c:pt>
                <c:pt idx="5">
                  <c:v>11.0</c:v>
                </c:pt>
                <c:pt idx="6">
                  <c:v>0.0</c:v>
                </c:pt>
                <c:pt idx="7">
                  <c:v>1.0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Q1 2025
(N=45)</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7.0</c:v>
                </c:pt>
                <c:pt idx="1">
                  <c:v>14.0</c:v>
                </c:pt>
                <c:pt idx="2">
                  <c:v>1.0</c:v>
                </c:pt>
                <c:pt idx="3">
                  <c:v>23.0</c:v>
                </c:pt>
                <c:pt idx="4">
                  <c:v>29.0</c:v>
                </c:pt>
                <c:pt idx="5">
                  <c:v>10.0</c:v>
                </c:pt>
                <c:pt idx="6">
                  <c:v>1.0</c:v>
                </c:pt>
                <c:pt idx="7">
                  <c:v>5.0</c:v>
                </c:pt>
              </c:numCache>
            </c:numRef>
          </c:val>
          <c:extLst>
            <c:ext xmlns:c16="http://schemas.microsoft.com/office/drawing/2014/chart" uri="{C3380CC4-5D6E-409C-BE32-E72D297353CC}">
              <c16:uniqueId val="{00000001-A189-4DD3-B104-E94BF8E7B46F}"/>
            </c:ext>
          </c:extLst>
        </c:ser>
        <c:ser>
          <c:idx val="2"/>
          <c:order val="2"/>
          <c:tx>
            <c:strRef>
              <c:f>Sheet1!$D$1</c:f>
              <c:strCache>
                <c:ptCount val="1"/>
                <c:pt idx="0">
                  <c:v>Q2 2025
(N=46)</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10.0</c:v>
                </c:pt>
                <c:pt idx="1">
                  <c:v>14.0</c:v>
                </c:pt>
                <c:pt idx="2">
                  <c:v>0.0</c:v>
                </c:pt>
                <c:pt idx="3">
                  <c:v>21.0</c:v>
                </c:pt>
                <c:pt idx="4">
                  <c:v>21.0</c:v>
                </c:pt>
                <c:pt idx="5">
                  <c:v>6.0</c:v>
                </c:pt>
                <c:pt idx="6">
                  <c:v>0.0</c:v>
                </c:pt>
                <c:pt idx="7">
                  <c:v>18.0</c:v>
                </c:pt>
              </c:numCache>
            </c:numRef>
          </c:val>
          <c:extLst>
            <c:ext xmlns:c16="http://schemas.microsoft.com/office/drawing/2014/chart" uri="{C3380CC4-5D6E-409C-BE32-E72D297353CC}">
              <c16:uniqueId val="{00000002-A189-4DD3-B104-E94BF8E7B46F}"/>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9</c:v>
                </c:pt>
                <c:pt idx="1">
                  <c:v>5</c:v>
                </c:pt>
                <c:pt idx="2">
                  <c:v>0</c:v>
                </c:pt>
                <c:pt idx="3">
                  <c:v>24</c:v>
                </c:pt>
                <c:pt idx="4">
                  <c:v>26</c:v>
                </c:pt>
                <c:pt idx="5">
                  <c:v>2</c:v>
                </c:pt>
                <c:pt idx="6">
                  <c:v>1</c:v>
                </c:pt>
                <c:pt idx="7">
                  <c:v>9</c:v>
                </c:pt>
              </c:numCache>
            </c:numRef>
          </c:val>
          <c:extLst>
            <c:ext xmlns:c16="http://schemas.microsoft.com/office/drawing/2014/chart" uri="{C3380CC4-5D6E-409C-BE32-E72D297353CC}">
              <c16:uniqueId val="{00000000-B492-1C4E-87B0-2E30F0B713B0}"/>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Increased</c:v>
                </c:pt>
                <c:pt idx="1">
                  <c:v>Stayed 
the same</c:v>
                </c:pt>
                <c:pt idx="2">
                  <c:v>Decreased</c:v>
                </c:pt>
                <c:pt idx="3">
                  <c:v>Never an 
issue</c:v>
                </c:pt>
              </c:strCache>
            </c:strRef>
          </c:cat>
          <c:val>
            <c:numRef>
              <c:f>Sheet1!$B$2:$B$5</c:f>
              <c:numCache>
                <c:formatCode>General</c:formatCode>
                <c:ptCount val="4"/>
                <c:pt idx="0">
                  <c:v>16.0</c:v>
                </c:pt>
                <c:pt idx="1">
                  <c:v>7.0</c:v>
                </c:pt>
                <c:pt idx="2">
                  <c:v>0.0</c:v>
                </c:pt>
                <c:pt idx="3">
                  <c:v>9.0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Q1 2025
(N=45)</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Sheet1!$C$2:$C$5</c:f>
              <c:numCache>
                <c:formatCode>General</c:formatCode>
                <c:ptCount val="4"/>
                <c:pt idx="0">
                  <c:v>11.0</c:v>
                </c:pt>
                <c:pt idx="1">
                  <c:v>18.0</c:v>
                </c:pt>
                <c:pt idx="2">
                  <c:v>1.0</c:v>
                </c:pt>
                <c:pt idx="3">
                  <c:v>14.0</c:v>
                </c:pt>
              </c:numCache>
            </c:numRef>
          </c:val>
          <c:extLst>
            <c:ext xmlns:c16="http://schemas.microsoft.com/office/drawing/2014/chart" uri="{C3380CC4-5D6E-409C-BE32-E72D297353CC}">
              <c16:uniqueId val="{00000003-2D8F-4DC4-8B87-B0638A575DEB}"/>
            </c:ext>
          </c:extLst>
        </c:ser>
        <c:ser>
          <c:idx val="2"/>
          <c:order val="2"/>
          <c:tx>
            <c:strRef>
              <c:f>Sheet1!$D$1</c:f>
              <c:strCache>
                <c:ptCount val="1"/>
                <c:pt idx="0">
                  <c:v>Q2 2025
(N=46)</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Sheet1!$D$2:$D$5</c:f>
              <c:numCache>
                <c:formatCode>General</c:formatCode>
                <c:ptCount val="4"/>
                <c:pt idx="0">
                  <c:v>20.0</c:v>
                </c:pt>
                <c:pt idx="1">
                  <c:v>11.0</c:v>
                </c:pt>
                <c:pt idx="2">
                  <c:v>0.0</c:v>
                </c:pt>
                <c:pt idx="3">
                  <c:v>14.0</c:v>
                </c:pt>
              </c:numCache>
            </c:numRef>
          </c:val>
          <c:extLst>
            <c:ext xmlns:c16="http://schemas.microsoft.com/office/drawing/2014/chart" uri="{C3380CC4-5D6E-409C-BE32-E72D297353CC}">
              <c16:uniqueId val="{00000004-2D8F-4DC4-8B87-B0638A575DEB}"/>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Sheet1!$E$2:$E$5</c:f>
              <c:numCache>
                <c:formatCode>General</c:formatCode>
                <c:ptCount val="4"/>
                <c:pt idx="0">
                  <c:v>14</c:v>
                </c:pt>
                <c:pt idx="1">
                  <c:v>4</c:v>
                </c:pt>
                <c:pt idx="2">
                  <c:v>1</c:v>
                </c:pt>
                <c:pt idx="3">
                  <c:v>18</c:v>
                </c:pt>
              </c:numCache>
            </c:numRef>
          </c:val>
          <c:extLst>
            <c:ext xmlns:c16="http://schemas.microsoft.com/office/drawing/2014/chart" uri="{C3380CC4-5D6E-409C-BE32-E72D297353CC}">
              <c16:uniqueId val="{00000000-AD7C-8D41-A7F8-6D939B826D50}"/>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1">
                  <c:v>0.09</c:v>
                </c:pt>
                <c:pt idx="2">
                  <c:v>0.02</c:v>
                </c:pt>
              </c:numCache>
            </c:numRef>
          </c:val>
          <c:extLst>
            <c:ext xmlns:c16="http://schemas.microsoft.com/office/drawing/2014/chart" uri="{C3380CC4-5D6E-409C-BE32-E72D297353CC}">
              <c16:uniqueId val="{00000000-33C6-46D0-A451-9992BB76C127}"/>
            </c:ext>
          </c:extLst>
        </c:ser>
        <c:ser>
          <c:idx val="1"/>
          <c:order val="1"/>
          <c:tx>
            <c:strRef>
              <c:f>Sheet1!$C$1</c:f>
              <c:strCache>
                <c:ptCount val="1"/>
                <c:pt idx="0">
                  <c:v>9</c:v>
                </c:pt>
              </c:strCache>
            </c:strRef>
          </c:tx>
          <c:spPr>
            <a:solidFill>
              <a:srgbClr val="59AAF2"/>
            </a:solidFill>
            <a:ln w="20273">
              <a:noFill/>
            </a:ln>
          </c:spPr>
          <c:invertIfNegative val="0"/>
          <c:dLbls>
            <c:dLbl>
              <c:idx val="3"/>
              <c:layout>
                <c:manualLayout>
                  <c:x val="9.3984962406015032E-3"/>
                  <c:y val="2.496100089289536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6F7-46B5-BB28-4A0C3B897C6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0">
                  <c:v>0.06060606060606061</c:v>
                </c:pt>
                <c:pt idx="1">
                  <c:v>0.11</c:v>
                </c:pt>
                <c:pt idx="2">
                  <c:v>0.11</c:v>
                </c:pt>
                <c:pt idx="3">
                  <c:v>0.02631578947368421</c:v>
                </c:pt>
              </c:numCache>
            </c:numRef>
          </c:val>
          <c:extLst>
            <c:ext xmlns:c16="http://schemas.microsoft.com/office/drawing/2014/chart" uri="{C3380CC4-5D6E-409C-BE32-E72D297353CC}">
              <c16:uniqueId val="{00000001-33C6-46D0-A451-9992BB76C127}"/>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3C6-46D0-A451-9992BB76C127}"/>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0.8181818181818183</c:v>
                </c:pt>
                <c:pt idx="1">
                  <c:v>0.76</c:v>
                </c:pt>
                <c:pt idx="2">
                  <c:v>0.83</c:v>
                </c:pt>
                <c:pt idx="3">
                  <c:v>0.8157894736842105</c:v>
                </c:pt>
              </c:numCache>
            </c:numRef>
          </c:val>
          <c:extLst>
            <c:ext xmlns:c16="http://schemas.microsoft.com/office/drawing/2014/chart" uri="{C3380CC4-5D6E-409C-BE32-E72D297353CC}">
              <c16:uniqueId val="{00000003-33C6-46D0-A451-9992BB76C127}"/>
            </c:ext>
          </c:extLst>
        </c:ser>
        <c:ser>
          <c:idx val="3"/>
          <c:order val="3"/>
          <c:tx>
            <c:strRef>
              <c:f>Sheet1!$E$1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0.88</c:v>
                </c:pt>
                <c:pt idx="1">
                  <c:v>0.96</c:v>
                </c:pt>
                <c:pt idx="2">
                  <c:v>0.96</c:v>
                </c:pt>
                <c:pt idx="3">
                  <c:v>0.8421052631578947</c:v>
                </c:pt>
              </c:numCache>
            </c:numRef>
          </c:val>
          <c:extLst>
            <c:ext xmlns:c16="http://schemas.microsoft.com/office/drawing/2014/chart" uri="{C3380CC4-5D6E-409C-BE32-E72D297353CC}">
              <c16:uniqueId val="{00000004-33C6-46D0-A451-9992BB76C127}"/>
            </c:ext>
          </c:extLst>
        </c:ser>
        <c:dLbls>
          <c:showLegendKey val="0"/>
          <c:showVal val="0"/>
          <c:showCatName val="0"/>
          <c:showSerName val="0"/>
          <c:showPercent val="0"/>
          <c:showBubbleSize val="0"/>
        </c:dLbls>
        <c:gapWidth val="100"/>
        <c:overlap val="100"/>
        <c:axId val="321857312"/>
        <c:axId val="321857872"/>
      </c:barChart>
      <c:catAx>
        <c:axId val="32185731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872"/>
        <c:crosses val="autoZero"/>
        <c:auto val="1"/>
        <c:lblAlgn val="ctr"/>
        <c:lblOffset val="100"/>
        <c:noMultiLvlLbl val="0"/>
      </c:catAx>
      <c:valAx>
        <c:axId val="32185787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31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5947935496389801"/>
          <c:w val="0.91406747644859176"/>
          <c:h val="0.78884299968340532"/>
        </c:manualLayout>
      </c:layout>
      <c:barChart>
        <c:barDir val="col"/>
        <c:grouping val="clustered"/>
        <c:varyColors val="0"/>
        <c:ser>
          <c:idx val="0"/>
          <c:order val="0"/>
          <c:tx>
            <c:strRef>
              <c:f>Sheet1!$B$1</c:f>
              <c:strCache>
                <c:ptCount val="1"/>
                <c:pt idx="0">
                  <c:v>Q4 2024
(N=33)</c:v>
                </c:pt>
              </c:strCache>
            </c:strRef>
          </c:tx>
          <c:spPr>
            <a:solidFill>
              <a:srgbClr val="FFC003"/>
            </a:solidFill>
            <a:ln w="20893">
              <a:noFill/>
            </a:ln>
          </c:spPr>
          <c:invertIfNegative val="0"/>
          <c:dLbls>
            <c:dLbl>
              <c:idx val="0"/>
              <c:layout>
                <c:manualLayout>
                  <c:x val="-1.1278195488721804E-2"/>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C66-4C29-9A45-A591B99DCE0E}"/>
                </c:ext>
              </c:extLst>
            </c:dLbl>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0.9090909090909091</c:v>
                </c:pt>
                <c:pt idx="1">
                  <c:v>0.09090909090909091</c:v>
                </c:pt>
                <c:pt idx="2">
                  <c:v>0.0</c:v>
                </c:pt>
              </c:numCache>
            </c:numRef>
          </c:val>
          <c:extLst>
            <c:ext xmlns:c16="http://schemas.microsoft.com/office/drawing/2014/chart" uri="{C3380CC4-5D6E-409C-BE32-E72D297353CC}">
              <c16:uniqueId val="{00000001-DC66-4C29-9A45-A591B99DCE0E}"/>
            </c:ext>
          </c:extLst>
        </c:ser>
        <c:ser>
          <c:idx val="1"/>
          <c:order val="1"/>
          <c:tx>
            <c:strRef>
              <c:f>Sheet1!$C$1</c:f>
              <c:strCache>
                <c:ptCount val="1"/>
                <c:pt idx="0">
                  <c:v>Q1 2025
(N=45)</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Sheet1!$C$2:$C$4</c:f>
              <c:numCache>
                <c:formatCode>0%</c:formatCode>
                <c:ptCount val="3"/>
                <c:pt idx="0">
                  <c:v>0.96</c:v>
                </c:pt>
                <c:pt idx="1">
                  <c:v>0.02</c:v>
                </c:pt>
                <c:pt idx="2">
                  <c:v>0.02</c:v>
                </c:pt>
              </c:numCache>
            </c:numRef>
          </c:val>
          <c:extLst>
            <c:ext xmlns:c16="http://schemas.microsoft.com/office/drawing/2014/chart" uri="{C3380CC4-5D6E-409C-BE32-E72D297353CC}">
              <c16:uniqueId val="{00000002-DC66-4C29-9A45-A591B99DCE0E}"/>
            </c:ext>
          </c:extLst>
        </c:ser>
        <c:ser>
          <c:idx val="2"/>
          <c:order val="2"/>
          <c:tx>
            <c:strRef>
              <c:f>Sheet1!$D$1</c:f>
              <c:strCache>
                <c:ptCount val="1"/>
                <c:pt idx="0">
                  <c:v>Q2 2025
(N=46)</c:v>
                </c:pt>
              </c:strCache>
            </c:strRef>
          </c:tx>
          <c:spPr>
            <a:solidFill>
              <a:srgbClr val="00CC99"/>
            </a:solidFill>
          </c:spPr>
          <c:invertIfNegative val="0"/>
          <c:dLbls>
            <c:dLbl>
              <c:idx val="0"/>
              <c:layout>
                <c:manualLayout>
                  <c:x val="3.7593984962406013E-3"/>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C66-4C29-9A45-A591B99DCE0E}"/>
                </c:ext>
              </c:extLst>
            </c:dLbl>
            <c:spPr>
              <a:noFill/>
              <a:ln>
                <a:noFill/>
              </a:ln>
              <a:effectLst/>
            </c:spPr>
            <c:txPr>
              <a:bodyPr wrap="square" lIns="38100" tIns="19050" rIns="38100" bIns="19050" anchor="ctr">
                <a:spAutoFit/>
              </a:bodyPr>
              <a:lstStyle/>
              <a:p>
                <a:pPr>
                  <a:defRPr sz="10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a:noFill/>
                    </a:ln>
                  </c:spPr>
                </c15:leaderLines>
              </c:ext>
            </c:extLst>
          </c:dLbls>
          <c:cat>
            <c:strRef>
              <c:f>Sheet1!$A$2:$A$4</c:f>
              <c:strCache>
                <c:ptCount val="3"/>
                <c:pt idx="0">
                  <c:v>Yes</c:v>
                </c:pt>
                <c:pt idx="1">
                  <c:v>No</c:v>
                </c:pt>
                <c:pt idx="2">
                  <c:v>Do not know</c:v>
                </c:pt>
              </c:strCache>
            </c:strRef>
          </c:cat>
          <c:val>
            <c:numRef>
              <c:f>Sheet1!$D$2:$D$4</c:f>
              <c:numCache>
                <c:formatCode>0%</c:formatCode>
                <c:ptCount val="3"/>
                <c:pt idx="0">
                  <c:v>0.98</c:v>
                </c:pt>
                <c:pt idx="1">
                  <c:v>0.0</c:v>
                </c:pt>
                <c:pt idx="2">
                  <c:v>0.02</c:v>
                </c:pt>
              </c:numCache>
            </c:numRef>
          </c:val>
          <c:extLst>
            <c:ext xmlns:c16="http://schemas.microsoft.com/office/drawing/2014/chart" uri="{C3380CC4-5D6E-409C-BE32-E72D297353CC}">
              <c16:uniqueId val="{00000004-DC66-4C29-9A45-A591B99DCE0E}"/>
            </c:ext>
          </c:extLst>
        </c:ser>
        <c:ser>
          <c:idx val="3"/>
          <c:order val="3"/>
          <c:tx>
            <c:strRef>
              <c:f>Sheet1!$E$1</c:f>
              <c:strCache>
                <c:ptCount val="1"/>
                <c:pt idx="0">
                  <c:v>Q3 2025
(N=38)</c:v>
                </c:pt>
              </c:strCache>
            </c:strRef>
          </c:tx>
          <c:spPr>
            <a:solidFill>
              <a:schemeClr val="tx1"/>
            </a:solidFill>
          </c:spPr>
          <c:invertIfNegative val="0"/>
          <c:dLbls>
            <c:dLbl>
              <c:idx val="0"/>
              <c:layout>
                <c:manualLayout>
                  <c:x val="7.5187969924811688E-3"/>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C66-4C29-9A45-A591B99DCE0E}"/>
                </c:ext>
              </c:extLst>
            </c:dLbl>
            <c:spPr>
              <a:noFill/>
              <a:ln>
                <a:noFill/>
              </a:ln>
              <a:effectLst/>
            </c:spPr>
            <c:txPr>
              <a:bodyPr wrap="square" lIns="38100" tIns="19050" rIns="38100" bIns="19050" anchor="ctr">
                <a:spAutoFit/>
              </a:bodyPr>
              <a:lstStyle/>
              <a:p>
                <a:pPr>
                  <a:defRPr sz="10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Sheet1!$E$2:$E$3</c:f>
              <c:numCache>
                <c:formatCode>0%</c:formatCode>
                <c:ptCount val="2"/>
                <c:pt idx="0">
                  <c:v>0.9473684210526315</c:v>
                </c:pt>
                <c:pt idx="1">
                  <c:v>0.05263157894736842</c:v>
                </c:pt>
              </c:numCache>
            </c:numRef>
          </c:val>
          <c:extLst>
            <c:ext xmlns:c16="http://schemas.microsoft.com/office/drawing/2014/chart" uri="{C3380CC4-5D6E-409C-BE32-E72D297353CC}">
              <c16:uniqueId val="{00000006-DC66-4C29-9A45-A591B99DCE0E}"/>
            </c:ext>
          </c:extLst>
        </c:ser>
        <c:dLbls>
          <c:showLegendKey val="0"/>
          <c:showVal val="0"/>
          <c:showCatName val="0"/>
          <c:showSerName val="0"/>
          <c:showPercent val="0"/>
          <c:showBubbleSize val="0"/>
        </c:dLbls>
        <c:gapWidth val="90"/>
        <c:overlap val="-10"/>
        <c:axId val="322074720"/>
        <c:axId val="322075280"/>
      </c:barChart>
      <c:catAx>
        <c:axId val="32207472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5280"/>
        <c:crosses val="autoZero"/>
        <c:auto val="1"/>
        <c:lblAlgn val="ctr"/>
        <c:lblOffset val="100"/>
        <c:noMultiLvlLbl val="0"/>
      </c:catAx>
      <c:valAx>
        <c:axId val="322075280"/>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4720"/>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22261989978525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Sheet1!$B$2:$B$9</c:f>
              <c:numCache>
                <c:formatCode>0%</c:formatCode>
                <c:ptCount val="8"/>
                <c:pt idx="0">
                  <c:v>0.06060606060606061</c:v>
                </c:pt>
                <c:pt idx="1">
                  <c:v>0.07</c:v>
                </c:pt>
                <c:pt idx="2">
                  <c:v>0.11</c:v>
                </c:pt>
                <c:pt idx="3">
                  <c:v>0.07894736842105263</c:v>
                </c:pt>
                <c:pt idx="5">
                  <c:v>0.07</c:v>
                </c:pt>
                <c:pt idx="6">
                  <c:v>0.04</c:v>
                </c:pt>
              </c:numCache>
            </c:numRef>
          </c:val>
          <c:extLst>
            <c:ext xmlns:c16="http://schemas.microsoft.com/office/drawing/2014/chart" uri="{C3380CC4-5D6E-409C-BE32-E72D297353CC}">
              <c16:uniqueId val="{00000000-AD9A-4955-BC1E-DE66787E4B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Sheet1!$C$2:$C$9</c:f>
              <c:numCache>
                <c:formatCode>0%</c:formatCode>
                <c:ptCount val="8"/>
                <c:pt idx="0">
                  <c:v>0.15151515151515152</c:v>
                </c:pt>
                <c:pt idx="1">
                  <c:v>0.13</c:v>
                </c:pt>
                <c:pt idx="2">
                  <c:v>0.02</c:v>
                </c:pt>
                <c:pt idx="3">
                  <c:v>0.07894736842105263</c:v>
                </c:pt>
                <c:pt idx="4">
                  <c:v>0.09090909090909093</c:v>
                </c:pt>
                <c:pt idx="5">
                  <c:v>0.22</c:v>
                </c:pt>
                <c:pt idx="6">
                  <c:v>0.09</c:v>
                </c:pt>
                <c:pt idx="7">
                  <c:v>0.15789473684210525</c:v>
                </c:pt>
              </c:numCache>
            </c:numRef>
          </c:val>
          <c:extLst>
            <c:ext xmlns:c16="http://schemas.microsoft.com/office/drawing/2014/chart" uri="{C3380CC4-5D6E-409C-BE32-E72D297353CC}">
              <c16:uniqueId val="{00000001-AD9A-4955-BC1E-DE66787E4B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Sheet1!$D$2:$D$9</c:f>
              <c:numCache>
                <c:formatCode>0%</c:formatCode>
                <c:ptCount val="8"/>
                <c:pt idx="0">
                  <c:v>0.696969696969697</c:v>
                </c:pt>
                <c:pt idx="1">
                  <c:v>0.71</c:v>
                </c:pt>
                <c:pt idx="2">
                  <c:v>0.76</c:v>
                </c:pt>
                <c:pt idx="3">
                  <c:v>0.7894736842105263</c:v>
                </c:pt>
                <c:pt idx="4">
                  <c:v>0.8484848484848485</c:v>
                </c:pt>
                <c:pt idx="5">
                  <c:v>0.64</c:v>
                </c:pt>
                <c:pt idx="6">
                  <c:v>0.85</c:v>
                </c:pt>
                <c:pt idx="7">
                  <c:v>0.8421052631578947</c:v>
                </c:pt>
              </c:numCache>
            </c:numRef>
          </c:val>
          <c:extLst>
            <c:ext xmlns:c16="http://schemas.microsoft.com/office/drawing/2014/chart" uri="{C3380CC4-5D6E-409C-BE32-E72D297353CC}">
              <c16:uniqueId val="{00000002-AD9A-4955-BC1E-DE66787E4B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Sheet1!$E$2:$E$9</c:f>
              <c:numCache>
                <c:formatCode>0%</c:formatCode>
                <c:ptCount val="8"/>
                <c:pt idx="0">
                  <c:v>0.9099999999999999</c:v>
                </c:pt>
                <c:pt idx="1">
                  <c:v>0.9099999999999999</c:v>
                </c:pt>
                <c:pt idx="2">
                  <c:v>0.89</c:v>
                </c:pt>
                <c:pt idx="3">
                  <c:v>0.9473684210526316</c:v>
                </c:pt>
                <c:pt idx="4">
                  <c:v>0.94</c:v>
                </c:pt>
                <c:pt idx="5">
                  <c:v>0.93</c:v>
                </c:pt>
                <c:pt idx="6">
                  <c:v>0.98</c:v>
                </c:pt>
                <c:pt idx="7">
                  <c:v>1.0</c:v>
                </c:pt>
              </c:numCache>
            </c:numRef>
          </c:val>
          <c:extLst>
            <c:ext xmlns:c16="http://schemas.microsoft.com/office/drawing/2014/chart" uri="{C3380CC4-5D6E-409C-BE32-E72D297353CC}">
              <c16:uniqueId val="{00000003-AD9A-4955-BC1E-DE66787E4B04}"/>
            </c:ext>
          </c:extLst>
        </c:ser>
        <c:dLbls>
          <c:showLegendKey val="0"/>
          <c:showVal val="0"/>
          <c:showCatName val="0"/>
          <c:showSerName val="0"/>
          <c:showPercent val="0"/>
          <c:showBubbleSize val="0"/>
        </c:dLbls>
        <c:gapWidth val="100"/>
        <c:overlap val="100"/>
        <c:axId val="322079200"/>
        <c:axId val="322079760"/>
      </c:barChart>
      <c:catAx>
        <c:axId val="32207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760"/>
        <c:crosses val="autoZero"/>
        <c:auto val="1"/>
        <c:lblAlgn val="ctr"/>
        <c:lblOffset val="100"/>
        <c:tickLblSkip val="1"/>
        <c:tickMarkSkip val="4"/>
        <c:noMultiLvlLbl val="0"/>
      </c:catAx>
      <c:valAx>
        <c:axId val="32207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200"/>
        <c:crosses val="autoZero"/>
        <c:crossBetween val="between"/>
      </c:valAx>
      <c:spPr>
        <a:noFill/>
        <a:ln w="20365">
          <a:noFill/>
        </a:ln>
      </c:spPr>
    </c:plotArea>
    <c:legend>
      <c:legendPos val="t"/>
      <c:legendEntry>
        <c:idx val="3"/>
        <c:delete val="1"/>
      </c:legendEntry>
      <c:layout>
        <c:manualLayout>
          <c:xMode val="edge"/>
          <c:yMode val="edge"/>
          <c:x val="0.37558907110295425"/>
          <c:y val="3.4098360655737708E-2"/>
          <c:w val="0.24506245929785095"/>
          <c:h val="4.566495417580999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5598893888263968"/>
          <c:w val="0.91150512660737548"/>
          <c:h val="0.6444120734908136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Sheet1!$B$2:$B$9</c:f>
              <c:numCache>
                <c:formatCode>0%</c:formatCode>
                <c:ptCount val="8"/>
                <c:pt idx="0">
                  <c:v>0.09090909090909093</c:v>
                </c:pt>
                <c:pt idx="1">
                  <c:v>0.04</c:v>
                </c:pt>
                <c:pt idx="2">
                  <c:v>0.04</c:v>
                </c:pt>
                <c:pt idx="3">
                  <c:v>0.02631578947368421</c:v>
                </c:pt>
                <c:pt idx="4">
                  <c:v>0.030303030303030304</c:v>
                </c:pt>
                <c:pt idx="5">
                  <c:v>0.02</c:v>
                </c:pt>
                <c:pt idx="7">
                  <c:v>0.05263157894736842</c:v>
                </c:pt>
              </c:numCache>
            </c:numRef>
          </c:val>
          <c:extLst>
            <c:ext xmlns:c16="http://schemas.microsoft.com/office/drawing/2014/chart" uri="{C3380CC4-5D6E-409C-BE32-E72D297353CC}">
              <c16:uniqueId val="{00000000-AFDD-48EE-81D8-6E6529F03EFA}"/>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Sheet1!$C$2:$C$9</c:f>
              <c:numCache>
                <c:formatCode>0%</c:formatCode>
                <c:ptCount val="8"/>
                <c:pt idx="1">
                  <c:v>0.07</c:v>
                </c:pt>
                <c:pt idx="2">
                  <c:v>0.15</c:v>
                </c:pt>
                <c:pt idx="3">
                  <c:v>0.18421052631578946</c:v>
                </c:pt>
                <c:pt idx="5">
                  <c:v>0.16</c:v>
                </c:pt>
                <c:pt idx="6">
                  <c:v>0.15</c:v>
                </c:pt>
                <c:pt idx="7">
                  <c:v>0.13157894736842105</c:v>
                </c:pt>
              </c:numCache>
            </c:numRef>
          </c:val>
          <c:extLst>
            <c:ext xmlns:c16="http://schemas.microsoft.com/office/drawing/2014/chart" uri="{C3380CC4-5D6E-409C-BE32-E72D297353CC}">
              <c16:uniqueId val="{00000001-AFDD-48EE-81D8-6E6529F03EFA}"/>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Sheet1!$D$2:$D$9</c:f>
              <c:numCache>
                <c:formatCode>0%</c:formatCode>
                <c:ptCount val="8"/>
                <c:pt idx="0">
                  <c:v>0.8181818181818183</c:v>
                </c:pt>
                <c:pt idx="1">
                  <c:v>0.84</c:v>
                </c:pt>
                <c:pt idx="2">
                  <c:v>0.76</c:v>
                </c:pt>
                <c:pt idx="3">
                  <c:v>0.7631578947368421</c:v>
                </c:pt>
                <c:pt idx="4">
                  <c:v>0.8787878787878788</c:v>
                </c:pt>
                <c:pt idx="5">
                  <c:v>0.76</c:v>
                </c:pt>
                <c:pt idx="6">
                  <c:v>0.8</c:v>
                </c:pt>
                <c:pt idx="7">
                  <c:v>0.7631578947368421</c:v>
                </c:pt>
              </c:numCache>
            </c:numRef>
          </c:val>
          <c:extLst>
            <c:ext xmlns:c16="http://schemas.microsoft.com/office/drawing/2014/chart" uri="{C3380CC4-5D6E-409C-BE32-E72D297353CC}">
              <c16:uniqueId val="{00000002-AFDD-48EE-81D8-6E6529F03EFA}"/>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Sheet1!$E$2:$E$9</c:f>
              <c:numCache>
                <c:formatCode>0%</c:formatCode>
                <c:ptCount val="8"/>
                <c:pt idx="0">
                  <c:v>0.9099999999999999</c:v>
                </c:pt>
                <c:pt idx="1">
                  <c:v>0.95</c:v>
                </c:pt>
                <c:pt idx="2">
                  <c:v>0.95</c:v>
                </c:pt>
                <c:pt idx="3">
                  <c:v>0.9736842105263158</c:v>
                </c:pt>
                <c:pt idx="4">
                  <c:v>0.91</c:v>
                </c:pt>
                <c:pt idx="5">
                  <c:v>0.94</c:v>
                </c:pt>
                <c:pt idx="6">
                  <c:v>0.9500000000000001</c:v>
                </c:pt>
                <c:pt idx="7">
                  <c:v>0.9473684210526316</c:v>
                </c:pt>
              </c:numCache>
            </c:numRef>
          </c:val>
          <c:extLst>
            <c:ext xmlns:c16="http://schemas.microsoft.com/office/drawing/2014/chart" uri="{C3380CC4-5D6E-409C-BE32-E72D297353CC}">
              <c16:uniqueId val="{00000003-AFDD-48EE-81D8-6E6529F03EFA}"/>
            </c:ext>
          </c:extLst>
        </c:ser>
        <c:dLbls>
          <c:showLegendKey val="0"/>
          <c:showVal val="0"/>
          <c:showCatName val="0"/>
          <c:showSerName val="0"/>
          <c:showPercent val="0"/>
          <c:showBubbleSize val="0"/>
        </c:dLbls>
        <c:gapWidth val="100"/>
        <c:overlap val="100"/>
        <c:axId val="322530880"/>
        <c:axId val="322531440"/>
      </c:barChart>
      <c:catAx>
        <c:axId val="32253088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1440"/>
        <c:crosses val="autoZero"/>
        <c:auto val="1"/>
        <c:lblAlgn val="ctr"/>
        <c:lblOffset val="100"/>
        <c:tickLblSkip val="1"/>
        <c:tickMarkSkip val="4"/>
        <c:noMultiLvlLbl val="0"/>
      </c:catAx>
      <c:valAx>
        <c:axId val="322531440"/>
        <c:scaling>
          <c:orientation val="minMax"/>
          <c:max val="1.05"/>
          <c:min val="0"/>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088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Sheet1!$B$2:$B$9</c:f>
              <c:numCache>
                <c:formatCode>0%</c:formatCode>
                <c:ptCount val="8"/>
                <c:pt idx="1">
                  <c:v>0.04</c:v>
                </c:pt>
                <c:pt idx="2">
                  <c:v>0.02</c:v>
                </c:pt>
                <c:pt idx="3">
                  <c:v>0.07894736842105263</c:v>
                </c:pt>
                <c:pt idx="4">
                  <c:v>0.030303030303030304</c:v>
                </c:pt>
                <c:pt idx="5">
                  <c:v>0.07</c:v>
                </c:pt>
                <c:pt idx="6">
                  <c:v>0.04</c:v>
                </c:pt>
              </c:numCache>
            </c:numRef>
          </c:val>
          <c:extLst>
            <c:ext xmlns:c16="http://schemas.microsoft.com/office/drawing/2014/chart" uri="{C3380CC4-5D6E-409C-BE32-E72D297353CC}">
              <c16:uniqueId val="{00000000-7A55-4EF5-B9A6-81EB46CD06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Sheet1!$C$2:$C$9</c:f>
              <c:numCache>
                <c:formatCode>0%</c:formatCode>
                <c:ptCount val="8"/>
                <c:pt idx="0">
                  <c:v>0.09090909090909093</c:v>
                </c:pt>
                <c:pt idx="1">
                  <c:v>0.13</c:v>
                </c:pt>
                <c:pt idx="2">
                  <c:v>0.07</c:v>
                </c:pt>
                <c:pt idx="3">
                  <c:v>0.10526315789473684</c:v>
                </c:pt>
                <c:pt idx="4">
                  <c:v>0.06060606060606061</c:v>
                </c:pt>
                <c:pt idx="5">
                  <c:v>0.16</c:v>
                </c:pt>
                <c:pt idx="6">
                  <c:v>0.2</c:v>
                </c:pt>
                <c:pt idx="7">
                  <c:v>0.23684210526315788</c:v>
                </c:pt>
              </c:numCache>
            </c:numRef>
          </c:val>
          <c:extLst>
            <c:ext xmlns:c16="http://schemas.microsoft.com/office/drawing/2014/chart" uri="{C3380CC4-5D6E-409C-BE32-E72D297353CC}">
              <c16:uniqueId val="{00000001-7A55-4EF5-B9A6-81EB46CD06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Sheet1!$D$2:$D$9</c:f>
              <c:numCache>
                <c:formatCode>0%</c:formatCode>
                <c:ptCount val="8"/>
                <c:pt idx="0">
                  <c:v>0.8484848484848485</c:v>
                </c:pt>
                <c:pt idx="1">
                  <c:v>0.73</c:v>
                </c:pt>
                <c:pt idx="2">
                  <c:v>0.89</c:v>
                </c:pt>
                <c:pt idx="3">
                  <c:v>0.8157894736842105</c:v>
                </c:pt>
                <c:pt idx="4">
                  <c:v>0.8484848484848485</c:v>
                </c:pt>
                <c:pt idx="5">
                  <c:v>0.71</c:v>
                </c:pt>
                <c:pt idx="6">
                  <c:v>0.7</c:v>
                </c:pt>
                <c:pt idx="7">
                  <c:v>0.6578947368421053</c:v>
                </c:pt>
              </c:numCache>
            </c:numRef>
          </c:val>
          <c:extLst>
            <c:ext xmlns:c16="http://schemas.microsoft.com/office/drawing/2014/chart" uri="{C3380CC4-5D6E-409C-BE32-E72D297353CC}">
              <c16:uniqueId val="{00000002-7A55-4EF5-B9A6-81EB46CD06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Sheet1!$E$2:$E$9</c:f>
              <c:numCache>
                <c:formatCode>0%</c:formatCode>
                <c:ptCount val="8"/>
                <c:pt idx="0">
                  <c:v>0.94</c:v>
                </c:pt>
                <c:pt idx="1">
                  <c:v>0.9</c:v>
                </c:pt>
                <c:pt idx="2">
                  <c:v>0.98</c:v>
                </c:pt>
                <c:pt idx="3">
                  <c:v>1.0</c:v>
                </c:pt>
                <c:pt idx="4">
                  <c:v>0.94</c:v>
                </c:pt>
                <c:pt idx="5">
                  <c:v>0.94</c:v>
                </c:pt>
                <c:pt idx="6">
                  <c:v>0.94</c:v>
                </c:pt>
                <c:pt idx="7">
                  <c:v>0.8947368421052632</c:v>
                </c:pt>
              </c:numCache>
            </c:numRef>
          </c:val>
          <c:extLst>
            <c:ext xmlns:c16="http://schemas.microsoft.com/office/drawing/2014/chart" uri="{C3380CC4-5D6E-409C-BE32-E72D297353CC}">
              <c16:uniqueId val="{00000003-7A55-4EF5-B9A6-81EB46CD0604}"/>
            </c:ext>
          </c:extLst>
        </c:ser>
        <c:dLbls>
          <c:showLegendKey val="0"/>
          <c:showVal val="0"/>
          <c:showCatName val="0"/>
          <c:showSerName val="0"/>
          <c:showPercent val="0"/>
          <c:showBubbleSize val="0"/>
        </c:dLbls>
        <c:gapWidth val="100"/>
        <c:overlap val="100"/>
        <c:axId val="322535920"/>
        <c:axId val="321858992"/>
      </c:barChart>
      <c:catAx>
        <c:axId val="32253592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8992"/>
        <c:crosses val="autoZero"/>
        <c:auto val="1"/>
        <c:lblAlgn val="ctr"/>
        <c:lblOffset val="100"/>
        <c:tickLblSkip val="1"/>
        <c:tickMarkSkip val="4"/>
        <c:noMultiLvlLbl val="0"/>
      </c:catAx>
      <c:valAx>
        <c:axId val="32185899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592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Q4 2024
(N=33)</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0.696969696969697</c:v>
                </c:pt>
                <c:pt idx="1">
                  <c:v>0.06060606060606061</c:v>
                </c:pt>
                <c:pt idx="2">
                  <c:v>0.2424242424242424</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Q1 2025
(N=45)</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0.49</c:v>
                </c:pt>
                <c:pt idx="1">
                  <c:v>0.07</c:v>
                </c:pt>
                <c:pt idx="2">
                  <c:v>0.44</c:v>
                </c:pt>
              </c:numCache>
            </c:numRef>
          </c:val>
          <c:extLst>
            <c:ext xmlns:c16="http://schemas.microsoft.com/office/drawing/2014/chart" uri="{C3380CC4-5D6E-409C-BE32-E72D297353CC}">
              <c16:uniqueId val="{00000000-403F-4B8D-87AA-FCD9B97B45F6}"/>
            </c:ext>
          </c:extLst>
        </c:ser>
        <c:ser>
          <c:idx val="2"/>
          <c:order val="2"/>
          <c:tx>
            <c:strRef>
              <c:f>Sheet1!$D$1</c:f>
              <c:strCache>
                <c:ptCount val="1"/>
                <c:pt idx="0">
                  <c:v>Q2 2025
(N=46)</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0.72</c:v>
                </c:pt>
                <c:pt idx="1">
                  <c:v>0.02</c:v>
                </c:pt>
                <c:pt idx="2">
                  <c:v>0.26</c:v>
                </c:pt>
              </c:numCache>
            </c:numRef>
          </c:val>
          <c:extLst>
            <c:ext xmlns:c16="http://schemas.microsoft.com/office/drawing/2014/chart" uri="{C3380CC4-5D6E-409C-BE32-E72D297353CC}">
              <c16:uniqueId val="{00000001-403F-4B8D-87AA-FCD9B97B45F6}"/>
            </c:ext>
          </c:extLst>
        </c:ser>
        <c:ser>
          <c:idx val="3"/>
          <c:order val="3"/>
          <c:tx>
            <c:strRef>
              <c:f>Sheet1!$E$1</c:f>
              <c:strCache>
                <c:ptCount val="1"/>
                <c:pt idx="0">
                  <c:v>Q3 2025
(N=38)</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0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0.5789473684210527</c:v>
                </c:pt>
                <c:pt idx="1">
                  <c:v>0.07894736842105263</c:v>
                </c:pt>
                <c:pt idx="2">
                  <c:v>0.34210526315789475</c:v>
                </c:pt>
              </c:numCache>
            </c:numRef>
          </c:val>
          <c:extLst>
            <c:ext xmlns:c16="http://schemas.microsoft.com/office/drawing/2014/chart" uri="{C3380CC4-5D6E-409C-BE32-E72D297353CC}">
              <c16:uniqueId val="{00000000-C0F4-4A27-8A6C-4014E18FA6F5}"/>
            </c:ext>
          </c:extLst>
        </c:ser>
        <c:dLbls>
          <c:showLegendKey val="0"/>
          <c:showVal val="0"/>
          <c:showCatName val="0"/>
          <c:showSerName val="0"/>
          <c:showPercent val="0"/>
          <c:showBubbleSize val="0"/>
        </c:dLbls>
        <c:gapWidth val="170"/>
        <c:overlap val="-10"/>
        <c:axId val="323356144"/>
        <c:axId val="323356704"/>
      </c:barChart>
      <c:catAx>
        <c:axId val="32335614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56704"/>
        <c:crosses val="autoZero"/>
        <c:auto val="1"/>
        <c:lblAlgn val="ctr"/>
        <c:lblOffset val="100"/>
        <c:noMultiLvlLbl val="0"/>
      </c:catAx>
      <c:valAx>
        <c:axId val="3233567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6144"/>
        <c:crosses val="autoZero"/>
        <c:crossBetween val="between"/>
      </c:valAx>
      <c:spPr>
        <a:noFill/>
        <a:ln w="21009">
          <a:noFill/>
        </a:ln>
      </c:spPr>
    </c:plotArea>
    <c:legend>
      <c:legendPos val="t"/>
      <c:layout>
        <c:manualLayout>
          <c:xMode val="edge"/>
          <c:yMode val="edge"/>
          <c:x val="0.23160055650938369"/>
          <c:y val="0"/>
          <c:w val="0.42883073826298029"/>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Q4 2024
(n=25)</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0.84</c:v>
                </c:pt>
                <c:pt idx="1">
                  <c:v>0.16</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Q1 2025
(n=25)</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Sheet1!$C$2:$C$3</c:f>
              <c:numCache>
                <c:formatCode>0%</c:formatCode>
                <c:ptCount val="2"/>
                <c:pt idx="0">
                  <c:v>0.8</c:v>
                </c:pt>
                <c:pt idx="1">
                  <c:v>0.16</c:v>
                </c:pt>
              </c:numCache>
            </c:numRef>
          </c:val>
          <c:extLst>
            <c:ext xmlns:c16="http://schemas.microsoft.com/office/drawing/2014/chart" uri="{C3380CC4-5D6E-409C-BE32-E72D297353CC}">
              <c16:uniqueId val="{00000000-EFD2-452A-891A-6A283B55AE1A}"/>
            </c:ext>
          </c:extLst>
        </c:ser>
        <c:ser>
          <c:idx val="2"/>
          <c:order val="2"/>
          <c:tx>
            <c:strRef>
              <c:f>Sheet1!$D$1</c:f>
              <c:strCache>
                <c:ptCount val="1"/>
                <c:pt idx="0">
                  <c:v>Q2 2025
(N=34)</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0.94</c:v>
                </c:pt>
                <c:pt idx="1">
                  <c:v>0.06</c:v>
                </c:pt>
              </c:numCache>
            </c:numRef>
          </c:val>
          <c:extLst>
            <c:ext xmlns:c16="http://schemas.microsoft.com/office/drawing/2014/chart" uri="{C3380CC4-5D6E-409C-BE32-E72D297353CC}">
              <c16:uniqueId val="{00000001-EFD2-452A-891A-6A283B55AE1A}"/>
            </c:ext>
          </c:extLst>
        </c:ser>
        <c:ser>
          <c:idx val="3"/>
          <c:order val="3"/>
          <c:tx>
            <c:strRef>
              <c:f>Sheet1!$E$1</c:f>
              <c:strCache>
                <c:ptCount val="1"/>
                <c:pt idx="0">
                  <c:v>Q3 2025
(n=25)</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Sheet1!$E$2:$E$3</c:f>
              <c:numCache>
                <c:formatCode>0%</c:formatCode>
                <c:ptCount val="2"/>
                <c:pt idx="0">
                  <c:v>0.92</c:v>
                </c:pt>
                <c:pt idx="1">
                  <c:v>0.08</c:v>
                </c:pt>
              </c:numCache>
            </c:numRef>
          </c:val>
          <c:extLst>
            <c:ext xmlns:c16="http://schemas.microsoft.com/office/drawing/2014/chart" uri="{C3380CC4-5D6E-409C-BE32-E72D297353CC}">
              <c16:uniqueId val="{00000000-AF88-4348-8696-5A67F3EFD30E}"/>
            </c:ext>
          </c:extLst>
        </c:ser>
        <c:dLbls>
          <c:dLblPos val="outEnd"/>
          <c:showLegendKey val="0"/>
          <c:showVal val="1"/>
          <c:showCatName val="0"/>
          <c:showSerName val="0"/>
          <c:showPercent val="0"/>
          <c:showBubbleSize val="0"/>
        </c:dLbls>
        <c:gapWidth val="170"/>
        <c:overlap val="-10"/>
        <c:axId val="323359504"/>
        <c:axId val="323360064"/>
      </c:barChart>
      <c:catAx>
        <c:axId val="3233595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60064"/>
        <c:crosses val="autoZero"/>
        <c:auto val="1"/>
        <c:lblAlgn val="ctr"/>
        <c:lblOffset val="100"/>
        <c:noMultiLvlLbl val="0"/>
      </c:catAx>
      <c:valAx>
        <c:axId val="3233600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9504"/>
        <c:crosses val="autoZero"/>
        <c:crossBetween val="between"/>
      </c:valAx>
      <c:spPr>
        <a:noFill/>
        <a:ln w="21009">
          <a:noFill/>
        </a:ln>
      </c:spPr>
    </c:plotArea>
    <c:legend>
      <c:legendPos val="t"/>
      <c:layout>
        <c:manualLayout>
          <c:xMode val="edge"/>
          <c:yMode val="edge"/>
          <c:x val="0.233480255757504"/>
          <c:y val="1.348162984624785E-2"/>
          <c:w val="0.42883073826298029"/>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1"/>
              <c:layout>
                <c:manualLayout>
                  <c:x val="2.2556390977443608E-2"/>
                  <c:y val="2.623054085452433E-3"/>
                </c:manualLayout>
              </c:layout>
              <c:spPr>
                <a:noFill/>
                <a:ln w="20289">
                  <a:noFill/>
                </a:ln>
              </c:spPr>
              <c:txPr>
                <a:bodyPr rot="0" spcFirstLastPara="1" vertOverflow="ellipsis" vert="horz" wrap="square" lIns="38100" tIns="19050" rIns="38100" bIns="19050" anchor="ctr" anchorCtr="1">
                  <a:no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4.6127819548872177E-2"/>
                      <c:h val="3.2852562282173738E-2"/>
                    </c:manualLayout>
                  </c15:layout>
                </c:ext>
                <c:ext xmlns:c16="http://schemas.microsoft.com/office/drawing/2014/chart" uri="{C3380CC4-5D6E-409C-BE32-E72D297353CC}">
                  <c16:uniqueId val="{00000000-018F-4FF9-9A33-FC3EE8DA16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Sheet1!$B$2:$B$9</c:f>
              <c:numCache>
                <c:formatCode>0%</c:formatCode>
                <c:ptCount val="8"/>
                <c:pt idx="1">
                  <c:v>0.04</c:v>
                </c:pt>
                <c:pt idx="2">
                  <c:v>0.02</c:v>
                </c:pt>
                <c:pt idx="4">
                  <c:v>0.09090909090909093</c:v>
                </c:pt>
                <c:pt idx="5">
                  <c:v>0.07</c:v>
                </c:pt>
                <c:pt idx="6">
                  <c:v>0.04</c:v>
                </c:pt>
                <c:pt idx="7">
                  <c:v>0.05263157894736842</c:v>
                </c:pt>
              </c:numCache>
            </c:numRef>
          </c:val>
          <c:extLst>
            <c:ext xmlns:c16="http://schemas.microsoft.com/office/drawing/2014/chart" uri="{C3380CC4-5D6E-409C-BE32-E72D297353CC}">
              <c16:uniqueId val="{00000001-018F-4FF9-9A33-FC3EE8DA1693}"/>
            </c:ext>
          </c:extLst>
        </c:ser>
        <c:ser>
          <c:idx val="1"/>
          <c:order val="1"/>
          <c:tx>
            <c:strRef>
              <c:f>Sheet1!$C$1</c:f>
              <c:strCache>
                <c:ptCount val="1"/>
                <c:pt idx="0">
                  <c:v>9</c:v>
                </c:pt>
              </c:strCache>
            </c:strRef>
          </c:tx>
          <c:spPr>
            <a:solidFill>
              <a:srgbClr val="59AAF2"/>
            </a:solidFill>
            <a:ln w="20289">
              <a:noFill/>
            </a:ln>
          </c:spPr>
          <c:invertIfNegative val="0"/>
          <c:dLbls>
            <c:dLbl>
              <c:idx val="2"/>
              <c:layout>
                <c:manualLayout>
                  <c:x val="7.5187969924812026E-3"/>
                  <c:y val="5.24590163934416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18F-4FF9-9A33-FC3EE8DA1693}"/>
                </c:ext>
              </c:extLst>
            </c:dLbl>
            <c:dLbl>
              <c:idx val="3"/>
              <c:layout>
                <c:manualLayout>
                  <c:x val="1.8796992481203006E-3"/>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18F-4FF9-9A33-FC3EE8DA1693}"/>
                </c:ext>
              </c:extLst>
            </c:dLbl>
            <c:dLbl>
              <c:idx val="7"/>
              <c:layout>
                <c:manualLayout>
                  <c:x val="-1.8796992481203006E-3"/>
                  <c:y val="-5.245901639344358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F8D-704B-BC29-52FCB95B9ED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Sheet1!$C$2:$C$9</c:f>
              <c:numCache>
                <c:formatCode>0%</c:formatCode>
                <c:ptCount val="8"/>
                <c:pt idx="0">
                  <c:v>0.09090909090909093</c:v>
                </c:pt>
                <c:pt idx="1">
                  <c:v>0.09</c:v>
                </c:pt>
                <c:pt idx="2">
                  <c:v>0.15</c:v>
                </c:pt>
                <c:pt idx="3">
                  <c:v>0.10526315789473684</c:v>
                </c:pt>
                <c:pt idx="4">
                  <c:v>0.06060606060606061</c:v>
                </c:pt>
                <c:pt idx="5">
                  <c:v>0.16</c:v>
                </c:pt>
                <c:pt idx="6">
                  <c:v>0.13</c:v>
                </c:pt>
                <c:pt idx="7">
                  <c:v>0.10526315789473684</c:v>
                </c:pt>
              </c:numCache>
            </c:numRef>
          </c:val>
          <c:extLst>
            <c:ext xmlns:c16="http://schemas.microsoft.com/office/drawing/2014/chart" uri="{C3380CC4-5D6E-409C-BE32-E72D297353CC}">
              <c16:uniqueId val="{00000004-018F-4FF9-9A33-FC3EE8DA1693}"/>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Sheet1!$D$2:$D$9</c:f>
              <c:numCache>
                <c:formatCode>0%</c:formatCode>
                <c:ptCount val="8"/>
                <c:pt idx="0">
                  <c:v>0.8484848484848485</c:v>
                </c:pt>
                <c:pt idx="1">
                  <c:v>0.8</c:v>
                </c:pt>
                <c:pt idx="2">
                  <c:v>0.8</c:v>
                </c:pt>
                <c:pt idx="3">
                  <c:v>0.868421052631579</c:v>
                </c:pt>
                <c:pt idx="4">
                  <c:v>0.7878787878787878</c:v>
                </c:pt>
                <c:pt idx="5">
                  <c:v>0.71</c:v>
                </c:pt>
                <c:pt idx="6">
                  <c:v>0.78</c:v>
                </c:pt>
                <c:pt idx="7">
                  <c:v>0.8157894736842105</c:v>
                </c:pt>
              </c:numCache>
            </c:numRef>
          </c:val>
          <c:extLst>
            <c:ext xmlns:c16="http://schemas.microsoft.com/office/drawing/2014/chart" uri="{C3380CC4-5D6E-409C-BE32-E72D297353CC}">
              <c16:uniqueId val="{00000005-018F-4FF9-9A33-FC3EE8DA1693}"/>
            </c:ext>
          </c:extLst>
        </c:ser>
        <c:ser>
          <c:idx val="3"/>
          <c:order val="3"/>
          <c:tx>
            <c:strRef>
              <c:f>Sheet1!$E$1</c:f>
              <c:strCache>
                <c:ptCount val="1"/>
                <c:pt idx="0">
                  <c:v>sum of displayed values</c:v>
                </c:pt>
              </c:strCache>
            </c:strRef>
          </c:tx>
          <c:spPr>
            <a:noFill/>
          </c:spPr>
          <c:invertIfNegative val="0"/>
          <c:dLbls>
            <c:dLbl>
              <c:idx val="3"/>
              <c:spPr>
                <a:noFill/>
                <a:ln w="20289">
                  <a:noFill/>
                </a:ln>
              </c:spPr>
              <c:txPr>
                <a:bodyPr wrap="square" lIns="38100" tIns="19050" rIns="38100" bIns="19050" anchor="ctr">
                  <a:noAutofit/>
                </a:bodyPr>
                <a:lstStyle/>
                <a:p>
                  <a:pPr>
                    <a:defRPr sz="1118" b="1"/>
                  </a:pPr>
                  <a:endParaRPr lang="en-US"/>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18F-4FF9-9A33-FC3EE8DA1693}"/>
                </c:ext>
              </c:extLst>
            </c:dLbl>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Sheet1!$E$2:$E$9</c:f>
              <c:numCache>
                <c:formatCode>0%</c:formatCode>
                <c:ptCount val="8"/>
                <c:pt idx="0">
                  <c:v>0.94</c:v>
                </c:pt>
                <c:pt idx="1">
                  <c:v>0.93</c:v>
                </c:pt>
                <c:pt idx="2">
                  <c:v>0.97</c:v>
                </c:pt>
                <c:pt idx="3">
                  <c:v>0.9736842105263158</c:v>
                </c:pt>
                <c:pt idx="4">
                  <c:v>0.9400000000000001</c:v>
                </c:pt>
                <c:pt idx="5">
                  <c:v>0.94</c:v>
                </c:pt>
                <c:pt idx="6">
                  <c:v>0.9500000000000001</c:v>
                </c:pt>
                <c:pt idx="7">
                  <c:v>0.9736842105263157</c:v>
                </c:pt>
              </c:numCache>
            </c:numRef>
          </c:val>
          <c:extLst>
            <c:ext xmlns:c16="http://schemas.microsoft.com/office/drawing/2014/chart" uri="{C3380CC4-5D6E-409C-BE32-E72D297353CC}">
              <c16:uniqueId val="{00000007-018F-4FF9-9A33-FC3EE8DA1693}"/>
            </c:ext>
          </c:extLst>
        </c:ser>
        <c:dLbls>
          <c:showLegendKey val="0"/>
          <c:showVal val="0"/>
          <c:showCatName val="0"/>
          <c:showSerName val="0"/>
          <c:showPercent val="0"/>
          <c:showBubbleSize val="0"/>
        </c:dLbls>
        <c:gapWidth val="100"/>
        <c:overlap val="100"/>
        <c:axId val="325164528"/>
        <c:axId val="325165088"/>
      </c:barChart>
      <c:catAx>
        <c:axId val="32516452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5088"/>
        <c:crosses val="autoZero"/>
        <c:auto val="1"/>
        <c:lblAlgn val="ctr"/>
        <c:lblOffset val="100"/>
        <c:tickLblSkip val="1"/>
        <c:tickMarkSkip val="4"/>
        <c:noMultiLvlLbl val="0"/>
      </c:catAx>
      <c:valAx>
        <c:axId val="32516508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452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Sheet1!$B$2:$B$9</c:f>
              <c:numCache>
                <c:formatCode>0%</c:formatCode>
                <c:ptCount val="8"/>
                <c:pt idx="1">
                  <c:v>0.04</c:v>
                </c:pt>
                <c:pt idx="3">
                  <c:v>0.02631578947368421</c:v>
                </c:pt>
                <c:pt idx="4">
                  <c:v>0.030303030303030304</c:v>
                </c:pt>
                <c:pt idx="5">
                  <c:v>0.02</c:v>
                </c:pt>
                <c:pt idx="6">
                  <c:v>0.02</c:v>
                </c:pt>
                <c:pt idx="7">
                  <c:v>0.05263157894736842</c:v>
                </c:pt>
              </c:numCache>
            </c:numRef>
          </c:val>
          <c:extLst>
            <c:ext xmlns:c16="http://schemas.microsoft.com/office/drawing/2014/chart" uri="{C3380CC4-5D6E-409C-BE32-E72D297353CC}">
              <c16:uniqueId val="{00000000-3F7D-4AEA-A719-67688FBC2FE5}"/>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0"/>
                  <c:y val="-4.901960784313725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D31-FE4B-9EF3-159D96FAEBA1}"/>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Sheet1!$C$2:$C$9</c:f>
              <c:numCache>
                <c:formatCode>0%</c:formatCode>
                <c:ptCount val="8"/>
                <c:pt idx="0">
                  <c:v>0.09090909090909093</c:v>
                </c:pt>
                <c:pt idx="1">
                  <c:v>0.16</c:v>
                </c:pt>
                <c:pt idx="2">
                  <c:v>0.17</c:v>
                </c:pt>
                <c:pt idx="3">
                  <c:v>0.05263157894736842</c:v>
                </c:pt>
                <c:pt idx="4">
                  <c:v>0.030303030303030304</c:v>
                </c:pt>
                <c:pt idx="5">
                  <c:v>0.11</c:v>
                </c:pt>
                <c:pt idx="6">
                  <c:v>0.22</c:v>
                </c:pt>
                <c:pt idx="7">
                  <c:v>0.05263157894736842</c:v>
                </c:pt>
              </c:numCache>
            </c:numRef>
          </c:val>
          <c:extLst>
            <c:ext xmlns:c16="http://schemas.microsoft.com/office/drawing/2014/chart" uri="{C3380CC4-5D6E-409C-BE32-E72D297353CC}">
              <c16:uniqueId val="{00000001-3F7D-4AEA-A719-67688FBC2FE5}"/>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Sheet1!$D$2:$D$9</c:f>
              <c:numCache>
                <c:formatCode>0%</c:formatCode>
                <c:ptCount val="8"/>
                <c:pt idx="0">
                  <c:v>0.8484848484848485</c:v>
                </c:pt>
                <c:pt idx="1">
                  <c:v>0.71</c:v>
                </c:pt>
                <c:pt idx="2">
                  <c:v>0.8</c:v>
                </c:pt>
                <c:pt idx="3">
                  <c:v>0.8947368421052632</c:v>
                </c:pt>
                <c:pt idx="4">
                  <c:v>0.8787878787878788</c:v>
                </c:pt>
                <c:pt idx="5">
                  <c:v>0.76</c:v>
                </c:pt>
                <c:pt idx="6">
                  <c:v>0.74</c:v>
                </c:pt>
                <c:pt idx="7">
                  <c:v>0.8421052631578947</c:v>
                </c:pt>
              </c:numCache>
            </c:numRef>
          </c:val>
          <c:extLst>
            <c:ext xmlns:c16="http://schemas.microsoft.com/office/drawing/2014/chart" uri="{C3380CC4-5D6E-409C-BE32-E72D297353CC}">
              <c16:uniqueId val="{00000002-3F7D-4AEA-A719-67688FBC2FE5}"/>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Q4 2024 
(N=33)</c:v>
                </c:pt>
                <c:pt idx="1">
                  <c:v>Q1 2025 
(N=45)</c:v>
                </c:pt>
                <c:pt idx="2">
                  <c:v>Q2 2025
(N=46)</c:v>
                </c:pt>
                <c:pt idx="3">
                  <c:v>Q3 2025
(N=38)</c:v>
                </c:pt>
                <c:pt idx="4">
                  <c:v>Q4 2024 
(N=33)</c:v>
                </c:pt>
                <c:pt idx="5">
                  <c:v>Q1 2025 
(N=45)</c:v>
                </c:pt>
                <c:pt idx="6">
                  <c:v>Q2 2025
(N=46)</c:v>
                </c:pt>
                <c:pt idx="7">
                  <c:v>Q3 2025
(N=38)</c:v>
                </c:pt>
              </c:strCache>
            </c:strRef>
          </c:cat>
          <c:val>
            <c:numRef>
              <c:f>Sheet1!$E$2:$E$9</c:f>
              <c:numCache>
                <c:formatCode>0%</c:formatCode>
                <c:ptCount val="8"/>
                <c:pt idx="0">
                  <c:v>0.94</c:v>
                </c:pt>
                <c:pt idx="1">
                  <c:v>0.9099999999999999</c:v>
                </c:pt>
                <c:pt idx="2">
                  <c:v>0.9700000000000001</c:v>
                </c:pt>
                <c:pt idx="3">
                  <c:v>0.9736842105263158</c:v>
                </c:pt>
                <c:pt idx="4">
                  <c:v>0.94</c:v>
                </c:pt>
                <c:pt idx="5">
                  <c:v>0.89</c:v>
                </c:pt>
                <c:pt idx="6">
                  <c:v>0.98</c:v>
                </c:pt>
                <c:pt idx="7">
                  <c:v>0.9473684210526315</c:v>
                </c:pt>
              </c:numCache>
            </c:numRef>
          </c:val>
          <c:extLst>
            <c:ext xmlns:c16="http://schemas.microsoft.com/office/drawing/2014/chart" uri="{C3380CC4-5D6E-409C-BE32-E72D297353CC}">
              <c16:uniqueId val="{00000003-3F7D-4AEA-A719-67688FBC2FE5}"/>
            </c:ext>
          </c:extLst>
        </c:ser>
        <c:dLbls>
          <c:showLegendKey val="0"/>
          <c:showVal val="0"/>
          <c:showCatName val="0"/>
          <c:showSerName val="0"/>
          <c:showPercent val="0"/>
          <c:showBubbleSize val="0"/>
        </c:dLbls>
        <c:gapWidth val="100"/>
        <c:overlap val="100"/>
        <c:axId val="325169008"/>
        <c:axId val="325169568"/>
      </c:barChart>
      <c:catAx>
        <c:axId val="32516900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568"/>
        <c:crosses val="autoZero"/>
        <c:auto val="1"/>
        <c:lblAlgn val="ctr"/>
        <c:lblOffset val="100"/>
        <c:tickLblSkip val="1"/>
        <c:tickMarkSkip val="4"/>
        <c:noMultiLvlLbl val="0"/>
      </c:catAx>
      <c:valAx>
        <c:axId val="32516956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00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0">
                  <c:v>0.030303030303030304</c:v>
                </c:pt>
                <c:pt idx="1">
                  <c:v>0.07</c:v>
                </c:pt>
                <c:pt idx="2">
                  <c:v>0.13</c:v>
                </c:pt>
                <c:pt idx="3">
                  <c:v>0.02631578947368421</c:v>
                </c:pt>
              </c:numCache>
            </c:numRef>
          </c:val>
          <c:extLst>
            <c:ext xmlns:c16="http://schemas.microsoft.com/office/drawing/2014/chart" uri="{C3380CC4-5D6E-409C-BE32-E72D297353CC}">
              <c16:uniqueId val="{00000000-10D9-4C7F-AED0-B6EF4592473B}"/>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1.3784301915450217E-16"/>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0EB-D641-9D50-B6487A9F60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0">
                  <c:v>0.09090909090909093</c:v>
                </c:pt>
                <c:pt idx="1">
                  <c:v>0.22</c:v>
                </c:pt>
                <c:pt idx="2">
                  <c:v>0.17</c:v>
                </c:pt>
                <c:pt idx="3">
                  <c:v>0.07894736842105263</c:v>
                </c:pt>
              </c:numCache>
            </c:numRef>
          </c:val>
          <c:extLst>
            <c:ext xmlns:c16="http://schemas.microsoft.com/office/drawing/2014/chart" uri="{C3380CC4-5D6E-409C-BE32-E72D297353CC}">
              <c16:uniqueId val="{00000001-10D9-4C7F-AED0-B6EF4592473B}"/>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0.7878787878787878</c:v>
                </c:pt>
                <c:pt idx="1">
                  <c:v>0.6</c:v>
                </c:pt>
                <c:pt idx="2">
                  <c:v>0.65</c:v>
                </c:pt>
                <c:pt idx="3">
                  <c:v>0.7631578947368421</c:v>
                </c:pt>
              </c:numCache>
            </c:numRef>
          </c:val>
          <c:extLst>
            <c:ext xmlns:c16="http://schemas.microsoft.com/office/drawing/2014/chart" uri="{C3380CC4-5D6E-409C-BE32-E72D297353CC}">
              <c16:uniqueId val="{00000002-10D9-4C7F-AED0-B6EF4592473B}"/>
            </c:ext>
          </c:extLst>
        </c:ser>
        <c:ser>
          <c:idx val="3"/>
          <c:order val="3"/>
          <c:tx>
            <c:strRef>
              <c:f>Sheet1!$E$1</c:f>
              <c:strCache>
                <c:ptCount val="1"/>
                <c:pt idx="0">
                  <c:v>sum of displayed values</c:v>
                </c:pt>
              </c:strCache>
            </c:strRef>
          </c:tx>
          <c:spPr>
            <a:noFill/>
          </c:spPr>
          <c:invertIfNegative val="0"/>
          <c:dLbls>
            <c:spPr>
              <a:noFill/>
              <a:ln>
                <a:noFill/>
              </a:ln>
              <a:effectLst/>
            </c:spPr>
            <c:txPr>
              <a:bodyPr wrap="square" lIns="38100" tIns="19050" rIns="38100" bIns="19050" anchor="ctr">
                <a:spAutoFit/>
              </a:bodyPr>
              <a:lstStyle/>
              <a:p>
                <a:pPr>
                  <a:defRPr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0.91</c:v>
                </c:pt>
                <c:pt idx="1">
                  <c:v>0.89</c:v>
                </c:pt>
                <c:pt idx="2">
                  <c:v>0.9500000000000001</c:v>
                </c:pt>
                <c:pt idx="3">
                  <c:v>0.868421052631579</c:v>
                </c:pt>
              </c:numCache>
            </c:numRef>
          </c:val>
          <c:extLst>
            <c:ext xmlns:c16="http://schemas.microsoft.com/office/drawing/2014/chart" uri="{C3380CC4-5D6E-409C-BE32-E72D297353CC}">
              <c16:uniqueId val="{00000001-48FE-5449-A1D1-20013E34F4E0}"/>
            </c:ext>
          </c:extLst>
        </c:ser>
        <c:dLbls>
          <c:showLegendKey val="0"/>
          <c:showVal val="0"/>
          <c:showCatName val="0"/>
          <c:showSerName val="0"/>
          <c:showPercent val="0"/>
          <c:showBubbleSize val="0"/>
        </c:dLbls>
        <c:gapWidth val="100"/>
        <c:overlap val="100"/>
        <c:axId val="324689200"/>
        <c:axId val="324689760"/>
      </c:barChart>
      <c:catAx>
        <c:axId val="32468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760"/>
        <c:crosses val="autoZero"/>
        <c:auto val="1"/>
        <c:lblAlgn val="ctr"/>
        <c:lblOffset val="100"/>
        <c:tickLblSkip val="1"/>
        <c:tickMarkSkip val="4"/>
        <c:noMultiLvlLbl val="0"/>
      </c:catAx>
      <c:valAx>
        <c:axId val="32468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20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2402359244568112"/>
          <c:h val="4.565173615593132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Q4 2024
(N=33)</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0.5757575757575758</c:v>
                </c:pt>
                <c:pt idx="1">
                  <c:v>0.1515151515151515</c:v>
                </c:pt>
                <c:pt idx="2">
                  <c:v>0.2727272727272727</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Q1 2025
(N=45)</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0.42</c:v>
                </c:pt>
                <c:pt idx="1">
                  <c:v>0.09</c:v>
                </c:pt>
                <c:pt idx="2">
                  <c:v>0.49</c:v>
                </c:pt>
              </c:numCache>
            </c:numRef>
          </c:val>
          <c:extLst>
            <c:ext xmlns:c16="http://schemas.microsoft.com/office/drawing/2014/chart" uri="{C3380CC4-5D6E-409C-BE32-E72D297353CC}">
              <c16:uniqueId val="{00000000-2F2C-4AB5-908E-1D7E0E26B6CB}"/>
            </c:ext>
          </c:extLst>
        </c:ser>
        <c:ser>
          <c:idx val="2"/>
          <c:order val="2"/>
          <c:tx>
            <c:strRef>
              <c:f>Sheet1!$D$1</c:f>
              <c:strCache>
                <c:ptCount val="1"/>
                <c:pt idx="0">
                  <c:v>Q2 2025
(N=46)</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0.52</c:v>
                </c:pt>
                <c:pt idx="1">
                  <c:v>0.09</c:v>
                </c:pt>
                <c:pt idx="2">
                  <c:v>0.39</c:v>
                </c:pt>
              </c:numCache>
            </c:numRef>
          </c:val>
          <c:extLst>
            <c:ext xmlns:c16="http://schemas.microsoft.com/office/drawing/2014/chart" uri="{C3380CC4-5D6E-409C-BE32-E72D297353CC}">
              <c16:uniqueId val="{00000001-2F2C-4AB5-908E-1D7E0E26B6CB}"/>
            </c:ext>
          </c:extLst>
        </c:ser>
        <c:ser>
          <c:idx val="3"/>
          <c:order val="3"/>
          <c:tx>
            <c:strRef>
              <c:f>Sheet1!$E$1</c:f>
              <c:strCache>
                <c:ptCount val="1"/>
                <c:pt idx="0">
                  <c:v>Q3 2025
(N=38)</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0.4473684210526316</c:v>
                </c:pt>
                <c:pt idx="1">
                  <c:v>0.05263157894736842</c:v>
                </c:pt>
                <c:pt idx="2">
                  <c:v>0.5</c:v>
                </c:pt>
              </c:numCache>
            </c:numRef>
          </c:val>
          <c:extLst>
            <c:ext xmlns:c16="http://schemas.microsoft.com/office/drawing/2014/chart" uri="{C3380CC4-5D6E-409C-BE32-E72D297353CC}">
              <c16:uniqueId val="{00000000-A205-4F76-994F-922B6EF4212F}"/>
            </c:ext>
          </c:extLst>
        </c:ser>
        <c:dLbls>
          <c:dLblPos val="outEnd"/>
          <c:showLegendKey val="0"/>
          <c:showVal val="1"/>
          <c:showCatName val="0"/>
          <c:showSerName val="0"/>
          <c:showPercent val="0"/>
          <c:showBubbleSize val="0"/>
        </c:dLbls>
        <c:gapWidth val="170"/>
        <c:overlap val="-10"/>
        <c:axId val="324692560"/>
        <c:axId val="323323104"/>
      </c:barChart>
      <c:catAx>
        <c:axId val="32469256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3104"/>
        <c:crosses val="autoZero"/>
        <c:auto val="1"/>
        <c:lblAlgn val="ctr"/>
        <c:lblOffset val="100"/>
        <c:noMultiLvlLbl val="0"/>
      </c:catAx>
      <c:valAx>
        <c:axId val="3233231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92560"/>
        <c:crosses val="autoZero"/>
        <c:crossBetween val="between"/>
      </c:valAx>
      <c:spPr>
        <a:noFill/>
        <a:ln w="21009">
          <a:noFill/>
        </a:ln>
      </c:spPr>
    </c:plotArea>
    <c:legend>
      <c:legendPos val="t"/>
      <c:layout>
        <c:manualLayout>
          <c:xMode val="edge"/>
          <c:yMode val="edge"/>
          <c:x val="0.23535995500562429"/>
          <c:y val="3.2355911630994841E-2"/>
          <c:w val="0.42883073826298029"/>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456840921200637E-2"/>
          <c:y val="0.20439044715892893"/>
          <c:w val="0.91406747644859176"/>
          <c:h val="0.7328884533109119"/>
        </c:manualLayout>
      </c:layout>
      <c:barChart>
        <c:barDir val="col"/>
        <c:grouping val="clustered"/>
        <c:varyColors val="0"/>
        <c:ser>
          <c:idx val="0"/>
          <c:order val="0"/>
          <c:tx>
            <c:strRef>
              <c:f>Sheet1!$B$1</c:f>
              <c:strCache>
                <c:ptCount val="1"/>
                <c:pt idx="0">
                  <c:v>Q4 2024
(n=24)</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0.7916666666666666</c:v>
                </c:pt>
                <c:pt idx="1">
                  <c:v>0.2083333333333333</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Q1 2025
(n=23)</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0.78</c:v>
                </c:pt>
                <c:pt idx="1">
                  <c:v>0.09</c:v>
                </c:pt>
                <c:pt idx="2">
                  <c:v>0.13</c:v>
                </c:pt>
              </c:numCache>
            </c:numRef>
          </c:val>
          <c:extLst>
            <c:ext xmlns:c16="http://schemas.microsoft.com/office/drawing/2014/chart" uri="{C3380CC4-5D6E-409C-BE32-E72D297353CC}">
              <c16:uniqueId val="{00000000-7664-4622-B159-2555FB87495E}"/>
            </c:ext>
          </c:extLst>
        </c:ser>
        <c:ser>
          <c:idx val="2"/>
          <c:order val="2"/>
          <c:tx>
            <c:strRef>
              <c:f>Sheet1!$D$1</c:f>
              <c:strCache>
                <c:ptCount val="1"/>
                <c:pt idx="0">
                  <c:v>Q2 2025
(N=28)</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Sheet1!$D$2:$D$4</c:f>
              <c:numCache>
                <c:formatCode>0%</c:formatCode>
                <c:ptCount val="3"/>
                <c:pt idx="0">
                  <c:v>0.89</c:v>
                </c:pt>
                <c:pt idx="1">
                  <c:v>0.07</c:v>
                </c:pt>
                <c:pt idx="2">
                  <c:v>0.04</c:v>
                </c:pt>
              </c:numCache>
            </c:numRef>
          </c:val>
          <c:extLst>
            <c:ext xmlns:c16="http://schemas.microsoft.com/office/drawing/2014/chart" uri="{C3380CC4-5D6E-409C-BE32-E72D297353CC}">
              <c16:uniqueId val="{00000001-7664-4622-B159-2555FB87495E}"/>
            </c:ext>
          </c:extLst>
        </c:ser>
        <c:ser>
          <c:idx val="3"/>
          <c:order val="3"/>
          <c:tx>
            <c:strRef>
              <c:f>Sheet1!$E$1</c:f>
              <c:strCache>
                <c:ptCount val="1"/>
                <c:pt idx="0">
                  <c:v>Q3 2025
(n=19)</c:v>
                </c:pt>
              </c:strCache>
            </c:strRef>
          </c:tx>
          <c:spPr>
            <a:solidFill>
              <a:schemeClr val="tx1"/>
            </a:solidFill>
          </c:spPr>
          <c:invertIfNegative val="0"/>
          <c:dPt>
            <c:idx val="0"/>
            <c:invertIfNegative val="0"/>
            <c:bubble3D val="0"/>
            <c:extLst>
              <c:ext xmlns:c16="http://schemas.microsoft.com/office/drawing/2014/chart" uri="{C3380CC4-5D6E-409C-BE32-E72D297353CC}">
                <c16:uniqueId val="{00000000-E746-504A-BA49-89DD2B9F1447}"/>
              </c:ext>
            </c:extLst>
          </c:dPt>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0.8421052631578947</c:v>
                </c:pt>
                <c:pt idx="1">
                  <c:v>0.10526315789473684</c:v>
                </c:pt>
                <c:pt idx="2">
                  <c:v>0.05263157894736842</c:v>
                </c:pt>
              </c:numCache>
            </c:numRef>
          </c:val>
          <c:extLst>
            <c:ext xmlns:c16="http://schemas.microsoft.com/office/drawing/2014/chart" uri="{C3380CC4-5D6E-409C-BE32-E72D297353CC}">
              <c16:uniqueId val="{00000001-9A02-4932-A087-5B84C8851181}"/>
            </c:ext>
          </c:extLst>
        </c:ser>
        <c:dLbls>
          <c:dLblPos val="outEnd"/>
          <c:showLegendKey val="0"/>
          <c:showVal val="1"/>
          <c:showCatName val="0"/>
          <c:showSerName val="0"/>
          <c:showPercent val="0"/>
          <c:showBubbleSize val="0"/>
        </c:dLbls>
        <c:gapWidth val="170"/>
        <c:overlap val="-10"/>
        <c:axId val="323325904"/>
        <c:axId val="323326464"/>
      </c:barChart>
      <c:catAx>
        <c:axId val="3233259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6464"/>
        <c:crosses val="autoZero"/>
        <c:auto val="1"/>
        <c:lblAlgn val="ctr"/>
        <c:lblOffset val="100"/>
        <c:noMultiLvlLbl val="0"/>
      </c:catAx>
      <c:valAx>
        <c:axId val="3233264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25904"/>
        <c:crosses val="autoZero"/>
        <c:crossBetween val="between"/>
      </c:valAx>
      <c:spPr>
        <a:noFill/>
        <a:ln w="21009">
          <a:noFill/>
        </a:ln>
      </c:spPr>
    </c:plotArea>
    <c:legend>
      <c:legendPos val="t"/>
      <c:layout>
        <c:manualLayout>
          <c:xMode val="edge"/>
          <c:yMode val="edge"/>
          <c:x val="0.19588627079509799"/>
          <c:y val="4.5891399849724172E-2"/>
          <c:w val="0.42764282754129418"/>
          <c:h val="7.9561444989957833E-2"/>
        </c:manualLayout>
      </c:layout>
      <c:overlay val="0"/>
      <c:spPr>
        <a:noFill/>
        <a:ln w="20893">
          <a:noFill/>
        </a:ln>
      </c:spPr>
      <c:txPr>
        <a:bodyPr rot="0" spcFirstLastPara="1" vertOverflow="ellipsis" vert="horz" wrap="square" anchor="ctr" anchorCtr="1"/>
        <a:lstStyle/>
        <a:p>
          <a:pPr>
            <a:defRPr sz="98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8145912847526163"/>
          <c:w val="0.91406747644859176"/>
          <c:h val="0.76002125639023954"/>
        </c:manualLayout>
      </c:layout>
      <c:barChart>
        <c:barDir val="col"/>
        <c:grouping val="clustered"/>
        <c:varyColors val="0"/>
        <c:ser>
          <c:idx val="0"/>
          <c:order val="0"/>
          <c:tx>
            <c:strRef>
              <c:f>Sheet1!$B$1</c:f>
              <c:strCache>
                <c:ptCount val="1"/>
                <c:pt idx="0">
                  <c:v>Q4 2024
(N=33)</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0.9696969696969697</c:v>
                </c:pt>
                <c:pt idx="1">
                  <c:v>0.0303030303030303</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Q1 2025
(N=45)</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Sheet1!$C$2:$C$3</c:f>
              <c:numCache>
                <c:formatCode>0%</c:formatCode>
                <c:ptCount val="2"/>
                <c:pt idx="0">
                  <c:v>0.96</c:v>
                </c:pt>
                <c:pt idx="1">
                  <c:v>0.04</c:v>
                </c:pt>
              </c:numCache>
            </c:numRef>
          </c:val>
          <c:extLst>
            <c:ext xmlns:c16="http://schemas.microsoft.com/office/drawing/2014/chart" uri="{C3380CC4-5D6E-409C-BE32-E72D297353CC}">
              <c16:uniqueId val="{00000001-B3BC-4399-9949-26421AA520BC}"/>
            </c:ext>
          </c:extLst>
        </c:ser>
        <c:ser>
          <c:idx val="2"/>
          <c:order val="2"/>
          <c:tx>
            <c:strRef>
              <c:f>Sheet1!$D$1</c:f>
              <c:strCache>
                <c:ptCount val="1"/>
                <c:pt idx="0">
                  <c:v>Q2 2025
(N=46)</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0.94</c:v>
                </c:pt>
                <c:pt idx="1">
                  <c:v>0.06</c:v>
                </c:pt>
              </c:numCache>
            </c:numRef>
          </c:val>
          <c:extLst>
            <c:ext xmlns:c16="http://schemas.microsoft.com/office/drawing/2014/chart" uri="{C3380CC4-5D6E-409C-BE32-E72D297353CC}">
              <c16:uniqueId val="{00000002-B3BC-4399-9949-26421AA520BC}"/>
            </c:ext>
          </c:extLst>
        </c:ser>
        <c:ser>
          <c:idx val="3"/>
          <c:order val="3"/>
          <c:tx>
            <c:strRef>
              <c:f>Sheet1!$E$1</c:f>
              <c:strCache>
                <c:ptCount val="1"/>
                <c:pt idx="0">
                  <c:v>Q3 2025
(N=38)</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0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Sheet1!$E$2:$E$3</c:f>
              <c:numCache>
                <c:formatCode>0%</c:formatCode>
                <c:ptCount val="2"/>
                <c:pt idx="0">
                  <c:v>0.9736842105263158</c:v>
                </c:pt>
                <c:pt idx="1">
                  <c:v>0.02631578947368421</c:v>
                </c:pt>
              </c:numCache>
            </c:numRef>
          </c:val>
          <c:extLst>
            <c:ext xmlns:c16="http://schemas.microsoft.com/office/drawing/2014/chart" uri="{C3380CC4-5D6E-409C-BE32-E72D297353CC}">
              <c16:uniqueId val="{00000003-B3BC-4399-9949-26421AA520BC}"/>
            </c:ext>
          </c:extLst>
        </c:ser>
        <c:dLbls>
          <c:dLblPos val="outEnd"/>
          <c:showLegendKey val="0"/>
          <c:showVal val="1"/>
          <c:showCatName val="0"/>
          <c:showSerName val="0"/>
          <c:showPercent val="0"/>
          <c:showBubbleSize val="0"/>
        </c:dLbls>
        <c:gapWidth val="90"/>
        <c:overlap val="-10"/>
        <c:axId val="325456592"/>
        <c:axId val="325457152"/>
      </c:barChart>
      <c:catAx>
        <c:axId val="32545659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7152"/>
        <c:crosses val="autoZero"/>
        <c:auto val="1"/>
        <c:lblAlgn val="ctr"/>
        <c:lblOffset val="100"/>
        <c:noMultiLvlLbl val="0"/>
      </c:catAx>
      <c:valAx>
        <c:axId val="32545715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659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4908531170452E-2"/>
          <c:y val="0.13402485132972361"/>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(N=43)</c:v>
                </c:pt>
                <c:pt idx="2">
                  <c:v>Q2 2025
(N=43)</c:v>
                </c:pt>
                <c:pt idx="3">
                  <c:v>Q3 2025
(N=38)</c:v>
                </c:pt>
              </c:strCache>
            </c:strRef>
          </c:cat>
          <c:val>
            <c:numRef>
              <c:f>Sheet1!$B$2:$B$5</c:f>
              <c:numCache>
                <c:formatCode>0%</c:formatCode>
                <c:ptCount val="4"/>
                <c:pt idx="0">
                  <c:v>0.1875</c:v>
                </c:pt>
                <c:pt idx="1">
                  <c:v>0.19</c:v>
                </c:pt>
                <c:pt idx="2">
                  <c:v>0.09</c:v>
                </c:pt>
                <c:pt idx="3">
                  <c:v>0.05405405405405406</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(N=43)</c:v>
                </c:pt>
                <c:pt idx="2">
                  <c:v>Q2 2025
(N=43)</c:v>
                </c:pt>
                <c:pt idx="3">
                  <c:v>Q3 2025
(N=38)</c:v>
                </c:pt>
              </c:strCache>
            </c:strRef>
          </c:cat>
          <c:val>
            <c:numRef>
              <c:f>Sheet1!$C$2:$C$5</c:f>
              <c:numCache>
                <c:formatCode>0%</c:formatCode>
                <c:ptCount val="4"/>
                <c:pt idx="0">
                  <c:v>0.03125</c:v>
                </c:pt>
                <c:pt idx="1">
                  <c:v>0.09</c:v>
                </c:pt>
                <c:pt idx="2">
                  <c:v>0.12</c:v>
                </c:pt>
                <c:pt idx="3">
                  <c:v>0.13513513513513514</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(N=43)</c:v>
                </c:pt>
                <c:pt idx="2">
                  <c:v>Q2 2025
(N=43)</c:v>
                </c:pt>
                <c:pt idx="3">
                  <c:v>Q3 2025
(N=38)</c:v>
                </c:pt>
              </c:strCache>
            </c:strRef>
          </c:cat>
          <c:val>
            <c:numRef>
              <c:f>Sheet1!$D$2:$D$5</c:f>
              <c:numCache>
                <c:formatCode>0%</c:formatCode>
                <c:ptCount val="4"/>
                <c:pt idx="0">
                  <c:v>0.53125</c:v>
                </c:pt>
                <c:pt idx="1">
                  <c:v>0.49</c:v>
                </c:pt>
                <c:pt idx="2">
                  <c:v>0.56</c:v>
                </c:pt>
                <c:pt idx="3">
                  <c:v>0.5945945945945946</c:v>
                </c:pt>
              </c:numCache>
            </c:numRef>
          </c:val>
          <c:extLst>
            <c:ext xmlns:c16="http://schemas.microsoft.com/office/drawing/2014/chart" uri="{C3380CC4-5D6E-409C-BE32-E72D297353CC}">
              <c16:uniqueId val="{00000003-9512-4180-AFC8-C9702FFCB6FC}"/>
            </c:ext>
          </c:extLst>
        </c:ser>
        <c:ser>
          <c:idx val="3"/>
          <c:order val="3"/>
          <c:tx>
            <c:strRef>
              <c:f>Sheet1!$E$1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(N=43)</c:v>
                </c:pt>
                <c:pt idx="2">
                  <c:v>Q2 2025
(N=43)</c:v>
                </c:pt>
                <c:pt idx="3">
                  <c:v>Q3 2025
(N=38)</c:v>
                </c:pt>
              </c:strCache>
            </c:strRef>
          </c:cat>
          <c:val>
            <c:numRef>
              <c:f>Sheet1!$E$2:$E$5</c:f>
              <c:numCache>
                <c:formatCode>0%</c:formatCode>
                <c:ptCount val="4"/>
                <c:pt idx="0">
                  <c:v>0.56</c:v>
                </c:pt>
                <c:pt idx="1">
                  <c:v>0.58</c:v>
                </c:pt>
                <c:pt idx="2">
                  <c:v>0.68</c:v>
                </c:pt>
                <c:pt idx="3">
                  <c:v>0.7837837837837838</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300"/>
        <c:overlap val="100"/>
        <c:axId val="325435840"/>
        <c:axId val="325436400"/>
      </c:barChart>
      <c:catAx>
        <c:axId val="3254358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6400"/>
        <c:crosses val="autoZero"/>
        <c:auto val="1"/>
        <c:lblAlgn val="ctr"/>
        <c:lblOffset val="100"/>
        <c:noMultiLvlLbl val="0"/>
      </c:catAx>
      <c:valAx>
        <c:axId val="32543640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58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0">
                  <c:v>0.09090909090909093</c:v>
                </c:pt>
                <c:pt idx="1">
                  <c:v>0.13</c:v>
                </c:pt>
                <c:pt idx="2">
                  <c:v>0.09</c:v>
                </c:pt>
                <c:pt idx="3">
                  <c:v>0.07894736842105263</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0">
                  <c:v>0.09090909090909093</c:v>
                </c:pt>
                <c:pt idx="1">
                  <c:v>0.07</c:v>
                </c:pt>
                <c:pt idx="2">
                  <c:v>0.09</c:v>
                </c:pt>
                <c:pt idx="3">
                  <c:v>0.05263157894736842</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0.3333333333333333</c:v>
                </c:pt>
                <c:pt idx="1">
                  <c:v>0.29</c:v>
                </c:pt>
                <c:pt idx="2">
                  <c:v>0.39</c:v>
                </c:pt>
                <c:pt idx="3">
                  <c:v>0.3684210526315789</c:v>
                </c:pt>
              </c:numCache>
            </c:numRef>
          </c:val>
          <c:extLst>
            <c:ext xmlns:c16="http://schemas.microsoft.com/office/drawing/2014/chart" uri="{C3380CC4-5D6E-409C-BE32-E72D297353CC}">
              <c16:uniqueId val="{00000003-9512-4180-AFC8-C9702FFCB6FC}"/>
            </c:ext>
          </c:extLst>
        </c:ser>
        <c:ser>
          <c:idx val="3"/>
          <c:order val="3"/>
          <c:tx>
            <c:strRef>
              <c:f>Sheet1!$E$1</c:f>
              <c:strCache>
                <c:ptCount val="1"/>
                <c:pt idx="0">
                  <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0.51</c:v>
                </c:pt>
                <c:pt idx="1">
                  <c:v>0.49</c:v>
                </c:pt>
                <c:pt idx="2">
                  <c:v>0.5700000000000001</c:v>
                </c:pt>
              </c:numCache>
            </c:numRef>
          </c:val>
          <c:extLst>
            <c:ext xmlns:c16="http://schemas.microsoft.com/office/drawing/2014/chart" uri="{C3380CC4-5D6E-409C-BE32-E72D297353CC}">
              <c16:uniqueId val="{00000004-9512-4180-AFC8-C9702FFCB6FC}"/>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Sheet1!$F$2:$F$5</c:f>
              <c:numCache>
                <c:formatCode>0%</c:formatCode>
                <c:ptCount val="4"/>
                <c:pt idx="3">
                  <c:v>0.5</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100"/>
        <c:overlap val="100"/>
        <c:axId val="327486640"/>
        <c:axId val="327557024"/>
      </c:barChart>
      <c:catAx>
        <c:axId val="3274866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557024"/>
        <c:crosses val="autoZero"/>
        <c:auto val="1"/>
        <c:lblAlgn val="ctr"/>
        <c:lblOffset val="100"/>
        <c:noMultiLvlLbl val="0"/>
      </c:catAx>
      <c:valAx>
        <c:axId val="327557024"/>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4866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4614735658042728E-2"/>
          <c:y val="0.18911929779269396"/>
          <c:w val="0.91150512660737548"/>
          <c:h val="0.71619981928488441"/>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0"/>
              <c:layout>
                <c:manualLayout>
                  <c:x val="-7.5187969924812373E-3"/>
                  <c:y val="-7.868852459016488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F17-F346-8221-F06B47BE4C64}"/>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1">
                  <c:v>0.04</c:v>
                </c:pt>
                <c:pt idx="2">
                  <c:v>0.07</c:v>
                </c:pt>
                <c:pt idx="3">
                  <c:v>0.02631578947368421</c:v>
                </c:pt>
              </c:numCache>
            </c:numRef>
          </c:val>
          <c:extLst>
            <c:ext xmlns:c16="http://schemas.microsoft.com/office/drawing/2014/chart" uri="{C3380CC4-5D6E-409C-BE32-E72D297353CC}">
              <c16:uniqueId val="{00000000-D709-46B7-8D5F-DCA6F61C30BE}"/>
            </c:ext>
          </c:extLst>
        </c:ser>
        <c:ser>
          <c:idx val="1"/>
          <c:order val="1"/>
          <c:tx>
            <c:strRef>
              <c:f>Sheet1!$C$1</c:f>
              <c:strCache>
                <c:ptCount val="1"/>
                <c:pt idx="0">
                  <c:v>9</c:v>
                </c:pt>
              </c:strCache>
            </c:strRef>
          </c:tx>
          <c:spPr>
            <a:solidFill>
              <a:srgbClr val="59AAF2"/>
            </a:solidFill>
            <a:ln w="20289">
              <a:noFill/>
            </a:ln>
          </c:spPr>
          <c:invertIfNegative val="0"/>
          <c:dLbls>
            <c:dLbl>
              <c:idx val="0"/>
              <c:layout>
                <c:manualLayout>
                  <c:x val="2.6315789473684174E-2"/>
                  <c:y val="-1.04918032786885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E4A-4C65-939F-A4A7A8555E5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1">
                  <c:v>0.07</c:v>
                </c:pt>
                <c:pt idx="2">
                  <c:v>0.04</c:v>
                </c:pt>
                <c:pt idx="3">
                  <c:v>0.05263157894736842</c:v>
                </c:pt>
              </c:numCache>
            </c:numRef>
          </c:val>
          <c:extLst>
            <c:ext xmlns:c16="http://schemas.microsoft.com/office/drawing/2014/chart" uri="{C3380CC4-5D6E-409C-BE32-E72D297353CC}">
              <c16:uniqueId val="{00000001-D709-46B7-8D5F-DCA6F61C30BE}"/>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0.33</c:v>
                </c:pt>
                <c:pt idx="1">
                  <c:v>0.36</c:v>
                </c:pt>
                <c:pt idx="2">
                  <c:v>0.54</c:v>
                </c:pt>
                <c:pt idx="3">
                  <c:v>0.5526315789473685</c:v>
                </c:pt>
              </c:numCache>
            </c:numRef>
          </c:val>
          <c:extLst>
            <c:ext xmlns:c16="http://schemas.microsoft.com/office/drawing/2014/chart" uri="{C3380CC4-5D6E-409C-BE32-E72D297353CC}">
              <c16:uniqueId val="{00000002-D709-46B7-8D5F-DCA6F61C30BE}"/>
            </c:ext>
          </c:extLst>
        </c:ser>
        <c:ser>
          <c:idx val="3"/>
          <c:order val="3"/>
          <c:tx>
            <c:strRef>
              <c:f>Sheet1!$E$1</c:f>
              <c:strCache>
                <c:ptCount val="1"/>
                <c:pt idx="0">
                  <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0.33</c:v>
                </c:pt>
                <c:pt idx="1">
                  <c:v>0.47</c:v>
                </c:pt>
                <c:pt idx="2">
                  <c:v>0.65</c:v>
                </c:pt>
              </c:numCache>
            </c:numRef>
          </c:val>
          <c:extLst>
            <c:ext xmlns:c16="http://schemas.microsoft.com/office/drawing/2014/chart" uri="{C3380CC4-5D6E-409C-BE32-E72D297353CC}">
              <c16:uniqueId val="{00000003-D709-46B7-8D5F-DCA6F61C30BE}"/>
            </c:ext>
          </c:extLst>
        </c:ser>
        <c:ser>
          <c:idx val="4"/>
          <c:order val="4"/>
          <c:tx>
            <c:strRef>
              <c:f>Sheet1!$F$1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Sheet1!$F$2:$F$5</c:f>
              <c:numCache>
                <c:formatCode>0%</c:formatCode>
                <c:ptCount val="4"/>
                <c:pt idx="3">
                  <c:v>0.6315789473684211</c:v>
                </c:pt>
              </c:numCache>
            </c:numRef>
          </c:val>
          <c:extLst>
            <c:ext xmlns:c16="http://schemas.microsoft.com/office/drawing/2014/chart" uri="{C3380CC4-5D6E-409C-BE32-E72D297353CC}">
              <c16:uniqueId val="{00000003-D709-46B7-8D5F-DCA6F61C30BE}"/>
            </c:ext>
          </c:extLst>
        </c:ser>
        <c:dLbls>
          <c:showLegendKey val="0"/>
          <c:showVal val="0"/>
          <c:showCatName val="0"/>
          <c:showSerName val="0"/>
          <c:showPercent val="0"/>
          <c:showBubbleSize val="0"/>
        </c:dLbls>
        <c:gapWidth val="100"/>
        <c:overlap val="100"/>
        <c:axId val="328273872"/>
        <c:axId val="328274432"/>
      </c:barChart>
      <c:catAx>
        <c:axId val="328273872"/>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4432"/>
        <c:crosses val="autoZero"/>
        <c:auto val="1"/>
        <c:lblAlgn val="ctr"/>
        <c:lblOffset val="100"/>
        <c:tickLblSkip val="1"/>
        <c:tickMarkSkip val="4"/>
        <c:noMultiLvlLbl val="0"/>
      </c:catAx>
      <c:valAx>
        <c:axId val="328274432"/>
        <c:scaling>
          <c:orientation val="minMax"/>
          <c:max val="1"/>
        </c:scaling>
        <c:delete val="0"/>
        <c:axPos val="l"/>
        <c:majorGridlines>
          <c:spPr>
            <a:ln w="7610" cap="flat" cmpd="sng" algn="ctr">
              <a:solidFill>
                <a:schemeClr val="bg1">
                  <a:lumMod val="85000"/>
                </a:schemeClr>
              </a:solidFill>
              <a:round/>
            </a:ln>
            <a:effectLst/>
          </c:spPr>
        </c:majorGridlines>
        <c:numFmt formatCode="General"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3872"/>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6573770724159629"/>
          <c:y val="8.5169299955746389E-2"/>
          <c:w val="0.66537266774435777"/>
          <c:h val="0.87368313618549842"/>
        </c:manualLayout>
      </c:layout>
      <c:barChart>
        <c:barDir val="bar"/>
        <c:grouping val="clustered"/>
        <c:varyColors val="0"/>
        <c:ser>
          <c:idx val="0"/>
          <c:order val="0"/>
          <c:tx>
            <c:strRef>
              <c:f>Sheet1!$B$1</c:f>
              <c:strCache>
                <c:ptCount val="1"/>
                <c:pt idx="0">
                  <c:v>Q3 2025
(N=38)</c:v>
                </c:pt>
              </c:strCache>
            </c:strRef>
          </c:tx>
          <c:spPr>
            <a:solidFill>
              <a:schemeClr val="tx1"/>
            </a:solidFill>
            <a:ln w="21264">
              <a:noFill/>
            </a:ln>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6"/>
                <c:pt idx="0">
                  <c:v>All other</c:v>
                </c:pt>
                <c:pt idx="1">
                  <c:v>Do not know</c:v>
                </c:pt>
                <c:pt idx="2">
                  <c:v>On city's website</c:v>
                </c:pt>
                <c:pt idx="3">
                  <c:v>Utility bill insert</c:v>
                </c:pt>
                <c:pt idx="4">
                  <c:v>I called them</c:v>
                </c:pt>
                <c:pt idx="5">
                  <c:v>Utility Contact Center </c:v>
                </c:pt>
                <c:pt idx="6">
                  <c:v>Email</c:v>
                </c:pt>
                <c:pt idx="7">
                  <c:v>Utility Contact Center</c:v>
                </c:pt>
                <c:pt idx="8">
                  <c:v>Austin 311</c:v>
                </c:pt>
                <c:pt idx="9">
                  <c:v>Utility bill insert/mail</c:v>
                </c:pt>
                <c:pt idx="10">
                  <c:v>Neighborhood event</c:v>
                </c:pt>
                <c:pt idx="11">
                  <c:v>Social sevice agency referral</c:v>
                </c:pt>
                <c:pt idx="12">
                  <c:v>Word of mouth</c:v>
                </c:pt>
                <c:pt idx="13">
                  <c:v>On City's website</c:v>
                </c:pt>
                <c:pt idx="14">
                  <c:v>Austin Energy called me</c:v>
                </c:pt>
                <c:pt idx="15">
                  <c:v>Austin Energy's website</c:v>
                </c:pt>
              </c:strCache>
            </c:strRef>
          </c:cat>
          <c:val>
            <c:numRef>
              <c:f>Sheet1!$B$2:$B$17</c:f>
              <c:numCache>
                <c:formatCode>0%</c:formatCode>
                <c:ptCount val="16"/>
                <c:pt idx="6">
                  <c:v>0.02631578947368421</c:v>
                </c:pt>
                <c:pt idx="7">
                  <c:v>0.02631578947368421</c:v>
                </c:pt>
                <c:pt idx="8">
                  <c:v>0.05263157894736842</c:v>
                </c:pt>
                <c:pt idx="9">
                  <c:v>0.05263157894736842</c:v>
                </c:pt>
                <c:pt idx="10">
                  <c:v>0.07894736842105263</c:v>
                </c:pt>
                <c:pt idx="11">
                  <c:v>0.07894736842105263</c:v>
                </c:pt>
                <c:pt idx="12">
                  <c:v>0.07894736842105263</c:v>
                </c:pt>
                <c:pt idx="13">
                  <c:v>0.10526315789473684</c:v>
                </c:pt>
                <c:pt idx="14">
                  <c:v>0.18421052631578946</c:v>
                </c:pt>
                <c:pt idx="15">
                  <c:v>0.3157894736842105</c:v>
                </c:pt>
              </c:numCache>
            </c:numRef>
          </c:val>
          <c:extLst>
            <c:ext xmlns:c16="http://schemas.microsoft.com/office/drawing/2014/chart" uri="{C3380CC4-5D6E-409C-BE32-E72D297353CC}">
              <c16:uniqueId val="{00000000-1A54-4880-A35A-174B4980565E}"/>
            </c:ext>
          </c:extLst>
        </c:ser>
        <c:ser>
          <c:idx val="1"/>
          <c:order val="1"/>
          <c:tx>
            <c:strRef>
              <c:f>Sheet1!$C$1</c:f>
              <c:strCache>
                <c:ptCount val="1"/>
                <c:pt idx="0">
                  <c:v>Q1 2025
(N=45)</c:v>
                </c:pt>
              </c:strCache>
            </c:strRef>
          </c:tx>
          <c:spPr>
            <a:solidFill>
              <a:srgbClr val="00CC99"/>
            </a:solidFill>
          </c:spPr>
          <c:invertIfNegative val="0"/>
          <c:dLbls>
            <c:dLbl>
              <c:idx val="11"/>
              <c:spPr>
                <a:noFill/>
                <a:ln>
                  <a:noFill/>
                </a:ln>
                <a:effectLst/>
              </c:spPr>
              <c:txPr>
                <a:bodyPr wrap="square" lIns="38100" tIns="19050" rIns="38100" bIns="19050" anchor="ctr">
                  <a:no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3.9387940019664967E-2"/>
                      <c:h val="2.3122605363984673E-2"/>
                    </c:manualLayout>
                  </c15:layout>
                </c:ext>
                <c:ext xmlns:c16="http://schemas.microsoft.com/office/drawing/2014/chart" uri="{C3380CC4-5D6E-409C-BE32-E72D297353CC}">
                  <c16:uniqueId val="{00000000-4ACC-0B4F-9C8A-E8D7DEF561C0}"/>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6"/>
                <c:pt idx="0">
                  <c:v>All other</c:v>
                </c:pt>
                <c:pt idx="1">
                  <c:v>Do not know</c:v>
                </c:pt>
                <c:pt idx="2">
                  <c:v>On city's website</c:v>
                </c:pt>
                <c:pt idx="3">
                  <c:v>Utility bill insert</c:v>
                </c:pt>
                <c:pt idx="4">
                  <c:v>I called them</c:v>
                </c:pt>
                <c:pt idx="5">
                  <c:v>Utility Contact Center </c:v>
                </c:pt>
                <c:pt idx="6">
                  <c:v>Email</c:v>
                </c:pt>
                <c:pt idx="7">
                  <c:v>Utility Contact Center</c:v>
                </c:pt>
                <c:pt idx="8">
                  <c:v>Austin 311</c:v>
                </c:pt>
                <c:pt idx="9">
                  <c:v>Utility bill insert/mail</c:v>
                </c:pt>
                <c:pt idx="10">
                  <c:v>Neighborhood event</c:v>
                </c:pt>
                <c:pt idx="11">
                  <c:v>Social sevice agency referral</c:v>
                </c:pt>
                <c:pt idx="12">
                  <c:v>Word of mouth</c:v>
                </c:pt>
                <c:pt idx="13">
                  <c:v>On City's website</c:v>
                </c:pt>
                <c:pt idx="14">
                  <c:v>Austin Energy called me</c:v>
                </c:pt>
                <c:pt idx="15">
                  <c:v>Austin Energy's website</c:v>
                </c:pt>
              </c:strCache>
            </c:strRef>
          </c:cat>
          <c:val>
            <c:numRef>
              <c:f>Sheet1!$C$2:$C$17</c:f>
              <c:numCache>
                <c:formatCode>0%</c:formatCode>
                <c:ptCount val="16"/>
                <c:pt idx="1">
                  <c:v>0.02</c:v>
                </c:pt>
                <c:pt idx="2">
                  <c:v>0.09</c:v>
                </c:pt>
                <c:pt idx="3">
                  <c:v>0.04</c:v>
                </c:pt>
                <c:pt idx="5">
                  <c:v>0.04</c:v>
                </c:pt>
                <c:pt idx="6">
                  <c:v>0.02</c:v>
                </c:pt>
                <c:pt idx="12">
                  <c:v>0.16</c:v>
                </c:pt>
                <c:pt idx="15">
                  <c:v>0.53</c:v>
                </c:pt>
              </c:numCache>
            </c:numRef>
          </c:val>
          <c:extLst>
            <c:ext xmlns:c16="http://schemas.microsoft.com/office/drawing/2014/chart" uri="{C3380CC4-5D6E-409C-BE32-E72D297353CC}">
              <c16:uniqueId val="{00000001-1A54-4880-A35A-174B4980565E}"/>
            </c:ext>
          </c:extLst>
        </c:ser>
        <c:ser>
          <c:idx val="2"/>
          <c:order val="2"/>
          <c:tx>
            <c:strRef>
              <c:f>Sheet1!$D$1</c:f>
              <c:strCache>
                <c:ptCount val="1"/>
                <c:pt idx="0">
                  <c:v>Q4 2024
(N=33)</c:v>
                </c:pt>
              </c:strCache>
            </c:strRef>
          </c:tx>
          <c:spPr>
            <a:solidFill>
              <a:srgbClr val="3233CC"/>
            </a:solidFill>
          </c:spPr>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6"/>
                <c:pt idx="0">
                  <c:v>All other</c:v>
                </c:pt>
                <c:pt idx="1">
                  <c:v>Do not know</c:v>
                </c:pt>
                <c:pt idx="2">
                  <c:v>On city's website</c:v>
                </c:pt>
                <c:pt idx="3">
                  <c:v>Utility bill insert</c:v>
                </c:pt>
                <c:pt idx="4">
                  <c:v>I called them</c:v>
                </c:pt>
                <c:pt idx="5">
                  <c:v>Utility Contact Center </c:v>
                </c:pt>
                <c:pt idx="6">
                  <c:v>Email</c:v>
                </c:pt>
                <c:pt idx="7">
                  <c:v>Utility Contact Center</c:v>
                </c:pt>
                <c:pt idx="8">
                  <c:v>Austin 311</c:v>
                </c:pt>
                <c:pt idx="9">
                  <c:v>Utility bill insert/mail</c:v>
                </c:pt>
                <c:pt idx="10">
                  <c:v>Neighborhood event</c:v>
                </c:pt>
                <c:pt idx="11">
                  <c:v>Social sevice agency referral</c:v>
                </c:pt>
                <c:pt idx="12">
                  <c:v>Word of mouth</c:v>
                </c:pt>
                <c:pt idx="13">
                  <c:v>On City's website</c:v>
                </c:pt>
                <c:pt idx="14">
                  <c:v>Austin Energy called me</c:v>
                </c:pt>
                <c:pt idx="15">
                  <c:v>Austin Energy's website</c:v>
                </c:pt>
              </c:strCache>
            </c:strRef>
          </c:cat>
          <c:val>
            <c:numRef>
              <c:f>Sheet1!$D$2:$D$17</c:f>
              <c:numCache>
                <c:formatCode>0%</c:formatCode>
                <c:ptCount val="16"/>
                <c:pt idx="4">
                  <c:v>0.06</c:v>
                </c:pt>
                <c:pt idx="5">
                  <c:v>0.18</c:v>
                </c:pt>
                <c:pt idx="12">
                  <c:v>0.09</c:v>
                </c:pt>
                <c:pt idx="15">
                  <c:v>0.67</c:v>
                </c:pt>
              </c:numCache>
            </c:numRef>
          </c:val>
          <c:extLst>
            <c:ext xmlns:c16="http://schemas.microsoft.com/office/drawing/2014/chart" uri="{C3380CC4-5D6E-409C-BE32-E72D297353CC}">
              <c16:uniqueId val="{00000002-1A54-4880-A35A-174B4980565E}"/>
            </c:ext>
          </c:extLst>
        </c:ser>
        <c:ser>
          <c:idx val="3"/>
          <c:order val="3"/>
          <c:tx>
            <c:strRef>
              <c:f>Sheet1!$E$1</c:f>
              <c:strCache>
                <c:ptCount val="1"/>
                <c:pt idx="0">
                  <c:v>Q3 2024
(N=19)</c:v>
                </c:pt>
              </c:strCache>
            </c:strRef>
          </c:tx>
          <c:spPr>
            <a:solidFill>
              <a:srgbClr val="FFC003"/>
            </a:solidFill>
          </c:spPr>
          <c:invertIfNegative val="0"/>
          <c:dLbls>
            <c:spPr>
              <a:noFill/>
              <a:ln>
                <a:noFill/>
              </a:ln>
              <a:effectLst/>
            </c:spPr>
            <c:txPr>
              <a:bodyPr wrap="square" lIns="38100" tIns="19050" rIns="38100" bIns="19050" anchor="ctr">
                <a:spAutoFit/>
              </a:bodyPr>
              <a:lstStyle/>
              <a:p>
                <a:pPr>
                  <a:defRPr>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Sheet1!$A$2:$A$17</c:f>
              <c:strCache>
                <c:ptCount val="16"/>
                <c:pt idx="0">
                  <c:v>All other</c:v>
                </c:pt>
                <c:pt idx="1">
                  <c:v>Do not know</c:v>
                </c:pt>
                <c:pt idx="2">
                  <c:v>On city's website</c:v>
                </c:pt>
                <c:pt idx="3">
                  <c:v>Utility bill insert</c:v>
                </c:pt>
                <c:pt idx="4">
                  <c:v>I called them</c:v>
                </c:pt>
                <c:pt idx="5">
                  <c:v>Utility Contact Center </c:v>
                </c:pt>
                <c:pt idx="6">
                  <c:v>Email</c:v>
                </c:pt>
                <c:pt idx="7">
                  <c:v>Utility Contact Center</c:v>
                </c:pt>
                <c:pt idx="8">
                  <c:v>Austin 311</c:v>
                </c:pt>
                <c:pt idx="9">
                  <c:v>Utility bill insert/mail</c:v>
                </c:pt>
                <c:pt idx="10">
                  <c:v>Neighborhood event</c:v>
                </c:pt>
                <c:pt idx="11">
                  <c:v>Social sevice agency referral</c:v>
                </c:pt>
                <c:pt idx="12">
                  <c:v>Word of mouth</c:v>
                </c:pt>
                <c:pt idx="13">
                  <c:v>On City's website</c:v>
                </c:pt>
                <c:pt idx="14">
                  <c:v>Austin Energy called me</c:v>
                </c:pt>
                <c:pt idx="15">
                  <c:v>Austin Energy's website</c:v>
                </c:pt>
              </c:strCache>
            </c:strRef>
          </c:cat>
          <c:val>
            <c:numRef>
              <c:f>Sheet1!$E$2:$E$17</c:f>
              <c:numCache>
                <c:formatCode>0%</c:formatCode>
                <c:ptCount val="16"/>
                <c:pt idx="0">
                  <c:v>0.11</c:v>
                </c:pt>
                <c:pt idx="1">
                  <c:v>0.05</c:v>
                </c:pt>
                <c:pt idx="3">
                  <c:v>0.05</c:v>
                </c:pt>
                <c:pt idx="4">
                  <c:v>0.05</c:v>
                </c:pt>
                <c:pt idx="6">
                  <c:v>0.05</c:v>
                </c:pt>
                <c:pt idx="12">
                  <c:v>0.11</c:v>
                </c:pt>
                <c:pt idx="15">
                  <c:v>0.58</c:v>
                </c:pt>
              </c:numCache>
            </c:numRef>
          </c:val>
          <c:extLst>
            <c:ext xmlns:c16="http://schemas.microsoft.com/office/drawing/2014/chart" uri="{C3380CC4-5D6E-409C-BE32-E72D297353CC}">
              <c16:uniqueId val="{00000001-6163-4778-97B3-26D9A30AFC35}"/>
            </c:ext>
          </c:extLst>
        </c:ser>
        <c:dLbls>
          <c:dLblPos val="outEnd"/>
          <c:showLegendKey val="0"/>
          <c:showVal val="1"/>
          <c:showCatName val="0"/>
          <c:showSerName val="0"/>
          <c:showPercent val="0"/>
          <c:showBubbleSize val="0"/>
        </c:dLbls>
        <c:gapWidth val="275"/>
        <c:overlap val="-10"/>
        <c:axId val="328199696"/>
        <c:axId val="328941696"/>
      </c:barChart>
      <c:catAx>
        <c:axId val="328199696"/>
        <c:scaling>
          <c:orientation val="minMax"/>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8941696"/>
        <c:crosses val="autoZero"/>
        <c:auto val="1"/>
        <c:lblAlgn val="ctr"/>
        <c:lblOffset val="100"/>
        <c:noMultiLvlLbl val="0"/>
      </c:catAx>
      <c:valAx>
        <c:axId val="328941696"/>
        <c:scaling>
          <c:orientation val="minMax"/>
          <c:max val="1"/>
        </c:scaling>
        <c:delete val="0"/>
        <c:axPos val="b"/>
        <c:majorGridlines>
          <c:spPr>
            <a:ln w="7974" cap="flat" cmpd="sng" algn="ctr">
              <a:solidFill>
                <a:schemeClr val="bg1">
                  <a:lumMod val="85000"/>
                </a:schemeClr>
              </a:solidFill>
              <a:round/>
            </a:ln>
            <a:effectLst/>
          </c:spPr>
        </c:majorGridlines>
        <c:numFmt formatCode="0%" sourceLinked="1"/>
        <c:majorTickMark val="none"/>
        <c:minorTickMark val="none"/>
        <c:tickLblPos val="nextTo"/>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8199696"/>
        <c:crosses val="autoZero"/>
        <c:crossBetween val="between"/>
        <c:majorUnit val="0.1"/>
      </c:valAx>
      <c:spPr>
        <a:noFill/>
        <a:ln w="9525">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0"/>
    <c:dispBlanksAs val="gap"/>
    <c:showDLblsOverMax val="0"/>
  </c:chart>
  <c:spPr>
    <a:noFill/>
    <a:ln>
      <a:noFill/>
    </a:ln>
  </c:spPr>
  <c:txPr>
    <a:bodyPr/>
    <a:lstStyle/>
    <a:p>
      <a:pPr>
        <a:defRPr/>
      </a:pPr>
      <a:endParaRPr lang="en-US"/>
    </a:p>
  </c:txPr>
  <c:externalData r:id="rId1">
    <c:autoUpdate val="0"/>
  </c:externalData>
  <c:userShapes r:id="rId2"/>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9782281162240637"/>
          <c:y val="6.6470441194850641E-2"/>
          <c:w val="0.66669082533966195"/>
          <c:h val="0.81049806274215719"/>
        </c:manualLayout>
      </c:layout>
      <c:barChart>
        <c:barDir val="bar"/>
        <c:grouping val="clustered"/>
        <c:varyColors val="0"/>
        <c:ser>
          <c:idx val="0"/>
          <c:order val="0"/>
          <c:tx>
            <c:strRef>
              <c:f>Sheet1!$B$1</c:f>
              <c:strCache>
                <c:ptCount val="1"/>
                <c:pt idx="0">
                  <c:v>Q4 2024
(N=33)</c:v>
                </c:pt>
              </c:strCache>
            </c:strRef>
          </c:tx>
          <c:spPr>
            <a:solidFill>
              <a:srgbClr val="FFC003"/>
            </a:solidFill>
            <a:ln w="21264">
              <a:noFill/>
            </a:ln>
          </c:spPr>
          <c:invertIfNegative val="0"/>
          <c:dLbls>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All other</c:v>
                </c:pt>
                <c:pt idx="1">
                  <c:v>Utility bill inserts</c:v>
                </c:pt>
                <c:pt idx="2">
                  <c:v>Newspaper advertisement</c:v>
                </c:pt>
                <c:pt idx="3">
                  <c:v>Television</c:v>
                </c:pt>
                <c:pt idx="4">
                  <c:v>All other </c:v>
                </c:pt>
                <c:pt idx="5">
                  <c:v>Radio</c:v>
                </c:pt>
                <c:pt idx="6">
                  <c:v>Contractors</c:v>
                </c:pt>
                <c:pt idx="7">
                  <c:v>On City’s website</c:v>
                </c:pt>
                <c:pt idx="8">
                  <c:v>Mall advertisement</c:v>
                </c:pt>
                <c:pt idx="9">
                  <c:v>AE Customer Assistance Program (CAPS)</c:v>
                </c:pt>
                <c:pt idx="10">
                  <c:v>Austin Energy's website</c:v>
                </c:pt>
                <c:pt idx="11">
                  <c:v>Friends/family/word-of-mouth</c:v>
                </c:pt>
              </c:strCache>
            </c:strRef>
          </c:cat>
          <c:val>
            <c:numRef>
              <c:f>Sheet1!$B$2:$B$13</c:f>
              <c:numCache>
                <c:formatCode>0%</c:formatCode>
                <c:ptCount val="12"/>
                <c:pt idx="1">
                  <c:v>0.03</c:v>
                </c:pt>
                <c:pt idx="2">
                  <c:v>0.03</c:v>
                </c:pt>
                <c:pt idx="4">
                  <c:v>0.33</c:v>
                </c:pt>
                <c:pt idx="5">
                  <c:v>0.03</c:v>
                </c:pt>
                <c:pt idx="10">
                  <c:v>0.09</c:v>
                </c:pt>
                <c:pt idx="11">
                  <c:v>0.48</c:v>
                </c:pt>
              </c:numCache>
            </c:numRef>
          </c:val>
          <c:extLst>
            <c:ext xmlns:c16="http://schemas.microsoft.com/office/drawing/2014/chart" uri="{C3380CC4-5D6E-409C-BE32-E72D297353CC}">
              <c16:uniqueId val="{00000000-CC47-4228-84BB-2FF78CC943F0}"/>
            </c:ext>
          </c:extLst>
        </c:ser>
        <c:ser>
          <c:idx val="1"/>
          <c:order val="1"/>
          <c:tx>
            <c:strRef>
              <c:f>Sheet1!$C$1</c:f>
              <c:strCache>
                <c:ptCount val="1"/>
                <c:pt idx="0">
                  <c:v>Q1 2025
(N=45)</c:v>
                </c:pt>
              </c:strCache>
            </c:strRef>
          </c:tx>
          <c:spPr>
            <a:solidFill>
              <a:srgbClr val="3233CC"/>
            </a:solidFill>
          </c:spPr>
          <c:invertIfNegative val="0"/>
          <c:dLbls>
            <c:spPr>
              <a:noFill/>
              <a:ln w="21415">
                <a:noFill/>
              </a:ln>
            </c:spPr>
            <c:txPr>
              <a:bodyPr wrap="square" lIns="38100" tIns="19050" rIns="38100" bIns="19050" anchor="ctr">
                <a:spAutoFit/>
              </a:bodyPr>
              <a:lstStyle/>
              <a:p>
                <a:pPr>
                  <a:defRPr sz="928" b="0" i="0" baseline="0"/>
                </a:pPr>
                <a:endParaRPr lang="en-US"/>
              </a:p>
            </c:txPr>
            <c:dLblPos val="outEnd"/>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Sheet1!$A$2:$A$13</c:f>
              <c:strCache>
                <c:ptCount val="12"/>
                <c:pt idx="0">
                  <c:v>All other</c:v>
                </c:pt>
                <c:pt idx="1">
                  <c:v>Utility bill inserts</c:v>
                </c:pt>
                <c:pt idx="2">
                  <c:v>Newspaper advertisement</c:v>
                </c:pt>
                <c:pt idx="3">
                  <c:v>Television</c:v>
                </c:pt>
                <c:pt idx="4">
                  <c:v>All other </c:v>
                </c:pt>
                <c:pt idx="5">
                  <c:v>Radio</c:v>
                </c:pt>
                <c:pt idx="6">
                  <c:v>Contractors</c:v>
                </c:pt>
                <c:pt idx="7">
                  <c:v>On City’s website</c:v>
                </c:pt>
                <c:pt idx="8">
                  <c:v>Mall advertisement</c:v>
                </c:pt>
                <c:pt idx="9">
                  <c:v>AE Customer Assistance Program (CAPS)</c:v>
                </c:pt>
                <c:pt idx="10">
                  <c:v>Austin Energy's website</c:v>
                </c:pt>
                <c:pt idx="11">
                  <c:v>Friends/family/word-of-mouth</c:v>
                </c:pt>
              </c:strCache>
            </c:strRef>
          </c:cat>
          <c:val>
            <c:numRef>
              <c:f>Sheet1!$C$2:$C$13</c:f>
              <c:numCache>
                <c:formatCode>0%</c:formatCode>
                <c:ptCount val="12"/>
                <c:pt idx="1">
                  <c:v>0.2</c:v>
                </c:pt>
                <c:pt idx="3">
                  <c:v>0.02</c:v>
                </c:pt>
                <c:pt idx="4">
                  <c:v>0.07</c:v>
                </c:pt>
                <c:pt idx="6">
                  <c:v>0.07</c:v>
                </c:pt>
                <c:pt idx="10">
                  <c:v>0.4</c:v>
                </c:pt>
                <c:pt idx="11">
                  <c:v>0.4</c:v>
                </c:pt>
              </c:numCache>
            </c:numRef>
          </c:val>
          <c:extLst>
            <c:ext xmlns:c16="http://schemas.microsoft.com/office/drawing/2014/chart" uri="{C3380CC4-5D6E-409C-BE32-E72D297353CC}">
              <c16:uniqueId val="{00000001-CC47-4228-84BB-2FF78CC943F0}"/>
            </c:ext>
          </c:extLst>
        </c:ser>
        <c:ser>
          <c:idx val="2"/>
          <c:order val="2"/>
          <c:tx>
            <c:strRef>
              <c:f>Sheet1!$D$1</c:f>
              <c:strCache>
                <c:ptCount val="1"/>
                <c:pt idx="0">
                  <c:v>Q2 2025
(N=46)</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930" b="0" i="0" baseline="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Sheet1!$A$2:$A$13</c:f>
              <c:strCache>
                <c:ptCount val="12"/>
                <c:pt idx="0">
                  <c:v>All other</c:v>
                </c:pt>
                <c:pt idx="1">
                  <c:v>Utility bill inserts</c:v>
                </c:pt>
                <c:pt idx="2">
                  <c:v>Newspaper advertisement</c:v>
                </c:pt>
                <c:pt idx="3">
                  <c:v>Television</c:v>
                </c:pt>
                <c:pt idx="4">
                  <c:v>All other </c:v>
                </c:pt>
                <c:pt idx="5">
                  <c:v>Radio</c:v>
                </c:pt>
                <c:pt idx="6">
                  <c:v>Contractors</c:v>
                </c:pt>
                <c:pt idx="7">
                  <c:v>On City’s website</c:v>
                </c:pt>
                <c:pt idx="8">
                  <c:v>Mall advertisement</c:v>
                </c:pt>
                <c:pt idx="9">
                  <c:v>AE Customer Assistance Program (CAPS)</c:v>
                </c:pt>
                <c:pt idx="10">
                  <c:v>Austin Energy's website</c:v>
                </c:pt>
                <c:pt idx="11">
                  <c:v>Friends/family/word-of-mouth</c:v>
                </c:pt>
              </c:strCache>
            </c:strRef>
          </c:cat>
          <c:val>
            <c:numRef>
              <c:f>Sheet1!$D$2:$D$13</c:f>
              <c:numCache>
                <c:formatCode>0%</c:formatCode>
                <c:ptCount val="12"/>
                <c:pt idx="1">
                  <c:v>0.17</c:v>
                </c:pt>
                <c:pt idx="4">
                  <c:v>0.21</c:v>
                </c:pt>
                <c:pt idx="6">
                  <c:v>0.02</c:v>
                </c:pt>
                <c:pt idx="9">
                  <c:v>0.02</c:v>
                </c:pt>
                <c:pt idx="10">
                  <c:v>0.24</c:v>
                </c:pt>
                <c:pt idx="11">
                  <c:v>0.26</c:v>
                </c:pt>
              </c:numCache>
            </c:numRef>
          </c:val>
          <c:extLst>
            <c:ext xmlns:c16="http://schemas.microsoft.com/office/drawing/2014/chart" uri="{C3380CC4-5D6E-409C-BE32-E72D297353CC}">
              <c16:uniqueId val="{00000002-CC47-4228-84BB-2FF78CC943F0}"/>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Sheet1!$A$2:$A$13</c:f>
              <c:strCache>
                <c:ptCount val="12"/>
                <c:pt idx="0">
                  <c:v>All other</c:v>
                </c:pt>
                <c:pt idx="1">
                  <c:v>Utility bill inserts</c:v>
                </c:pt>
                <c:pt idx="2">
                  <c:v>Newspaper advertisement</c:v>
                </c:pt>
                <c:pt idx="3">
                  <c:v>Television</c:v>
                </c:pt>
                <c:pt idx="4">
                  <c:v>All other </c:v>
                </c:pt>
                <c:pt idx="5">
                  <c:v>Radio</c:v>
                </c:pt>
                <c:pt idx="6">
                  <c:v>Contractors</c:v>
                </c:pt>
                <c:pt idx="7">
                  <c:v>On City’s website</c:v>
                </c:pt>
                <c:pt idx="8">
                  <c:v>Mall advertisement</c:v>
                </c:pt>
                <c:pt idx="9">
                  <c:v>AE Customer Assistance Program (CAPS)</c:v>
                </c:pt>
                <c:pt idx="10">
                  <c:v>Austin Energy's website</c:v>
                </c:pt>
                <c:pt idx="11">
                  <c:v>Friends/family/word-of-mouth</c:v>
                </c:pt>
              </c:strCache>
            </c:strRef>
          </c:cat>
          <c:val>
            <c:numRef>
              <c:f>Sheet1!$E$2:$E$13</c:f>
              <c:numCache>
                <c:formatCode>0%</c:formatCode>
                <c:ptCount val="12"/>
                <c:pt idx="0">
                  <c:v>0.34210526315789475</c:v>
                </c:pt>
                <c:pt idx="5">
                  <c:v>0.02631578947368421</c:v>
                </c:pt>
                <c:pt idx="6">
                  <c:v>0.02631578947368421</c:v>
                </c:pt>
                <c:pt idx="7">
                  <c:v>0.02631578947368421</c:v>
                </c:pt>
                <c:pt idx="8">
                  <c:v>0.07894736842105263</c:v>
                </c:pt>
                <c:pt idx="9">
                  <c:v>0.10526315789473684</c:v>
                </c:pt>
                <c:pt idx="10">
                  <c:v>0.23684210526315788</c:v>
                </c:pt>
                <c:pt idx="11">
                  <c:v>0.3157894736842105</c:v>
                </c:pt>
              </c:numCache>
            </c:numRef>
          </c:val>
          <c:extLst>
            <c:ext xmlns:c16="http://schemas.microsoft.com/office/drawing/2014/chart" uri="{C3380CC4-5D6E-409C-BE32-E72D297353CC}">
              <c16:uniqueId val="{00000000-CD8B-1641-BBD5-074FC08BDAA9}"/>
            </c:ext>
          </c:extLst>
        </c:ser>
        <c:dLbls>
          <c:dLblPos val="outEnd"/>
          <c:showLegendKey val="0"/>
          <c:showVal val="1"/>
          <c:showCatName val="0"/>
          <c:showSerName val="0"/>
          <c:showPercent val="0"/>
          <c:showBubbleSize val="0"/>
        </c:dLbls>
        <c:gapWidth val="62"/>
        <c:axId val="326349696"/>
        <c:axId val="326350256"/>
      </c:barChart>
      <c:catAx>
        <c:axId val="326349696"/>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326350256"/>
        <c:crosses val="autoZero"/>
        <c:auto val="1"/>
        <c:lblAlgn val="ctr"/>
        <c:lblOffset val="50"/>
        <c:noMultiLvlLbl val="0"/>
      </c:catAx>
      <c:valAx>
        <c:axId val="326350256"/>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6349696"/>
        <c:crosses val="autoZero"/>
        <c:crossBetween val="between"/>
        <c:majorUnit val="0.1"/>
      </c:valAx>
      <c:spPr>
        <a:noFill/>
        <a:ln w="21532">
          <a:solidFill>
            <a:schemeClr val="bg1">
              <a:lumMod val="85000"/>
            </a:schemeClr>
          </a:solidFill>
        </a:ln>
      </c:spPr>
    </c:plotArea>
    <c:legend>
      <c:legendPos val="t"/>
      <c:layout>
        <c:manualLayout>
          <c:xMode val="edge"/>
          <c:yMode val="edge"/>
          <c:x val="0.28379621789155274"/>
          <c:y val="7.1445496698930586E-3"/>
          <c:w val="0.4364406273560763"/>
          <c:h val="4.7615298087739032E-2"/>
        </c:manualLayout>
      </c:layou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32151270424362749"/>
          <c:y val="0.14592833876221498"/>
          <c:w val="0.64185411075724963"/>
          <c:h val="0.78987714483572291"/>
        </c:manualLayout>
      </c:layout>
      <c:barChart>
        <c:barDir val="bar"/>
        <c:grouping val="clustered"/>
        <c:varyColors val="0"/>
        <c:ser>
          <c:idx val="0"/>
          <c:order val="0"/>
          <c:tx>
            <c:strRef>
              <c:f>Sheet1!$B$1</c:f>
              <c:strCache>
                <c:ptCount val="1"/>
                <c:pt idx="0">
                  <c:v>Q4 2024
(N=33)</c:v>
                </c:pt>
              </c:strCache>
            </c:strRef>
          </c:tx>
          <c:spPr>
            <a:solidFill>
              <a:srgbClr val="FFC003"/>
            </a:solidFill>
            <a:ln w="21264">
              <a:noFill/>
            </a:ln>
          </c:spPr>
          <c:invertIfNegative val="0"/>
          <c:dLbls>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All other</c:v>
                </c:pt>
                <c:pt idx="1">
                  <c:v>Email </c:v>
                </c:pt>
                <c:pt idx="2">
                  <c:v>Phone call</c:v>
                </c:pt>
                <c:pt idx="3">
                  <c:v>Austin Energy's Website</c:v>
                </c:pt>
                <c:pt idx="4">
                  <c:v>Facebook, Twitter, or other Social Media</c:v>
                </c:pt>
                <c:pt idx="5">
                  <c:v>Door hangers</c:v>
                </c:pt>
                <c:pt idx="6">
                  <c:v>Phone</c:v>
                </c:pt>
                <c:pt idx="7">
                  <c:v>Austin Energy’s website</c:v>
                </c:pt>
                <c:pt idx="8">
                  <c:v>Direct mail</c:v>
                </c:pt>
                <c:pt idx="9">
                  <c:v>Text messages</c:v>
                </c:pt>
                <c:pt idx="10">
                  <c:v>Email</c:v>
                </c:pt>
              </c:strCache>
            </c:strRef>
          </c:cat>
          <c:val>
            <c:numRef>
              <c:f>Sheet1!$B$2:$B$12</c:f>
              <c:numCache>
                <c:formatCode>0%</c:formatCode>
                <c:ptCount val="11"/>
                <c:pt idx="0">
                  <c:v>0.05263157894736842</c:v>
                </c:pt>
                <c:pt idx="1">
                  <c:v>0.7575757575757576</c:v>
                </c:pt>
                <c:pt idx="2">
                  <c:v>0.24242424242424243</c:v>
                </c:pt>
                <c:pt idx="3">
                  <c:v>0.12121212121212122</c:v>
                </c:pt>
                <c:pt idx="4">
                  <c:v>0.030303030303030304</c:v>
                </c:pt>
                <c:pt idx="8">
                  <c:v>0.09090909090909093</c:v>
                </c:pt>
                <c:pt idx="9">
                  <c:v>0.45454545454545453</c:v>
                </c:pt>
              </c:numCache>
            </c:numRef>
          </c:val>
          <c:extLst>
            <c:ext xmlns:c16="http://schemas.microsoft.com/office/drawing/2014/chart" uri="{C3380CC4-5D6E-409C-BE32-E72D297353CC}">
              <c16:uniqueId val="{00000000-08BA-4719-85C8-FABAF5FAC883}"/>
            </c:ext>
          </c:extLst>
        </c:ser>
        <c:ser>
          <c:idx val="1"/>
          <c:order val="1"/>
          <c:tx>
            <c:strRef>
              <c:f>Sheet1!$C$1</c:f>
              <c:strCache>
                <c:ptCount val="1"/>
                <c:pt idx="0">
                  <c:v>Q1 2025
(N=45)</c:v>
                </c:pt>
              </c:strCache>
            </c:strRef>
          </c:tx>
          <c:spPr>
            <a:solidFill>
              <a:srgbClr val="3233CC"/>
            </a:solidFill>
          </c:spPr>
          <c:invertIfNegative val="0"/>
          <c:dLbls>
            <c:spPr>
              <a:noFill/>
              <a:ln w="21415">
                <a:noFill/>
              </a:ln>
            </c:spPr>
            <c:txPr>
              <a:bodyPr wrap="square" lIns="38100" tIns="19050" rIns="38100" bIns="19050" anchor="ctr">
                <a:spAutoFit/>
              </a:bodyPr>
              <a:lstStyle/>
              <a:p>
                <a:pPr>
                  <a:defRPr sz="928" b="0" i="0" baseline="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All other</c:v>
                </c:pt>
                <c:pt idx="1">
                  <c:v>Email </c:v>
                </c:pt>
                <c:pt idx="2">
                  <c:v>Phone call</c:v>
                </c:pt>
                <c:pt idx="3">
                  <c:v>Austin Energy's Website</c:v>
                </c:pt>
                <c:pt idx="4">
                  <c:v>Facebook, Twitter, or other Social Media</c:v>
                </c:pt>
                <c:pt idx="5">
                  <c:v>Door hangers</c:v>
                </c:pt>
                <c:pt idx="6">
                  <c:v>Phone</c:v>
                </c:pt>
                <c:pt idx="7">
                  <c:v>Austin Energy’s website</c:v>
                </c:pt>
                <c:pt idx="8">
                  <c:v>Direct mail</c:v>
                </c:pt>
                <c:pt idx="9">
                  <c:v>Text messages</c:v>
                </c:pt>
                <c:pt idx="10">
                  <c:v>Email</c:v>
                </c:pt>
              </c:strCache>
            </c:strRef>
          </c:cat>
          <c:val>
            <c:numRef>
              <c:f>Sheet1!$C$2:$C$12</c:f>
              <c:numCache>
                <c:formatCode>0%</c:formatCode>
                <c:ptCount val="11"/>
                <c:pt idx="0">
                  <c:v>0</c:v>
                </c:pt>
                <c:pt idx="1">
                  <c:v>0.71</c:v>
                </c:pt>
                <c:pt idx="2">
                  <c:v>0.07</c:v>
                </c:pt>
                <c:pt idx="3">
                  <c:v>0.36</c:v>
                </c:pt>
                <c:pt idx="4">
                  <c:v>0.09</c:v>
                </c:pt>
                <c:pt idx="8">
                  <c:v>0.44</c:v>
                </c:pt>
                <c:pt idx="9">
                  <c:v>0.38</c:v>
                </c:pt>
              </c:numCache>
            </c:numRef>
          </c:val>
          <c:extLst>
            <c:ext xmlns:c16="http://schemas.microsoft.com/office/drawing/2014/chart" uri="{C3380CC4-5D6E-409C-BE32-E72D297353CC}">
              <c16:uniqueId val="{00000001-08BA-4719-85C8-FABAF5FAC883}"/>
            </c:ext>
          </c:extLst>
        </c:ser>
        <c:ser>
          <c:idx val="2"/>
          <c:order val="2"/>
          <c:tx>
            <c:strRef>
              <c:f>Sheet1!$D$1</c:f>
              <c:strCache>
                <c:ptCount val="1"/>
                <c:pt idx="0">
                  <c:v>Q2 2025
(N=46)</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930" b="0" i="0" baseline="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Sheet1!$A$2:$A$12</c:f>
              <c:strCache>
                <c:ptCount val="11"/>
                <c:pt idx="0">
                  <c:v>All other</c:v>
                </c:pt>
                <c:pt idx="1">
                  <c:v>Email </c:v>
                </c:pt>
                <c:pt idx="2">
                  <c:v>Phone call</c:v>
                </c:pt>
                <c:pt idx="3">
                  <c:v>Austin Energy's Website</c:v>
                </c:pt>
                <c:pt idx="4">
                  <c:v>Facebook, Twitter, or other Social Media</c:v>
                </c:pt>
                <c:pt idx="5">
                  <c:v>Door hangers</c:v>
                </c:pt>
                <c:pt idx="6">
                  <c:v>Phone</c:v>
                </c:pt>
                <c:pt idx="7">
                  <c:v>Austin Energy’s website</c:v>
                </c:pt>
                <c:pt idx="8">
                  <c:v>Direct mail</c:v>
                </c:pt>
                <c:pt idx="9">
                  <c:v>Text messages</c:v>
                </c:pt>
                <c:pt idx="10">
                  <c:v>Email</c:v>
                </c:pt>
              </c:strCache>
            </c:strRef>
          </c:cat>
          <c:val>
            <c:numRef>
              <c:f>Sheet1!$D$2:$D$12</c:f>
              <c:numCache>
                <c:formatCode>0%</c:formatCode>
                <c:ptCount val="11"/>
                <c:pt idx="0">
                  <c:v>0.14</c:v>
                </c:pt>
                <c:pt idx="1">
                  <c:v>0.59</c:v>
                </c:pt>
                <c:pt idx="2">
                  <c:v>0.15</c:v>
                </c:pt>
                <c:pt idx="3">
                  <c:v>0.22</c:v>
                </c:pt>
                <c:pt idx="4">
                  <c:v>0.07</c:v>
                </c:pt>
                <c:pt idx="8">
                  <c:v>0.41</c:v>
                </c:pt>
                <c:pt idx="9">
                  <c:v>0.3</c:v>
                </c:pt>
              </c:numCache>
            </c:numRef>
          </c:val>
          <c:extLst>
            <c:ext xmlns:c16="http://schemas.microsoft.com/office/drawing/2014/chart" uri="{C3380CC4-5D6E-409C-BE32-E72D297353CC}">
              <c16:uniqueId val="{00000002-08BA-4719-85C8-FABAF5FAC883}"/>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Sheet1!$A$2:$A$12</c:f>
              <c:strCache>
                <c:ptCount val="11"/>
                <c:pt idx="0">
                  <c:v>All other</c:v>
                </c:pt>
                <c:pt idx="1">
                  <c:v>Email </c:v>
                </c:pt>
                <c:pt idx="2">
                  <c:v>Phone call</c:v>
                </c:pt>
                <c:pt idx="3">
                  <c:v>Austin Energy's Website</c:v>
                </c:pt>
                <c:pt idx="4">
                  <c:v>Facebook, Twitter, or other Social Media</c:v>
                </c:pt>
                <c:pt idx="5">
                  <c:v>Door hangers</c:v>
                </c:pt>
                <c:pt idx="6">
                  <c:v>Phone</c:v>
                </c:pt>
                <c:pt idx="7">
                  <c:v>Austin Energy’s website</c:v>
                </c:pt>
                <c:pt idx="8">
                  <c:v>Direct mail</c:v>
                </c:pt>
                <c:pt idx="9">
                  <c:v>Text messages</c:v>
                </c:pt>
                <c:pt idx="10">
                  <c:v>Email</c:v>
                </c:pt>
              </c:strCache>
            </c:strRef>
          </c:cat>
          <c:val>
            <c:numRef>
              <c:f>Sheet1!$E$2:$E$12</c:f>
              <c:numCache>
                <c:formatCode>0%</c:formatCode>
                <c:ptCount val="11"/>
                <c:pt idx="0">
                  <c:v>0.02631578947368421</c:v>
                </c:pt>
                <c:pt idx="4">
                  <c:v>0.02631578947368421</c:v>
                </c:pt>
                <c:pt idx="5">
                  <c:v>0.07894736842105263</c:v>
                </c:pt>
                <c:pt idx="6">
                  <c:v>0.15789473684210525</c:v>
                </c:pt>
                <c:pt idx="7">
                  <c:v>0.21052631578947367</c:v>
                </c:pt>
                <c:pt idx="8">
                  <c:v>0.23684210526315788</c:v>
                </c:pt>
                <c:pt idx="9">
                  <c:v>0.2631578947368421</c:v>
                </c:pt>
                <c:pt idx="10">
                  <c:v>0.6842105263157895</c:v>
                </c:pt>
              </c:numCache>
            </c:numRef>
          </c:val>
          <c:extLst>
            <c:ext xmlns:c16="http://schemas.microsoft.com/office/drawing/2014/chart" uri="{C3380CC4-5D6E-409C-BE32-E72D297353CC}">
              <c16:uniqueId val="{00000000-B0D9-A94F-BC2E-6C10797E5730}"/>
            </c:ext>
          </c:extLst>
        </c:ser>
        <c:dLbls>
          <c:dLblPos val="outEnd"/>
          <c:showLegendKey val="0"/>
          <c:showVal val="1"/>
          <c:showCatName val="0"/>
          <c:showSerName val="0"/>
          <c:showPercent val="0"/>
          <c:showBubbleSize val="0"/>
        </c:dLbls>
        <c:gapWidth val="170"/>
        <c:overlap val="-10"/>
        <c:axId val="329314400"/>
        <c:axId val="329314960"/>
      </c:barChart>
      <c:catAx>
        <c:axId val="329314400"/>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9314960"/>
        <c:crosses val="autoZero"/>
        <c:auto val="1"/>
        <c:lblAlgn val="ctr"/>
        <c:lblOffset val="100"/>
        <c:noMultiLvlLbl val="0"/>
      </c:catAx>
      <c:valAx>
        <c:axId val="329314960"/>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9314400"/>
        <c:crosses val="autoZero"/>
        <c:crossBetween val="between"/>
        <c:majorUnit val="0.1"/>
      </c:valAx>
      <c:spPr>
        <a:noFill/>
        <a:ln w="21532">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Sheet1!$B$2:$B$5</c:f>
              <c:numCache>
                <c:formatCode>0%</c:formatCode>
                <c:ptCount val="4"/>
                <c:pt idx="0">
                  <c:v>0.24242424242424243</c:v>
                </c:pt>
                <c:pt idx="1">
                  <c:v>0.18</c:v>
                </c:pt>
                <c:pt idx="2">
                  <c:v>0.24</c:v>
                </c:pt>
                <c:pt idx="3">
                  <c:v>0.21052631578947367</c:v>
                </c:pt>
              </c:numCache>
            </c:numRef>
          </c:val>
          <c:extLst>
            <c:ext xmlns:c16="http://schemas.microsoft.com/office/drawing/2014/chart" uri="{C3380CC4-5D6E-409C-BE32-E72D297353CC}">
              <c16:uniqueId val="{00000000-3743-46B7-9453-554D3F76B7F0}"/>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Sheet1!$C$2:$C$5</c:f>
              <c:numCache>
                <c:formatCode>0%</c:formatCode>
                <c:ptCount val="4"/>
                <c:pt idx="0">
                  <c:v>0.09090909090909093</c:v>
                </c:pt>
                <c:pt idx="1">
                  <c:v>0.2</c:v>
                </c:pt>
                <c:pt idx="2">
                  <c:v>0.11</c:v>
                </c:pt>
                <c:pt idx="3">
                  <c:v>0.07894736842105263</c:v>
                </c:pt>
              </c:numCache>
            </c:numRef>
          </c:val>
          <c:extLst>
            <c:ext xmlns:c16="http://schemas.microsoft.com/office/drawing/2014/chart" uri="{C3380CC4-5D6E-409C-BE32-E72D297353CC}">
              <c16:uniqueId val="{00000001-3743-46B7-9453-554D3F76B7F0}"/>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743-46B7-9453-554D3F76B7F0}"/>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Sheet1!$D$2:$D$5</c:f>
              <c:numCache>
                <c:formatCode>0%</c:formatCode>
                <c:ptCount val="4"/>
                <c:pt idx="0">
                  <c:v>0.48484848484848486</c:v>
                </c:pt>
                <c:pt idx="1">
                  <c:v>0.42</c:v>
                </c:pt>
                <c:pt idx="2">
                  <c:v>0.57</c:v>
                </c:pt>
                <c:pt idx="3">
                  <c:v>0.5789473684210527</c:v>
                </c:pt>
              </c:numCache>
            </c:numRef>
          </c:val>
          <c:extLst>
            <c:ext xmlns:c16="http://schemas.microsoft.com/office/drawing/2014/chart" uri="{C3380CC4-5D6E-409C-BE32-E72D297353CC}">
              <c16:uniqueId val="{00000003-3743-46B7-9453-554D3F76B7F0}"/>
            </c:ext>
          </c:extLst>
        </c:ser>
        <c:ser>
          <c:idx val="3"/>
          <c:order val="3"/>
          <c:tx>
            <c:strRef>
              <c:f>Sheet1!$E$1</c:f>
              <c:strCache>
                <c:ptCount val="1"/>
                <c:pt idx="0">
                  <c:v/>
                </c:pt>
              </c:strCache>
            </c:strRef>
          </c:tx>
          <c:spPr>
            <a:noFill/>
          </c:spPr>
          <c:invertIfNegative val="0"/>
          <c:dLbls>
            <c:dLbl>
              <c:idx val="3"/>
              <c:spPr>
                <a:solidFill>
                  <a:schemeClr val="bg1"/>
                </a:solid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6544-4023-BABF-1CA5BD0CCDE0}"/>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Sheet1!$E$2:$E$5</c:f>
              <c:numCache>
                <c:formatCode>0%</c:formatCode>
                <c:ptCount val="4"/>
                <c:pt idx="0">
                  <c:v>0.8099999999999999</c:v>
                </c:pt>
                <c:pt idx="1">
                  <c:v>0.8</c:v>
                </c:pt>
                <c:pt idx="2">
                  <c:v>0.9199999999999999</c:v>
                </c:pt>
              </c:numCache>
            </c:numRef>
          </c:val>
          <c:extLst>
            <c:ext xmlns:c16="http://schemas.microsoft.com/office/drawing/2014/chart" uri="{C3380CC4-5D6E-409C-BE32-E72D297353CC}">
              <c16:uniqueId val="{00000004-3743-46B7-9453-554D3F76B7F0}"/>
            </c:ext>
          </c:extLst>
        </c:ser>
        <c:ser>
          <c:idx val="4"/>
          <c:order val="4"/>
          <c:tx>
            <c:strRef>
              <c:f>Sheet1!$F$1</c:f>
              <c:strCache>
                <c:ptCount val="1"/>
                <c:pt idx="0">
                  <c:v>sum of displayed values</c:v>
                </c:pt>
              </c:strCache>
            </c:strRef>
          </c:tx>
          <c:spPr>
            <a:noFill/>
          </c:spPr>
          <c:invertIfNegative val="0"/>
          <c:dLbls>
            <c:dLbl>
              <c:idx val="3"/>
              <c:spPr>
                <a:solidFill>
                  <a:schemeClr val="bg1"/>
                </a:solid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6544-4023-BABF-1CA5BD0CCDE0}"/>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Q4 2024
(N=33)</c:v>
                </c:pt>
                <c:pt idx="1">
                  <c:v>Q1 2025
(N=45)</c:v>
                </c:pt>
                <c:pt idx="2">
                  <c:v>Q2 2025
(N=46)</c:v>
                </c:pt>
                <c:pt idx="3">
                  <c:v>Q3 2025
(N=38)</c:v>
                </c:pt>
              </c:strCache>
            </c:strRef>
          </c:cat>
          <c:val>
            <c:numRef>
              <c:f>Sheet1!$F$2:$F$5</c:f>
              <c:numCache>
                <c:formatCode>0%</c:formatCode>
                <c:ptCount val="4"/>
                <c:pt idx="3">
                  <c:v>0.868421052631579</c:v>
                </c:pt>
              </c:numCache>
            </c:numRef>
          </c:val>
          <c:extLst>
            <c:ext xmlns:c16="http://schemas.microsoft.com/office/drawing/2014/chart" uri="{C3380CC4-5D6E-409C-BE32-E72D297353CC}">
              <c16:uniqueId val="{00000004-3743-46B7-9453-554D3F76B7F0}"/>
            </c:ext>
          </c:extLst>
        </c:ser>
        <c:dLbls>
          <c:showLegendKey val="0"/>
          <c:showVal val="0"/>
          <c:showCatName val="0"/>
          <c:showSerName val="0"/>
          <c:showPercent val="0"/>
          <c:showBubbleSize val="0"/>
        </c:dLbls>
        <c:gapWidth val="100"/>
        <c:overlap val="100"/>
        <c:axId val="265944032"/>
        <c:axId val="265944592"/>
      </c:barChart>
      <c:catAx>
        <c:axId val="26594403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crossAx val="265944592"/>
        <c:crosses val="autoZero"/>
        <c:auto val="1"/>
        <c:lblAlgn val="ctr"/>
        <c:lblOffset val="100"/>
        <c:noMultiLvlLbl val="0"/>
      </c:catAx>
      <c:valAx>
        <c:axId val="26594459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6594403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6496330288718936"/>
          <c:w val="0.91406747644859176"/>
          <c:h val="0.71673352017526737"/>
        </c:manualLayout>
      </c:layout>
      <c:barChart>
        <c:barDir val="col"/>
        <c:grouping val="clustered"/>
        <c:varyColors val="0"/>
        <c:ser>
          <c:idx val="0"/>
          <c:order val="0"/>
          <c:tx>
            <c:strRef>
              <c:f>Sheet1!$B$1</c:f>
              <c:strCache>
                <c:ptCount val="1"/>
                <c:pt idx="0">
                  <c:v>Q4 2024
(N=33)</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Income Qualified Assistance</c:v>
                </c:pt>
                <c:pt idx="1">
                  <c:v>Low Income Weatherization </c:v>
                </c:pt>
                <c:pt idx="2">
                  <c:v>Low Income Home Upgrade</c:v>
                </c:pt>
                <c:pt idx="3">
                  <c:v>Don’t know</c:v>
                </c:pt>
              </c:strCache>
            </c:strRef>
          </c:cat>
          <c:val>
            <c:numRef>
              <c:f>Sheet1!$B$2:$B$5</c:f>
              <c:numCache>
                <c:formatCode>0%</c:formatCode>
                <c:ptCount val="4"/>
                <c:pt idx="0">
                  <c:v>0.3636363636363637</c:v>
                </c:pt>
                <c:pt idx="1">
                  <c:v>0.21212121212121213</c:v>
                </c:pt>
                <c:pt idx="2">
                  <c:v>0.24242424242424243</c:v>
                </c:pt>
                <c:pt idx="3">
                  <c:v>0.18181818181818185</c:v>
                </c:pt>
              </c:numCache>
            </c:numRef>
          </c:val>
          <c:extLst>
            <c:ext xmlns:c16="http://schemas.microsoft.com/office/drawing/2014/chart" uri="{C3380CC4-5D6E-409C-BE32-E72D297353CC}">
              <c16:uniqueId val="{00000000-61F9-024E-9747-766AD4F1AFFF}"/>
            </c:ext>
          </c:extLst>
        </c:ser>
        <c:ser>
          <c:idx val="1"/>
          <c:order val="1"/>
          <c:tx>
            <c:strRef>
              <c:f>Sheet1!$C$1</c:f>
              <c:strCache>
                <c:ptCount val="1"/>
                <c:pt idx="0">
                  <c:v>Q1 2025
(N=45)</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Sheet1!$C$2:$C$5</c:f>
              <c:numCache>
                <c:formatCode>0%</c:formatCode>
                <c:ptCount val="4"/>
                <c:pt idx="0">
                  <c:v>0.67</c:v>
                </c:pt>
                <c:pt idx="1">
                  <c:v>0.11</c:v>
                </c:pt>
                <c:pt idx="2">
                  <c:v>0.13</c:v>
                </c:pt>
                <c:pt idx="3">
                  <c:v>0.09</c:v>
                </c:pt>
              </c:numCache>
            </c:numRef>
          </c:val>
          <c:extLst>
            <c:ext xmlns:c16="http://schemas.microsoft.com/office/drawing/2014/chart" uri="{C3380CC4-5D6E-409C-BE32-E72D297353CC}">
              <c16:uniqueId val="{00000001-61F9-024E-9747-766AD4F1AFFF}"/>
            </c:ext>
          </c:extLst>
        </c:ser>
        <c:ser>
          <c:idx val="2"/>
          <c:order val="2"/>
          <c:tx>
            <c:strRef>
              <c:f>Sheet1!$D$1</c:f>
              <c:strCache>
                <c:ptCount val="1"/>
                <c:pt idx="0">
                  <c:v>Q2 2025
(N=46)</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Sheet1!$D$2:$D$5</c:f>
              <c:numCache>
                <c:formatCode>0%</c:formatCode>
                <c:ptCount val="4"/>
                <c:pt idx="0">
                  <c:v>0.57</c:v>
                </c:pt>
                <c:pt idx="1">
                  <c:v>0.17</c:v>
                </c:pt>
                <c:pt idx="2">
                  <c:v>0.15</c:v>
                </c:pt>
                <c:pt idx="3">
                  <c:v>0.11</c:v>
                </c:pt>
              </c:numCache>
            </c:numRef>
          </c:val>
          <c:extLst>
            <c:ext xmlns:c16="http://schemas.microsoft.com/office/drawing/2014/chart" uri="{C3380CC4-5D6E-409C-BE32-E72D297353CC}">
              <c16:uniqueId val="{00000001-B751-4C90-854A-A8E428B75CCC}"/>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Sheet1!$E$2:$E$5</c:f>
              <c:numCache>
                <c:formatCode>0%</c:formatCode>
                <c:ptCount val="4"/>
                <c:pt idx="0">
                  <c:v>0.4473684210526316</c:v>
                </c:pt>
                <c:pt idx="1">
                  <c:v>0.18421052631578946</c:v>
                </c:pt>
                <c:pt idx="2">
                  <c:v>0.15789473684210525</c:v>
                </c:pt>
                <c:pt idx="3">
                  <c:v>0.21052631578947367</c:v>
                </c:pt>
              </c:numCache>
            </c:numRef>
          </c:val>
          <c:extLst>
            <c:ext xmlns:c16="http://schemas.microsoft.com/office/drawing/2014/chart" uri="{C3380CC4-5D6E-409C-BE32-E72D297353CC}">
              <c16:uniqueId val="{00000000-6EEF-6D41-A1A8-CD5836F47C32}"/>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28027396246521818"/>
          <c:y val="7.6970958149027047E-2"/>
          <c:w val="0.43635915576342432"/>
          <c:h val="7.5440547014198278E-2"/>
        </c:manualLayout>
      </c:layout>
      <c:overlay val="0"/>
      <c:spPr>
        <a:noFill/>
        <a:ln w="20893">
          <a:noFill/>
        </a:ln>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Q4 2024
(N=33)</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Sheet1!$B$2:$B$6</c:f>
              <c:numCache>
                <c:formatCode>0%</c:formatCode>
                <c:ptCount val="5"/>
                <c:pt idx="1">
                  <c:v>0.030303030303030304</c:v>
                </c:pt>
                <c:pt idx="2">
                  <c:v>0.30303030303030304</c:v>
                </c:pt>
                <c:pt idx="3">
                  <c:v>0.3636363636363637</c:v>
                </c:pt>
                <c:pt idx="4">
                  <c:v>0.30303030303030304</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Q1 2025
(N=45)</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Sheet1!$C$2:$C$6</c:f>
              <c:numCache>
                <c:formatCode>0%</c:formatCode>
                <c:ptCount val="5"/>
                <c:pt idx="1">
                  <c:v>0.07</c:v>
                </c:pt>
                <c:pt idx="2">
                  <c:v>0.38</c:v>
                </c:pt>
                <c:pt idx="3">
                  <c:v>0.38</c:v>
                </c:pt>
                <c:pt idx="4">
                  <c:v>0.11</c:v>
                </c:pt>
              </c:numCache>
            </c:numRef>
          </c:val>
          <c:extLst>
            <c:ext xmlns:c16="http://schemas.microsoft.com/office/drawing/2014/chart" uri="{C3380CC4-5D6E-409C-BE32-E72D297353CC}">
              <c16:uniqueId val="{00000000-4FB7-49FC-8013-CFDB7B13F269}"/>
            </c:ext>
          </c:extLst>
        </c:ser>
        <c:ser>
          <c:idx val="2"/>
          <c:order val="2"/>
          <c:tx>
            <c:strRef>
              <c:f>Sheet1!$D$1</c:f>
              <c:strCache>
                <c:ptCount val="1"/>
                <c:pt idx="0">
                  <c:v>Q2 2025
(N=46)</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Sheet1!$D$2:$D$6</c:f>
              <c:numCache>
                <c:formatCode>0%</c:formatCode>
                <c:ptCount val="5"/>
                <c:pt idx="0">
                  <c:v>0.02</c:v>
                </c:pt>
                <c:pt idx="1">
                  <c:v>0.15</c:v>
                </c:pt>
                <c:pt idx="2">
                  <c:v>0.37</c:v>
                </c:pt>
                <c:pt idx="3">
                  <c:v>0.26</c:v>
                </c:pt>
                <c:pt idx="4">
                  <c:v>0.15</c:v>
                </c:pt>
              </c:numCache>
            </c:numRef>
          </c:val>
          <c:extLst>
            <c:ext xmlns:c16="http://schemas.microsoft.com/office/drawing/2014/chart" uri="{C3380CC4-5D6E-409C-BE32-E72D297353CC}">
              <c16:uniqueId val="{00000000-F266-5348-A6A7-16CF032774A6}"/>
            </c:ext>
          </c:extLst>
        </c:ser>
        <c:ser>
          <c:idx val="3"/>
          <c:order val="3"/>
          <c:tx>
            <c:strRef>
              <c:f>Sheet1!$E$1</c:f>
              <c:strCache>
                <c:ptCount val="1"/>
                <c:pt idx="0">
                  <c:v>Q3 2025
(N=38)</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Poor</c:v>
                </c:pt>
                <c:pt idx="1">
                  <c:v>Fair </c:v>
                </c:pt>
                <c:pt idx="2">
                  <c:v>Good</c:v>
                </c:pt>
                <c:pt idx="3">
                  <c:v>Very Good</c:v>
                </c:pt>
                <c:pt idx="4">
                  <c:v>Excellent</c:v>
                </c:pt>
              </c:strCache>
            </c:strRef>
          </c:cat>
          <c:val>
            <c:numRef>
              <c:f>Sheet1!$E$2:$E$6</c:f>
              <c:numCache>
                <c:formatCode>0%</c:formatCode>
                <c:ptCount val="5"/>
                <c:pt idx="0">
                  <c:v>0.07894736842105263</c:v>
                </c:pt>
                <c:pt idx="1">
                  <c:v>0.10526315789473684</c:v>
                </c:pt>
                <c:pt idx="2">
                  <c:v>0.3157894736842105</c:v>
                </c:pt>
                <c:pt idx="3">
                  <c:v>0.4473684210526316</c:v>
                </c:pt>
                <c:pt idx="4">
                  <c:v>0.05263157894736842</c:v>
                </c:pt>
              </c:numCache>
            </c:numRef>
          </c:val>
          <c:extLst>
            <c:ext xmlns:c16="http://schemas.microsoft.com/office/drawing/2014/chart" uri="{C3380CC4-5D6E-409C-BE32-E72D297353CC}">
              <c16:uniqueId val="{00000000-9334-5A44-B3DF-AD7141659EB5}"/>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2840333609614587"/>
          <c:y val="5.9662775616083012E-2"/>
          <c:w val="0.42883073826298029"/>
          <c:h val="7.650479487729403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2.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4.xml><?xml version="1.0" encoding="utf-8"?>
<c:userShapes xmlns:c="http://schemas.openxmlformats.org/drawingml/2006/chart">
  <cdr:relSizeAnchor xmlns:cdr="http://schemas.openxmlformats.org/drawingml/2006/chartDrawing">
    <cdr:from>
      <cdr:x>0.20677</cdr:x>
      <cdr:y>0.91831</cdr:y>
    </cdr:from>
    <cdr:to>
      <cdr:x>0.38363</cdr:x>
      <cdr:y>1</cdr:y>
    </cdr:to>
    <cdr:sp macro="" textlink="">
      <cdr:nvSpPr>
        <cdr:cNvPr id="2" name="TextBox 1"/>
        <cdr:cNvSpPr txBox="1"/>
      </cdr:nvSpPr>
      <cdr:spPr>
        <a:xfrm xmlns:a="http://schemas.openxmlformats.org/drawingml/2006/main">
          <a:off x="1396999" y="5248123"/>
          <a:ext cx="1194966" cy="466877"/>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pPr algn="ctr"/>
          <a:r>
            <a:rPr lang="en-US" dirty="0">
              <a:solidFill>
                <a:schemeClr val="tx1"/>
              </a:solidFill>
            </a:rPr>
            <a:t>Cleaning up after job </a:t>
          </a:r>
          <a:br>
            <a:rPr lang="en-US" dirty="0">
              <a:solidFill>
                <a:schemeClr val="tx1"/>
              </a:solidFill>
            </a:rPr>
          </a:br>
          <a:r>
            <a:rPr lang="en-US" dirty="0">
              <a:solidFill>
                <a:schemeClr val="tx1"/>
              </a:solidFill>
            </a:rPr>
            <a:t>was complete</a:t>
          </a:r>
          <a:endParaRPr lang="en-US" sz="1100" dirty="0">
            <a:solidFill>
              <a:schemeClr val="tx1"/>
            </a:solidFill>
          </a:endParaRPr>
        </a:p>
      </cdr:txBody>
    </cdr:sp>
  </cdr:relSizeAnchor>
  <cdr:relSizeAnchor xmlns:cdr="http://schemas.openxmlformats.org/drawingml/2006/chartDrawing">
    <cdr:from>
      <cdr:x>0.64662</cdr:x>
      <cdr:y>0.92102</cdr:y>
    </cdr:from>
    <cdr:to>
      <cdr:x>0.8404</cdr:x>
      <cdr:y>1</cdr:y>
    </cdr:to>
    <cdr:sp macro="" textlink="">
      <cdr:nvSpPr>
        <cdr:cNvPr id="12" name="TextBox 1"/>
        <cdr:cNvSpPr txBox="1"/>
      </cdr:nvSpPr>
      <cdr:spPr>
        <a:xfrm xmlns:a="http://schemas.openxmlformats.org/drawingml/2006/main">
          <a:off x="4368799" y="5263629"/>
          <a:ext cx="1309278" cy="45137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57BC7E7C-6C5A-4209-9113-14C2916D7A64}"/>
            </a:ext>
          </a:extLst>
        </cdr:cNvPr>
        <cdr:cNvCxnSpPr/>
      </cdr:nvCxnSpPr>
      <cdr:spPr>
        <a:xfrm xmlns:a="http://schemas.openxmlformats.org/drawingml/2006/main" flipH="1">
          <a:off x="3530599" y="772827"/>
          <a:ext cx="7702" cy="3436231"/>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drawings/drawing5.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97950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4133932-E495-4E1A-9472-86E75AE9C1D7}"/>
            </a:ext>
          </a:extLst>
        </cdr:cNvPr>
        <cdr:cNvCxnSpPr/>
      </cdr:nvCxnSpPr>
      <cdr:spPr>
        <a:xfrm xmlns:a="http://schemas.openxmlformats.org/drawingml/2006/main" flipH="1">
          <a:off x="3530599" y="718952"/>
          <a:ext cx="7702" cy="3515095"/>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0.66026</cdr:x>
      <cdr:y>0.92925</cdr:y>
    </cdr:from>
    <cdr:to>
      <cdr:x>0.85404</cdr:x>
      <cdr:y>0.99571</cdr:y>
    </cdr:to>
    <cdr:sp macro="" textlink="">
      <cdr:nvSpPr>
        <cdr:cNvPr id="9" name="TextBox 1"/>
        <cdr:cNvSpPr txBox="1"/>
      </cdr:nvSpPr>
      <cdr:spPr>
        <a:xfrm xmlns:a="http://schemas.openxmlformats.org/drawingml/2006/main">
          <a:off x="4460989" y="495664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Promptness/keeping appointments/</a:t>
          </a:r>
        </a:p>
        <a:p xmlns:a="http://schemas.openxmlformats.org/drawingml/2006/main">
          <a:pPr algn="ctr"/>
          <a:r>
            <a:rPr lang="en-US" dirty="0">
              <a:solidFill>
                <a:schemeClr val="tx1"/>
              </a:solidFill>
            </a:rPr>
            <a:t>being on time</a:t>
          </a:r>
          <a:endParaRPr lang="en-US" sz="1100" dirty="0">
            <a:solidFill>
              <a:schemeClr val="tx1"/>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0.19549</cdr:x>
      <cdr:y>0.92567</cdr:y>
    </cdr:from>
    <cdr:to>
      <cdr:x>0.40977</cdr:x>
      <cdr:y>0.99213</cdr:y>
    </cdr:to>
    <cdr:sp macro="" textlink="">
      <cdr:nvSpPr>
        <cdr:cNvPr id="13" name="TextBox 1"/>
        <cdr:cNvSpPr txBox="1"/>
      </cdr:nvSpPr>
      <cdr:spPr>
        <a:xfrm xmlns:a="http://schemas.openxmlformats.org/drawingml/2006/main">
          <a:off x="1320799" y="4481984"/>
          <a:ext cx="1447790"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D3FF90F-E274-4184-A306-63BF9DC99314}"/>
            </a:ext>
          </a:extLst>
        </cdr:cNvPr>
        <cdr:cNvCxnSpPr/>
      </cdr:nvCxnSpPr>
      <cdr:spPr>
        <a:xfrm xmlns:a="http://schemas.openxmlformats.org/drawingml/2006/main" flipH="1">
          <a:off x="3530599" y="702822"/>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0.91279</cdr:y>
    </cdr:from>
    <cdr:to>
      <cdr:x>0.85291</cdr:x>
      <cdr:y>0.97925</cdr:y>
    </cdr:to>
    <cdr:sp macro="" textlink="">
      <cdr:nvSpPr>
        <cdr:cNvPr id="9" name="TextBox 1"/>
        <cdr:cNvSpPr txBox="1"/>
      </cdr:nvSpPr>
      <cdr:spPr>
        <a:xfrm xmlns:a="http://schemas.openxmlformats.org/drawingml/2006/main">
          <a:off x="4453369"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br>
            <a:rPr lang="en-US" dirty="0">
              <a:solidFill>
                <a:schemeClr val="tx1"/>
              </a:solidFill>
            </a:rPr>
          </a:br>
          <a:r>
            <a:rPr lang="en-US" dirty="0">
              <a:solidFill>
                <a:schemeClr val="tx1"/>
              </a:solidFill>
            </a:rPr>
            <a:t>financial aid programs</a:t>
          </a:r>
          <a:endParaRPr lang="en-US" sz="1100" dirty="0">
            <a:solidFill>
              <a:schemeClr val="tx1"/>
            </a:solidFill>
          </a:endParaRPr>
        </a:p>
      </cdr:txBody>
    </cdr:sp>
  </cdr:relSizeAnchor>
</c:userShapes>
</file>

<file path=ppt/drawings/drawing7.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520084"/>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0369F11A-978D-4DDF-AAAA-90D76FB1EB50}"/>
            </a:ext>
          </a:extLst>
        </cdr:cNvPr>
        <cdr:cNvCxnSpPr/>
      </cdr:nvCxnSpPr>
      <cdr:spPr>
        <a:xfrm xmlns:a="http://schemas.openxmlformats.org/drawingml/2006/main" flipH="1">
          <a:off x="3530599" y="772828"/>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0.92925</cdr:y>
    </cdr:from>
    <cdr:to>
      <cdr:x>0.85291</cdr:x>
      <cdr:y>0.99571</cdr:y>
    </cdr:to>
    <cdr:sp macro="" textlink="">
      <cdr:nvSpPr>
        <cdr:cNvPr id="9" name="TextBox 1"/>
        <cdr:cNvSpPr txBox="1"/>
      </cdr:nvSpPr>
      <cdr:spPr>
        <a:xfrm xmlns:a="http://schemas.openxmlformats.org/drawingml/2006/main">
          <a:off x="4453369" y="4499302"/>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0.19549</cdr:x>
      <cdr:y>0.92639</cdr:y>
    </cdr:from>
    <cdr:to>
      <cdr:x>0.38927</cdr:x>
      <cdr:y>0.99285</cdr:y>
    </cdr:to>
    <cdr:sp macro="" textlink="">
      <cdr:nvSpPr>
        <cdr:cNvPr id="13" name="TextBox 1"/>
        <cdr:cNvSpPr txBox="1"/>
      </cdr:nvSpPr>
      <cdr:spPr>
        <a:xfrm xmlns:a="http://schemas.openxmlformats.org/drawingml/2006/main">
          <a:off x="1320799" y="4485448"/>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0.15738</cdr:y>
    </cdr:from>
    <cdr:to>
      <cdr:x>0.5237</cdr:x>
      <cdr:y>0.86707</cdr:y>
    </cdr:to>
    <cdr:cxnSp macro="">
      <cdr:nvCxnSpPr>
        <cdr:cNvPr id="4" name="Straight Connector 3">
          <a:extLst xmlns:a="http://schemas.openxmlformats.org/drawingml/2006/main">
            <a:ext uri="{FF2B5EF4-FFF2-40B4-BE49-F238E27FC236}">
              <a16:creationId xmlns:a16="http://schemas.microsoft.com/office/drawing/2014/main" id="{11519020-7276-4512-9CBC-5228B6E06FBD}"/>
            </a:ext>
          </a:extLst>
        </cdr:cNvPr>
        <cdr:cNvCxnSpPr/>
      </cdr:nvCxnSpPr>
      <cdr:spPr>
        <a:xfrm xmlns:a="http://schemas.openxmlformats.org/drawingml/2006/main" flipH="1">
          <a:off x="3530599" y="762000"/>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0.64662</cdr:x>
      <cdr:y>0.91279</cdr:y>
    </cdr:from>
    <cdr:to>
      <cdr:x>0.8935</cdr:x>
      <cdr:y>1</cdr:y>
    </cdr:to>
    <cdr:sp macro="" textlink="">
      <cdr:nvSpPr>
        <cdr:cNvPr id="9" name="TextBox 1"/>
        <cdr:cNvSpPr txBox="1"/>
      </cdr:nvSpPr>
      <cdr:spPr>
        <a:xfrm xmlns:a="http://schemas.openxmlformats.org/drawingml/2006/main">
          <a:off x="4368799" y="4419615"/>
          <a:ext cx="1668053" cy="42226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answer questions</a:t>
          </a:r>
        </a:p>
        <a:p xmlns:a="http://schemas.openxmlformats.org/drawingml/2006/main">
          <a:pPr algn="ctr"/>
          <a:r>
            <a:rPr lang="en-US" dirty="0">
              <a:solidFill>
                <a:schemeClr val="tx1"/>
              </a:solidFill>
            </a:rPr>
            <a:t>d</a:t>
          </a:r>
          <a:r>
            <a:rPr lang="en-US" sz="1100" dirty="0">
              <a:solidFill>
                <a:schemeClr val="tx1"/>
              </a:solidFill>
            </a:rPr>
            <a:t>uring the process</a:t>
          </a:r>
        </a:p>
      </cdr:txBody>
    </cdr:sp>
  </cdr:relSizeAnchor>
</c:userShapes>
</file>

<file path=ppt/drawings/drawing9.xml><?xml version="1.0" encoding="utf-8"?>
<c:userShapes xmlns:c="http://schemas.openxmlformats.org/drawingml/2006/chart">
  <cdr:relSizeAnchor xmlns:cdr="http://schemas.openxmlformats.org/drawingml/2006/chartDrawing">
    <cdr:from>
      <cdr:x>0.43257</cdr:x>
      <cdr:y>0.91279</cdr:y>
    </cdr:from>
    <cdr:to>
      <cdr:x>0.62635</cdr:x>
      <cdr:y>0.97925</cdr:y>
    </cdr:to>
    <cdr:sp macro="" textlink="">
      <cdr:nvSpPr>
        <cdr:cNvPr id="13" name="TextBox 1"/>
        <cdr:cNvSpPr txBox="1"/>
      </cdr:nvSpPr>
      <cdr:spPr>
        <a:xfrm xmlns:a="http://schemas.openxmlformats.org/drawingml/2006/main">
          <a:off x="2922645"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p>
        <a:p xmlns:a="http://schemas.openxmlformats.org/drawingml/2006/main">
          <a:pPr algn="ctr"/>
          <a:r>
            <a:rPr lang="en-US" dirty="0">
              <a:solidFill>
                <a:schemeClr val="tx1"/>
              </a:solidFill>
            </a:rPr>
            <a:t>f</a:t>
          </a:r>
          <a:r>
            <a:rPr lang="en-US" sz="1100" dirty="0">
              <a:solidFill>
                <a:schemeClr val="tx1"/>
              </a:solidFill>
            </a:rPr>
            <a:t>inancial aid </a:t>
          </a:r>
          <a:r>
            <a:rPr lang="en-US" dirty="0">
              <a:solidFill>
                <a:schemeClr val="tx1"/>
              </a:solidFill>
            </a:rPr>
            <a:t>p</a:t>
          </a:r>
          <a:r>
            <a:rPr lang="en-US" sz="1100" dirty="0">
              <a:solidFill>
                <a:schemeClr val="tx1"/>
              </a:solidFill>
            </a:rPr>
            <a:t>rograms</a:t>
          </a:r>
        </a:p>
      </cdr:txBody>
    </cdr:sp>
  </cdr:relSizeAnchor>
</c:userShapes>
</file>

<file path=ppt/drawings/drawing10.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2.xml><?xml version="1.0" encoding="utf-8"?>
<c:userShapes xmlns:c="http://schemas.openxmlformats.org/drawingml/2006/chart">
  <cdr:relSizeAnchor xmlns:cdr="http://schemas.openxmlformats.org/drawingml/2006/chartDrawing">
    <cdr:from>
      <cdr:x>0.37647</cdr:x>
      <cdr:y>0.74126</cdr:y>
    </cdr:from>
    <cdr:to>
      <cdr:x>0.43214</cdr:x>
      <cdr:y>0.78987</cdr:y>
    </cdr:to>
    <cdr:sp macro="" textlink="">
      <cdr:nvSpPr>
        <cdr:cNvPr id="2" name="TextBox 1">
          <a:extLst xmlns:a="http://schemas.openxmlformats.org/drawingml/2006/main">
            <a:ext uri="{FF2B5EF4-FFF2-40B4-BE49-F238E27FC236}">
              <a16:creationId xmlns:a16="http://schemas.microsoft.com/office/drawing/2014/main" id="{3D7FDD1C-EC69-B94B-B40C-365D2FBE62A5}"/>
            </a:ext>
          </a:extLst>
        </cdr:cNvPr>
        <cdr:cNvSpPr txBox="1"/>
      </cdr:nvSpPr>
      <cdr:spPr>
        <a:xfrm xmlns:a="http://schemas.openxmlformats.org/drawingml/2006/main">
          <a:off x="2576444" y="4648200"/>
          <a:ext cx="381000" cy="3048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930" dirty="0"/>
        </a:p>
      </cdr:txBody>
    </cdr:sp>
  </cdr:relSizeAnchor>
</c:userShapes>
</file>

<file path=ppt/drawings/drawing1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4"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50179" name="Rectangle 3"/>
          <p:cNvSpPr>
            <a:spLocks noGrp="1" noChangeArrowheads="1"/>
          </p:cNvSpPr>
          <p:nvPr>
            <p:ph type="dt" sz="quarter" idx="1"/>
          </p:nvPr>
        </p:nvSpPr>
        <p:spPr bwMode="auto">
          <a:xfrm>
            <a:off x="5254487"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0180" name="Rectangle 4"/>
          <p:cNvSpPr>
            <a:spLocks noGrp="1" noChangeArrowheads="1"/>
          </p:cNvSpPr>
          <p:nvPr>
            <p:ph type="ftr" sz="quarter" idx="2"/>
          </p:nvPr>
        </p:nvSpPr>
        <p:spPr bwMode="auto">
          <a:xfrm>
            <a:off x="4" y="6665626"/>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2" name="Slide Number Placeholder 1"/>
          <p:cNvSpPr>
            <a:spLocks noGrp="1"/>
          </p:cNvSpPr>
          <p:nvPr>
            <p:ph type="sldNum" sz="quarter" idx="3"/>
          </p:nvPr>
        </p:nvSpPr>
        <p:spPr>
          <a:xfrm>
            <a:off x="5265015" y="6658447"/>
            <a:ext cx="4029282" cy="351957"/>
          </a:xfrm>
          <a:prstGeom prst="rect">
            <a:avLst/>
          </a:prstGeom>
        </p:spPr>
        <p:txBody>
          <a:bodyPr vert="horz" lIns="91430" tIns="45716" rIns="91430" bIns="45716" rtlCol="0" anchor="b"/>
          <a:lstStyle>
            <a:lvl1pPr algn="r">
              <a:defRPr sz="1200"/>
            </a:lvl1pPr>
          </a:lstStyle>
          <a:p>
            <a:pPr>
              <a:defRPr/>
            </a:pPr>
            <a:fld id="{0D6C7A70-31E7-4B49-B3BD-709EDB4CC72D}" type="slidenum">
              <a:rPr lang="en-US"/>
              <a:pPr>
                <a:defRPr/>
              </a:pPr>
              <a:t>‹#›</a:t>
            </a:fld>
            <a:endParaRPr lang="en-US"/>
          </a:p>
        </p:txBody>
      </p:sp>
    </p:spTree>
    <p:extLst>
      <p:ext uri="{BB962C8B-B14F-4D97-AF65-F5344CB8AC3E}">
        <p14:creationId xmlns:p14="http://schemas.microsoft.com/office/powerpoint/2010/main" val="2366716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6"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5" name="Rectangle 3"/>
          <p:cNvSpPr>
            <a:spLocks noGrp="1" noChangeArrowheads="1"/>
          </p:cNvSpPr>
          <p:nvPr>
            <p:ph type="dt" idx="1"/>
          </p:nvPr>
        </p:nvSpPr>
        <p:spPr bwMode="auto">
          <a:xfrm>
            <a:off x="526712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algn="r" defTabSz="931768">
              <a:defRPr sz="1200">
                <a:latin typeface="Times New Roman" pitchFamily="18"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3662363" y="525463"/>
            <a:ext cx="1971675" cy="26289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1239945" y="3330424"/>
            <a:ext cx="6816518" cy="3154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6"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9" name="Rectangle 7"/>
          <p:cNvSpPr>
            <a:spLocks noGrp="1" noChangeArrowheads="1"/>
          </p:cNvSpPr>
          <p:nvPr>
            <p:ph type="sldNum" sz="quarter" idx="5"/>
          </p:nvPr>
        </p:nvSpPr>
        <p:spPr bwMode="auto">
          <a:xfrm>
            <a:off x="5267121"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algn="r" defTabSz="931768">
              <a:defRPr sz="1200">
                <a:latin typeface="Times New Roman" panose="02020603050405020304" pitchFamily="18" charset="0"/>
              </a:defRPr>
            </a:lvl1pPr>
          </a:lstStyle>
          <a:p>
            <a:pPr>
              <a:defRPr/>
            </a:pPr>
            <a:fld id="{D157A655-42AC-4AB2-B08C-5753FECA8C89}" type="slidenum">
              <a:rPr lang="en-US" altLang="en-US"/>
              <a:pPr>
                <a:defRPr/>
              </a:pPr>
              <a:t>‹#›</a:t>
            </a:fld>
            <a:endParaRPr lang="en-US" altLang="en-US"/>
          </a:p>
        </p:txBody>
      </p:sp>
    </p:spTree>
    <p:extLst>
      <p:ext uri="{BB962C8B-B14F-4D97-AF65-F5344CB8AC3E}">
        <p14:creationId xmlns:p14="http://schemas.microsoft.com/office/powerpoint/2010/main" val="17514554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8F91E9F1-0FF9-4EA2-8489-E500C439DEDC}"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463707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a:t>
            </a:fld>
            <a:endParaRPr lang="en-US" altLang="en-US"/>
          </a:p>
        </p:txBody>
      </p:sp>
    </p:spTree>
    <p:extLst>
      <p:ext uri="{BB962C8B-B14F-4D97-AF65-F5344CB8AC3E}">
        <p14:creationId xmlns:p14="http://schemas.microsoft.com/office/powerpoint/2010/main" val="3469989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a:t>
            </a:fld>
            <a:endParaRPr lang="en-US" altLang="en-US"/>
          </a:p>
        </p:txBody>
      </p:sp>
    </p:spTree>
    <p:extLst>
      <p:ext uri="{BB962C8B-B14F-4D97-AF65-F5344CB8AC3E}">
        <p14:creationId xmlns:p14="http://schemas.microsoft.com/office/powerpoint/2010/main" val="3322774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549062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900580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21</a:t>
            </a:fld>
            <a:endParaRPr lang="en-US" altLang="en-US"/>
          </a:p>
        </p:txBody>
      </p:sp>
    </p:spTree>
    <p:extLst>
      <p:ext uri="{BB962C8B-B14F-4D97-AF65-F5344CB8AC3E}">
        <p14:creationId xmlns:p14="http://schemas.microsoft.com/office/powerpoint/2010/main" val="3681899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31</a:t>
            </a:fld>
            <a:endParaRPr lang="en-US" altLang="en-US"/>
          </a:p>
        </p:txBody>
      </p:sp>
    </p:spTree>
    <p:extLst>
      <p:ext uri="{BB962C8B-B14F-4D97-AF65-F5344CB8AC3E}">
        <p14:creationId xmlns:p14="http://schemas.microsoft.com/office/powerpoint/2010/main" val="2678814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34</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03146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62227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47</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077931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49</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603940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52</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042757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p:nvSpPr>
        <p:spPr bwMode="auto">
          <a:xfrm>
            <a:off x="0" y="3048000"/>
            <a:ext cx="6858000" cy="1524000"/>
          </a:xfrm>
          <a:prstGeom prst="rect">
            <a:avLst/>
          </a:prstGeom>
          <a:gradFill flip="none" rotWithShape="1">
            <a:gsLst>
              <a:gs pos="0">
                <a:srgbClr val="004F9E">
                  <a:shade val="30000"/>
                  <a:satMod val="115000"/>
                </a:srgbClr>
              </a:gs>
              <a:gs pos="50000">
                <a:srgbClr val="004F9E">
                  <a:shade val="67500"/>
                  <a:satMod val="115000"/>
                </a:srgbClr>
              </a:gs>
              <a:gs pos="100000">
                <a:srgbClr val="004F9E">
                  <a:shade val="100000"/>
                  <a:satMod val="115000"/>
                </a:srgbClr>
              </a:gs>
            </a:gsLst>
            <a:lin ang="16200000" scaled="1"/>
            <a:tileRect/>
          </a:gradFill>
          <a:ln w="9525">
            <a:solidFill>
              <a:schemeClr val="bg1"/>
            </a:solidFill>
            <a:miter lim="800000"/>
            <a:headEnd/>
            <a:tailEnd/>
          </a:ln>
          <a:effectLst/>
        </p:spPr>
        <p:txBody>
          <a:bodyPr wrap="none" anchor="ctr"/>
          <a:lstStyle>
            <a:lvl1pPr>
              <a:defRPr sz="1400">
                <a:solidFill>
                  <a:schemeClr val="tx1"/>
                </a:solidFill>
                <a:latin typeface="Tahoma" panose="020B0604030504040204" pitchFamily="34" charset="0"/>
              </a:defRPr>
            </a:lvl1pPr>
            <a:lvl2pPr marL="742950" indent="-285750">
              <a:defRPr sz="1400">
                <a:solidFill>
                  <a:schemeClr val="tx1"/>
                </a:solidFill>
                <a:latin typeface="Tahoma" panose="020B0604030504040204" pitchFamily="34" charset="0"/>
              </a:defRPr>
            </a:lvl2pPr>
            <a:lvl3pPr marL="1143000" indent="-228600">
              <a:defRPr sz="1400">
                <a:solidFill>
                  <a:schemeClr val="tx1"/>
                </a:solidFill>
                <a:latin typeface="Tahoma" panose="020B0604030504040204" pitchFamily="34" charset="0"/>
              </a:defRPr>
            </a:lvl3pPr>
            <a:lvl4pPr marL="1600200" indent="-228600">
              <a:defRPr sz="1400">
                <a:solidFill>
                  <a:schemeClr val="tx1"/>
                </a:solidFill>
                <a:latin typeface="Tahoma" panose="020B0604030504040204" pitchFamily="34" charset="0"/>
              </a:defRPr>
            </a:lvl4pPr>
            <a:lvl5pPr marL="2057400" indent="-22860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defRPr/>
            </a:pPr>
            <a:endParaRPr lang="en-US" altLang="en-US"/>
          </a:p>
        </p:txBody>
      </p:sp>
      <p:sp>
        <p:nvSpPr>
          <p:cNvPr id="4098" name="Rectangle 2"/>
          <p:cNvSpPr>
            <a:spLocks noGrp="1" noChangeArrowheads="1"/>
          </p:cNvSpPr>
          <p:nvPr>
            <p:ph type="ctrTitle"/>
          </p:nvPr>
        </p:nvSpPr>
        <p:spPr>
          <a:xfrm>
            <a:off x="514350" y="3048000"/>
            <a:ext cx="5829300" cy="1524000"/>
          </a:xfrm>
        </p:spPr>
        <p:txBody>
          <a:bodyPr/>
          <a:lstStyle>
            <a:lvl1pPr>
              <a:defRPr>
                <a:solidFill>
                  <a:srgbClr val="FFFFCC"/>
                </a:solidFill>
              </a:defRPr>
            </a:lvl1pPr>
          </a:lstStyle>
          <a:p>
            <a:pPr lvl="0"/>
            <a:r>
              <a:rPr lang="en-US" noProof="0"/>
              <a:t>Click to edit Master title style</a:t>
            </a:r>
          </a:p>
        </p:txBody>
      </p:sp>
      <p:sp>
        <p:nvSpPr>
          <p:cNvPr id="4099" name="Rectangle 3"/>
          <p:cNvSpPr>
            <a:spLocks noGrp="1" noChangeArrowheads="1"/>
          </p:cNvSpPr>
          <p:nvPr>
            <p:ph type="subTitle" idx="1"/>
          </p:nvPr>
        </p:nvSpPr>
        <p:spPr>
          <a:xfrm>
            <a:off x="1028700" y="5181600"/>
            <a:ext cx="4800600" cy="2336800"/>
          </a:xfrm>
        </p:spPr>
        <p:txBody>
          <a:bodyPr/>
          <a:lstStyle>
            <a:lvl1pPr marL="0" indent="0" algn="ctr">
              <a:buFontTx/>
              <a:buNone/>
              <a:defRPr/>
            </a:lvl1pPr>
          </a:lstStyle>
          <a:p>
            <a:pPr lvl="0"/>
            <a:r>
              <a:rPr lang="en-US" noProof="0"/>
              <a:t>Click to edit Master subtitle style</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p:spPr>
        <p:txBody>
          <a:bodyPr/>
          <a:lstStyle>
            <a:lvl1pPr>
              <a:defRPr/>
            </a:lvl1pPr>
          </a:lstStyle>
          <a:p>
            <a:pPr>
              <a:defRPr/>
            </a:pPr>
            <a:endParaRPr lang="en-US"/>
          </a:p>
        </p:txBody>
      </p:sp>
      <p:sp>
        <p:nvSpPr>
          <p:cNvPr id="7" name="Rectangle 6"/>
          <p:cNvSpPr>
            <a:spLocks noGrp="1" noChangeArrowheads="1"/>
          </p:cNvSpPr>
          <p:nvPr>
            <p:ph type="sldNum" sz="quarter" idx="12"/>
          </p:nvPr>
        </p:nvSpPr>
        <p:spPr>
          <a:xfrm>
            <a:off x="4914900" y="8331200"/>
            <a:ext cx="1428750" cy="609600"/>
          </a:xfrm>
        </p:spPr>
        <p:txBody>
          <a:bodyPr/>
          <a:lstStyle>
            <a:lvl1pPr>
              <a:defRPr/>
            </a:lvl1pPr>
          </a:lstStyle>
          <a:p>
            <a:pPr>
              <a:defRPr/>
            </a:pPr>
            <a:fld id="{8A84DDC1-3798-4D63-A76C-A9BFAA9C1965}" type="slidenum">
              <a:rPr lang="en-US" altLang="en-US"/>
              <a:pPr>
                <a:defRPr/>
              </a:pPr>
              <a:t>‹#›</a:t>
            </a:fld>
            <a:endParaRPr lang="en-US" altLang="en-US"/>
          </a:p>
        </p:txBody>
      </p:sp>
    </p:spTree>
    <p:extLst>
      <p:ext uri="{BB962C8B-B14F-4D97-AF65-F5344CB8AC3E}">
        <p14:creationId xmlns:p14="http://schemas.microsoft.com/office/powerpoint/2010/main" val="1002551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2880DE-8A54-4241-863A-5BEA31560478}" type="slidenum">
              <a:rPr lang="en-US" altLang="en-US"/>
              <a:pPr>
                <a:defRPr/>
              </a:pPr>
              <a:t>‹#›</a:t>
            </a:fld>
            <a:endParaRPr lang="en-US" altLang="en-US"/>
          </a:p>
        </p:txBody>
      </p:sp>
    </p:spTree>
    <p:extLst>
      <p:ext uri="{BB962C8B-B14F-4D97-AF65-F5344CB8AC3E}">
        <p14:creationId xmlns:p14="http://schemas.microsoft.com/office/powerpoint/2010/main" val="1112045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338" y="5875338"/>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338" y="3875088"/>
            <a:ext cx="5829300" cy="20002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B9D4755-8934-42FA-98F5-F75640CF5DC6}" type="slidenum">
              <a:rPr lang="en-US" altLang="en-US"/>
              <a:pPr>
                <a:defRPr/>
              </a:pPr>
              <a:t>‹#›</a:t>
            </a:fld>
            <a:endParaRPr lang="en-US" altLang="en-US"/>
          </a:p>
        </p:txBody>
      </p:sp>
    </p:spTree>
    <p:extLst>
      <p:ext uri="{BB962C8B-B14F-4D97-AF65-F5344CB8AC3E}">
        <p14:creationId xmlns:p14="http://schemas.microsoft.com/office/powerpoint/2010/main" val="3028380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1435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50520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0584C1D-F39F-4B5F-AD71-B9CF7C341B36}" type="slidenum">
              <a:rPr lang="en-US" altLang="en-US"/>
              <a:pPr>
                <a:defRPr/>
              </a:pPr>
              <a:t>‹#›</a:t>
            </a:fld>
            <a:endParaRPr lang="en-US" altLang="en-US"/>
          </a:p>
        </p:txBody>
      </p:sp>
    </p:spTree>
    <p:extLst>
      <p:ext uri="{BB962C8B-B14F-4D97-AF65-F5344CB8AC3E}">
        <p14:creationId xmlns:p14="http://schemas.microsoft.com/office/powerpoint/2010/main" val="3952614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713"/>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FD176F5-D366-4F17-AC56-116546327CC8}" type="slidenum">
              <a:rPr lang="en-US" altLang="en-US"/>
              <a:pPr>
                <a:defRPr/>
              </a:pPr>
              <a:t>‹#›</a:t>
            </a:fld>
            <a:endParaRPr lang="en-US" altLang="en-US"/>
          </a:p>
        </p:txBody>
      </p:sp>
    </p:spTree>
    <p:extLst>
      <p:ext uri="{BB962C8B-B14F-4D97-AF65-F5344CB8AC3E}">
        <p14:creationId xmlns:p14="http://schemas.microsoft.com/office/powerpoint/2010/main" val="1043150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8B7EA93-73E3-4D44-AB30-F2520CC81B30}" type="slidenum">
              <a:rPr lang="en-US" altLang="en-US"/>
              <a:pPr>
                <a:defRPr/>
              </a:pPr>
              <a:t>‹#›</a:t>
            </a:fld>
            <a:endParaRPr lang="en-US" altLang="en-US"/>
          </a:p>
        </p:txBody>
      </p:sp>
    </p:spTree>
    <p:extLst>
      <p:ext uri="{BB962C8B-B14F-4D97-AF65-F5344CB8AC3E}">
        <p14:creationId xmlns:p14="http://schemas.microsoft.com/office/powerpoint/2010/main" val="1153976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7849D09-3955-4B40-9799-37A8B489CC9B}" type="slidenum">
              <a:rPr lang="en-US" altLang="en-US"/>
              <a:pPr>
                <a:defRPr/>
              </a:pPr>
              <a:t>‹#›</a:t>
            </a:fld>
            <a:endParaRPr lang="en-US" altLang="en-US"/>
          </a:p>
        </p:txBody>
      </p:sp>
    </p:spTree>
    <p:extLst>
      <p:ext uri="{BB962C8B-B14F-4D97-AF65-F5344CB8AC3E}">
        <p14:creationId xmlns:p14="http://schemas.microsoft.com/office/powerpoint/2010/main" val="347791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3538"/>
            <a:ext cx="2255838"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CA60CF1-35FF-469A-A340-1034D98BD290}" type="slidenum">
              <a:rPr lang="en-US" altLang="en-US"/>
              <a:pPr>
                <a:defRPr/>
              </a:pPr>
              <a:t>‹#›</a:t>
            </a:fld>
            <a:endParaRPr lang="en-US" altLang="en-US"/>
          </a:p>
        </p:txBody>
      </p:sp>
    </p:spTree>
    <p:extLst>
      <p:ext uri="{BB962C8B-B14F-4D97-AF65-F5344CB8AC3E}">
        <p14:creationId xmlns:p14="http://schemas.microsoft.com/office/powerpoint/2010/main" val="909250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613" y="6400800"/>
            <a:ext cx="4114800" cy="7556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A7792CA-3A7A-418E-BD5C-255A89B32E0C}" type="slidenum">
              <a:rPr lang="en-US" altLang="en-US"/>
              <a:pPr>
                <a:defRPr/>
              </a:pPr>
              <a:t>‹#›</a:t>
            </a:fld>
            <a:endParaRPr lang="en-US" altLang="en-US"/>
          </a:p>
        </p:txBody>
      </p:sp>
    </p:spTree>
    <p:extLst>
      <p:ext uri="{BB962C8B-B14F-4D97-AF65-F5344CB8AC3E}">
        <p14:creationId xmlns:p14="http://schemas.microsoft.com/office/powerpoint/2010/main" val="4208668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528CEA3-2B0F-4B3F-A92A-566B95C51EFF}" type="slidenum">
              <a:rPr lang="en-US" altLang="en-US"/>
              <a:pPr>
                <a:defRPr/>
              </a:pPr>
              <a:t>‹#›</a:t>
            </a:fld>
            <a:endParaRPr lang="en-US" altLang="en-US"/>
          </a:p>
        </p:txBody>
      </p:sp>
    </p:spTree>
    <p:extLst>
      <p:ext uri="{BB962C8B-B14F-4D97-AF65-F5344CB8AC3E}">
        <p14:creationId xmlns:p14="http://schemas.microsoft.com/office/powerpoint/2010/main" val="397042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43500" y="0"/>
            <a:ext cx="1714500" cy="812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4991100" cy="812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71C7DA4-DCC9-4163-9CF2-D6F1E3C31094}" type="slidenum">
              <a:rPr lang="en-US" altLang="en-US"/>
              <a:pPr>
                <a:defRPr/>
              </a:pPr>
              <a:t>‹#›</a:t>
            </a:fld>
            <a:endParaRPr lang="en-US" altLang="en-US"/>
          </a:p>
        </p:txBody>
      </p:sp>
    </p:spTree>
    <p:extLst>
      <p:ext uri="{BB962C8B-B14F-4D97-AF65-F5344CB8AC3E}">
        <p14:creationId xmlns:p14="http://schemas.microsoft.com/office/powerpoint/2010/main" val="1085264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Text Placeholder 2"/>
          <p:cNvSpPr>
            <a:spLocks noGrp="1"/>
          </p:cNvSpPr>
          <p:nvPr>
            <p:ph type="body" sz="half" idx="1"/>
          </p:nvPr>
        </p:nvSpPr>
        <p:spPr>
          <a:xfrm>
            <a:off x="514350" y="2641600"/>
            <a:ext cx="283845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3505200" y="26416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3505200" y="54610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43DD9B07-AA93-460D-AC53-C03250F0E407}" type="slidenum">
              <a:rPr lang="en-US" altLang="en-US"/>
              <a:pPr>
                <a:defRPr/>
              </a:pPr>
              <a:t>‹#›</a:t>
            </a:fld>
            <a:endParaRPr lang="en-US" altLang="en-US"/>
          </a:p>
        </p:txBody>
      </p:sp>
    </p:spTree>
    <p:extLst>
      <p:ext uri="{BB962C8B-B14F-4D97-AF65-F5344CB8AC3E}">
        <p14:creationId xmlns:p14="http://schemas.microsoft.com/office/powerpoint/2010/main" val="4245244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Chart Placeholder 2"/>
          <p:cNvSpPr>
            <a:spLocks noGrp="1"/>
          </p:cNvSpPr>
          <p:nvPr>
            <p:ph type="chart" idx="1"/>
          </p:nvPr>
        </p:nvSpPr>
        <p:spPr>
          <a:xfrm>
            <a:off x="514350" y="2641600"/>
            <a:ext cx="5829300" cy="54864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D4A028C-CDC2-4A2D-AAF8-7A609E796AA3}" type="slidenum">
              <a:rPr lang="en-US" altLang="en-US"/>
              <a:pPr>
                <a:defRPr/>
              </a:pPr>
              <a:t>‹#›</a:t>
            </a:fld>
            <a:endParaRPr lang="en-US" altLang="en-US"/>
          </a:p>
        </p:txBody>
      </p:sp>
    </p:spTree>
    <p:extLst>
      <p:ext uri="{BB962C8B-B14F-4D97-AF65-F5344CB8AC3E}">
        <p14:creationId xmlns:p14="http://schemas.microsoft.com/office/powerpoint/2010/main" val="26102115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6858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514350" y="2641600"/>
            <a:ext cx="58293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514350" y="8331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a:lvl1pPr>
          </a:lstStyle>
          <a:p>
            <a:pPr>
              <a:defRPr/>
            </a:pPr>
            <a:endParaRPr lang="en-US"/>
          </a:p>
        </p:txBody>
      </p:sp>
      <p:sp>
        <p:nvSpPr>
          <p:cNvPr id="1030" name="Rectangle 6"/>
          <p:cNvSpPr>
            <a:spLocks noGrp="1" noChangeArrowheads="1"/>
          </p:cNvSpPr>
          <p:nvPr>
            <p:ph type="sldNum" sz="quarter" idx="4"/>
          </p:nvPr>
        </p:nvSpPr>
        <p:spPr bwMode="auto">
          <a:xfrm>
            <a:off x="4800600" y="8839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a:lvl1pPr>
          </a:lstStyle>
          <a:p>
            <a:pPr>
              <a:defRPr/>
            </a:pPr>
            <a:fld id="{76A460A9-FA99-42DB-BF63-0BA535F87850}" type="slidenum">
              <a:rPr lang="en-US" altLang="en-US"/>
              <a:pPr>
                <a:defRPr/>
              </a:pPr>
              <a:t>‹#›</a:t>
            </a:fld>
            <a:endParaRPr lang="en-US" altLang="en-US"/>
          </a:p>
        </p:txBody>
      </p:sp>
      <p:sp>
        <p:nvSpPr>
          <p:cNvPr id="1033" name="Rectangle 9"/>
          <p:cNvSpPr>
            <a:spLocks noChangeArrowheads="1"/>
          </p:cNvSpPr>
          <p:nvPr userDrawn="1"/>
        </p:nvSpPr>
        <p:spPr bwMode="auto">
          <a:xfrm>
            <a:off x="0" y="914400"/>
            <a:ext cx="6858000" cy="76200"/>
          </a:xfrm>
          <a:prstGeom prst="rect">
            <a:avLst/>
          </a:prstGeom>
          <a:gradFill rotWithShape="1">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034" name="Rectangle 10"/>
          <p:cNvSpPr>
            <a:spLocks noChangeArrowheads="1"/>
          </p:cNvSpPr>
          <p:nvPr userDrawn="1"/>
        </p:nvSpPr>
        <p:spPr bwMode="auto">
          <a:xfrm>
            <a:off x="0" y="8305800"/>
            <a:ext cx="6858000" cy="76200"/>
          </a:xfrm>
          <a:prstGeom prst="rect">
            <a:avLst/>
          </a:prstGeom>
          <a:gradFill rotWithShape="1">
            <a:gsLst>
              <a:gs pos="0">
                <a:schemeClr val="bg2"/>
              </a:gs>
              <a:gs pos="100000">
                <a:schemeClr val="bg2">
                  <a:gamma/>
                  <a:tint val="19216"/>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pic>
        <p:nvPicPr>
          <p:cNvPr id="2" name="Picture 19" descr="COASeal_4C.eps"/>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6251575" y="8543925"/>
            <a:ext cx="5270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5"/>
          <p:cNvSpPr txBox="1">
            <a:spLocks noChangeArrowheads="1"/>
          </p:cNvSpPr>
          <p:nvPr userDrawn="1"/>
        </p:nvSpPr>
        <p:spPr bwMode="auto">
          <a:xfrm>
            <a:off x="1971675" y="85344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r>
              <a:rPr lang="en-US" sz="1050"/>
              <a:t>AUSTIN ENERGY INTERNAL</a:t>
            </a:r>
            <a:r>
              <a:rPr lang="en-US" sz="1050" baseline="0"/>
              <a:t> </a:t>
            </a:r>
            <a:r>
              <a:rPr lang="en-US" sz="1050"/>
              <a:t>USE ONLY/</a:t>
            </a:r>
          </a:p>
          <a:p>
            <a:r>
              <a:rPr lang="en-US" sz="1050"/>
              <a:t>NOT FOR EXTERNAL DISTRIBUTION</a:t>
            </a:r>
          </a:p>
        </p:txBody>
      </p:sp>
      <p:sp>
        <p:nvSpPr>
          <p:cNvPr id="11" name="Rectangle 5"/>
          <p:cNvSpPr txBox="1">
            <a:spLocks noChangeArrowheads="1"/>
          </p:cNvSpPr>
          <p:nvPr userDrawn="1"/>
        </p:nvSpPr>
        <p:spPr bwMode="auto">
          <a:xfrm>
            <a:off x="0" y="85598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pPr algn="l"/>
            <a:r>
              <a:rPr lang="en-US" sz="1200"/>
              <a:t>www.austinenergy.com</a:t>
            </a:r>
          </a:p>
        </p:txBody>
      </p:sp>
    </p:spTree>
  </p:cSld>
  <p:clrMap bg1="lt1" tx1="dk1" bg2="lt2" tx2="dk2" accent1="accent1" accent2="accent2" accent3="accent3" accent4="accent4" accent5="accent5" accent6="accent6" hlink="hlink" folHlink="folHlink"/>
  <p:sldLayoutIdLst>
    <p:sldLayoutId id="2147483983" r:id="rId1"/>
    <p:sldLayoutId id="2147483971"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Lst>
  <p:hf hdr="0" ftr="0" dt="0"/>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Tahoma" pitchFamily="34" charset="0"/>
        </a:defRPr>
      </a:lvl2pPr>
      <a:lvl3pPr algn="ctr" rtl="0" eaLnBrk="0" fontAlgn="base" hangingPunct="0">
        <a:spcBef>
          <a:spcPct val="0"/>
        </a:spcBef>
        <a:spcAft>
          <a:spcPct val="0"/>
        </a:spcAft>
        <a:defRPr sz="3200">
          <a:solidFill>
            <a:schemeClr val="tx2"/>
          </a:solidFill>
          <a:latin typeface="Tahoma" pitchFamily="34" charset="0"/>
        </a:defRPr>
      </a:lvl3pPr>
      <a:lvl4pPr algn="ctr" rtl="0" eaLnBrk="0" fontAlgn="base" hangingPunct="0">
        <a:spcBef>
          <a:spcPct val="0"/>
        </a:spcBef>
        <a:spcAft>
          <a:spcPct val="0"/>
        </a:spcAft>
        <a:defRPr sz="3200">
          <a:solidFill>
            <a:schemeClr val="tx2"/>
          </a:solidFill>
          <a:latin typeface="Tahoma" pitchFamily="34" charset="0"/>
        </a:defRPr>
      </a:lvl4pPr>
      <a:lvl5pPr algn="ctr" rtl="0" eaLnBrk="0" fontAlgn="base" hangingPunct="0">
        <a:spcBef>
          <a:spcPct val="0"/>
        </a:spcBef>
        <a:spcAft>
          <a:spcPct val="0"/>
        </a:spcAft>
        <a:defRPr sz="3200">
          <a:solidFill>
            <a:schemeClr val="tx2"/>
          </a:solidFill>
          <a:latin typeface="Tahoma" pitchFamily="34" charset="0"/>
        </a:defRPr>
      </a:lvl5pPr>
      <a:lvl6pPr marL="457200" algn="ctr" rtl="0" eaLnBrk="0" fontAlgn="base" hangingPunct="0">
        <a:spcBef>
          <a:spcPct val="0"/>
        </a:spcBef>
        <a:spcAft>
          <a:spcPct val="0"/>
        </a:spcAft>
        <a:defRPr sz="3200">
          <a:solidFill>
            <a:schemeClr val="tx2"/>
          </a:solidFill>
          <a:latin typeface="Tahoma" pitchFamily="34" charset="0"/>
        </a:defRPr>
      </a:lvl6pPr>
      <a:lvl7pPr marL="914400" algn="ctr" rtl="0" eaLnBrk="0" fontAlgn="base" hangingPunct="0">
        <a:spcBef>
          <a:spcPct val="0"/>
        </a:spcBef>
        <a:spcAft>
          <a:spcPct val="0"/>
        </a:spcAft>
        <a:defRPr sz="3200">
          <a:solidFill>
            <a:schemeClr val="tx2"/>
          </a:solidFill>
          <a:latin typeface="Tahoma" pitchFamily="34" charset="0"/>
        </a:defRPr>
      </a:lvl7pPr>
      <a:lvl8pPr marL="1371600" algn="ctr" rtl="0" eaLnBrk="0" fontAlgn="base" hangingPunct="0">
        <a:spcBef>
          <a:spcPct val="0"/>
        </a:spcBef>
        <a:spcAft>
          <a:spcPct val="0"/>
        </a:spcAft>
        <a:defRPr sz="3200">
          <a:solidFill>
            <a:schemeClr val="tx2"/>
          </a:solidFill>
          <a:latin typeface="Tahoma" pitchFamily="34" charset="0"/>
        </a:defRPr>
      </a:lvl8pPr>
      <a:lvl9pPr marL="1828800" algn="ctr" rtl="0" eaLnBrk="0" fontAlgn="base" hangingPunct="0">
        <a:spcBef>
          <a:spcPct val="0"/>
        </a:spcBef>
        <a:spcAft>
          <a:spcPct val="0"/>
        </a:spcAft>
        <a:defRPr sz="3200">
          <a:solidFill>
            <a:schemeClr val="tx2"/>
          </a:solidFill>
          <a:latin typeface="Tahoma" pitchFamily="34" charset="0"/>
        </a:defRPr>
      </a:lvl9pPr>
    </p:titleStyle>
    <p:bodyStyle>
      <a:lvl1pPr marL="342900" indent="-342900" algn="l" rtl="0" eaLnBrk="0" fontAlgn="base" hangingPunct="0">
        <a:spcBef>
          <a:spcPct val="20000"/>
        </a:spcBef>
        <a:spcAft>
          <a:spcPct val="0"/>
        </a:spcAft>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emf"/><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chart" Target="../charts/char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chart" Target="../charts/char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19" descr="COASeal_4C.eps"/>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783" y="8410244"/>
            <a:ext cx="558064" cy="558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 name="Rectangle 2"/>
          <p:cNvSpPr>
            <a:spLocks noGrp="1" noChangeArrowheads="1"/>
          </p:cNvSpPr>
          <p:nvPr>
            <p:ph type="ctrTitle"/>
          </p:nvPr>
        </p:nvSpPr>
        <p:spPr>
          <a:xfrm>
            <a:off x="228598" y="3036421"/>
            <a:ext cx="6296025" cy="1524000"/>
          </a:xfrm>
        </p:spPr>
        <p:txBody>
          <a:bodyPr/>
          <a:lstStyle/>
          <a:p>
            <a:pPr eaLnBrk="1" hangingPunct="1"/>
            <a:r>
              <a:rPr sz="2800">
                <a:latin typeface="Arial"/>
              </a:rPr>
              <a:t>Low Income Weatherization Survey
FY2025 Q3
</a:t>
            </a:r>
            <a:r>
              <a:rPr sz="1600">
                <a:latin typeface="Arial"/>
              </a:rPr>
              <a:t>December 2025</a:t>
            </a:r>
            <a:endParaRPr lang="en-US" altLang="en-US" sz="1800" b="1" dirty="0">
              <a:solidFill>
                <a:schemeClr val="bg1"/>
              </a:solidFill>
            </a:endParaRPr>
          </a:p>
        </p:txBody>
      </p:sp>
      <p:sp>
        <p:nvSpPr>
          <p:cNvPr id="5123" name="Rectangle 3"/>
          <p:cNvSpPr>
            <a:spLocks noGrp="1" noChangeArrowheads="1"/>
          </p:cNvSpPr>
          <p:nvPr>
            <p:ph type="subTitle" idx="1"/>
          </p:nvPr>
        </p:nvSpPr>
        <p:spPr>
          <a:xfrm>
            <a:off x="976311" y="5511800"/>
            <a:ext cx="4800600" cy="2336800"/>
          </a:xfrm>
        </p:spPr>
        <p:txBody>
          <a:bodyPr/>
          <a:lstStyle/>
          <a:p>
            <a:pPr>
              <a:lnSpc>
                <a:spcPct val="85000"/>
              </a:lnSpc>
              <a:spcBef>
                <a:spcPct val="0"/>
              </a:spcBef>
            </a:pPr>
            <a:r>
              <a:rPr lang="en-US" altLang="en-US" sz="1400">
                <a:latin typeface="Univers 49 Light Ultra Condense" charset="0"/>
              </a:rPr>
              <a:t>Analysis and Report Provided by</a:t>
            </a:r>
            <a:br>
              <a:rPr lang="en-US" altLang="en-US" sz="1400">
                <a:latin typeface="Univers 49 Light Ultra Condense" charset="0"/>
              </a:rPr>
            </a:br>
            <a:r>
              <a:rPr lang="en-US" altLang="en-US" sz="1400">
                <a:latin typeface="Univers 49 Light Ultra Condense" charset="0"/>
              </a:rPr>
              <a:t>Data Analytics &amp; Business Intelligence</a:t>
            </a: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r>
              <a:rPr lang="en-US" altLang="en-US" sz="1200" b="1">
                <a:solidFill>
                  <a:srgbClr val="C00000"/>
                </a:solidFill>
                <a:latin typeface="Arial" panose="020B0604020202020204" pitchFamily="34" charset="0"/>
              </a:rPr>
              <a:t>AUSTIN ENERGY INTERNAL &amp; CONFIDENTIAL INFORMATION</a:t>
            </a:r>
            <a:endParaRPr lang="en-US" altLang="en-US" sz="1200">
              <a:solidFill>
                <a:srgbClr val="C00000"/>
              </a:solidFill>
              <a:latin typeface="Univers 49 Light Ultra Condense"/>
            </a:endParaRPr>
          </a:p>
          <a:p>
            <a:pPr>
              <a:lnSpc>
                <a:spcPct val="85000"/>
              </a:lnSpc>
              <a:spcBef>
                <a:spcPct val="0"/>
              </a:spcBef>
            </a:pPr>
            <a:endParaRPr lang="en-US" altLang="en-US"/>
          </a:p>
        </p:txBody>
      </p:sp>
      <p:sp>
        <p:nvSpPr>
          <p:cNvPr id="7" name="Rectangle 3"/>
          <p:cNvSpPr txBox="1">
            <a:spLocks noChangeArrowheads="1"/>
          </p:cNvSpPr>
          <p:nvPr/>
        </p:nvSpPr>
        <p:spPr bwMode="auto">
          <a:xfrm>
            <a:off x="2041525" y="8782050"/>
            <a:ext cx="48006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0" indent="0" algn="ctr" rtl="0" eaLnBrk="0" fontAlgn="base" hangingPunct="0">
              <a:spcBef>
                <a:spcPct val="20000"/>
              </a:spcBef>
              <a:spcAft>
                <a:spcPct val="0"/>
              </a:spcAft>
              <a:buFontTx/>
              <a:buNone/>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lgn="r">
              <a:lnSpc>
                <a:spcPct val="85000"/>
              </a:lnSpc>
              <a:spcBef>
                <a:spcPct val="0"/>
              </a:spcBef>
              <a:defRPr/>
            </a:pPr>
            <a:r>
              <a:rPr lang="en-US" sz="1400" kern="0">
                <a:latin typeface="Univers 49 Light Ultra Condense" charset="0"/>
              </a:rPr>
              <a:t>www.austinenergy.com</a:t>
            </a:r>
            <a:endParaRPr lang="en-US" altLang="en-US" kern="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2488" y="990600"/>
            <a:ext cx="2066925" cy="1257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Key Takeaway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2</a:t>
            </a:fld>
            <a:endParaRPr lang="en-US" altLang="en-US" sz="1400"/>
          </a:p>
        </p:txBody>
      </p:sp>
      <p:sp>
        <p:nvSpPr>
          <p:cNvPr id="3" name="Rounded Rectangle 2">
            <a:extLst>
              <a:ext uri="{FF2B5EF4-FFF2-40B4-BE49-F238E27FC236}">
                <a16:creationId xmlns:a16="http://schemas.microsoft.com/office/drawing/2014/main" id="{D2BDE31D-E5B3-4F4D-AA95-8B7140A6AC78}"/>
              </a:ext>
            </a:extLst>
          </p:cNvPr>
          <p:cNvSpPr/>
          <p:nvPr/>
        </p:nvSpPr>
        <p:spPr bwMode="auto">
          <a:xfrm>
            <a:off x="600075" y="1447800"/>
            <a:ext cx="5657850" cy="3733800"/>
          </a:xfrm>
          <a:prstGeom prst="round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a:solidFill>
                  <a:schemeClr val="bg1"/>
                </a:solidFill>
              </a:rPr>
              <a:t>C</a:t>
            </a:r>
            <a:r>
              <a:rPr kumimoji="0" lang="en-US" sz="2000" b="0" i="0" u="none" strike="noStrike" cap="none" normalizeH="0" baseline="0">
                <a:ln>
                  <a:noFill/>
                </a:ln>
                <a:solidFill>
                  <a:schemeClr val="bg1"/>
                </a:solidFill>
                <a:effectLst/>
                <a:latin typeface="Tahoma" pitchFamily="34" charset="0"/>
              </a:rPr>
              <a:t>ustomers overall satisfaction</a:t>
            </a:r>
            <a:r>
              <a:rPr lang="en-US" sz="2000">
                <a:solidFill>
                  <a:schemeClr val="bg1"/>
                </a:solidFill>
              </a:rPr>
              <a:t> </a:t>
            </a:r>
            <a:r>
              <a:rPr kumimoji="0" lang="en-US" sz="2000" b="0" i="0" u="none" strike="noStrike" cap="none" normalizeH="0" baseline="0">
                <a:ln>
                  <a:noFill/>
                </a:ln>
                <a:solidFill>
                  <a:schemeClr val="bg1"/>
                </a:solidFill>
                <a:effectLst/>
                <a:latin typeface="Tahoma" pitchFamily="34" charset="0"/>
              </a:rPr>
              <a:t>with the Weatherization Program and Austin Energy is very favorable. All customers felt there was a need for the Weatherization Program, rated contractors and staff members highly, and would recommend to friends and family members.</a:t>
            </a:r>
            <a:endParaRPr kumimoji="0" lang="en-US" sz="1400" b="0" i="0" u="none" strike="noStrike" cap="none" normalizeH="0" baseline="0">
              <a:ln>
                <a:noFill/>
              </a:ln>
              <a:solidFill>
                <a:schemeClr val="bg1"/>
              </a:solidFill>
              <a:effectLst/>
              <a:latin typeface="Tahoma" pitchFamily="34" charset="0"/>
            </a:endParaRPr>
          </a:p>
        </p:txBody>
      </p:sp>
    </p:spTree>
    <p:extLst>
      <p:ext uri="{BB962C8B-B14F-4D97-AF65-F5344CB8AC3E}">
        <p14:creationId xmlns:p14="http://schemas.microsoft.com/office/powerpoint/2010/main" val="895687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3</a:t>
            </a:fld>
            <a:endParaRPr lang="en-US" altLang="en-US" sz="1400"/>
          </a:p>
        </p:txBody>
      </p:sp>
      <p:sp>
        <p:nvSpPr>
          <p:cNvPr id="7" name="Rectangle 3"/>
          <p:cNvSpPr>
            <a:spLocks noGrp="1" noChangeArrowheads="1"/>
          </p:cNvSpPr>
          <p:nvPr>
            <p:ph type="body" idx="1"/>
          </p:nvPr>
        </p:nvSpPr>
        <p:spPr>
          <a:xfrm>
            <a:off x="228600" y="1104900"/>
            <a:ext cx="6172200" cy="6934200"/>
          </a:xfrm>
        </p:spPr>
        <p:txBody>
          <a:bodyPr/>
          <a:lstStyle/>
          <a:p>
            <a:pPr>
              <a:defRPr/>
            </a:pPr>
            <a:endParaRPr lang="en-US" altLang="en-US" sz="1600">
              <a:ea typeface="Geneva"/>
              <a:cs typeface="Geneva"/>
            </a:endParaRPr>
          </a:p>
          <a:p>
            <a:pPr algn="l"/>
            <a:r>
              <a:rPr sz="1800">
                <a:latin typeface="Tahoma"/>
              </a:rPr>
              <a:t>Customers’ overall satisfaction with Austin Energy’s Weatherization Program remained favorable with a score of 84% for Q3 2025.</a:t>
            </a:r>
          </a:p>
          <a:p>
            <a:pPr algn="l"/>
            <a:r>
              <a:rPr sz="1800">
                <a:latin typeface="Tahoma"/>
              </a:rPr>
              <a:t>Overall satisfaction level with Austin Energy improved to 87% in Q3 2025 from 89% in Q2 2024.</a:t>
            </a:r>
          </a:p>
          <a:p>
            <a:pPr algn="l"/>
            <a:r>
              <a:rPr sz="1800">
                <a:latin typeface="Tahoma"/>
              </a:rPr>
              <a:t>Customers indicated a need for the program and home weatherization assistance.</a:t>
            </a:r>
          </a:p>
          <a:p>
            <a:pPr algn="l"/>
            <a:r>
              <a:rPr sz="1800">
                <a:latin typeface="Tahoma"/>
              </a:rPr>
              <a:t>95% of customers would recommend this program to a friend or family member.</a:t>
            </a:r>
          </a:p>
          <a:p>
            <a:pPr algn="l"/>
            <a:r>
              <a:rPr sz="1800">
                <a:latin typeface="Tahoma"/>
              </a:rPr>
              <a:t>78% of customers appeared to have a high level of understanding when it comes to their utility bill and energy savings.</a:t>
            </a:r>
          </a:p>
        </p:txBody>
      </p:sp>
    </p:spTree>
    <p:extLst>
      <p:ext uri="{BB962C8B-B14F-4D97-AF65-F5344CB8AC3E}">
        <p14:creationId xmlns:p14="http://schemas.microsoft.com/office/powerpoint/2010/main" val="1765139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4</a:t>
            </a:fld>
            <a:endParaRPr lang="en-US" altLang="en-US" sz="1400"/>
          </a:p>
        </p:txBody>
      </p:sp>
      <p:sp>
        <p:nvSpPr>
          <p:cNvPr id="7" name="Rectangle 3"/>
          <p:cNvSpPr>
            <a:spLocks noGrp="1" noChangeArrowheads="1"/>
          </p:cNvSpPr>
          <p:nvPr>
            <p:ph type="body" idx="1"/>
          </p:nvPr>
        </p:nvSpPr>
        <p:spPr>
          <a:xfrm>
            <a:off x="343310" y="1104490"/>
            <a:ext cx="6172200" cy="6934200"/>
          </a:xfrm>
        </p:spPr>
        <p:txBody>
          <a:bodyPr/>
          <a:lstStyle/>
          <a:p>
            <a:pPr marL="0" indent="0" algn="l" lvl="0">
              <a:lnSpc>
                <a:spcPts val="2000"/>
              </a:lnSpc>
              <a:buNone/>
              <a:defRPr/>
            </a:pPr>
            <a:r>
              <a:rPr sz="1800" b="0" i="0">
                <a:solidFill>
                  <a:srgbClr val="000000"/>
                </a:solidFill>
                <a:latin typeface="Tahoma"/>
              </a:rPr>
              <a:t>Overall satisfaction score with energy savings was 50% in Q3 2025, UP/DOWN/UNCHANGED from PREVIOUS QTR% in Q2.</a:t>
            </a:r>
            <a:endParaRPr lang="en-US" altLang="en-US" sz="1800" dirty="0">
              <a:ea typeface="Tahoma"/>
              <a:cs typeface="Geneva"/>
            </a:endParaRPr>
          </a:p>
          <a:p/>
          <a:p>
            <a:pPr algn="l" lvl="0">
              <a:lnSpc>
                <a:spcPts val="2000"/>
              </a:lnSpc>
            </a:pPr>
            <a:r>
              <a:rPr sz="1800" b="0" i="0">
                <a:solidFill>
                  <a:srgbClr val="000000"/>
                </a:solidFill>
                <a:latin typeface="Tahoma"/>
              </a:rPr>
              <a:t>Contractor and customer service ratings remained relatively high for all attributes.</a:t>
            </a:r>
          </a:p>
          <a:p/>
          <a:p>
            <a:pPr algn="l" lvl="0">
              <a:lnSpc>
                <a:spcPts val="2000"/>
              </a:lnSpc>
            </a:pPr>
            <a:r>
              <a:rPr sz="1800" b="0" i="0">
                <a:solidFill>
                  <a:srgbClr val="000000"/>
                </a:solidFill>
                <a:latin typeface="Tahoma"/>
              </a:rPr>
              <a:t>Customers appeared to be satisfied with the follow-up phone calls and indicated that the Austin Energy staff member/contractor did an overall good job on the work done at their homes.</a:t>
            </a:r>
          </a:p>
          <a:p/>
          <a:p>
            <a:pPr algn="l" lvl="0">
              <a:lnSpc>
                <a:spcPts val="2000"/>
              </a:lnSpc>
            </a:pPr>
            <a:r>
              <a:rPr sz="1800" b="0" i="0">
                <a:solidFill>
                  <a:srgbClr val="000000"/>
                </a:solidFill>
                <a:latin typeface="Tahoma"/>
              </a:rPr>
              <a:t>For this quarter, Friends/family/word of mouth, Austin Energy’s website, and AE Customer Assistance Program (CAPS) were the top responses for how customers first learned about the weatherization program.</a:t>
            </a:r>
          </a:p>
          <a:p/>
          <a:p>
            <a:pPr algn="l" lvl="0">
              <a:lnSpc>
                <a:spcPts val="2000"/>
              </a:lnSpc>
            </a:pPr>
            <a:r>
              <a:rPr sz="1800" b="0" i="0">
                <a:solidFill>
                  <a:srgbClr val="000000"/>
                </a:solidFill>
                <a:latin typeface="Tahoma"/>
              </a:rPr>
              <a:t>For this quarter, due to the small sample size, none of the changes can be deemed significant.</a:t>
            </a:r>
          </a:p>
        </p:txBody>
      </p:sp>
    </p:spTree>
    <p:extLst>
      <p:ext uri="{BB962C8B-B14F-4D97-AF65-F5344CB8AC3E}">
        <p14:creationId xmlns:p14="http://schemas.microsoft.com/office/powerpoint/2010/main" val="2916178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Weatherization Program</a:t>
            </a:r>
          </a:p>
        </p:txBody>
      </p:sp>
    </p:spTree>
    <p:extLst>
      <p:ext uri="{BB962C8B-B14F-4D97-AF65-F5344CB8AC3E}">
        <p14:creationId xmlns:p14="http://schemas.microsoft.com/office/powerpoint/2010/main" val="3623428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Would Have Weatherized </a:t>
            </a:r>
            <a:br>
              <a:rPr lang="en-US" altLang="en-US">
                <a:ea typeface="MS PGothic" panose="020B0600070205080204" pitchFamily="34" charset="-128"/>
              </a:rPr>
            </a:br>
            <a:r>
              <a:rPr lang="en-US" altLang="en-US">
                <a:ea typeface="MS PGothic" panose="020B0600070205080204" pitchFamily="34" charset="-128"/>
              </a:rPr>
              <a:t>Without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17. Would you have weatherized your home </a:t>
            </a:r>
            <a:r>
              <a:rPr lang="en-US" sz="1100" u="sng">
                <a:latin typeface="+mn-lt"/>
                <a:ea typeface="ＭＳ Ｐゴシック" charset="-128"/>
              </a:rPr>
              <a:t>without</a:t>
            </a:r>
            <a:r>
              <a:rPr lang="en-US" sz="1100">
                <a:latin typeface="+mn-lt"/>
                <a:ea typeface="ＭＳ Ｐゴシック" charset="-128"/>
              </a:rPr>
              <a:t> the assistance of the Austin Energy weatherization program?</a:t>
            </a:r>
          </a:p>
        </p:txBody>
      </p:sp>
      <p:graphicFrame>
        <p:nvGraphicFramePr>
          <p:cNvPr id="3" name="Chart 6"/>
          <p:cNvGraphicFramePr>
            <a:graphicFrameLocks/>
          </p:cNvGraphicFramePr>
          <p:nvPr>
            <p:extLst>
              <p:ext uri="{D42A27DB-BD31-4B8C-83A1-F6EECF244321}">
                <p14:modId xmlns:p14="http://schemas.microsoft.com/office/powerpoint/2010/main" val="249553215"/>
              </p:ext>
            </p:extLst>
          </p:nvPr>
        </p:nvGraphicFramePr>
        <p:xfrm>
          <a:off x="50800" y="1492112"/>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42540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Importance of Customer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7</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3575144102"/>
              </p:ext>
            </p:extLst>
          </p:nvPr>
        </p:nvGraphicFramePr>
        <p:xfrm>
          <a:off x="50800" y="1914849"/>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0818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Important; ‘10’=Very Important.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18. Using a scale of ‘1’ (not important) to ‘10’ (very important), how </a:t>
            </a:r>
            <a:r>
              <a:rPr lang="en-US" sz="1100" b="1" u="sng">
                <a:latin typeface="+mj-lt"/>
                <a:ea typeface="ＭＳ Ｐゴシック" charset="-128"/>
              </a:rPr>
              <a:t>important</a:t>
            </a:r>
            <a:r>
              <a:rPr lang="en-US" sz="1100" b="1">
                <a:latin typeface="+mj-lt"/>
                <a:ea typeface="ＭＳ Ｐゴシック" charset="-128"/>
              </a:rPr>
              <a:t> </a:t>
            </a:r>
            <a:r>
              <a:rPr lang="en-US" sz="1100">
                <a:latin typeface="+mj-lt"/>
                <a:ea typeface="ＭＳ Ｐゴシック" charset="-128"/>
              </a:rPr>
              <a:t>is it to you that Austin Energy offers its customers assistance with home weatherization?</a:t>
            </a:r>
            <a:r>
              <a:rPr lang="en-US" sz="1100" b="1">
                <a:latin typeface="+mj-lt"/>
                <a:ea typeface="ＭＳ Ｐゴシック" charset="-128"/>
              </a:rPr>
              <a:t> </a:t>
            </a:r>
            <a:endParaRPr lang="en-US" sz="1100">
              <a:latin typeface="+mj-lt"/>
              <a:ea typeface="ＭＳ Ｐゴシック" charset="-128"/>
            </a:endParaRPr>
          </a:p>
        </p:txBody>
      </p:sp>
    </p:spTree>
    <p:extLst>
      <p:ext uri="{BB962C8B-B14F-4D97-AF65-F5344CB8AC3E}">
        <p14:creationId xmlns:p14="http://schemas.microsoft.com/office/powerpoint/2010/main" val="193708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Reasons Rated Importance </a:t>
            </a:r>
            <a:br>
              <a:rPr lang="en-US" altLang="en-US">
                <a:ea typeface="MS PGothic" panose="020B0600070205080204" pitchFamily="34" charset="-128"/>
              </a:rPr>
            </a:br>
            <a:r>
              <a:rPr lang="en-US" altLang="en-US">
                <a:ea typeface="MS PGothic" panose="020B0600070205080204" pitchFamily="34" charset="-128"/>
              </a:rPr>
              <a:t>Below an ‘8’</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8</a:t>
            </a:fld>
            <a:endParaRPr lang="en-US" altLang="en-US" sz="1400"/>
          </a:p>
        </p:txBody>
      </p:sp>
      <p:sp>
        <p:nvSpPr>
          <p:cNvPr id="7" name="Text Box 9"/>
          <p:cNvSpPr txBox="1">
            <a:spLocks noChangeArrowheads="1"/>
          </p:cNvSpPr>
          <p:nvPr/>
        </p:nvSpPr>
        <p:spPr bwMode="auto">
          <a:xfrm>
            <a:off x="514655" y="1033626"/>
            <a:ext cx="584647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latin typeface="+mn-lt"/>
                <a:ea typeface="ＭＳ Ｐゴシック" charset="-128"/>
              </a:rPr>
              <a:t>Base: Respondents who rated importance of offering assistance with home weatherization </a:t>
            </a:r>
          </a:p>
          <a:p>
            <a:pPr eaLnBrk="1" hangingPunct="1">
              <a:defRPr/>
            </a:pPr>
            <a:r>
              <a:rPr lang="en-US" sz="1100">
                <a:latin typeface="+mn-lt"/>
                <a:ea typeface="ＭＳ Ｐゴシック" charset="-128"/>
              </a:rPr>
              <a:t>below ‘8’.</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19. Why did you rate the importance below an ‘8’?</a:t>
            </a:r>
          </a:p>
        </p:txBody>
      </p:sp>
      <p:sp>
        <p:nvSpPr>
          <p:cNvPr id="3" name="TextBox 2">
            <a:extLst>
              <a:ext uri="{FF2B5EF4-FFF2-40B4-BE49-F238E27FC236}">
                <a16:creationId xmlns:a16="http://schemas.microsoft.com/office/drawing/2014/main" id="{13744083-4FC0-C63A-0D24-7FD31D3120D5}"/>
              </a:ext>
            </a:extLst>
          </p:cNvPr>
          <p:cNvSpPr txBox="1"/>
          <p:nvPr/>
        </p:nvSpPr>
        <p:spPr>
          <a:xfrm>
            <a:off x="488913" y="1717803"/>
            <a:ext cx="582731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1800">
                <a:ea typeface="Tahoma" panose="020B0604030504040204" pitchFamily="34" charset="0"/>
                <a:cs typeface="Tahoma" panose="020B0604030504040204" pitchFamily="34" charset="0"/>
              </a:rPr>
              <a:t>N/A: Zero respondents rated importance of offering assistance with home weatherization below ‘8’.</a:t>
            </a:r>
          </a:p>
        </p:txBody>
      </p:sp>
    </p:spTree>
    <p:extLst>
      <p:ext uri="{BB962C8B-B14F-4D97-AF65-F5344CB8AC3E}">
        <p14:creationId xmlns:p14="http://schemas.microsoft.com/office/powerpoint/2010/main" val="1095980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Helpfulness of the </a:t>
            </a:r>
            <a:br>
              <a:rPr lang="en-US" altLang="en-US">
                <a:ea typeface="MS PGothic" panose="020B0600070205080204" pitchFamily="34" charset="-128"/>
              </a:rPr>
            </a:br>
            <a:r>
              <a:rPr lang="en-US" altLang="en-US">
                <a:ea typeface="MS PGothic" panose="020B0600070205080204" pitchFamily="34" charset="-128"/>
              </a:rPr>
              <a:t>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9</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1619990609"/>
              </p:ext>
            </p:extLst>
          </p:nvPr>
        </p:nvGraphicFramePr>
        <p:xfrm>
          <a:off x="50800" y="16176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7516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Helpful; ‘10’=Very Helpful.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20. Using a scale of ‘1’ (not helpful) to ‘10’ (very helpful), how </a:t>
            </a:r>
            <a:r>
              <a:rPr lang="en-US" sz="1100" b="1" u="sng">
                <a:latin typeface="+mn-lt"/>
                <a:ea typeface="ＭＳ Ｐゴシック" charset="-128"/>
              </a:rPr>
              <a:t>helpful</a:t>
            </a:r>
            <a:r>
              <a:rPr lang="en-US" sz="1100" b="1">
                <a:latin typeface="+mn-lt"/>
                <a:ea typeface="ＭＳ Ｐゴシック" charset="-128"/>
              </a:rPr>
              <a:t> </a:t>
            </a:r>
            <a:r>
              <a:rPr lang="en-US" sz="1100">
                <a:latin typeface="+mn-lt"/>
                <a:ea typeface="ＭＳ Ｐゴシック" charset="-128"/>
              </a:rPr>
              <a:t>do you think the weatherization done to your home will be in reducing your electricity costs?</a:t>
            </a:r>
          </a:p>
        </p:txBody>
      </p:sp>
    </p:spTree>
    <p:extLst>
      <p:ext uri="{BB962C8B-B14F-4D97-AF65-F5344CB8AC3E}">
        <p14:creationId xmlns:p14="http://schemas.microsoft.com/office/powerpoint/2010/main" val="216709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10</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1996510178"/>
              </p:ext>
            </p:extLst>
          </p:nvPr>
        </p:nvGraphicFramePr>
        <p:xfrm>
          <a:off x="50800" y="1414462"/>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309255" cy="26161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Dust in home</a:t>
            </a:r>
            <a:endParaRPr lang="en-US" sz="1100"/>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14244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Musty/moldy smell </a:t>
            </a:r>
          </a:p>
          <a:p>
            <a:pPr algn="ctr"/>
            <a:r>
              <a:rPr lang="en-US"/>
              <a:t>in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2584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11</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3133234032"/>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295400" y="6142442"/>
            <a:ext cx="16764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Extra moisture</a:t>
            </a:r>
            <a:r>
              <a:rPr lang="en-US"/>
              <a:t>/humidity </a:t>
            </a:r>
          </a:p>
          <a:p>
            <a:pPr algn="ctr"/>
            <a:r>
              <a:rPr lang="en-US"/>
              <a:t>in home</a:t>
            </a:r>
            <a:endParaRPr lang="en-US" sz="1100"/>
          </a:p>
        </p:txBody>
      </p:sp>
      <p:sp>
        <p:nvSpPr>
          <p:cNvPr id="14" name="TextBox 1">
            <a:extLst>
              <a:ext uri="{FF2B5EF4-FFF2-40B4-BE49-F238E27FC236}">
                <a16:creationId xmlns:a16="http://schemas.microsoft.com/office/drawing/2014/main" id="{DD36DF7B-7EE3-4FF0-B83C-9E6BB7AAF85B}"/>
              </a:ext>
            </a:extLst>
          </p:cNvPr>
          <p:cNvSpPr txBox="1"/>
          <p:nvPr/>
        </p:nvSpPr>
        <p:spPr>
          <a:xfrm>
            <a:off x="4419600" y="6142442"/>
            <a:ext cx="15240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Quality indoor lighting</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4804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12</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01034435"/>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4478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Quality of natural light/</a:t>
            </a:r>
          </a:p>
          <a:p>
            <a:pPr algn="ctr"/>
            <a:r>
              <a:rPr lang="en-US" sz="1100"/>
              <a:t>light from windows</a:t>
            </a:r>
          </a:p>
        </p:txBody>
      </p:sp>
      <p:sp>
        <p:nvSpPr>
          <p:cNvPr id="14" name="TextBox 1">
            <a:extLst>
              <a:ext uri="{FF2B5EF4-FFF2-40B4-BE49-F238E27FC236}">
                <a16:creationId xmlns:a16="http://schemas.microsoft.com/office/drawing/2014/main" id="{DD36DF7B-7EE3-4FF0-B83C-9E6BB7AAF85B}"/>
              </a:ext>
            </a:extLst>
          </p:cNvPr>
          <p:cNvSpPr txBox="1"/>
          <p:nvPr/>
        </p:nvSpPr>
        <p:spPr>
          <a:xfrm>
            <a:off x="4191000" y="6142442"/>
            <a:ext cx="17526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Comfortable temperature </a:t>
            </a:r>
          </a:p>
          <a:p>
            <a:pPr algn="ctr"/>
            <a:r>
              <a:rPr lang="en-US"/>
              <a:t>throughout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4640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13</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3218178816"/>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Feeling safe in home</a:t>
            </a:r>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14244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Feeling proud of </a:t>
            </a:r>
          </a:p>
          <a:p>
            <a:pPr algn="ctr"/>
            <a:r>
              <a:rPr lang="en-US"/>
              <a:t>your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2618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14</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1589659687"/>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2803099" y="6096000"/>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Feeling healthy</a:t>
            </a:r>
          </a:p>
        </p:txBody>
      </p:sp>
    </p:spTree>
    <p:extLst>
      <p:ext uri="{BB962C8B-B14F-4D97-AF65-F5344CB8AC3E}">
        <p14:creationId xmlns:p14="http://schemas.microsoft.com/office/powerpoint/2010/main" val="586829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15</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1795766143"/>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475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11. Using a scale of ‘1’ (very dissatisfied) to ‘10’ (very satisfied), how would you rate your satisfaction with the Austin Energy </a:t>
            </a:r>
            <a:r>
              <a:rPr lang="en-US" sz="1100" b="1"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spTree>
    <p:extLst>
      <p:ext uri="{BB962C8B-B14F-4D97-AF65-F5344CB8AC3E}">
        <p14:creationId xmlns:p14="http://schemas.microsoft.com/office/powerpoint/2010/main" val="931391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Increase Satisfaction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16</a:t>
            </a:fld>
            <a:endParaRPr lang="en-US" altLang="en-US" sz="1400"/>
          </a:p>
        </p:txBody>
      </p:sp>
      <p:sp>
        <p:nvSpPr>
          <p:cNvPr id="7" name="Text Box 9"/>
          <p:cNvSpPr txBox="1">
            <a:spLocks noChangeArrowheads="1"/>
          </p:cNvSpPr>
          <p:nvPr/>
        </p:nvSpPr>
        <p:spPr bwMode="auto">
          <a:xfrm>
            <a:off x="514655" y="1033626"/>
            <a:ext cx="588614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rated overall satisfaction with Austin Energy’s Home Weatherization </a:t>
            </a:r>
            <a:br>
              <a:rPr lang="en-US" sz="1100">
                <a:solidFill>
                  <a:schemeClr val="tx2"/>
                </a:solidFill>
                <a:latin typeface="+mn-lt"/>
                <a:ea typeface="ＭＳ Ｐゴシック" charset="-128"/>
              </a:rPr>
            </a:br>
            <a:r>
              <a:rPr lang="en-US" sz="1100">
                <a:solidFill>
                  <a:schemeClr val="tx2"/>
                </a:solidFill>
                <a:latin typeface="+mn-lt"/>
                <a:ea typeface="ＭＳ Ｐゴシック" charset="-128"/>
              </a:rPr>
              <a:t>Program less than ‘8’.</a:t>
            </a:r>
          </a:p>
          <a:p>
            <a:pPr eaLnBrk="1" hangingPunct="1">
              <a:defRPr/>
            </a:pPr>
            <a:r>
              <a:rPr lang="en-US" sz="1100">
                <a:solidFill>
                  <a:schemeClr val="tx2"/>
                </a:solidFill>
                <a:latin typeface="+mn-lt"/>
                <a:ea typeface="ＭＳ Ｐゴシック" charset="-128"/>
              </a:rPr>
              <a:t>Note: Throughout this report, number of mentions may not be equal to the base due to some respondents selecting multiple mentions or not responding to the question.</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12. What could be done for you to be more satisfied with the </a:t>
            </a:r>
            <a:r>
              <a:rPr lang="en-US" sz="1100"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sp>
        <p:nvSpPr>
          <p:cNvPr id="3" name="TextBox 2">
            <a:extLst>
              <a:ext uri="{FF2B5EF4-FFF2-40B4-BE49-F238E27FC236}">
                <a16:creationId xmlns:a16="http://schemas.microsoft.com/office/drawing/2014/main" id="{F64872D2-1ACC-F41D-0BB9-6937937CC4C9}"/>
              </a:ext>
            </a:extLst>
          </p:cNvPr>
          <p:cNvSpPr txBox="1"/>
          <p:nvPr/>
        </p:nvSpPr>
        <p:spPr>
          <a:xfrm>
            <a:off x="491022" y="1964087"/>
            <a:ext cx="5933028" cy="11092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200000"/>
              </a:lnSpc>
              <a:buFont typeface="Calibri"/>
              <a:buChar char="-"/>
            </a:pPr>
            <a:r>
              <a:rPr lang="en-US" sz="1800">
                <a:latin typeface="Tahoma"/>
                <a:ea typeface="Tahoma"/>
                <a:cs typeface="Tahoma"/>
              </a:rPr>
              <a:t>Do work correctly the first time (1)</a:t>
            </a:r>
          </a:p>
          <a:p>
            <a:pPr marL="285750" indent="-285750">
              <a:lnSpc>
                <a:spcPct val="200000"/>
              </a:lnSpc>
              <a:buFont typeface="Calibri"/>
              <a:buChar char="-"/>
            </a:pPr>
            <a:r>
              <a:rPr lang="en-US" sz="1800">
                <a:latin typeface="Tahoma"/>
                <a:ea typeface="Tahoma"/>
                <a:cs typeface="Tahoma"/>
              </a:rPr>
              <a:t>Nothing (1)</a:t>
            </a:r>
            <a:endParaRPr lang="en-US" sz="180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32488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Would You Recommend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17</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15. Would you recommend Austin Energy’s Home Weatherization Program to a friend or family member?</a:t>
            </a:r>
          </a:p>
        </p:txBody>
      </p:sp>
      <p:graphicFrame>
        <p:nvGraphicFramePr>
          <p:cNvPr id="3" name="Chart 6"/>
          <p:cNvGraphicFramePr>
            <a:graphicFrameLocks/>
          </p:cNvGraphicFramePr>
          <p:nvPr>
            <p:extLst>
              <p:ext uri="{D42A27DB-BD31-4B8C-83A1-F6EECF244321}">
                <p14:modId xmlns:p14="http://schemas.microsoft.com/office/powerpoint/2010/main" val="2110713695"/>
              </p:ext>
            </p:extLst>
          </p:nvPr>
        </p:nvGraphicFramePr>
        <p:xfrm>
          <a:off x="50801" y="1352550"/>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34848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Reasons for Not Recommending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18</a:t>
            </a:fld>
            <a:endParaRPr lang="en-US" altLang="en-US" sz="1400"/>
          </a:p>
        </p:txBody>
      </p:sp>
      <p:sp>
        <p:nvSpPr>
          <p:cNvPr id="7" name="Text Box 9"/>
          <p:cNvSpPr txBox="1">
            <a:spLocks noChangeArrowheads="1"/>
          </p:cNvSpPr>
          <p:nvPr/>
        </p:nvSpPr>
        <p:spPr bwMode="auto">
          <a:xfrm>
            <a:off x="514655" y="1033626"/>
            <a:ext cx="611257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would not recommend Austin Energy’s Home Weatherization Program.</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16. Why would you </a:t>
            </a:r>
            <a:r>
              <a:rPr lang="en-US" sz="1100" u="sng">
                <a:latin typeface="+mn-lt"/>
                <a:ea typeface="ＭＳ Ｐゴシック" charset="-128"/>
              </a:rPr>
              <a:t>NOT</a:t>
            </a:r>
            <a:r>
              <a:rPr lang="en-US" sz="1100">
                <a:latin typeface="+mn-lt"/>
                <a:ea typeface="ＭＳ Ｐゴシック" charset="-128"/>
              </a:rPr>
              <a:t> recommend Austin Energy’s Home Weatherization Program to a friend or family member?</a:t>
            </a:r>
          </a:p>
        </p:txBody>
      </p:sp>
      <p:sp>
        <p:nvSpPr>
          <p:cNvPr id="3" name="TextBox 2">
            <a:extLst>
              <a:ext uri="{FF2B5EF4-FFF2-40B4-BE49-F238E27FC236}">
                <a16:creationId xmlns:a16="http://schemas.microsoft.com/office/drawing/2014/main" id="{E67508B3-A8DF-C608-5AAD-E807F3016A01}"/>
              </a:ext>
            </a:extLst>
          </p:cNvPr>
          <p:cNvSpPr txBox="1"/>
          <p:nvPr/>
        </p:nvSpPr>
        <p:spPr>
          <a:xfrm>
            <a:off x="391636" y="1664947"/>
            <a:ext cx="606516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2000">
                <a:latin typeface="Tahoma"/>
                <a:ea typeface="Tahoma"/>
                <a:cs typeface="Tahoma"/>
              </a:rPr>
              <a:t>N/A: Zero respondents selected ‘No’ when asked if they would recommend Austin Energy’s Home Weatherization Program to a friend or family member.</a:t>
            </a:r>
            <a:endParaRPr lang="en-US" sz="200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2897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a:t>
            </a:r>
            <a:br>
              <a:rPr lang="en-US" altLang="en-US">
                <a:ea typeface="MS PGothic" panose="020B0600070205080204" pitchFamily="34" charset="-128"/>
              </a:rPr>
            </a:br>
            <a:r>
              <a:rPr lang="en-US" altLang="en-US">
                <a:ea typeface="MS PGothic" panose="020B0600070205080204" pitchFamily="34" charset="-128"/>
              </a:rPr>
              <a:t>the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25. How could Austin Energy improve its weatherization program?</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85750">
                <a:tc>
                  <a:txBody>
                    <a:bodyPr/>
                    <a:lstStyle/>
                    <a:p>
                      <a:pPr algn="ct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r>
              <a:tr h="285750">
                <a:tc>
                  <a:txBody>
                    <a:bodyPr/>
                    <a:lstStyle/>
                    <a:p>
                      <a:pPr algn="l"/>
                      <a:r>
                        <a:rPr sz="1300" b="0" i="0">
                          <a:solidFill>
                            <a:srgbClr val="000000"/>
                          </a:solidFill>
                          <a:latin typeface="Tahoma"/>
                        </a:rPr>
                        <a:t>Nothing/no changes needed</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12</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r>
              <a:tr h="285750">
                <a:tc>
                  <a:txBody>
                    <a:bodyPr/>
                    <a:lstStyle/>
                    <a:p>
                      <a:pPr algn="l"/>
                      <a:r>
                        <a:rPr sz="1300" b="0" i="0">
                          <a:solidFill>
                            <a:srgbClr val="000000"/>
                          </a:solidFill>
                          <a:latin typeface="Tahoma"/>
                        </a:rPr>
                        <a:t>Promote, advertise more</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r>
              <a:tr h="285750">
                <a:tc>
                  <a:txBody>
                    <a:bodyPr/>
                    <a:lstStyle/>
                    <a:p>
                      <a:pPr algn="l"/>
                      <a:r>
                        <a:rPr sz="1300" b="0" i="0">
                          <a:solidFill>
                            <a:srgbClr val="000000"/>
                          </a:solidFill>
                          <a:latin typeface="Tahoma"/>
                        </a:rPr>
                        <a:t>More communication</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85750">
                <a:tc>
                  <a:txBody>
                    <a:bodyPr/>
                    <a:lstStyle/>
                    <a:p>
                      <a:pPr algn="l"/>
                      <a:r>
                        <a:rPr sz="1300" b="0" i="0">
                          <a:solidFill>
                            <a:srgbClr val="000000"/>
                          </a:solidFill>
                          <a:latin typeface="Tahoma"/>
                        </a:rPr>
                        <a:t>Enroll more people in program</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85750">
                <a:tc>
                  <a:txBody>
                    <a:bodyPr/>
                    <a:lstStyle/>
                    <a:p>
                      <a:pPr algn="l"/>
                      <a:r>
                        <a:rPr sz="1300" b="0" i="0">
                          <a:solidFill>
                            <a:srgbClr val="000000"/>
                          </a:solidFill>
                          <a:latin typeface="Tahoma"/>
                        </a:rPr>
                        <a:t>Better planning, improve budgeting</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Follow-up, Supervise contractor work</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Replace doors, windows</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Faster response, shorter wait times</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Have more repair options available</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Increase water, energy saving options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Use more skilled contractors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Make sure existing house/utilities can support planned changes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Do not know</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r>
              <a:tr h="28575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r>
              <a:tr h="28575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2948078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Customer Service</a:t>
            </a:r>
          </a:p>
        </p:txBody>
      </p:sp>
    </p:spTree>
    <p:extLst>
      <p:ext uri="{BB962C8B-B14F-4D97-AF65-F5344CB8AC3E}">
        <p14:creationId xmlns:p14="http://schemas.microsoft.com/office/powerpoint/2010/main" val="1463876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21</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021715359"/>
              </p:ext>
            </p:extLst>
          </p:nvPr>
        </p:nvGraphicFramePr>
        <p:xfrm>
          <a:off x="50801" y="1371600"/>
          <a:ext cx="6756400" cy="5715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a:t>
            </a:r>
            <a:r>
              <a:rPr lang="en-US" sz="1100">
                <a:latin typeface="+mj-lt"/>
                <a:ea typeface="ＭＳ Ｐゴシック" charset="-128"/>
              </a:rPr>
              <a:t> ‘</a:t>
            </a:r>
            <a:r>
              <a:rPr lang="en-US" sz="1100">
                <a:latin typeface="+mn-lt"/>
                <a:ea typeface="ＭＳ Ｐゴシック" charset="-128"/>
              </a:rPr>
              <a:t>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1990225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22</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1343137769"/>
              </p:ext>
            </p:extLst>
          </p:nvPr>
        </p:nvGraphicFramePr>
        <p:xfrm>
          <a:off x="50801" y="1447800"/>
          <a:ext cx="6756400" cy="53340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057961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23</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4222391916"/>
              </p:ext>
            </p:extLst>
          </p:nvPr>
        </p:nvGraphicFramePr>
        <p:xfrm>
          <a:off x="50800" y="152539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450368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a:t>
            </a:r>
            <a:br>
              <a:rPr lang="en-US" altLang="en-US">
                <a:ea typeface="MS PGothic" panose="020B0600070205080204" pitchFamily="34" charset="-128"/>
              </a:rPr>
            </a:br>
            <a:r>
              <a:rPr lang="en-US" altLang="en-US">
                <a:ea typeface="MS PGothic" panose="020B0600070205080204" pitchFamily="34" charset="-128"/>
              </a:rPr>
              <a:t>From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24</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4. Did the contractor follow-up on any concerns you had with the work done on your home?</a:t>
            </a:r>
          </a:p>
        </p:txBody>
      </p:sp>
      <p:graphicFrame>
        <p:nvGraphicFramePr>
          <p:cNvPr id="3" name="Chart 6"/>
          <p:cNvGraphicFramePr>
            <a:graphicFrameLocks/>
          </p:cNvGraphicFramePr>
          <p:nvPr>
            <p:extLst>
              <p:ext uri="{D42A27DB-BD31-4B8C-83A1-F6EECF244321}">
                <p14:modId xmlns:p14="http://schemas.microsoft.com/office/powerpoint/2010/main" val="1205218191"/>
              </p:ext>
            </p:extLst>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21802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Follow-Up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5. Did the contractor follow-up to your satisfaction?</a:t>
            </a:r>
          </a:p>
        </p:txBody>
      </p:sp>
      <p:graphicFrame>
        <p:nvGraphicFramePr>
          <p:cNvPr id="3" name="Chart 6"/>
          <p:cNvGraphicFramePr>
            <a:graphicFrameLocks/>
          </p:cNvGraphicFramePr>
          <p:nvPr>
            <p:extLst>
              <p:ext uri="{D42A27DB-BD31-4B8C-83A1-F6EECF244321}">
                <p14:modId xmlns:p14="http://schemas.microsoft.com/office/powerpoint/2010/main" val="2361890192"/>
              </p:ext>
            </p:extLst>
          </p:nvPr>
        </p:nvGraphicFramePr>
        <p:xfrm>
          <a:off x="50800" y="1570292"/>
          <a:ext cx="6756400" cy="471011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spTree>
    <p:extLst>
      <p:ext uri="{BB962C8B-B14F-4D97-AF65-F5344CB8AC3E}">
        <p14:creationId xmlns:p14="http://schemas.microsoft.com/office/powerpoint/2010/main" val="536744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Improvements to Follow-Up Concerns with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26</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6. What could the contractor have done to improve the follow-up to your concerns regarding the work done on your home?</a:t>
            </a:r>
            <a:endParaRPr lang="en-US" sz="1100" b="1">
              <a:latin typeface="+mn-lt"/>
              <a:ea typeface="ＭＳ Ｐゴシック" charset="-128"/>
            </a:endParaRPr>
          </a:p>
        </p:txBody>
      </p:sp>
      <p:sp>
        <p:nvSpPr>
          <p:cNvPr id="6"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sp>
        <p:nvSpPr>
          <p:cNvPr id="3" name="TextBox 2">
            <a:extLst>
              <a:ext uri="{FF2B5EF4-FFF2-40B4-BE49-F238E27FC236}">
                <a16:creationId xmlns:a16="http://schemas.microsoft.com/office/drawing/2014/main" id="{D16F0D39-671D-4A16-4327-9455A03CAEDF}"/>
              </a:ext>
            </a:extLst>
          </p:cNvPr>
          <p:cNvSpPr txBox="1"/>
          <p:nvPr/>
        </p:nvSpPr>
        <p:spPr>
          <a:xfrm>
            <a:off x="509015" y="1582993"/>
            <a:ext cx="5946242" cy="11092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200000"/>
              </a:lnSpc>
              <a:buFont typeface="Calibri"/>
              <a:buChar char="-"/>
            </a:pPr>
            <a:r>
              <a:rPr lang="en-US" sz="1800">
                <a:latin typeface="Tahoma"/>
                <a:ea typeface="Tahoma"/>
                <a:cs typeface="Tahoma"/>
              </a:rPr>
              <a:t>Cleaned up mess, repaired damage they caused (1)</a:t>
            </a:r>
            <a:endParaRPr lang="en-US"/>
          </a:p>
          <a:p>
            <a:pPr marL="285750" indent="-285750">
              <a:lnSpc>
                <a:spcPct val="200000"/>
              </a:lnSpc>
              <a:buFont typeface="Calibri"/>
              <a:buChar char="-"/>
            </a:pPr>
            <a:r>
              <a:rPr lang="en-US" sz="1800">
                <a:latin typeface="Tahoma"/>
                <a:ea typeface="Tahoma"/>
                <a:cs typeface="Tahoma"/>
              </a:rPr>
              <a:t>Complete work correctly (1)</a:t>
            </a:r>
          </a:p>
        </p:txBody>
      </p:sp>
    </p:spTree>
    <p:extLst>
      <p:ext uri="{BB962C8B-B14F-4D97-AF65-F5344CB8AC3E}">
        <p14:creationId xmlns:p14="http://schemas.microsoft.com/office/powerpoint/2010/main" val="31162633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27</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743064666"/>
              </p:ext>
            </p:extLst>
          </p:nvPr>
        </p:nvGraphicFramePr>
        <p:xfrm>
          <a:off x="50800" y="1656195"/>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3264405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28</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544301365"/>
              </p:ext>
            </p:extLst>
          </p:nvPr>
        </p:nvGraphicFramePr>
        <p:xfrm>
          <a:off x="50800" y="1525390"/>
          <a:ext cx="6756400" cy="51816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707875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29</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775509940"/>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3057168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From </a:t>
            </a:r>
            <a:br>
              <a:rPr lang="en-US" altLang="en-US">
                <a:ea typeface="MS PGothic" panose="020B0600070205080204" pitchFamily="34" charset="-128"/>
              </a:rPr>
            </a:br>
            <a:r>
              <a:rPr lang="en-US" altLang="en-US">
                <a:ea typeface="MS PGothic" panose="020B0600070205080204" pitchFamily="34" charset="-128"/>
              </a:rPr>
              <a:t>Austin Energy Staff Member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30</a:t>
            </a:fld>
            <a:endParaRPr lang="en-US" altLang="en-US" sz="1400"/>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8. Did the Austin Energy staff member follow up on any concerns you had with the work done on your home? </a:t>
            </a:r>
          </a:p>
        </p:txBody>
      </p:sp>
      <p:graphicFrame>
        <p:nvGraphicFramePr>
          <p:cNvPr id="3" name="Chart 6"/>
          <p:cNvGraphicFramePr>
            <a:graphicFrameLocks/>
          </p:cNvGraphicFramePr>
          <p:nvPr>
            <p:extLst>
              <p:ext uri="{D42A27DB-BD31-4B8C-83A1-F6EECF244321}">
                <p14:modId xmlns:p14="http://schemas.microsoft.com/office/powerpoint/2010/main" val="790447207"/>
              </p:ext>
            </p:extLst>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47420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Follow-Up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31</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9. Did the Austin Energy staff member follow up to your satisfaction?</a:t>
            </a:r>
          </a:p>
        </p:txBody>
      </p:sp>
      <p:graphicFrame>
        <p:nvGraphicFramePr>
          <p:cNvPr id="3" name="Chart 6"/>
          <p:cNvGraphicFramePr>
            <a:graphicFrameLocks/>
          </p:cNvGraphicFramePr>
          <p:nvPr>
            <p:extLst>
              <p:ext uri="{D42A27DB-BD31-4B8C-83A1-F6EECF244321}">
                <p14:modId xmlns:p14="http://schemas.microsoft.com/office/powerpoint/2010/main" val="513166376"/>
              </p:ext>
            </p:extLst>
          </p:nvPr>
        </p:nvGraphicFramePr>
        <p:xfrm>
          <a:off x="50800" y="1447800"/>
          <a:ext cx="6756400" cy="4696697"/>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spTree>
    <p:extLst>
      <p:ext uri="{BB962C8B-B14F-4D97-AF65-F5344CB8AC3E}">
        <p14:creationId xmlns:p14="http://schemas.microsoft.com/office/powerpoint/2010/main" val="2421798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3000">
                <a:ea typeface="MS PGothic" panose="020B0600070205080204" pitchFamily="34" charset="-128"/>
              </a:rPr>
              <a:t>Improvements to Follow-Up Concerns with Austin Energy Staff Member</a:t>
            </a:r>
            <a:endParaRPr lang="en-US" altLang="en-US" sz="30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32</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10. What could the Austin Energy staff member have done to improve the follow-up to your concerns regarding the work done on your home?</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sp>
        <p:nvSpPr>
          <p:cNvPr id="3" name="TextBox 2">
            <a:extLst>
              <a:ext uri="{FF2B5EF4-FFF2-40B4-BE49-F238E27FC236}">
                <a16:creationId xmlns:a16="http://schemas.microsoft.com/office/drawing/2014/main" id="{40E3CFC4-7AB8-DBEA-6717-61DB9A448037}"/>
              </a:ext>
            </a:extLst>
          </p:cNvPr>
          <p:cNvSpPr txBox="1"/>
          <p:nvPr/>
        </p:nvSpPr>
        <p:spPr>
          <a:xfrm>
            <a:off x="326129" y="1684487"/>
            <a:ext cx="626337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1800">
                <a:latin typeface="Tahoma"/>
                <a:ea typeface="Tahoma"/>
                <a:cs typeface="Tahoma"/>
              </a:rPr>
              <a:t>Improve communication (1)</a:t>
            </a:r>
          </a:p>
          <a:p>
            <a:pPr marL="285750" indent="-285750">
              <a:buFont typeface="Calibri"/>
              <a:buChar char="-"/>
            </a:pPr>
            <a:endParaRPr lang="en-US" sz="1800">
              <a:latin typeface="Tahoma"/>
              <a:ea typeface="Tahoma"/>
              <a:cs typeface="Tahoma"/>
            </a:endParaRPr>
          </a:p>
          <a:p>
            <a:pPr marL="285750" indent="-285750">
              <a:buFont typeface="Calibri"/>
              <a:buChar char="-"/>
            </a:pPr>
            <a:r>
              <a:rPr lang="en-US" sz="1800">
                <a:latin typeface="Tahoma"/>
                <a:ea typeface="Tahoma"/>
                <a:cs typeface="Tahoma"/>
              </a:rPr>
              <a:t>Complete repair (1)</a:t>
            </a:r>
            <a:endParaRPr lang="en-US" sz="1800">
              <a:ea typeface="Tahoma"/>
              <a:cs typeface="Tahoma"/>
            </a:endParaRPr>
          </a:p>
        </p:txBody>
      </p:sp>
    </p:spTree>
    <p:extLst>
      <p:ext uri="{BB962C8B-B14F-4D97-AF65-F5344CB8AC3E}">
        <p14:creationId xmlns:p14="http://schemas.microsoft.com/office/powerpoint/2010/main" val="239469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Experience with Those Who Weatherized Your Home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33</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dirty="0">
                <a:latin typeface="+mn-lt"/>
                <a:ea typeface="ＭＳ Ｐゴシック" charset="-128"/>
              </a:rPr>
              <a:t>13. Was there anything about your experience with the people who weatherized your home that you would like to share with Austin Energy?</a:t>
            </a:r>
            <a:endParaRPr lang="en-US" sz="1100" b="1" dirty="0">
              <a:latin typeface="+mn-lt"/>
              <a:ea typeface="ＭＳ Ｐゴシック" charset="-128"/>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85750">
                <a:tc>
                  <a:txBody>
                    <a:bodyPr/>
                    <a:lstStyle/>
                    <a:p>
                      <a:pPr algn="ct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r>
              <a:tr h="285750">
                <a:tc>
                  <a:txBody>
                    <a:bodyPr/>
                    <a:lstStyle/>
                    <a:p>
                      <a:pPr algn="l"/>
                      <a:r>
                        <a:rPr sz="1300" b="0" i="0">
                          <a:solidFill>
                            <a:srgbClr val="000000"/>
                          </a:solidFill>
                          <a:latin typeface="Tahoma"/>
                        </a:rPr>
                        <a:t>Patient, kind, nice, friendly, caring, polite employee</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12</a:t>
                      </a:r>
                    </a:p>
                  </a:txBody>
                  <a:tcPr anchor="ctr">
                    <a:solidFill>
                      <a:srgbClr val="E0E5F0"/>
                    </a:solidFill>
                  </a:tcPr>
                </a:tc>
              </a:tr>
              <a:tr h="285750">
                <a:tc>
                  <a:txBody>
                    <a:bodyPr/>
                    <a:lstStyle/>
                    <a:p>
                      <a:pPr algn="l"/>
                      <a:r>
                        <a:rPr sz="1300" b="0" i="0">
                          <a:solidFill>
                            <a:srgbClr val="000000"/>
                          </a:solidFill>
                          <a:latin typeface="Tahoma"/>
                        </a:rPr>
                        <a:t>Nothing/no changes</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r>
              <a:tr h="285750">
                <a:tc>
                  <a:txBody>
                    <a:bodyPr/>
                    <a:lstStyle/>
                    <a:p>
                      <a:pPr algn="l"/>
                      <a:r>
                        <a:rPr sz="1300" b="0" i="0">
                          <a:solidFill>
                            <a:srgbClr val="000000"/>
                          </a:solidFill>
                          <a:latin typeface="Tahoma"/>
                        </a:rPr>
                        <a:t>Professional</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r>
              <a:tr h="285750">
                <a:tc>
                  <a:txBody>
                    <a:bodyPr/>
                    <a:lstStyle/>
                    <a:p>
                      <a:pPr algn="l"/>
                      <a:r>
                        <a:rPr sz="1300" b="0" i="0">
                          <a:solidFill>
                            <a:srgbClr val="000000"/>
                          </a:solidFill>
                          <a:latin typeface="Tahoma"/>
                        </a:rPr>
                        <a:t>Provided helpful information, knowledgeable</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r>
              <a:tr h="285750">
                <a:tc>
                  <a:txBody>
                    <a:bodyPr/>
                    <a:lstStyle/>
                    <a:p>
                      <a:pPr algn="l"/>
                      <a:r>
                        <a:rPr sz="1300" b="0" i="0">
                          <a:solidFill>
                            <a:srgbClr val="000000"/>
                          </a:solidFill>
                          <a:latin typeface="Tahoma"/>
                        </a:rPr>
                        <a:t>Satisfied with work, no complaints</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r>
              <a:tr h="285750">
                <a:tc>
                  <a:txBody>
                    <a:bodyPr/>
                    <a:lstStyle/>
                    <a:p>
                      <a:pPr algn="l"/>
                      <a:r>
                        <a:rPr sz="1300" b="0" i="0">
                          <a:solidFill>
                            <a:srgbClr val="000000"/>
                          </a:solidFill>
                          <a:latin typeface="Tahoma"/>
                        </a:rPr>
                        <a:t>Quick, punctual</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85750">
                <a:tc>
                  <a:txBody>
                    <a:bodyPr/>
                    <a:lstStyle/>
                    <a:p>
                      <a:pPr algn="l"/>
                      <a:r>
                        <a:rPr sz="1300" b="0" i="0">
                          <a:solidFill>
                            <a:srgbClr val="000000"/>
                          </a:solidFill>
                          <a:latin typeface="Tahoma"/>
                        </a:rPr>
                        <a:t>Incomplete job, items or issues not addressed</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Cleaned up after themselves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Good communication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Did not leave area clean</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Appreciate program, service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Not knowledgeable/not done properly</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Need more information about work completed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2288660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Energy Savings</a:t>
            </a:r>
          </a:p>
        </p:txBody>
      </p:sp>
    </p:spTree>
    <p:extLst>
      <p:ext uri="{BB962C8B-B14F-4D97-AF65-F5344CB8AC3E}">
        <p14:creationId xmlns:p14="http://schemas.microsoft.com/office/powerpoint/2010/main" val="3725993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Pays the Utility Bills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21. Are you the one in your household who pays the utility bills?</a:t>
            </a:r>
          </a:p>
        </p:txBody>
      </p:sp>
      <p:graphicFrame>
        <p:nvGraphicFramePr>
          <p:cNvPr id="3" name="Chart 6"/>
          <p:cNvGraphicFramePr>
            <a:graphicFrameLocks/>
          </p:cNvGraphicFramePr>
          <p:nvPr>
            <p:extLst>
              <p:ext uri="{D42A27DB-BD31-4B8C-83A1-F6EECF244321}">
                <p14:modId xmlns:p14="http://schemas.microsoft.com/office/powerpoint/2010/main" val="243134745"/>
              </p:ext>
            </p:extLst>
          </p:nvPr>
        </p:nvGraphicFramePr>
        <p:xfrm>
          <a:off x="152399" y="1276350"/>
          <a:ext cx="6477001"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7367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Level of Understanding with </a:t>
            </a:r>
            <a:br>
              <a:rPr lang="en-US" altLang="en-US">
                <a:ea typeface="MS PGothic" panose="020B0600070205080204" pitchFamily="34" charset="-128"/>
              </a:rPr>
            </a:br>
            <a:r>
              <a:rPr lang="en-US" altLang="en-US">
                <a:ea typeface="MS PGothic" panose="020B0600070205080204" pitchFamily="34" charset="-128"/>
              </a:rPr>
              <a:t>Utility Bill and Energy Savings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36</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435552469"/>
              </p:ext>
            </p:extLst>
          </p:nvPr>
        </p:nvGraphicFramePr>
        <p:xfrm>
          <a:off x="66905" y="1524000"/>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609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 Understanding; ‘10’=Understand Completely. Only ‘8’, ‘9’, ‘10’ ratings shown.</a:t>
            </a:r>
          </a:p>
          <a:p>
            <a:pPr eaLnBrk="1" hangingPunct="1">
              <a:defRPr/>
            </a:pPr>
            <a:r>
              <a:rPr lang="en-US" sz="1100">
                <a:solidFill>
                  <a:schemeClr val="tx2"/>
                </a:solidFill>
                <a:latin typeface="+mn-lt"/>
                <a:ea typeface="ＭＳ Ｐゴシック" charset="-128"/>
              </a:rPr>
              <a:t>Base: Those who pay utility bills in household. </a:t>
            </a:r>
            <a:endParaRPr lang="en-US" sz="1100">
              <a:latin typeface="+mn-lt"/>
              <a:cs typeface="Helvetica"/>
            </a:endParaRPr>
          </a:p>
        </p:txBody>
      </p:sp>
      <p:sp>
        <p:nvSpPr>
          <p:cNvPr id="9" name="Text Box 6"/>
          <p:cNvSpPr txBox="1">
            <a:spLocks noChangeArrowheads="1"/>
          </p:cNvSpPr>
          <p:nvPr/>
        </p:nvSpPr>
        <p:spPr bwMode="auto">
          <a:xfrm>
            <a:off x="-36443" y="8384071"/>
            <a:ext cx="65896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22. Using a scale of ‘1’ (</a:t>
            </a:r>
            <a:r>
              <a:rPr lang="en-US" sz="1100">
                <a:solidFill>
                  <a:schemeClr val="tx2"/>
                </a:solidFill>
                <a:ea typeface="ＭＳ Ｐゴシック" charset="-128"/>
              </a:rPr>
              <a:t>No Understanding</a:t>
            </a:r>
            <a:r>
              <a:rPr lang="en-US" sz="1100">
                <a:latin typeface="+mn-lt"/>
                <a:ea typeface="ＭＳ Ｐゴシック" charset="-128"/>
              </a:rPr>
              <a:t>) to ‘10’ (</a:t>
            </a:r>
            <a:r>
              <a:rPr lang="en-US" sz="1100">
                <a:solidFill>
                  <a:schemeClr val="tx2"/>
                </a:solidFill>
                <a:ea typeface="ＭＳ Ｐゴシック" charset="-128"/>
              </a:rPr>
              <a:t>Understand Completely</a:t>
            </a:r>
            <a:r>
              <a:rPr lang="en-US" sz="1100">
                <a:latin typeface="+mn-lt"/>
                <a:ea typeface="ＭＳ Ｐゴシック" charset="-128"/>
              </a:rPr>
              <a:t>),</a:t>
            </a:r>
            <a:r>
              <a:rPr lang="en-US" sz="1100" b="1">
                <a:latin typeface="+mn-lt"/>
                <a:ea typeface="ＭＳ Ｐゴシック" charset="-128"/>
              </a:rPr>
              <a:t> </a:t>
            </a:r>
            <a:r>
              <a:rPr lang="en-US" sz="1100">
                <a:latin typeface="+mn-lt"/>
                <a:ea typeface="ＭＳ Ｐゴシック" charset="-128"/>
              </a:rPr>
              <a:t>what is your level of understanding your utility bill and the energy savings related to home improvements?</a:t>
            </a:r>
          </a:p>
        </p:txBody>
      </p:sp>
    </p:spTree>
    <p:extLst>
      <p:ext uri="{BB962C8B-B14F-4D97-AF65-F5344CB8AC3E}">
        <p14:creationId xmlns:p14="http://schemas.microsoft.com/office/powerpoint/2010/main" val="25162892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What Energy Savings Mean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37</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23. What does energy savings mean to you?</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44572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pay utility bills in household.</a:t>
            </a:r>
          </a:p>
          <a:p>
            <a:pPr eaLnBrk="1" hangingPunct="1">
              <a:defRPr/>
            </a:pPr>
            <a:r>
              <a:rPr lang="en-US" sz="1100">
                <a:solidFill>
                  <a:schemeClr val="tx2"/>
                </a:solidFill>
                <a:latin typeface="+mn-lt"/>
                <a:ea typeface="ＭＳ Ｐゴシック" charset="-128"/>
              </a:rPr>
              <a:t>Note: Number of mentions add up to more than the base due to multiple responses.</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457200">
                <a:tc>
                  <a:txBody>
                    <a:bodyPr/>
                    <a:lstStyle/>
                    <a:p>
                      <a:pPr algn="ct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tc>
                  <a:txBody>
                    <a:bodyPr/>
                    <a:lstStyle/>
                    <a:p>
                      <a:pPr algn="ctr"/>
                      <a:r>
                        <a:rPr sz="1300" b="1" i="0">
                          <a:solidFill>
                            <a:srgbClr val="FFFFFF"/>
                          </a:solidFill>
                          <a:latin typeface="Tahoma"/>
                        </a:rPr>
                        <a:t>Q3 2025</a:t>
                      </a:r>
                    </a:p>
                  </a:txBody>
                  <a:tcPr anchor="ctr">
                    <a:solidFill>
                      <a:srgbClr val="5A80B8"/>
                    </a:solidFill>
                  </a:tcPr>
                </a:tc>
              </a:tr>
              <a:tr h="457200">
                <a:tc>
                  <a:txBody>
                    <a:bodyPr/>
                    <a:lstStyle/>
                    <a:p>
                      <a:pPr algn="l"/>
                      <a:r>
                        <a:rPr sz="1300" b="0" i="0">
                          <a:solidFill>
                            <a:srgbClr val="000000"/>
                          </a:solidFill>
                          <a:latin typeface="Tahoma"/>
                        </a:rPr>
                        <a:t>Saving money on my utility bill</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c>
                  <a:txBody>
                    <a:bodyPr/>
                    <a:lstStyle/>
                    <a:p>
                      <a:pPr algn="ctr"/>
                      <a:r>
                        <a:rPr sz="1300" b="0" i="0">
                          <a:solidFill>
                            <a:srgbClr val="000000"/>
                          </a:solidFill>
                          <a:latin typeface="Tahoma"/>
                        </a:rPr>
                        <a:t>40</a:t>
                      </a:r>
                    </a:p>
                  </a:txBody>
                  <a:tcPr anchor="ctr">
                    <a:solidFill>
                      <a:srgbClr val="E0E5F0"/>
                    </a:solidFill>
                  </a:tcPr>
                </a:tc>
                <a:tc>
                  <a:txBody>
                    <a:bodyPr/>
                    <a:lstStyle/>
                    <a:p>
                      <a:pPr algn="ctr"/>
                      <a:r>
                        <a:rPr sz="1300" b="0" i="0">
                          <a:solidFill>
                            <a:srgbClr val="000000"/>
                          </a:solidFill>
                          <a:latin typeface="Tahoma"/>
                        </a:rPr>
                        <a:t>42</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r>
              <a:tr h="457200">
                <a:tc>
                  <a:txBody>
                    <a:bodyPr/>
                    <a:lstStyle/>
                    <a:p>
                      <a:pPr algn="l"/>
                      <a:r>
                        <a:rPr sz="1300" b="0" i="0">
                          <a:solidFill>
                            <a:srgbClr val="000000"/>
                          </a:solidFill>
                          <a:latin typeface="Tahoma"/>
                        </a:rPr>
                        <a:t>Feeling more comfortable in my home</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c>
                  <a:txBody>
                    <a:bodyPr/>
                    <a:lstStyle/>
                    <a:p>
                      <a:pPr algn="ctr"/>
                      <a:r>
                        <a:rPr sz="1300" b="0" i="0">
                          <a:solidFill>
                            <a:srgbClr val="000000"/>
                          </a:solidFill>
                          <a:latin typeface="Tahoma"/>
                        </a:rPr>
                        <a:t>19</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r>
              <a:tr h="457200">
                <a:tc>
                  <a:txBody>
                    <a:bodyPr/>
                    <a:lstStyle/>
                    <a:p>
                      <a:pPr algn="l"/>
                      <a:r>
                        <a:rPr sz="1300" b="0" i="0">
                          <a:solidFill>
                            <a:srgbClr val="000000"/>
                          </a:solidFill>
                          <a:latin typeface="Tahoma"/>
                        </a:rPr>
                        <a:t>Saving energy and/or water</a:t>
                      </a:r>
                    </a:p>
                  </a:txBody>
                  <a:tcPr anchor="ctr">
                    <a:solidFill>
                      <a:srgbClr val="E0E5F0"/>
                    </a:solidFill>
                  </a:tcPr>
                </a:tc>
                <a:tc>
                  <a:txBody>
                    <a:bodyPr/>
                    <a:lstStyle/>
                    <a:p>
                      <a:pPr algn="ctr"/>
                      <a:r>
                        <a:rPr sz="1300" b="0" i="0">
                          <a:solidFill>
                            <a:srgbClr val="000000"/>
                          </a:solidFill>
                          <a:latin typeface="Tahoma"/>
                        </a:rPr>
                        <a:t>26</a:t>
                      </a:r>
                    </a:p>
                  </a:txBody>
                  <a:tcPr anchor="ctr">
                    <a:solidFill>
                      <a:srgbClr val="E0E5F0"/>
                    </a:solidFill>
                  </a:tcPr>
                </a:tc>
                <a:tc>
                  <a:txBody>
                    <a:bodyPr/>
                    <a:lstStyle/>
                    <a:p>
                      <a:pPr algn="ctr"/>
                      <a:r>
                        <a:rPr sz="1300" b="0" i="0">
                          <a:solidFill>
                            <a:srgbClr val="000000"/>
                          </a:solidFill>
                          <a:latin typeface="Tahoma"/>
                        </a:rPr>
                        <a:t>31</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r>
              <a:tr h="457200">
                <a:tc>
                  <a:txBody>
                    <a:bodyPr/>
                    <a:lstStyle/>
                    <a:p>
                      <a:pPr algn="l"/>
                      <a:r>
                        <a:rPr sz="1300" b="0" i="0">
                          <a:solidFill>
                            <a:srgbClr val="000000"/>
                          </a:solidFill>
                          <a:latin typeface="Tahoma"/>
                        </a:rPr>
                        <a:t>Using less energy and/or water</a:t>
                      </a:r>
                    </a:p>
                  </a:txBody>
                  <a:tcPr anchor="ctr">
                    <a:solidFill>
                      <a:srgbClr val="E0E5F0"/>
                    </a:solidFill>
                  </a:tcPr>
                </a:tc>
                <a:tc>
                  <a:txBody>
                    <a:bodyPr/>
                    <a:lstStyle/>
                    <a:p>
                      <a:pPr algn="ctr"/>
                      <a:r>
                        <a:rPr sz="1300" b="0" i="0">
                          <a:solidFill>
                            <a:srgbClr val="000000"/>
                          </a:solidFill>
                          <a:latin typeface="Tahoma"/>
                        </a:rPr>
                        <a:t>25</a:t>
                      </a:r>
                    </a:p>
                  </a:txBody>
                  <a:tcPr anchor="ctr">
                    <a:solidFill>
                      <a:srgbClr val="E0E5F0"/>
                    </a:solidFill>
                  </a:tcPr>
                </a:tc>
                <a:tc>
                  <a:txBody>
                    <a:bodyPr/>
                    <a:lstStyle/>
                    <a:p>
                      <a:pPr algn="ctr"/>
                      <a:r>
                        <a:rPr sz="1300" b="0" i="0">
                          <a:solidFill>
                            <a:srgbClr val="000000"/>
                          </a:solidFill>
                          <a:latin typeface="Tahoma"/>
                        </a:rPr>
                        <a:t>35</a:t>
                      </a:r>
                    </a:p>
                  </a:txBody>
                  <a:tcPr anchor="ctr">
                    <a:solidFill>
                      <a:srgbClr val="E0E5F0"/>
                    </a:solidFill>
                  </a:tcPr>
                </a:tc>
                <a:tc>
                  <a:txBody>
                    <a:bodyPr/>
                    <a:lstStyle/>
                    <a:p>
                      <a:pPr algn="ctr"/>
                      <a:r>
                        <a:rPr sz="1300" b="0" i="0">
                          <a:solidFill>
                            <a:srgbClr val="000000"/>
                          </a:solidFill>
                          <a:latin typeface="Tahoma"/>
                        </a:rPr>
                        <a:t>23</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r>
              <a:tr h="457200">
                <a:tc>
                  <a:txBody>
                    <a:bodyPr/>
                    <a:lstStyle/>
                    <a:p>
                      <a:pPr algn="l"/>
                      <a:r>
                        <a:rPr sz="1300" b="0" i="0">
                          <a:solidFill>
                            <a:srgbClr val="000000"/>
                          </a:solidFill>
                          <a:latin typeface="Tahoma"/>
                        </a:rPr>
                        <a:t>Knowing I am doing my part for the planet</a:t>
                      </a:r>
                    </a:p>
                  </a:txBody>
                  <a:tcPr anchor="ctr">
                    <a:solidFill>
                      <a:srgbClr val="E0E5F0"/>
                    </a:solidFill>
                  </a:tcPr>
                </a:tc>
                <a:tc>
                  <a:txBody>
                    <a:bodyPr/>
                    <a:lstStyle/>
                    <a:p>
                      <a:pPr algn="ctr"/>
                      <a:r>
                        <a:rPr sz="1300" b="0" i="0">
                          <a:solidFill>
                            <a:srgbClr val="000000"/>
                          </a:solidFill>
                          <a:latin typeface="Tahoma"/>
                        </a:rPr>
                        <a:t>26</a:t>
                      </a:r>
                    </a:p>
                  </a:txBody>
                  <a:tcPr anchor="ctr">
                    <a:solidFill>
                      <a:srgbClr val="E0E5F0"/>
                    </a:solidFill>
                  </a:tcPr>
                </a:tc>
                <a:tc>
                  <a:txBody>
                    <a:bodyPr/>
                    <a:lstStyle/>
                    <a:p>
                      <a:pPr algn="ctr"/>
                      <a:r>
                        <a:rPr sz="1300" b="0" i="0">
                          <a:solidFill>
                            <a:srgbClr val="000000"/>
                          </a:solidFill>
                          <a:latin typeface="Tahoma"/>
                        </a:rPr>
                        <a:t>25</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20</a:t>
                      </a:r>
                    </a:p>
                  </a:txBody>
                  <a:tcPr anchor="ctr">
                    <a:solidFill>
                      <a:srgbClr val="E0E5F0"/>
                    </a:solidFill>
                  </a:tcPr>
                </a:tc>
              </a:tr>
              <a:tr h="457200">
                <a:tc>
                  <a:txBody>
                    <a:bodyPr/>
                    <a:lstStyle/>
                    <a:p>
                      <a:pPr algn="l"/>
                      <a:r>
                        <a:rPr sz="1300" b="0" i="0">
                          <a:solidFill>
                            <a:srgbClr val="000000"/>
                          </a:solidFill>
                          <a:latin typeface="Tahoma"/>
                        </a:rPr>
                        <a:t>Participating in/using renewable energy</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14</a:t>
                      </a:r>
                    </a:p>
                  </a:txBody>
                  <a:tcPr anchor="ctr">
                    <a:solidFill>
                      <a:srgbClr val="E0E5F0"/>
                    </a:solidFill>
                  </a:tcPr>
                </a:tc>
              </a:tr>
              <a:tr h="457200">
                <a:tc>
                  <a:txBody>
                    <a:bodyPr/>
                    <a:lstStyle/>
                    <a:p>
                      <a:pPr algn="l"/>
                      <a:r>
                        <a:rPr sz="1300" b="0" i="0">
                          <a:solidFill>
                            <a:srgbClr val="000000"/>
                          </a:solidFill>
                          <a:latin typeface="Tahoma"/>
                        </a:rPr>
                        <a:t>Setting my thermostat at a higher temperature</a:t>
                      </a:r>
                    </a:p>
                  </a:txBody>
                  <a:tcPr anchor="ctr">
                    <a:solidFill>
                      <a:srgbClr val="E0E5F0"/>
                    </a:solidFill>
                  </a:tcPr>
                </a:tc>
                <a:tc>
                  <a:txBody>
                    <a:bodyPr/>
                    <a:lstStyle/>
                    <a:p>
                      <a:pPr algn="ctr"/>
                      <a:r>
                        <a:rPr sz="1300" b="0" i="0">
                          <a:solidFill>
                            <a:srgbClr val="000000"/>
                          </a:solidFill>
                          <a:latin typeface="Tahoma"/>
                        </a:rPr>
                        <a:t>15</a:t>
                      </a:r>
                    </a:p>
                  </a:txBody>
                  <a:tcPr anchor="ctr">
                    <a:solidFill>
                      <a:srgbClr val="E0E5F0"/>
                    </a:solidFill>
                  </a:tcPr>
                </a:tc>
                <a:tc>
                  <a:txBody>
                    <a:bodyPr/>
                    <a:lstStyle/>
                    <a:p>
                      <a:pPr algn="ctr"/>
                      <a:r>
                        <a:rPr sz="1300" b="0" i="0">
                          <a:solidFill>
                            <a:srgbClr val="000000"/>
                          </a:solidFill>
                          <a:latin typeface="Tahoma"/>
                        </a:rPr>
                        <a:t>21</a:t>
                      </a:r>
                    </a:p>
                  </a:txBody>
                  <a:tcPr anchor="ctr">
                    <a:solidFill>
                      <a:srgbClr val="E0E5F0"/>
                    </a:solidFill>
                  </a:tcPr>
                </a:tc>
                <a:tc>
                  <a:txBody>
                    <a:bodyPr/>
                    <a:lstStyle/>
                    <a:p>
                      <a:pPr algn="ctr"/>
                      <a:r>
                        <a:rPr sz="1300" b="0" i="0">
                          <a:solidFill>
                            <a:srgbClr val="000000"/>
                          </a:solidFill>
                          <a:latin typeface="Tahoma"/>
                        </a:rPr>
                        <a:t>13</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r>
              <a:tr h="4572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4572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37</a:t>
                      </a:r>
                    </a:p>
                  </a:txBody>
                  <a:tcPr anchor="ctr">
                    <a:solidFill>
                      <a:srgbClr val="5A80B8"/>
                    </a:solidFill>
                  </a:tcPr>
                </a:tc>
              </a:tr>
            </a:tbl>
          </a:graphicData>
        </a:graphic>
      </p:graphicFrame>
    </p:spTree>
    <p:extLst>
      <p:ext uri="{BB962C8B-B14F-4D97-AF65-F5344CB8AC3E}">
        <p14:creationId xmlns:p14="http://schemas.microsoft.com/office/powerpoint/2010/main" val="1077575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Amount </a:t>
            </a:r>
            <a:br>
              <a:rPr lang="en-US" altLang="en-US">
                <a:ea typeface="MS PGothic" panose="020B0600070205080204" pitchFamily="34" charset="-128"/>
              </a:rPr>
            </a:br>
            <a:r>
              <a:rPr lang="en-US" altLang="en-US">
                <a:ea typeface="MS PGothic" panose="020B0600070205080204" pitchFamily="34" charset="-128"/>
              </a:rPr>
              <a:t>of Energy Savings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321263154"/>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Those who pay utility bills in household. </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24. Using a scale of ‘1’ (very dissatisfied) to ‘10’ (very satisfied),</a:t>
            </a:r>
            <a:r>
              <a:rPr lang="en-US" sz="1100" b="1">
                <a:latin typeface="+mn-lt"/>
                <a:ea typeface="ＭＳ Ｐゴシック" charset="-128"/>
              </a:rPr>
              <a:t> </a:t>
            </a:r>
            <a:r>
              <a:rPr lang="en-US" sz="1100">
                <a:latin typeface="+mn-lt"/>
                <a:ea typeface="ＭＳ Ｐゴシック" charset="-128"/>
              </a:rPr>
              <a:t>overall how </a:t>
            </a:r>
            <a:r>
              <a:rPr lang="en-US" sz="1100" b="1" u="sng">
                <a:latin typeface="+mn-lt"/>
                <a:ea typeface="ＭＳ Ｐゴシック" charset="-128"/>
              </a:rPr>
              <a:t>satisfied</a:t>
            </a:r>
            <a:r>
              <a:rPr lang="en-US" sz="1100" b="1">
                <a:latin typeface="+mn-lt"/>
                <a:ea typeface="ＭＳ Ｐゴシック" charset="-128"/>
              </a:rPr>
              <a:t> </a:t>
            </a:r>
            <a:r>
              <a:rPr lang="en-US" sz="1100">
                <a:latin typeface="+mn-lt"/>
                <a:ea typeface="ＭＳ Ｐゴシック" charset="-128"/>
              </a:rPr>
              <a:t>are you with the amount of energy savings you are seeing on your bill since your energy improvements were completed? </a:t>
            </a:r>
          </a:p>
        </p:txBody>
      </p:sp>
    </p:spTree>
    <p:extLst>
      <p:ext uri="{BB962C8B-B14F-4D97-AF65-F5344CB8AC3E}">
        <p14:creationId xmlns:p14="http://schemas.microsoft.com/office/powerpoint/2010/main" val="3684308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Energy-Efficiency Improvement</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26. If there was one thing Austin Energy could do to help you save energy, what would it be?</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85750">
                <a:tc>
                  <a:txBody>
                    <a:bodyPr/>
                    <a:lstStyle/>
                    <a:p>
                      <a:pPr algn="ctr"/>
                    </a:p>
                  </a:txBody>
                  <a:tcPr anchor="ctr">
                    <a:solidFill>
                      <a:srgbClr val="5A80B8"/>
                    </a:solidFill>
                  </a:tcPr>
                </a:tc>
                <a:tc>
                  <a:txBody>
                    <a:bodyPr/>
                    <a:lstStyle/>
                    <a:p>
                      <a:pPr algn="ctr"/>
                      <a:r>
                        <a:rPr sz="1300" b="1" i="0">
                          <a:solidFill>
                            <a:srgbClr val="FFFFFF"/>
                          </a:solidFill>
                          <a:latin typeface="Tahoma"/>
                        </a:rPr>
                        <a:t>Q4 2024</a:t>
                      </a: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tc>
                  <a:txBody>
                    <a:bodyPr/>
                    <a:lstStyle/>
                    <a:p>
                      <a:pPr algn="ctr"/>
                      <a:r>
                        <a:rPr sz="1300" b="1" i="0">
                          <a:solidFill>
                            <a:srgbClr val="FFFFFF"/>
                          </a:solidFill>
                          <a:latin typeface="Tahoma"/>
                        </a:rPr>
                        <a:t>Q3 2025</a:t>
                      </a:r>
                    </a:p>
                  </a:txBody>
                  <a:tcPr anchor="ctr">
                    <a:solidFill>
                      <a:srgbClr val="5A80B8"/>
                    </a:solidFill>
                  </a:tcPr>
                </a:tc>
              </a:tr>
              <a:tr h="285750">
                <a:tc>
                  <a:txBody>
                    <a:bodyPr/>
                    <a:lstStyle/>
                    <a:p>
                      <a:pPr algn="l"/>
                      <a:r>
                        <a:rPr sz="1300" b="0" i="0">
                          <a:solidFill>
                            <a:srgbClr val="000000"/>
                          </a:solidFill>
                          <a:latin typeface="Tahoma"/>
                        </a:rPr>
                        <a:t>Solar screens, panels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r>
              <a:tr h="285750">
                <a:tc>
                  <a:txBody>
                    <a:bodyPr/>
                    <a:lstStyle/>
                    <a:p>
                      <a:pPr algn="l"/>
                      <a:r>
                        <a:rPr sz="1300" b="0" i="0">
                          <a:solidFill>
                            <a:srgbClr val="000000"/>
                          </a:solidFill>
                          <a:latin typeface="Tahoma"/>
                        </a:rPr>
                        <a:t>Replace windows</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r>
              <a:tr h="285750">
                <a:tc>
                  <a:txBody>
                    <a:bodyPr/>
                    <a:lstStyle/>
                    <a:p>
                      <a:pPr algn="l"/>
                      <a:r>
                        <a:rPr sz="1300" b="0" i="0">
                          <a:solidFill>
                            <a:srgbClr val="000000"/>
                          </a:solidFill>
                          <a:latin typeface="Tahoma"/>
                        </a:rPr>
                        <a:t>Show ways to lower energy costs</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Provide insulation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Lower rates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Bigger rebates, more rebates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Pay bill for me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Solar screens/panels</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Replace, repair roof</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Replace appliances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Replace, repair doors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Nothing/no suggestions</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r>
              <a:tr h="285750">
                <a:tc>
                  <a:txBody>
                    <a:bodyPr/>
                    <a:lstStyle/>
                    <a:p>
                      <a:pPr algn="l"/>
                      <a:r>
                        <a:rPr sz="1300" b="0" i="0">
                          <a:solidFill>
                            <a:srgbClr val="000000"/>
                          </a:solidFill>
                          <a:latin typeface="Tahoma"/>
                        </a:rPr>
                        <a:t>Do not know, unsure</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r>
              <a:tr h="28575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r>
              <a:tr h="28575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33</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28530122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Austin Energy’s Customer Assistance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40</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282443821"/>
              </p:ext>
            </p:extLst>
          </p:nvPr>
        </p:nvGraphicFramePr>
        <p:xfrm>
          <a:off x="50800" y="14478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62392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Respondents who have received financial assistance from Austin Energy to pay electric bill.</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27. How would you rate your satisfaction with the Austin Energy financial assistance program, which provides financial aid for paying electric bills to qualified customers?</a:t>
            </a:r>
            <a:endParaRPr lang="en-US" sz="1100" b="1">
              <a:latin typeface="+mn-lt"/>
              <a:ea typeface="ＭＳ Ｐゴシック" charset="-128"/>
            </a:endParaRPr>
          </a:p>
        </p:txBody>
      </p:sp>
    </p:spTree>
    <p:extLst>
      <p:ext uri="{BB962C8B-B14F-4D97-AF65-F5344CB8AC3E}">
        <p14:creationId xmlns:p14="http://schemas.microsoft.com/office/powerpoint/2010/main" val="18434288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Suggested Improvements for Austin Energy’s Customer Assistance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41</a:t>
            </a:fld>
            <a:endParaRPr lang="en-US" altLang="en-US" sz="1400"/>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rated Austin Energy’s financial assistance program less than ‘8’.</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28. What could be done for you to be more satisfied with the Austin Energy financial assistance program? </a:t>
            </a:r>
          </a:p>
        </p:txBody>
      </p:sp>
      <p:sp>
        <p:nvSpPr>
          <p:cNvPr id="3" name="TextBox 2">
            <a:extLst>
              <a:ext uri="{FF2B5EF4-FFF2-40B4-BE49-F238E27FC236}">
                <a16:creationId xmlns:a16="http://schemas.microsoft.com/office/drawing/2014/main" id="{56127023-5773-E2CE-51C4-76A5772D9983}"/>
              </a:ext>
            </a:extLst>
          </p:cNvPr>
          <p:cNvSpPr txBox="1"/>
          <p:nvPr/>
        </p:nvSpPr>
        <p:spPr>
          <a:xfrm>
            <a:off x="326129" y="1684487"/>
            <a:ext cx="626337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1800">
                <a:latin typeface="Tahoma"/>
                <a:ea typeface="Tahoma"/>
                <a:cs typeface="Tahoma"/>
              </a:rPr>
              <a:t>Complete repairs (1)</a:t>
            </a:r>
          </a:p>
          <a:p>
            <a:pPr marL="285750" indent="-285750">
              <a:buFont typeface="Calibri"/>
              <a:buChar char="-"/>
            </a:pPr>
            <a:r>
              <a:rPr lang="en-US" sz="1800">
                <a:latin typeface="Tahoma"/>
                <a:ea typeface="Tahoma"/>
                <a:cs typeface="Tahoma"/>
              </a:rPr>
              <a:t>Do follow ups with the customers (1)</a:t>
            </a:r>
          </a:p>
          <a:p>
            <a:pPr marL="285750" indent="-285750">
              <a:buFont typeface="Calibri"/>
              <a:buChar char="-"/>
            </a:pPr>
            <a:r>
              <a:rPr lang="en-US" sz="1800">
                <a:latin typeface="Tahoma"/>
                <a:ea typeface="Tahoma"/>
                <a:cs typeface="Tahoma"/>
              </a:rPr>
              <a:t>Do not know, not familiar with program (8)</a:t>
            </a:r>
          </a:p>
          <a:p>
            <a:pPr marL="285750" indent="-285750">
              <a:buFont typeface="Calibri"/>
              <a:buChar char="-"/>
            </a:pPr>
            <a:r>
              <a:rPr lang="en-US" sz="1800">
                <a:latin typeface="Tahoma"/>
                <a:ea typeface="Tahoma"/>
                <a:cs typeface="Tahoma"/>
              </a:rPr>
              <a:t>Nothing, satisfied (3)</a:t>
            </a:r>
          </a:p>
          <a:p>
            <a:pPr marL="285750" indent="-285750">
              <a:buFont typeface="Calibri"/>
              <a:buChar char="-"/>
            </a:pPr>
            <a:r>
              <a:rPr lang="en-US" sz="1800">
                <a:latin typeface="Tahoma"/>
                <a:ea typeface="Tahoma"/>
                <a:cs typeface="Tahoma"/>
              </a:rPr>
              <a:t>All other (3)</a:t>
            </a:r>
            <a:endParaRPr lang="en-US" sz="1800">
              <a:ea typeface="Tahoma"/>
              <a:cs typeface="Tahoma"/>
            </a:endParaRPr>
          </a:p>
        </p:txBody>
      </p:sp>
    </p:spTree>
    <p:extLst>
      <p:ext uri="{BB962C8B-B14F-4D97-AF65-F5344CB8AC3E}">
        <p14:creationId xmlns:p14="http://schemas.microsoft.com/office/powerpoint/2010/main" val="23458411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Communication</a:t>
            </a:r>
          </a:p>
        </p:txBody>
      </p:sp>
    </p:spTree>
    <p:extLst>
      <p:ext uri="{BB962C8B-B14F-4D97-AF65-F5344CB8AC3E}">
        <p14:creationId xmlns:p14="http://schemas.microsoft.com/office/powerpoint/2010/main" val="3542962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Communication Regarding Low Income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43</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 How did you first make contact with Austin Energy about receiving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625933756"/>
              </p:ext>
            </p:extLst>
          </p:nvPr>
        </p:nvGraphicFramePr>
        <p:xfrm>
          <a:off x="14356" y="1107919"/>
          <a:ext cx="6843643" cy="70826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036062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How First Learned About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44</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 How did you learn that Austin Energy can provide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3701035686"/>
              </p:ext>
            </p:extLst>
          </p:nvPr>
        </p:nvGraphicFramePr>
        <p:xfrm>
          <a:off x="38166" y="1021421"/>
          <a:ext cx="6781667" cy="8001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64882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Best Method for Communication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45</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29. What is the best way for Austin Energy to communicate with you about energy-related topics? </a:t>
            </a: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2614815238"/>
              </p:ext>
            </p:extLst>
          </p:nvPr>
        </p:nvGraphicFramePr>
        <p:xfrm>
          <a:off x="114300" y="1371600"/>
          <a:ext cx="6629399" cy="62706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75746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Types of Useful Information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46</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30. What types of information</a:t>
            </a:r>
            <a:r>
              <a:rPr lang="en-US" sz="1100" b="1">
                <a:latin typeface="+mn-lt"/>
                <a:ea typeface="ＭＳ Ｐゴシック" charset="-128"/>
              </a:rPr>
              <a:t> </a:t>
            </a:r>
            <a:r>
              <a:rPr lang="en-US" sz="1100">
                <a:latin typeface="+mn-lt"/>
                <a:ea typeface="ＭＳ Ｐゴシック" charset="-128"/>
              </a:rPr>
              <a:t>would you find useful? </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304800">
                <a:tc>
                  <a:txBody>
                    <a:bodyPr/>
                    <a:lstStyle/>
                    <a:p>
                      <a:pPr algn="ctr"/>
                    </a:p>
                  </a:txBody>
                  <a:tcPr anchor="ctr">
                    <a:solidFill>
                      <a:srgbClr val="5A80B8"/>
                    </a:solidFill>
                  </a:tcPr>
                </a:tc>
                <a:tc>
                  <a:txBody>
                    <a:bodyPr/>
                    <a:lstStyle/>
                    <a:p>
                      <a:pPr algn="ctr"/>
                      <a:r>
                        <a:rPr sz="1400" b="1" i="0">
                          <a:solidFill>
                            <a:srgbClr val="FFFFFF"/>
                          </a:solidFill>
                          <a:latin typeface="Tahoma"/>
                        </a:rPr>
                        <a:t>Q4 2024</a:t>
                      </a: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r>
              <a:tr h="304800">
                <a:tc>
                  <a:txBody>
                    <a:bodyPr/>
                    <a:lstStyle/>
                    <a:p>
                      <a:pPr algn="l"/>
                      <a:r>
                        <a:rPr sz="1300" b="0" i="0">
                          <a:solidFill>
                            <a:srgbClr val="000000"/>
                          </a:solidFill>
                          <a:latin typeface="Tahoma"/>
                        </a:rPr>
                        <a:t>Any new programs or recaps of old programs</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18</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r>
              <a:tr h="304800">
                <a:tc>
                  <a:txBody>
                    <a:bodyPr/>
                    <a:lstStyle/>
                    <a:p>
                      <a:pPr algn="l"/>
                      <a:r>
                        <a:rPr sz="1300" b="0" i="0">
                          <a:solidFill>
                            <a:srgbClr val="000000"/>
                          </a:solidFill>
                          <a:latin typeface="Tahoma"/>
                        </a:rPr>
                        <a:t>Tips on reducing energy and water costs</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13</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r>
              <a:tr h="304800">
                <a:tc>
                  <a:txBody>
                    <a:bodyPr/>
                    <a:lstStyle/>
                    <a:p>
                      <a:pPr algn="l"/>
                      <a:r>
                        <a:rPr sz="1300" b="0" i="0">
                          <a:solidFill>
                            <a:srgbClr val="000000"/>
                          </a:solidFill>
                          <a:latin typeface="Tahoma"/>
                        </a:rPr>
                        <a:t>Maintaining, weatherizing, repairing home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304800">
                <a:tc>
                  <a:txBody>
                    <a:bodyPr/>
                    <a:lstStyle/>
                    <a:p>
                      <a:pPr algn="l"/>
                      <a:r>
                        <a:rPr sz="1300" b="0" i="0">
                          <a:solidFill>
                            <a:srgbClr val="000000"/>
                          </a:solidFill>
                          <a:latin typeface="Tahoma"/>
                        </a:rPr>
                        <a:t>General information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04800">
                <a:tc>
                  <a:txBody>
                    <a:bodyPr/>
                    <a:lstStyle/>
                    <a:p>
                      <a:pPr algn="l"/>
                      <a:r>
                        <a:rPr sz="1300" b="0" i="0">
                          <a:solidFill>
                            <a:srgbClr val="000000"/>
                          </a:solidFill>
                          <a:latin typeface="Tahoma"/>
                        </a:rPr>
                        <a:t>Anything useful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04800">
                <a:tc>
                  <a:txBody>
                    <a:bodyPr/>
                    <a:lstStyle/>
                    <a:p>
                      <a:pPr algn="l"/>
                      <a:r>
                        <a:rPr sz="1300" b="0" i="0">
                          <a:solidFill>
                            <a:srgbClr val="000000"/>
                          </a:solidFill>
                          <a:latin typeface="Tahoma"/>
                        </a:rPr>
                        <a:t>Communicate details of what is being repaired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04800">
                <a:tc>
                  <a:txBody>
                    <a:bodyPr/>
                    <a:lstStyle/>
                    <a:p>
                      <a:pPr algn="l"/>
                      <a:r>
                        <a:rPr sz="1300" b="0" i="0">
                          <a:solidFill>
                            <a:srgbClr val="000000"/>
                          </a:solidFill>
                          <a:latin typeface="Tahoma"/>
                        </a:rPr>
                        <a:t>Learning how to get assistance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04800">
                <a:tc>
                  <a:txBody>
                    <a:bodyPr/>
                    <a:lstStyle/>
                    <a:p>
                      <a:pPr algn="l"/>
                      <a:r>
                        <a:rPr sz="1300" b="0" i="0">
                          <a:solidFill>
                            <a:srgbClr val="000000"/>
                          </a:solidFill>
                          <a:latin typeface="Tahoma"/>
                        </a:rPr>
                        <a:t>Power outages</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04800">
                <a:tc>
                  <a:txBody>
                    <a:bodyPr/>
                    <a:lstStyle/>
                    <a:p>
                      <a:pPr algn="l"/>
                      <a:r>
                        <a:rPr sz="1300" b="0" i="0">
                          <a:solidFill>
                            <a:srgbClr val="000000"/>
                          </a:solidFill>
                          <a:latin typeface="Tahoma"/>
                        </a:rPr>
                        <a:t>Usage information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04800">
                <a:tc>
                  <a:txBody>
                    <a:bodyPr/>
                    <a:lstStyle/>
                    <a:p>
                      <a:pPr algn="l"/>
                      <a:r>
                        <a:rPr sz="1300" b="0" i="0">
                          <a:solidFill>
                            <a:srgbClr val="000000"/>
                          </a:solidFill>
                          <a:latin typeface="Tahoma"/>
                        </a:rPr>
                        <a:t>Rate changes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04800">
                <a:tc>
                  <a:txBody>
                    <a:bodyPr/>
                    <a:lstStyle/>
                    <a:p>
                      <a:pPr algn="l"/>
                      <a:r>
                        <a:rPr sz="1300" b="0" i="0">
                          <a:solidFill>
                            <a:srgbClr val="000000"/>
                          </a:solidFill>
                          <a:latin typeface="Tahoma"/>
                        </a:rPr>
                        <a:t>No complaints, nothing</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r>
              <a:tr h="304800">
                <a:tc>
                  <a:txBody>
                    <a:bodyPr/>
                    <a:lstStyle/>
                    <a:p>
                      <a:pPr algn="l"/>
                      <a:r>
                        <a:rPr sz="1300" b="0" i="0">
                          <a:solidFill>
                            <a:srgbClr val="000000"/>
                          </a:solidFill>
                          <a:latin typeface="Tahoma"/>
                        </a:rPr>
                        <a:t>Do not know</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r>
              <a:tr h="3048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3048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33</a:t>
                      </a:r>
                    </a:p>
                  </a:txBody>
                  <a:tcPr anchor="ctr">
                    <a:solidFill>
                      <a:srgbClr val="5A80B8"/>
                    </a:solidFill>
                  </a:tcPr>
                </a:tc>
                <a:tc>
                  <a:txBody>
                    <a:bodyPr/>
                    <a:lstStyle/>
                    <a:p>
                      <a:pPr algn="ctr"/>
                      <a:r>
                        <a:rPr sz="1300" b="0" i="0">
                          <a:solidFill>
                            <a:srgbClr val="FFFFFF"/>
                          </a:solidFill>
                          <a:latin typeface="Tahoma"/>
                        </a:rPr>
                        <a:t>45</a:t>
                      </a:r>
                    </a:p>
                  </a:txBody>
                  <a:tcPr anchor="ctr">
                    <a:solidFill>
                      <a:srgbClr val="5A80B8"/>
                    </a:solidFill>
                  </a:tcPr>
                </a:tc>
                <a:tc>
                  <a:txBody>
                    <a:bodyPr/>
                    <a:lstStyle/>
                    <a:p>
                      <a:pPr algn="ctr"/>
                      <a:r>
                        <a:rPr sz="1300" b="0" i="0">
                          <a:solidFill>
                            <a:srgbClr val="FFFFFF"/>
                          </a:solidFill>
                          <a:latin typeface="Tahoma"/>
                        </a:rPr>
                        <a:t>46</a:t>
                      </a:r>
                    </a:p>
                  </a:txBody>
                  <a:tcPr anchor="ctr">
                    <a:solidFill>
                      <a:srgbClr val="5A80B8"/>
                    </a:solidFill>
                  </a:tcPr>
                </a:tc>
                <a:tc>
                  <a:txBody>
                    <a:bodyPr/>
                    <a:lstStyle/>
                    <a:p>
                      <a:pPr algn="ctr"/>
                      <a:r>
                        <a:rPr sz="1300" b="0"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8425155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Relationship with </a:t>
            </a:r>
            <a:br>
              <a:rPr lang="en-US" altLang="en-US">
                <a:solidFill>
                  <a:schemeClr val="bg1"/>
                </a:solidFill>
              </a:rPr>
            </a:br>
            <a:r>
              <a:rPr lang="en-US" altLang="en-US">
                <a:solidFill>
                  <a:schemeClr val="bg1"/>
                </a:solidFill>
              </a:rPr>
              <a:t>Austin Energy</a:t>
            </a:r>
          </a:p>
        </p:txBody>
      </p:sp>
    </p:spTree>
    <p:extLst>
      <p:ext uri="{BB962C8B-B14F-4D97-AF65-F5344CB8AC3E}">
        <p14:creationId xmlns:p14="http://schemas.microsoft.com/office/powerpoint/2010/main" val="6511725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a:t>
            </a:r>
            <a:br>
              <a:rPr lang="en-US" altLang="en-US">
                <a:ea typeface="MS PGothic" panose="020B0600070205080204" pitchFamily="34" charset="-128"/>
              </a:rPr>
            </a:br>
            <a:r>
              <a:rPr lang="en-US" altLang="en-US">
                <a:ea typeface="MS PGothic" panose="020B0600070205080204" pitchFamily="34" charset="-128"/>
              </a:rPr>
              <a:t>Austin Energy</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954289124"/>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4" y="8403949"/>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31. Using a scale of ‘1’ (very dissatisfied) to ‘10’ (very satisfied), how satisfied are you with Austin Energy? </a:t>
            </a:r>
          </a:p>
        </p:txBody>
      </p:sp>
    </p:spTree>
    <p:extLst>
      <p:ext uri="{BB962C8B-B14F-4D97-AF65-F5344CB8AC3E}">
        <p14:creationId xmlns:p14="http://schemas.microsoft.com/office/powerpoint/2010/main" val="2891719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Low Income Weatherization Program Names</a:t>
            </a:r>
          </a:p>
        </p:txBody>
      </p:sp>
    </p:spTree>
    <p:extLst>
      <p:ext uri="{BB962C8B-B14F-4D97-AF65-F5344CB8AC3E}">
        <p14:creationId xmlns:p14="http://schemas.microsoft.com/office/powerpoint/2010/main" val="3257287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ahoma"/>
                <a:ea typeface="ＭＳ Ｐゴシック" charset="-128"/>
                <a:cs typeface="+mn-cs"/>
              </a:rPr>
              <a:t>D11. Based on your experience in the weatherization program, what phrase do you think would best describes the program?</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8" name="Chart 6">
            <a:extLst>
              <a:ext uri="{FF2B5EF4-FFF2-40B4-BE49-F238E27FC236}">
                <a16:creationId xmlns:a16="http://schemas.microsoft.com/office/drawing/2014/main" id="{D0FBFEC8-5A55-DB4F-983D-4FA422FEBD5A}"/>
              </a:ext>
            </a:extLst>
          </p:cNvPr>
          <p:cNvGraphicFramePr>
            <a:graphicFrameLocks/>
          </p:cNvGraphicFramePr>
          <p:nvPr>
            <p:extLst>
              <p:ext uri="{D42A27DB-BD31-4B8C-83A1-F6EECF244321}">
                <p14:modId xmlns:p14="http://schemas.microsoft.com/office/powerpoint/2010/main" val="1264944263"/>
              </p:ext>
            </p:extLst>
          </p:nvPr>
        </p:nvGraphicFramePr>
        <p:xfrm>
          <a:off x="50800" y="1306226"/>
          <a:ext cx="6756400" cy="50332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55073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DD68E-4E15-C974-687E-A22DDB06FA8F}"/>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FAA0034F-0B6A-7800-937E-F6422CF01C8A}"/>
              </a:ext>
            </a:extLst>
          </p:cNvPr>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a:t>
            </a:r>
            <a:endParaRPr lang="en-US" altLang="en-US"/>
          </a:p>
        </p:txBody>
      </p:sp>
      <p:sp>
        <p:nvSpPr>
          <p:cNvPr id="23555" name="Slide Number Placeholder 7">
            <a:extLst>
              <a:ext uri="{FF2B5EF4-FFF2-40B4-BE49-F238E27FC236}">
                <a16:creationId xmlns:a16="http://schemas.microsoft.com/office/drawing/2014/main" id="{EBAE5B3E-AAC8-6D27-6F83-C5F766ABAE96}"/>
              </a:ext>
            </a:extLst>
          </p:cNvPr>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a:extLst>
              <a:ext uri="{FF2B5EF4-FFF2-40B4-BE49-F238E27FC236}">
                <a16:creationId xmlns:a16="http://schemas.microsoft.com/office/drawing/2014/main" id="{3BCC2D12-B9AC-0658-4D8A-5A5AF8FBA931}"/>
              </a:ext>
            </a:extLst>
          </p:cNvPr>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dirty="0">
                <a:solidFill>
                  <a:srgbClr val="000000"/>
                </a:solidFill>
                <a:latin typeface="Tahoma"/>
                <a:ea typeface="ＭＳ Ｐゴシック" charset="-128"/>
              </a:rPr>
              <a:t>D12</a:t>
            </a:r>
            <a:r>
              <a:rPr kumimoji="0" lang="en-US" sz="1100" b="0" i="0" u="none" strike="noStrike" kern="1200" cap="none" spc="0" normalizeH="0" baseline="0" noProof="0" dirty="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38E927CF-0DF7-088E-5D02-28620C95D4CD}"/>
              </a:ext>
            </a:extLst>
          </p:cNvPr>
          <p:cNvSpPr txBox="1">
            <a:spLocks noChangeArrowheads="1"/>
          </p:cNvSpPr>
          <p:nvPr/>
        </p:nvSpPr>
        <p:spPr bwMode="auto">
          <a:xfrm>
            <a:off x="490336" y="1167381"/>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100">
                <a:solidFill>
                  <a:srgbClr val="000000"/>
                </a:solidFill>
                <a:latin typeface="Tahoma"/>
              </a:rPr>
              <a:t>*New format (descriptive categories) starting in Q1_2025. </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2971800"/>
                <a:gridCol w="2971800"/>
              </a:tblGrid>
              <a:tr h="138545">
                <a:tc>
                  <a:txBody>
                    <a:bodyPr/>
                    <a:lstStyle/>
                    <a:p>
                      <a:pPr algn="ct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138545">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138545">
                <a:tc>
                  <a:txBody>
                    <a:bodyPr/>
                    <a:lstStyle/>
                    <a:p>
                      <a:pPr algn="l"/>
                      <a:r>
                        <a:rPr sz="1200" b="0" i="0">
                          <a:solidFill>
                            <a:srgbClr val="000000"/>
                          </a:solidFill>
                          <a:latin typeface="Tahoma"/>
                        </a:rPr>
                        <a:t>None</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r>
              <a:tr h="138545">
                <a:tc>
                  <a:txBody>
                    <a:bodyPr/>
                    <a:lstStyle/>
                    <a:p>
                      <a:pPr algn="l"/>
                      <a:r>
                        <a:rPr sz="1200" b="0" i="0">
                          <a:solidFill>
                            <a:srgbClr val="000000"/>
                          </a:solidFill>
                          <a:latin typeface="Tahoma"/>
                        </a:rPr>
                        <a:t>N/A</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r>
              <a:tr h="138545">
                <a:tc>
                  <a:txBody>
                    <a:bodyPr/>
                    <a:lstStyle/>
                    <a:p>
                      <a:pPr algn="l"/>
                      <a:r>
                        <a:rPr sz="1200" b="0" i="0">
                          <a:solidFill>
                            <a:srgbClr val="000000"/>
                          </a:solidFill>
                          <a:latin typeface="Tahoma"/>
                        </a:rPr>
                        <a:t>i think efficiency is important the purpose is to improve your homes efficiency</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Hugely helpful</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Environment enhanced weatherization program</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Income/residents qualification</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Not sure</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Awesome program</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Environmental protection</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Na</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this program helps a lot, i have mentioned to my friends but not everyone is approved</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Use the word "free" upgrades.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home improvement qualifications are important</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The program is wonderful. I am a 78 year old and appreciate having the work done.</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weatherization helped</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Great</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Relief assistance</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refuse</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fabulous worth it</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cant think of any other thing to say</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tell people to try it out for them selves, i recommend it city of Austin is helping with these issues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its a great program,</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free</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try it you will be pleased, its worth it, you wont regret it.</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people who want this program should reach out to Austin energy to help with energy efficiency,  its a lot of help, and a lot of knowledge of your home and you can learn a lot about saving energy in your home</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not commet</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Not that I can think of</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45">
                <a:tc>
                  <a:txBody>
                    <a:bodyPr/>
                    <a:lstStyle/>
                    <a:p>
                      <a:pPr algn="l"/>
                      <a:r>
                        <a:rPr sz="1200" b="0" i="0">
                          <a:solidFill>
                            <a:srgbClr val="000000"/>
                          </a:solidFill>
                          <a:latin typeface="Tahoma"/>
                        </a:rPr>
                        <a:t>Idk</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856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3059073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Demographics</a:t>
            </a:r>
          </a:p>
        </p:txBody>
      </p:sp>
    </p:spTree>
    <p:extLst>
      <p:ext uri="{BB962C8B-B14F-4D97-AF65-F5344CB8AC3E}">
        <p14:creationId xmlns:p14="http://schemas.microsoft.com/office/powerpoint/2010/main" val="35041477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53</a:t>
            </a:fld>
            <a:endParaRPr lang="en-US" altLang="en-US" sz="1400"/>
          </a:p>
        </p:txBody>
      </p:sp>
      <p:graphicFrame>
        <p:nvGraphicFramePr>
          <p:cNvPr id="23556"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381000">
                <a:tc>
                  <a:txBody>
                    <a:bodyPr/>
                    <a:lstStyle/>
                    <a:p>
                      <a:pPr algn="ctr"/>
                      <a:r>
                        <a:rPr sz="1200" b="1" i="0">
                          <a:solidFill>
                            <a:srgbClr val="FFFFFF"/>
                          </a:solidFill>
                          <a:latin typeface="Tahoma"/>
                        </a:rPr>
                        <a:t>Gender</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381000">
                <a:tc>
                  <a:txBody>
                    <a:bodyPr/>
                    <a:lstStyle/>
                    <a:p>
                      <a:pPr algn="l"/>
                      <a:r>
                        <a:rPr sz="1200" b="0" i="0">
                          <a:solidFill>
                            <a:srgbClr val="000000"/>
                          </a:solidFill>
                          <a:latin typeface="Tahoma"/>
                        </a:rPr>
                        <a:t>Male</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45%</a:t>
                      </a:r>
                    </a:p>
                  </a:txBody>
                  <a:tcPr anchor="ctr">
                    <a:solidFill>
                      <a:srgbClr val="E0E5F0"/>
                    </a:solidFill>
                  </a:tcPr>
                </a:tc>
              </a:tr>
              <a:tr h="381000">
                <a:tc>
                  <a:txBody>
                    <a:bodyPr/>
                    <a:lstStyle/>
                    <a:p>
                      <a:pPr algn="l"/>
                      <a:r>
                        <a:rPr sz="1200" b="0" i="0">
                          <a:solidFill>
                            <a:srgbClr val="000000"/>
                          </a:solidFill>
                          <a:latin typeface="Tahoma"/>
                        </a:rPr>
                        <a:t>Female</a:t>
                      </a:r>
                    </a:p>
                  </a:txBody>
                  <a:tcPr anchor="ctr">
                    <a:solidFill>
                      <a:srgbClr val="E0E5F0"/>
                    </a:solidFill>
                  </a:tcPr>
                </a:tc>
                <a:tc>
                  <a:txBody>
                    <a:bodyPr/>
                    <a:lstStyle/>
                    <a:p>
                      <a:pPr algn="ctr"/>
                      <a:r>
                        <a:rPr sz="1200" b="0" i="0">
                          <a:solidFill>
                            <a:srgbClr val="000000"/>
                          </a:solidFill>
                          <a:latin typeface="Tahoma"/>
                        </a:rPr>
                        <a:t>70%</a:t>
                      </a:r>
                    </a:p>
                  </a:txBody>
                  <a:tcPr anchor="ctr">
                    <a:solidFill>
                      <a:srgbClr val="E0E5F0"/>
                    </a:solidFill>
                  </a:tcPr>
                </a:tc>
                <a:tc>
                  <a:txBody>
                    <a:bodyPr/>
                    <a:lstStyle/>
                    <a:p>
                      <a:pPr algn="ctr"/>
                      <a:r>
                        <a:rPr sz="1200" b="0" i="0">
                          <a:solidFill>
                            <a:srgbClr val="000000"/>
                          </a:solidFill>
                          <a:latin typeface="Tahoma"/>
                        </a:rPr>
                        <a:t>73%</a:t>
                      </a:r>
                    </a:p>
                  </a:txBody>
                  <a:tcPr anchor="ctr">
                    <a:solidFill>
                      <a:srgbClr val="E0E5F0"/>
                    </a:solidFill>
                  </a:tcPr>
                </a:tc>
                <a:tc>
                  <a:txBody>
                    <a:bodyPr/>
                    <a:lstStyle/>
                    <a:p>
                      <a:pPr algn="ctr"/>
                      <a:r>
                        <a:rPr sz="1200" b="0" i="0">
                          <a:solidFill>
                            <a:srgbClr val="000000"/>
                          </a:solidFill>
                          <a:latin typeface="Tahoma"/>
                        </a:rPr>
                        <a:t>76%</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r>
              <a:tr h="381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381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381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graphicFrame>
        <p:nvGraphicFramePr>
          <p:cNvPr id="23557" name="Table 2"/>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54000">
                <a:tc>
                  <a:txBody>
                    <a:bodyPr/>
                    <a:lstStyle/>
                    <a:p>
                      <a:pPr algn="ctr"/>
                      <a:r>
                        <a:rPr sz="1200" b="1" i="0">
                          <a:solidFill>
                            <a:srgbClr val="FFFFFF"/>
                          </a:solidFill>
                          <a:latin typeface="Tahoma"/>
                        </a:rPr>
                        <a:t>Age</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254000">
                <a:tc>
                  <a:txBody>
                    <a:bodyPr/>
                    <a:lstStyle/>
                    <a:p>
                      <a:pPr algn="l"/>
                      <a:r>
                        <a:rPr sz="1200" b="0" i="0">
                          <a:solidFill>
                            <a:srgbClr val="000000"/>
                          </a:solidFill>
                          <a:latin typeface="Tahoma"/>
                        </a:rPr>
                        <a:t>25 to 34</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r>
              <a:tr h="254000">
                <a:tc>
                  <a:txBody>
                    <a:bodyPr/>
                    <a:lstStyle/>
                    <a:p>
                      <a:pPr algn="l"/>
                      <a:r>
                        <a:rPr sz="1200" b="0" i="0">
                          <a:solidFill>
                            <a:srgbClr val="000000"/>
                          </a:solidFill>
                          <a:latin typeface="Tahoma"/>
                        </a:rPr>
                        <a:t>35 to 44</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r>
              <a:tr h="254000">
                <a:tc>
                  <a:txBody>
                    <a:bodyPr/>
                    <a:lstStyle/>
                    <a:p>
                      <a:pPr algn="l"/>
                      <a:r>
                        <a:rPr sz="1200" b="0" i="0">
                          <a:solidFill>
                            <a:srgbClr val="000000"/>
                          </a:solidFill>
                          <a:latin typeface="Tahoma"/>
                        </a:rPr>
                        <a:t>45 to 54</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r>
              <a:tr h="254000">
                <a:tc>
                  <a:txBody>
                    <a:bodyPr/>
                    <a:lstStyle/>
                    <a:p>
                      <a:pPr algn="l"/>
                      <a:r>
                        <a:rPr sz="1200" b="0" i="0">
                          <a:solidFill>
                            <a:srgbClr val="000000"/>
                          </a:solidFill>
                          <a:latin typeface="Tahoma"/>
                        </a:rPr>
                        <a:t>55 to 64</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r>
              <a:tr h="254000">
                <a:tc>
                  <a:txBody>
                    <a:bodyPr/>
                    <a:lstStyle/>
                    <a:p>
                      <a:pPr algn="l"/>
                      <a:r>
                        <a:rPr sz="1200" b="0" i="0">
                          <a:solidFill>
                            <a:srgbClr val="000000"/>
                          </a:solidFill>
                          <a:latin typeface="Tahoma"/>
                        </a:rPr>
                        <a:t>65 years or older</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59%</a:t>
                      </a:r>
                    </a:p>
                  </a:txBody>
                  <a:tcPr anchor="ctr">
                    <a:solidFill>
                      <a:srgbClr val="E0E5F0"/>
                    </a:solidFill>
                  </a:tcPr>
                </a:tc>
                <a:tc>
                  <a:txBody>
                    <a:bodyPr/>
                    <a:lstStyle/>
                    <a:p>
                      <a:pPr algn="ctr"/>
                      <a:r>
                        <a:rPr sz="1200" b="0" i="0">
                          <a:solidFill>
                            <a:srgbClr val="000000"/>
                          </a:solidFill>
                          <a:latin typeface="Tahoma"/>
                        </a:rPr>
                        <a:t>37%</a:t>
                      </a:r>
                    </a:p>
                  </a:txBody>
                  <a:tcPr anchor="ctr">
                    <a:solidFill>
                      <a:srgbClr val="E0E5F0"/>
                    </a:solidFill>
                  </a:tcPr>
                </a:tc>
              </a:tr>
              <a:tr h="254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6941998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54</a:t>
            </a:fld>
            <a:endParaRPr lang="en-US" altLang="en-US" sz="1400"/>
          </a:p>
        </p:txBody>
      </p:sp>
      <p:graphicFrame>
        <p:nvGraphicFramePr>
          <p:cNvPr id="23556" name="Table 3"/>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28600">
                <a:tc>
                  <a:txBody>
                    <a:bodyPr/>
                    <a:lstStyle/>
                    <a:p>
                      <a:pPr algn="ctr"/>
                      <a:r>
                        <a:rPr sz="1200" b="1" i="0">
                          <a:solidFill>
                            <a:srgbClr val="FFFFFF"/>
                          </a:solidFill>
                          <a:latin typeface="Tahoma"/>
                        </a:rPr>
                        <a:t>Ethnicity</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228600">
                <a:tc>
                  <a:txBody>
                    <a:bodyPr/>
                    <a:lstStyle/>
                    <a:p>
                      <a:pPr algn="l"/>
                      <a:r>
                        <a:rPr sz="1200" b="0" i="0">
                          <a:solidFill>
                            <a:srgbClr val="000000"/>
                          </a:solidFill>
                          <a:latin typeface="Tahoma"/>
                        </a:rPr>
                        <a:t>White</a:t>
                      </a:r>
                    </a:p>
                  </a:txBody>
                  <a:tcPr anchor="ctr">
                    <a:solidFill>
                      <a:srgbClr val="E0E5F0"/>
                    </a:solidFill>
                  </a:tcPr>
                </a:tc>
                <a:tc>
                  <a:txBody>
                    <a:bodyPr/>
                    <a:lstStyle/>
                    <a:p>
                      <a:pPr algn="ctr"/>
                      <a:r>
                        <a:rPr sz="1200" b="0" i="0">
                          <a:solidFill>
                            <a:srgbClr val="000000"/>
                          </a:solidFill>
                          <a:latin typeface="Tahoma"/>
                        </a:rPr>
                        <a:t>49%</a:t>
                      </a:r>
                    </a:p>
                  </a:txBody>
                  <a:tcPr anchor="ctr">
                    <a:solidFill>
                      <a:srgbClr val="E0E5F0"/>
                    </a:solidFill>
                  </a:tcPr>
                </a:tc>
                <a:tc>
                  <a:txBody>
                    <a:bodyPr/>
                    <a:lstStyle/>
                    <a:p>
                      <a:pPr algn="ctr"/>
                      <a:r>
                        <a:rPr sz="1200" b="0" i="0">
                          <a:solidFill>
                            <a:srgbClr val="000000"/>
                          </a:solidFill>
                          <a:latin typeface="Tahoma"/>
                        </a:rPr>
                        <a:t>51%</a:t>
                      </a:r>
                    </a:p>
                  </a:txBody>
                  <a:tcPr anchor="ctr">
                    <a:solidFill>
                      <a:srgbClr val="E0E5F0"/>
                    </a:solidFill>
                  </a:tcPr>
                </a:tc>
                <a:tc>
                  <a:txBody>
                    <a:bodyPr/>
                    <a:lstStyle/>
                    <a:p>
                      <a:pPr algn="ctr"/>
                      <a:r>
                        <a:rPr sz="1200" b="0" i="0">
                          <a:solidFill>
                            <a:srgbClr val="000000"/>
                          </a:solidFill>
                          <a:latin typeface="Tahoma"/>
                        </a:rPr>
                        <a:t>46%</a:t>
                      </a:r>
                    </a:p>
                  </a:txBody>
                  <a:tcPr anchor="ctr">
                    <a:solidFill>
                      <a:srgbClr val="E0E5F0"/>
                    </a:solidFill>
                  </a:tcPr>
                </a:tc>
                <a:tc>
                  <a:txBody>
                    <a:bodyPr/>
                    <a:lstStyle/>
                    <a:p>
                      <a:pPr algn="ctr"/>
                      <a:r>
                        <a:rPr sz="1200" b="0" i="0">
                          <a:solidFill>
                            <a:srgbClr val="000000"/>
                          </a:solidFill>
                          <a:latin typeface="Tahoma"/>
                        </a:rPr>
                        <a:t>47%</a:t>
                      </a:r>
                    </a:p>
                  </a:txBody>
                  <a:tcPr anchor="ctr">
                    <a:solidFill>
                      <a:srgbClr val="E0E5F0"/>
                    </a:solidFill>
                  </a:tcPr>
                </a:tc>
              </a:tr>
              <a:tr h="228600">
                <a:tc>
                  <a:txBody>
                    <a:bodyPr/>
                    <a:lstStyle/>
                    <a:p>
                      <a:pPr algn="l"/>
                      <a:r>
                        <a:rPr sz="1200" b="0" i="0">
                          <a:solidFill>
                            <a:srgbClr val="000000"/>
                          </a:solidFill>
                          <a:latin typeface="Tahoma"/>
                        </a:rPr>
                        <a:t>Hispanic</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r>
              <a:tr h="228600">
                <a:tc>
                  <a:txBody>
                    <a:bodyPr/>
                    <a:lstStyle/>
                    <a:p>
                      <a:pPr algn="l"/>
                      <a:r>
                        <a:rPr sz="1200" b="0" i="0">
                          <a:solidFill>
                            <a:srgbClr val="000000"/>
                          </a:solidFill>
                          <a:latin typeface="Tahoma"/>
                        </a:rPr>
                        <a:t>African American</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r>
              <a:tr h="228600">
                <a:tc>
                  <a:txBody>
                    <a:bodyPr/>
                    <a:lstStyle/>
                    <a:p>
                      <a:pPr algn="l"/>
                      <a:r>
                        <a:rPr sz="1200" b="0" i="0">
                          <a:solidFill>
                            <a:srgbClr val="000000"/>
                          </a:solidFill>
                          <a:latin typeface="Tahoma"/>
                        </a:rPr>
                        <a:t>Two or more races</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r>
              <a:tr h="228600">
                <a:tc>
                  <a:txBody>
                    <a:bodyPr/>
                    <a:lstStyle/>
                    <a:p>
                      <a:pPr algn="l"/>
                      <a:r>
                        <a:rPr sz="1200" b="0" i="0">
                          <a:solidFill>
                            <a:srgbClr val="000000"/>
                          </a:solidFill>
                          <a:latin typeface="Tahoma"/>
                        </a:rPr>
                        <a:t>Asian or Pacific Islander</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Aleutian, Eskimo, or American Indian</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Other</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r>
              <a:tr h="2286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37853708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55</a:t>
            </a:fld>
            <a:endParaRPr lang="en-US" altLang="en-US" sz="1400"/>
          </a:p>
        </p:txBody>
      </p:sp>
      <p:graphicFrame>
        <p:nvGraphicFramePr>
          <p:cNvPr id="23556"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54000">
                <a:tc>
                  <a:txBody>
                    <a:bodyPr/>
                    <a:lstStyle/>
                    <a:p>
                      <a:pPr algn="ctr"/>
                      <a:r>
                        <a:rPr sz="1200" b="1" i="0">
                          <a:solidFill>
                            <a:srgbClr val="FFFFFF"/>
                          </a:solidFill>
                          <a:latin typeface="Tahoma"/>
                        </a:rPr>
                        <a:t>Education</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254000">
                <a:tc>
                  <a:txBody>
                    <a:bodyPr/>
                    <a:lstStyle/>
                    <a:p>
                      <a:pPr algn="l"/>
                      <a:r>
                        <a:rPr sz="1200" b="0" i="0">
                          <a:solidFill>
                            <a:srgbClr val="000000"/>
                          </a:solidFill>
                          <a:latin typeface="Tahoma"/>
                        </a:rPr>
                        <a:t>Some high school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0" i="0">
                          <a:solidFill>
                            <a:srgbClr val="000000"/>
                          </a:solidFill>
                          <a:latin typeface="Tahoma"/>
                        </a:rPr>
                        <a:t>Graduated high school</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r>
              <a:tr h="254000">
                <a:tc>
                  <a:txBody>
                    <a:bodyPr/>
                    <a:lstStyle/>
                    <a:p>
                      <a:pPr algn="l"/>
                      <a:r>
                        <a:rPr sz="1200" b="0" i="0">
                          <a:solidFill>
                            <a:srgbClr val="000000"/>
                          </a:solidFill>
                          <a:latin typeface="Tahoma"/>
                        </a:rPr>
                        <a:t>Some college</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29%</a:t>
                      </a:r>
                    </a:p>
                  </a:txBody>
                  <a:tcPr anchor="ctr">
                    <a:solidFill>
                      <a:srgbClr val="E0E5F0"/>
                    </a:solidFill>
                  </a:tcPr>
                </a:tc>
              </a:tr>
              <a:tr h="254000">
                <a:tc>
                  <a:txBody>
                    <a:bodyPr/>
                    <a:lstStyle/>
                    <a:p>
                      <a:pPr algn="l"/>
                      <a:r>
                        <a:rPr sz="1200" b="0" i="0">
                          <a:solidFill>
                            <a:srgbClr val="000000"/>
                          </a:solidFill>
                          <a:latin typeface="Tahoma"/>
                        </a:rPr>
                        <a:t>Graduated college</a:t>
                      </a:r>
                    </a:p>
                  </a:txBody>
                  <a:tcPr anchor="ctr">
                    <a:solidFill>
                      <a:srgbClr val="E0E5F0"/>
                    </a:solidFill>
                  </a:tcPr>
                </a:tc>
                <a:tc>
                  <a:txBody>
                    <a:bodyPr/>
                    <a:lstStyle/>
                    <a:p>
                      <a:pPr algn="ctr"/>
                      <a:r>
                        <a:rPr sz="1200" b="0" i="0">
                          <a:solidFill>
                            <a:srgbClr val="000000"/>
                          </a:solidFill>
                          <a:latin typeface="Tahoma"/>
                        </a:rPr>
                        <a:t>36%</a:t>
                      </a:r>
                    </a:p>
                  </a:txBody>
                  <a:tcPr anchor="ctr">
                    <a:solidFill>
                      <a:srgbClr val="E0E5F0"/>
                    </a:solidFill>
                  </a:tcPr>
                </a:tc>
                <a:tc>
                  <a:txBody>
                    <a:bodyPr/>
                    <a:lstStyle/>
                    <a:p>
                      <a:pPr algn="ctr"/>
                      <a:r>
                        <a:rPr sz="1200" b="0" i="0">
                          <a:solidFill>
                            <a:srgbClr val="000000"/>
                          </a:solidFill>
                          <a:latin typeface="Tahoma"/>
                        </a:rPr>
                        <a:t>42%</a:t>
                      </a:r>
                    </a:p>
                  </a:txBody>
                  <a:tcPr anchor="ctr">
                    <a:solidFill>
                      <a:srgbClr val="E0E5F0"/>
                    </a:solidFill>
                  </a:tcPr>
                </a:tc>
                <a:tc>
                  <a:txBody>
                    <a:bodyPr/>
                    <a:lstStyle/>
                    <a:p>
                      <a:pPr algn="ctr"/>
                      <a:r>
                        <a:rPr sz="1200" b="0" i="0">
                          <a:solidFill>
                            <a:srgbClr val="000000"/>
                          </a:solidFill>
                          <a:latin typeface="Tahoma"/>
                        </a:rPr>
                        <a:t>35%</a:t>
                      </a:r>
                    </a:p>
                  </a:txBody>
                  <a:tcPr anchor="ctr">
                    <a:solidFill>
                      <a:srgbClr val="E0E5F0"/>
                    </a:solidFill>
                  </a:tcPr>
                </a:tc>
                <a:tc>
                  <a:txBody>
                    <a:bodyPr/>
                    <a:lstStyle/>
                    <a:p>
                      <a:pPr algn="ctr"/>
                      <a:r>
                        <a:rPr sz="1200" b="0" i="0">
                          <a:solidFill>
                            <a:srgbClr val="000000"/>
                          </a:solidFill>
                          <a:latin typeface="Tahoma"/>
                        </a:rPr>
                        <a:t>39%</a:t>
                      </a:r>
                    </a:p>
                  </a:txBody>
                  <a:tcPr anchor="ctr">
                    <a:solidFill>
                      <a:srgbClr val="E0E5F0"/>
                    </a:solidFill>
                  </a:tcPr>
                </a:tc>
              </a:tr>
              <a:tr h="254000">
                <a:tc>
                  <a:txBody>
                    <a:bodyPr/>
                    <a:lstStyle/>
                    <a:p>
                      <a:pPr algn="l"/>
                      <a:r>
                        <a:rPr sz="1200" b="0" i="0">
                          <a:solidFill>
                            <a:srgbClr val="000000"/>
                          </a:solidFill>
                          <a:latin typeface="Tahoma"/>
                        </a:rPr>
                        <a:t>Post-graduate work</a:t>
                      </a:r>
                    </a:p>
                  </a:txBody>
                  <a:tcPr anchor="ctr">
                    <a:solidFill>
                      <a:srgbClr val="E0E5F0"/>
                    </a:solidFill>
                  </a:tcPr>
                </a:tc>
                <a:tc>
                  <a:txBody>
                    <a:bodyPr/>
                    <a:lstStyle/>
                    <a:p>
                      <a:pPr algn="ctr"/>
                      <a:r>
                        <a:rPr sz="1200" b="0" i="0">
                          <a:solidFill>
                            <a:srgbClr val="000000"/>
                          </a:solidFill>
                          <a:latin typeface="Tahoma"/>
                        </a:rPr>
                        <a:t>30%</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254000">
                <a:tc>
                  <a:txBody>
                    <a:bodyPr/>
                    <a:lstStyle/>
                    <a:p>
                      <a:pPr algn="l"/>
                      <a:r>
                        <a:rPr sz="1200" b="0" i="0">
                          <a:solidFill>
                            <a:srgbClr val="000000"/>
                          </a:solidFill>
                          <a:latin typeface="Tahoma"/>
                        </a:rPr>
                        <a:t>Do not know/unsure</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graphicFrame>
        <p:nvGraphicFramePr>
          <p:cNvPr id="23557" name="Table 5"/>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381000">
                <a:tc>
                  <a:txBody>
                    <a:bodyPr/>
                    <a:lstStyle/>
                    <a:p>
                      <a:pPr algn="ctr"/>
                      <a:r>
                        <a:rPr sz="1200" b="1" i="0">
                          <a:solidFill>
                            <a:srgbClr val="FFFFFF"/>
                          </a:solidFill>
                          <a:latin typeface="Tahoma"/>
                        </a:rPr>
                        <a:t>Have Anyone Under the Age of 18 Living In Home</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381000">
                <a:tc>
                  <a:txBody>
                    <a:bodyPr/>
                    <a:lstStyle/>
                    <a:p>
                      <a:pPr algn="l"/>
                      <a:r>
                        <a:rPr sz="1200" b="0" i="0">
                          <a:solidFill>
                            <a:srgbClr val="000000"/>
                          </a:solidFill>
                          <a:latin typeface="Tahoma"/>
                        </a:rPr>
                        <a:t>Yes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r>
              <a:tr h="381000">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91%</a:t>
                      </a:r>
                    </a:p>
                  </a:txBody>
                  <a:tcPr anchor="ctr">
                    <a:solidFill>
                      <a:srgbClr val="E0E5F0"/>
                    </a:solidFill>
                  </a:tcPr>
                </a:tc>
                <a:tc>
                  <a:txBody>
                    <a:bodyPr/>
                    <a:lstStyle/>
                    <a:p>
                      <a:pPr algn="ctr"/>
                      <a:r>
                        <a:rPr sz="1200" b="0" i="0">
                          <a:solidFill>
                            <a:srgbClr val="000000"/>
                          </a:solidFill>
                          <a:latin typeface="Tahoma"/>
                        </a:rPr>
                        <a:t>71%</a:t>
                      </a:r>
                    </a:p>
                  </a:txBody>
                  <a:tcPr anchor="ctr">
                    <a:solidFill>
                      <a:srgbClr val="E0E5F0"/>
                    </a:solidFill>
                  </a:tcPr>
                </a:tc>
                <a:tc>
                  <a:txBody>
                    <a:bodyPr/>
                    <a:lstStyle/>
                    <a:p>
                      <a:pPr algn="ctr"/>
                      <a:r>
                        <a:rPr sz="1200" b="0" i="0">
                          <a:solidFill>
                            <a:srgbClr val="000000"/>
                          </a:solidFill>
                          <a:latin typeface="Tahoma"/>
                        </a:rPr>
                        <a:t>85%</a:t>
                      </a:r>
                    </a:p>
                  </a:txBody>
                  <a:tcPr anchor="ctr">
                    <a:solidFill>
                      <a:srgbClr val="E0E5F0"/>
                    </a:solidFill>
                  </a:tcPr>
                </a:tc>
                <a:tc>
                  <a:txBody>
                    <a:bodyPr/>
                    <a:lstStyle/>
                    <a:p>
                      <a:pPr algn="ctr"/>
                      <a:r>
                        <a:rPr sz="1200" b="0" i="0">
                          <a:solidFill>
                            <a:srgbClr val="000000"/>
                          </a:solidFill>
                          <a:latin typeface="Tahoma"/>
                        </a:rPr>
                        <a:t>71%</a:t>
                      </a:r>
                    </a:p>
                  </a:txBody>
                  <a:tcPr anchor="ctr">
                    <a:solidFill>
                      <a:srgbClr val="E0E5F0"/>
                    </a:solidFill>
                  </a:tcPr>
                </a:tc>
              </a:tr>
              <a:tr h="381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381000">
                <a:tc>
                  <a:txBody>
                    <a:bodyPr/>
                    <a:lstStyle/>
                    <a:p>
                      <a:pPr algn="l"/>
                      <a:r>
                        <a:rPr sz="1200" b="0" i="0">
                          <a:solidFill>
                            <a:srgbClr val="000000"/>
                          </a:solidFill>
                          <a:latin typeface="Tahoma"/>
                        </a:rPr>
                        <a:t>Base:</a:t>
                      </a:r>
                    </a:p>
                  </a:txBody>
                  <a:tcPr anchor="ctr">
                    <a:solidFill>
                      <a:srgbClr val="E0E5F0"/>
                    </a:solidFill>
                  </a:tcPr>
                </a:tc>
                <a:tc>
                  <a:txBody>
                    <a:bodyPr/>
                    <a:lstStyle/>
                    <a:p>
                      <a:pPr algn="ctr"/>
                      <a:r>
                        <a:rPr sz="1200" b="0" i="0">
                          <a:solidFill>
                            <a:srgbClr val="000000"/>
                          </a:solidFill>
                          <a:latin typeface="Tahoma"/>
                        </a:rPr>
                        <a:t>33</a:t>
                      </a:r>
                    </a:p>
                  </a:txBody>
                  <a:tcPr anchor="ctr">
                    <a:solidFill>
                      <a:srgbClr val="E0E5F0"/>
                    </a:solidFill>
                  </a:tcPr>
                </a:tc>
                <a:tc>
                  <a:txBody>
                    <a:bodyPr/>
                    <a:lstStyle/>
                    <a:p>
                      <a:pPr algn="ctr"/>
                      <a:r>
                        <a:rPr sz="1200" b="0" i="0">
                          <a:solidFill>
                            <a:srgbClr val="000000"/>
                          </a:solidFill>
                          <a:latin typeface="Tahoma"/>
                        </a:rPr>
                        <a:t>45</a:t>
                      </a:r>
                    </a:p>
                  </a:txBody>
                  <a:tcPr anchor="ctr">
                    <a:solidFill>
                      <a:srgbClr val="E0E5F0"/>
                    </a:solidFill>
                  </a:tcPr>
                </a:tc>
                <a:tc>
                  <a:txBody>
                    <a:bodyPr/>
                    <a:lstStyle/>
                    <a:p>
                      <a:pPr algn="ctr"/>
                      <a:r>
                        <a:rPr sz="1200" b="0" i="0">
                          <a:solidFill>
                            <a:srgbClr val="000000"/>
                          </a:solidFill>
                          <a:latin typeface="Tahoma"/>
                        </a:rPr>
                        <a:t>46</a:t>
                      </a:r>
                    </a:p>
                  </a:txBody>
                  <a:tcPr anchor="ctr">
                    <a:solidFill>
                      <a:srgbClr val="E0E5F0"/>
                    </a:solidFill>
                  </a:tcPr>
                </a:tc>
                <a:tc>
                  <a:txBody>
                    <a:bodyPr/>
                    <a:lstStyle/>
                    <a:p>
                      <a:pPr algn="ctr"/>
                      <a:r>
                        <a:rPr sz="1200" b="0" i="0">
                          <a:solidFill>
                            <a:srgbClr val="000000"/>
                          </a:solidFill>
                          <a:latin typeface="Tahoma"/>
                        </a:rPr>
                        <a:t>38</a:t>
                      </a:r>
                    </a:p>
                  </a:txBody>
                  <a:tcPr anchor="ctr">
                    <a:solidFill>
                      <a:srgbClr val="E0E5F0"/>
                    </a:solidFill>
                  </a:tcPr>
                </a:tc>
              </a:tr>
              <a:tr h="381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0%</a:t>
                      </a:r>
                    </a:p>
                  </a:txBody>
                  <a:tcPr anchor="ctr">
                    <a:solidFill>
                      <a:srgbClr val="5A80B8"/>
                    </a:solidFill>
                  </a:tcPr>
                </a:tc>
                <a:tc>
                  <a:txBody>
                    <a:bodyPr/>
                    <a:lstStyle/>
                    <a:p>
                      <a:pPr algn="ctr"/>
                      <a:r>
                        <a:rPr sz="1200" b="1" i="0">
                          <a:solidFill>
                            <a:srgbClr val="FFFFFF"/>
                          </a:solidFill>
                          <a:latin typeface="Tahoma"/>
                        </a:rPr>
                        <a:t>0%</a:t>
                      </a:r>
                    </a:p>
                  </a:txBody>
                  <a:tcPr anchor="ctr">
                    <a:solidFill>
                      <a:srgbClr val="5A80B8"/>
                    </a:solidFill>
                  </a:tcPr>
                </a:tc>
                <a:tc>
                  <a:txBody>
                    <a:bodyPr/>
                    <a:lstStyle/>
                    <a:p>
                      <a:pPr algn="ctr"/>
                      <a:r>
                        <a:rPr sz="1200" b="1" i="0">
                          <a:solidFill>
                            <a:srgbClr val="FFFFFF"/>
                          </a:solidFill>
                          <a:latin typeface="Tahoma"/>
                        </a:rPr>
                        <a:t>0%</a:t>
                      </a:r>
                    </a:p>
                  </a:txBody>
                  <a:tcPr anchor="ctr">
                    <a:solidFill>
                      <a:srgbClr val="5A80B8"/>
                    </a:solidFill>
                  </a:tcPr>
                </a:tc>
                <a:tc>
                  <a:txBody>
                    <a:bodyPr/>
                    <a:lstStyle/>
                    <a:p>
                      <a:pPr algn="ctr"/>
                      <a:r>
                        <a:rPr sz="1200" b="1" i="0">
                          <a:solidFill>
                            <a:srgbClr val="FFFFFF"/>
                          </a:solidFill>
                          <a:latin typeface="Tahoma"/>
                        </a:rPr>
                        <a:t>3%</a:t>
                      </a:r>
                    </a:p>
                  </a:txBody>
                  <a:tcPr anchor="ctr">
                    <a:solidFill>
                      <a:srgbClr val="5A80B8"/>
                    </a:solidFill>
                  </a:tcPr>
                </a:tc>
              </a:tr>
            </a:tbl>
          </a:graphicData>
        </a:graphic>
      </p:graphicFrame>
    </p:spTree>
    <p:extLst>
      <p:ext uri="{BB962C8B-B14F-4D97-AF65-F5344CB8AC3E}">
        <p14:creationId xmlns:p14="http://schemas.microsoft.com/office/powerpoint/2010/main" val="26349974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56</a:t>
            </a:fld>
            <a:endParaRPr lang="en-US" altLang="en-US" sz="1400"/>
          </a:p>
        </p:txBody>
      </p:sp>
      <p:graphicFrame>
        <p:nvGraphicFramePr>
          <p:cNvPr id="23556"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28600">
                <a:tc>
                  <a:txBody>
                    <a:bodyPr/>
                    <a:lstStyle/>
                    <a:p>
                      <a:pPr algn="ctr"/>
                      <a:r>
                        <a:rPr sz="1200" b="1" i="0">
                          <a:solidFill>
                            <a:srgbClr val="FFFFFF"/>
                          </a:solidFill>
                          <a:latin typeface="Tahoma"/>
                        </a:rPr>
                        <a:t>Years Lived In Residence</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228600">
                <a:tc>
                  <a:txBody>
                    <a:bodyPr/>
                    <a:lstStyle/>
                    <a:p>
                      <a:pPr algn="l"/>
                      <a:r>
                        <a:rPr sz="1200" b="0" i="0">
                          <a:solidFill>
                            <a:srgbClr val="000000"/>
                          </a:solidFill>
                          <a:latin typeface="Tahoma"/>
                        </a:rPr>
                        <a:t>Less than 1 year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228600">
                <a:tc>
                  <a:txBody>
                    <a:bodyPr/>
                    <a:lstStyle/>
                    <a:p>
                      <a:pPr algn="l"/>
                      <a:r>
                        <a:rPr sz="1200" b="0" i="0">
                          <a:solidFill>
                            <a:srgbClr val="000000"/>
                          </a:solidFill>
                          <a:latin typeface="Tahoma"/>
                        </a:rPr>
                        <a:t>1 to 2 years</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r>
              <a:tr h="228600">
                <a:tc>
                  <a:txBody>
                    <a:bodyPr/>
                    <a:lstStyle/>
                    <a:p>
                      <a:pPr algn="l"/>
                      <a:r>
                        <a:rPr sz="1200" b="0" i="0">
                          <a:solidFill>
                            <a:srgbClr val="000000"/>
                          </a:solidFill>
                          <a:latin typeface="Tahoma"/>
                        </a:rPr>
                        <a:t>3 to 5 years</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28600">
                <a:tc>
                  <a:txBody>
                    <a:bodyPr/>
                    <a:lstStyle/>
                    <a:p>
                      <a:pPr algn="l"/>
                      <a:r>
                        <a:rPr sz="1200" b="0" i="0">
                          <a:solidFill>
                            <a:srgbClr val="000000"/>
                          </a:solidFill>
                          <a:latin typeface="Tahoma"/>
                        </a:rPr>
                        <a:t>6 to 10 years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r>
              <a:tr h="228600">
                <a:tc>
                  <a:txBody>
                    <a:bodyPr/>
                    <a:lstStyle/>
                    <a:p>
                      <a:pPr algn="l"/>
                      <a:r>
                        <a:rPr sz="1200" b="0" i="0">
                          <a:solidFill>
                            <a:srgbClr val="000000"/>
                          </a:solidFill>
                          <a:latin typeface="Tahoma"/>
                        </a:rPr>
                        <a:t>11 to 15 years</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r>
              <a:tr h="228600">
                <a:tc>
                  <a:txBody>
                    <a:bodyPr/>
                    <a:lstStyle/>
                    <a:p>
                      <a:pPr algn="l"/>
                      <a:r>
                        <a:rPr sz="1200" b="0" i="0">
                          <a:solidFill>
                            <a:srgbClr val="000000"/>
                          </a:solidFill>
                          <a:latin typeface="Tahoma"/>
                        </a:rPr>
                        <a:t>16 to 20 years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28600">
                <a:tc>
                  <a:txBody>
                    <a:bodyPr/>
                    <a:lstStyle/>
                    <a:p>
                      <a:pPr algn="l"/>
                      <a:r>
                        <a:rPr sz="1200" b="0" i="0">
                          <a:solidFill>
                            <a:srgbClr val="000000"/>
                          </a:solidFill>
                          <a:latin typeface="Tahoma"/>
                        </a:rPr>
                        <a:t>More than 20 years</a:t>
                      </a:r>
                    </a:p>
                  </a:txBody>
                  <a:tcPr anchor="ctr">
                    <a:solidFill>
                      <a:srgbClr val="E0E5F0"/>
                    </a:solidFill>
                  </a:tcPr>
                </a:tc>
                <a:tc>
                  <a:txBody>
                    <a:bodyPr/>
                    <a:lstStyle/>
                    <a:p>
                      <a:pPr algn="ctr"/>
                      <a:r>
                        <a:rPr sz="1200" b="0" i="0">
                          <a:solidFill>
                            <a:srgbClr val="000000"/>
                          </a:solidFill>
                          <a:latin typeface="Tahoma"/>
                        </a:rPr>
                        <a:t>27%</a:t>
                      </a:r>
                    </a:p>
                  </a:txBody>
                  <a:tcPr anchor="ctr">
                    <a:solidFill>
                      <a:srgbClr val="E0E5F0"/>
                    </a:solidFill>
                  </a:tcPr>
                </a:tc>
                <a:tc>
                  <a:txBody>
                    <a:bodyPr/>
                    <a:lstStyle/>
                    <a:p>
                      <a:pPr algn="ctr"/>
                      <a:r>
                        <a:rPr sz="1200" b="0" i="0">
                          <a:solidFill>
                            <a:srgbClr val="000000"/>
                          </a:solidFill>
                          <a:latin typeface="Tahoma"/>
                        </a:rPr>
                        <a:t>56%</a:t>
                      </a:r>
                    </a:p>
                  </a:txBody>
                  <a:tcPr anchor="ctr">
                    <a:solidFill>
                      <a:srgbClr val="E0E5F0"/>
                    </a:solidFill>
                  </a:tcPr>
                </a:tc>
                <a:tc>
                  <a:txBody>
                    <a:bodyPr/>
                    <a:lstStyle/>
                    <a:p>
                      <a:pPr algn="ctr"/>
                      <a:r>
                        <a:rPr sz="1200" b="0" i="0">
                          <a:solidFill>
                            <a:srgbClr val="000000"/>
                          </a:solidFill>
                          <a:latin typeface="Tahoma"/>
                        </a:rPr>
                        <a:t>33%</a:t>
                      </a:r>
                    </a:p>
                  </a:txBody>
                  <a:tcPr anchor="ctr">
                    <a:solidFill>
                      <a:srgbClr val="E0E5F0"/>
                    </a:solidFill>
                  </a:tcPr>
                </a:tc>
                <a:tc>
                  <a:txBody>
                    <a:bodyPr/>
                    <a:lstStyle/>
                    <a:p>
                      <a:pPr algn="ctr"/>
                      <a:r>
                        <a:rPr sz="1200" b="0" i="0">
                          <a:solidFill>
                            <a:srgbClr val="000000"/>
                          </a:solidFill>
                          <a:latin typeface="Tahoma"/>
                        </a:rPr>
                        <a:t>34%</a:t>
                      </a:r>
                    </a:p>
                  </a:txBody>
                  <a:tcPr anchor="ctr">
                    <a:solidFill>
                      <a:srgbClr val="E0E5F0"/>
                    </a:solidFill>
                  </a:tcPr>
                </a:tc>
              </a:tr>
              <a:tr h="2286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graphicFrame>
        <p:nvGraphicFramePr>
          <p:cNvPr id="23557" name="Table 2"/>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54000">
                <a:tc>
                  <a:txBody>
                    <a:bodyPr/>
                    <a:lstStyle/>
                    <a:p>
                      <a:pPr algn="ctr"/>
                      <a:r>
                        <a:rPr sz="1200" b="1" i="0">
                          <a:solidFill>
                            <a:srgbClr val="FFFFFF"/>
                          </a:solidFill>
                          <a:latin typeface="Tahoma"/>
                        </a:rPr>
                        <a:t>Years Lived In Austin</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254000">
                <a:tc>
                  <a:txBody>
                    <a:bodyPr/>
                    <a:lstStyle/>
                    <a:p>
                      <a:pPr algn="l"/>
                      <a:r>
                        <a:rPr sz="1200" b="0" i="0">
                          <a:solidFill>
                            <a:srgbClr val="000000"/>
                          </a:solidFill>
                          <a:latin typeface="Tahoma"/>
                        </a:rPr>
                        <a:t>1 to 5 years</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r>
              <a:tr h="254000">
                <a:tc>
                  <a:txBody>
                    <a:bodyPr/>
                    <a:lstStyle/>
                    <a:p>
                      <a:pPr algn="l"/>
                      <a:r>
                        <a:rPr sz="1200" b="0" i="0">
                          <a:solidFill>
                            <a:srgbClr val="000000"/>
                          </a:solidFill>
                          <a:latin typeface="Tahoma"/>
                        </a:rPr>
                        <a:t>6 to 10 years</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254000">
                <a:tc>
                  <a:txBody>
                    <a:bodyPr/>
                    <a:lstStyle/>
                    <a:p>
                      <a:pPr algn="l"/>
                      <a:r>
                        <a:rPr sz="1200" b="0" i="0">
                          <a:solidFill>
                            <a:srgbClr val="000000"/>
                          </a:solidFill>
                          <a:latin typeface="Tahoma"/>
                        </a:rPr>
                        <a:t>11 to 15 years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r>
              <a:tr h="254000">
                <a:tc>
                  <a:txBody>
                    <a:bodyPr/>
                    <a:lstStyle/>
                    <a:p>
                      <a:pPr algn="l"/>
                      <a:r>
                        <a:rPr sz="1200" b="0" i="0">
                          <a:solidFill>
                            <a:srgbClr val="000000"/>
                          </a:solidFill>
                          <a:latin typeface="Tahoma"/>
                        </a:rPr>
                        <a:t>16 to 20 years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r>
              <a:tr h="254000">
                <a:tc>
                  <a:txBody>
                    <a:bodyPr/>
                    <a:lstStyle/>
                    <a:p>
                      <a:pPr algn="l"/>
                      <a:r>
                        <a:rPr sz="1200" b="0" i="0">
                          <a:solidFill>
                            <a:srgbClr val="000000"/>
                          </a:solidFill>
                          <a:latin typeface="Tahoma"/>
                        </a:rPr>
                        <a:t>More than 20 years</a:t>
                      </a:r>
                    </a:p>
                  </a:txBody>
                  <a:tcPr anchor="ctr">
                    <a:solidFill>
                      <a:srgbClr val="E0E5F0"/>
                    </a:solidFill>
                  </a:tcPr>
                </a:tc>
                <a:tc>
                  <a:txBody>
                    <a:bodyPr/>
                    <a:lstStyle/>
                    <a:p>
                      <a:pPr algn="ctr"/>
                      <a:r>
                        <a:rPr sz="1200" b="0" i="0">
                          <a:solidFill>
                            <a:srgbClr val="000000"/>
                          </a:solidFill>
                          <a:latin typeface="Tahoma"/>
                        </a:rPr>
                        <a:t>58%</a:t>
                      </a:r>
                    </a:p>
                  </a:txBody>
                  <a:tcPr anchor="ctr">
                    <a:solidFill>
                      <a:srgbClr val="E0E5F0"/>
                    </a:solidFill>
                  </a:tcPr>
                </a:tc>
                <a:tc>
                  <a:txBody>
                    <a:bodyPr/>
                    <a:lstStyle/>
                    <a:p>
                      <a:pPr algn="ctr"/>
                      <a:r>
                        <a:rPr sz="1200" b="0" i="0">
                          <a:solidFill>
                            <a:srgbClr val="000000"/>
                          </a:solidFill>
                          <a:latin typeface="Tahoma"/>
                        </a:rPr>
                        <a:t>65%</a:t>
                      </a:r>
                    </a:p>
                  </a:txBody>
                  <a:tcPr anchor="ctr">
                    <a:solidFill>
                      <a:srgbClr val="E0E5F0"/>
                    </a:solidFill>
                  </a:tcPr>
                </a:tc>
                <a:tc>
                  <a:txBody>
                    <a:bodyPr/>
                    <a:lstStyle/>
                    <a:p>
                      <a:pPr algn="ctr"/>
                      <a:r>
                        <a:rPr sz="1200" b="0" i="0">
                          <a:solidFill>
                            <a:srgbClr val="000000"/>
                          </a:solidFill>
                          <a:latin typeface="Tahoma"/>
                        </a:rPr>
                        <a:t>65%</a:t>
                      </a:r>
                    </a:p>
                  </a:txBody>
                  <a:tcPr anchor="ctr">
                    <a:solidFill>
                      <a:srgbClr val="E0E5F0"/>
                    </a:solidFill>
                  </a:tcPr>
                </a:tc>
                <a:tc>
                  <a:txBody>
                    <a:bodyPr/>
                    <a:lstStyle/>
                    <a:p>
                      <a:pPr algn="ctr"/>
                      <a:r>
                        <a:rPr sz="1200" b="0" i="0">
                          <a:solidFill>
                            <a:srgbClr val="000000"/>
                          </a:solidFill>
                          <a:latin typeface="Tahoma"/>
                        </a:rPr>
                        <a:t>74%</a:t>
                      </a:r>
                    </a:p>
                  </a:txBody>
                  <a:tcPr anchor="ctr">
                    <a:solidFill>
                      <a:srgbClr val="E0E5F0"/>
                    </a:solidFill>
                  </a:tcPr>
                </a:tc>
              </a:tr>
              <a:tr h="254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34182975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57</a:t>
            </a:fld>
            <a:endParaRPr lang="en-US" altLang="en-US" sz="1400"/>
          </a:p>
        </p:txBody>
      </p:sp>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graphicFrame>
        <p:nvGraphicFramePr>
          <p:cNvPr id="23556"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134470">
                <a:tc>
                  <a:txBody>
                    <a:bodyPr/>
                    <a:lstStyle/>
                    <a:p>
                      <a:pPr algn="ctr"/>
                      <a:r>
                        <a:rPr sz="1200" b="1" i="0">
                          <a:solidFill>
                            <a:srgbClr val="FFFFFF"/>
                          </a:solidFill>
                          <a:latin typeface="Tahoma"/>
                        </a:rPr>
                        <a:t>Physical Health Not Good In the Past 30 Days</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134470">
                <a:tc>
                  <a:txBody>
                    <a:bodyPr/>
                    <a:lstStyle/>
                    <a:p>
                      <a:pPr algn="l"/>
                      <a:r>
                        <a:rPr sz="1200" b="0" i="0">
                          <a:solidFill>
                            <a:srgbClr val="000000"/>
                          </a:solidFill>
                          <a:latin typeface="Tahoma"/>
                        </a:rPr>
                        <a:t>0 times</a:t>
                      </a:r>
                    </a:p>
                  </a:txBody>
                  <a:tcPr anchor="ctr">
                    <a:solidFill>
                      <a:srgbClr val="E0E5F0"/>
                    </a:solidFill>
                  </a:tcPr>
                </a:tc>
                <a:tc>
                  <a:txBody>
                    <a:bodyPr/>
                    <a:lstStyle/>
                    <a:p>
                      <a:pPr algn="ctr"/>
                      <a:r>
                        <a:rPr sz="1200" b="0" i="0">
                          <a:solidFill>
                            <a:srgbClr val="000000"/>
                          </a:solidFill>
                          <a:latin typeface="Tahoma"/>
                        </a:rPr>
                        <a:t>64%</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49%</a:t>
                      </a:r>
                    </a:p>
                  </a:txBody>
                  <a:tcPr anchor="ctr">
                    <a:solidFill>
                      <a:srgbClr val="E0E5F0"/>
                    </a:solidFill>
                  </a:tcPr>
                </a:tc>
                <a:tc>
                  <a:txBody>
                    <a:bodyPr/>
                    <a:lstStyle/>
                    <a:p>
                      <a:pPr algn="ctr"/>
                      <a:r>
                        <a:rPr sz="1200" b="0" i="0">
                          <a:solidFill>
                            <a:srgbClr val="000000"/>
                          </a:solidFill>
                          <a:latin typeface="Tahoma"/>
                        </a:rPr>
                        <a:t>61%</a:t>
                      </a:r>
                    </a:p>
                  </a:txBody>
                  <a:tcPr anchor="ctr">
                    <a:solidFill>
                      <a:srgbClr val="E0E5F0"/>
                    </a:solidFill>
                  </a:tcPr>
                </a:tc>
              </a:tr>
              <a:tr h="134470">
                <a:tc>
                  <a:txBody>
                    <a:bodyPr/>
                    <a:lstStyle/>
                    <a:p>
                      <a:pPr algn="l"/>
                      <a:r>
                        <a:rPr sz="1200" b="0" i="0">
                          <a:solidFill>
                            <a:srgbClr val="000000"/>
                          </a:solidFill>
                          <a:latin typeface="Tahoma"/>
                        </a:rPr>
                        <a:t>1 time</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r>
              <a:tr h="134470">
                <a:tc>
                  <a:txBody>
                    <a:bodyPr/>
                    <a:lstStyle/>
                    <a:p>
                      <a:pPr algn="l"/>
                      <a:r>
                        <a:rPr sz="1200" b="0" i="0">
                          <a:solidFill>
                            <a:srgbClr val="000000"/>
                          </a:solidFill>
                          <a:latin typeface="Tahoma"/>
                        </a:rPr>
                        <a:t>2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17%</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4470">
                <a:tc>
                  <a:txBody>
                    <a:bodyPr/>
                    <a:lstStyle/>
                    <a:p>
                      <a:pPr algn="l"/>
                      <a:r>
                        <a:rPr sz="1200" b="0" i="0">
                          <a:solidFill>
                            <a:srgbClr val="000000"/>
                          </a:solidFill>
                          <a:latin typeface="Tahoma"/>
                        </a:rPr>
                        <a:t>3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4470">
                <a:tc>
                  <a:txBody>
                    <a:bodyPr/>
                    <a:lstStyle/>
                    <a:p>
                      <a:pPr algn="l"/>
                      <a:r>
                        <a:rPr sz="1200" b="0" i="0">
                          <a:solidFill>
                            <a:srgbClr val="000000"/>
                          </a:solidFill>
                          <a:latin typeface="Tahoma"/>
                        </a:rPr>
                        <a:t>4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34470">
                <a:tc>
                  <a:txBody>
                    <a:bodyPr/>
                    <a:lstStyle/>
                    <a:p>
                      <a:pPr algn="l"/>
                      <a:r>
                        <a:rPr sz="1200" b="0" i="0">
                          <a:solidFill>
                            <a:srgbClr val="000000"/>
                          </a:solidFill>
                          <a:latin typeface="Tahoma"/>
                        </a:rPr>
                        <a:t>6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7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8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10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12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15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r>
              <a:tr h="134470">
                <a:tc>
                  <a:txBody>
                    <a:bodyPr/>
                    <a:lstStyle/>
                    <a:p>
                      <a:pPr algn="l"/>
                      <a:r>
                        <a:rPr sz="1200" b="0" i="0">
                          <a:solidFill>
                            <a:srgbClr val="000000"/>
                          </a:solidFill>
                          <a:latin typeface="Tahoma"/>
                        </a:rPr>
                        <a:t>21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25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30 times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r>
              <a:tr h="13448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41</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33313889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58</a:t>
            </a:fld>
            <a:endParaRPr lang="en-US" altLang="en-US" sz="1400"/>
          </a:p>
        </p:txBody>
      </p:sp>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graphicFrame>
        <p:nvGraphicFramePr>
          <p:cNvPr id="23556" name="Table 2"/>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142875">
                <a:tc>
                  <a:txBody>
                    <a:bodyPr/>
                    <a:lstStyle/>
                    <a:p>
                      <a:pPr algn="ctr"/>
                      <a:r>
                        <a:rPr sz="1200" b="1" i="0">
                          <a:solidFill>
                            <a:srgbClr val="FFFFFF"/>
                          </a:solidFill>
                          <a:latin typeface="Tahoma"/>
                        </a:rPr>
                        <a:t>Mental Health Not Good In the Past 30 Days</a:t>
                      </a:r>
                    </a:p>
                  </a:txBody>
                  <a:tcPr anchor="ctr">
                    <a:solidFill>
                      <a:srgbClr val="5A80B8"/>
                    </a:solidFill>
                  </a:tcPr>
                </a:tc>
                <a:tc>
                  <a:txBody>
                    <a:bodyPr/>
                    <a:lstStyle/>
                    <a:p>
                      <a:pPr algn="ctr"/>
                      <a:r>
                        <a:rPr sz="1200" b="1" i="0">
                          <a:solidFill>
                            <a:srgbClr val="FFFFFF"/>
                          </a:solidFill>
                          <a:latin typeface="Tahoma"/>
                        </a:rPr>
                        <a:t>Q4 2024</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r>
              <a:tr h="142875">
                <a:tc>
                  <a:txBody>
                    <a:bodyPr/>
                    <a:lstStyle/>
                    <a:p>
                      <a:pPr algn="l"/>
                      <a:r>
                        <a:rPr sz="1200" b="0" i="0">
                          <a:solidFill>
                            <a:srgbClr val="000000"/>
                          </a:solidFill>
                          <a:latin typeface="Tahoma"/>
                        </a:rPr>
                        <a:t>0 times</a:t>
                      </a:r>
                    </a:p>
                  </a:txBody>
                  <a:tcPr anchor="ctr">
                    <a:solidFill>
                      <a:srgbClr val="E0E5F0"/>
                    </a:solidFill>
                  </a:tcPr>
                </a:tc>
                <a:tc>
                  <a:txBody>
                    <a:bodyPr/>
                    <a:lstStyle/>
                    <a:p>
                      <a:pPr algn="ctr"/>
                      <a:r>
                        <a:rPr sz="1200" b="0" i="0">
                          <a:solidFill>
                            <a:srgbClr val="000000"/>
                          </a:solidFill>
                          <a:latin typeface="Tahoma"/>
                        </a:rPr>
                        <a:t>48%</a:t>
                      </a:r>
                    </a:p>
                  </a:txBody>
                  <a:tcPr anchor="ctr">
                    <a:solidFill>
                      <a:srgbClr val="E0E5F0"/>
                    </a:solidFill>
                  </a:tcPr>
                </a:tc>
                <a:tc>
                  <a:txBody>
                    <a:bodyPr/>
                    <a:lstStyle/>
                    <a:p>
                      <a:pPr algn="ctr"/>
                      <a:r>
                        <a:rPr sz="1200" b="0" i="0">
                          <a:solidFill>
                            <a:srgbClr val="000000"/>
                          </a:solidFill>
                          <a:latin typeface="Tahoma"/>
                        </a:rPr>
                        <a:t>62%</a:t>
                      </a:r>
                    </a:p>
                  </a:txBody>
                  <a:tcPr anchor="ctr">
                    <a:solidFill>
                      <a:srgbClr val="E0E5F0"/>
                    </a:solidFill>
                  </a:tcPr>
                </a:tc>
                <a:tc>
                  <a:txBody>
                    <a:bodyPr/>
                    <a:lstStyle/>
                    <a:p>
                      <a:pPr algn="ctr"/>
                      <a:r>
                        <a:rPr sz="1200" b="0" i="0">
                          <a:solidFill>
                            <a:srgbClr val="000000"/>
                          </a:solidFill>
                          <a:latin typeface="Tahoma"/>
                        </a:rPr>
                        <a:t>61%</a:t>
                      </a:r>
                    </a:p>
                  </a:txBody>
                  <a:tcPr anchor="ctr">
                    <a:solidFill>
                      <a:srgbClr val="E0E5F0"/>
                    </a:solidFill>
                  </a:tcPr>
                </a:tc>
                <a:tc>
                  <a:txBody>
                    <a:bodyPr/>
                    <a:lstStyle/>
                    <a:p>
                      <a:pPr algn="ctr"/>
                      <a:r>
                        <a:rPr sz="1200" b="0" i="0">
                          <a:solidFill>
                            <a:srgbClr val="000000"/>
                          </a:solidFill>
                          <a:latin typeface="Tahoma"/>
                        </a:rPr>
                        <a:t>62%</a:t>
                      </a:r>
                    </a:p>
                  </a:txBody>
                  <a:tcPr anchor="ctr">
                    <a:solidFill>
                      <a:srgbClr val="E0E5F0"/>
                    </a:solidFill>
                  </a:tcPr>
                </a:tc>
              </a:tr>
              <a:tr h="142875">
                <a:tc>
                  <a:txBody>
                    <a:bodyPr/>
                    <a:lstStyle/>
                    <a:p>
                      <a:pPr algn="l"/>
                      <a:r>
                        <a:rPr sz="1200" b="0" i="0">
                          <a:solidFill>
                            <a:srgbClr val="000000"/>
                          </a:solidFill>
                          <a:latin typeface="Tahoma"/>
                        </a:rPr>
                        <a:t>1 time</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42875">
                <a:tc>
                  <a:txBody>
                    <a:bodyPr/>
                    <a:lstStyle/>
                    <a:p>
                      <a:pPr algn="l"/>
                      <a:r>
                        <a:rPr sz="1200" b="0" i="0">
                          <a:solidFill>
                            <a:srgbClr val="000000"/>
                          </a:solidFill>
                          <a:latin typeface="Tahoma"/>
                        </a:rPr>
                        <a:t>2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3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4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42875">
                <a:tc>
                  <a:txBody>
                    <a:bodyPr/>
                    <a:lstStyle/>
                    <a:p>
                      <a:pPr algn="l"/>
                      <a:r>
                        <a:rPr sz="1200" b="0" i="0">
                          <a:solidFill>
                            <a:srgbClr val="000000"/>
                          </a:solidFill>
                          <a:latin typeface="Tahoma"/>
                        </a:rPr>
                        <a:t>5 times</a:t>
                      </a:r>
                    </a:p>
                  </a:txBody>
                  <a:tcPr anchor="ctr">
                    <a:solidFill>
                      <a:srgbClr val="E0E5F0"/>
                    </a:solidFill>
                  </a:tcPr>
                </a:tc>
                <a:tc>
                  <a:txBody>
                    <a:bodyPr/>
                    <a:lstStyle/>
                    <a:p>
                      <a:pPr algn="ctr"/>
                      <a:r>
                        <a:rPr sz="1200" b="0" i="0">
                          <a:solidFill>
                            <a:srgbClr val="000000"/>
                          </a:solidFill>
                          <a:latin typeface="Tahoma"/>
                        </a:rPr>
                        <a:t>12%</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6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7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9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42875">
                <a:tc>
                  <a:txBody>
                    <a:bodyPr/>
                    <a:lstStyle/>
                    <a:p>
                      <a:pPr algn="l"/>
                      <a:r>
                        <a:rPr sz="1200" b="0" i="0">
                          <a:solidFill>
                            <a:srgbClr val="000000"/>
                          </a:solidFill>
                          <a:latin typeface="Tahoma"/>
                        </a:rPr>
                        <a:t>10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r>
              <a:tr h="142875">
                <a:tc>
                  <a:txBody>
                    <a:bodyPr/>
                    <a:lstStyle/>
                    <a:p>
                      <a:pPr algn="l"/>
                      <a:r>
                        <a:rPr sz="1200" b="0" i="0">
                          <a:solidFill>
                            <a:srgbClr val="000000"/>
                          </a:solidFill>
                          <a:latin typeface="Tahoma"/>
                        </a:rPr>
                        <a:t>15 times</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r>
              <a:tr h="142875">
                <a:tc>
                  <a:txBody>
                    <a:bodyPr/>
                    <a:lstStyle/>
                    <a:p>
                      <a:pPr algn="l"/>
                      <a:r>
                        <a:rPr sz="1200" b="0" i="0">
                          <a:solidFill>
                            <a:srgbClr val="000000"/>
                          </a:solidFill>
                          <a:latin typeface="Tahoma"/>
                        </a:rPr>
                        <a:t>20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29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142875">
                <a:tc>
                  <a:txBody>
                    <a:bodyPr/>
                    <a:lstStyle/>
                    <a:p>
                      <a:pPr algn="l"/>
                      <a:r>
                        <a:rPr sz="1200" b="0" i="0">
                          <a:solidFill>
                            <a:srgbClr val="000000"/>
                          </a:solidFill>
                          <a:latin typeface="Tahoma"/>
                        </a:rPr>
                        <a:t>30 times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142875">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33</a:t>
                      </a:r>
                    </a:p>
                  </a:txBody>
                  <a:tcPr anchor="ctr">
                    <a:solidFill>
                      <a:srgbClr val="5A80B8"/>
                    </a:solidFill>
                  </a:tcPr>
                </a:tc>
                <a:tc>
                  <a:txBody>
                    <a:bodyPr/>
                    <a:lstStyle/>
                    <a:p>
                      <a:pPr algn="ctr"/>
                      <a:r>
                        <a:rPr sz="1200" b="1" i="0">
                          <a:solidFill>
                            <a:srgbClr val="FFFFFF"/>
                          </a:solidFill>
                          <a:latin typeface="Tahoma"/>
                        </a:rPr>
                        <a:t>39</a:t>
                      </a:r>
                    </a:p>
                  </a:txBody>
                  <a:tcPr anchor="ctr">
                    <a:solidFill>
                      <a:srgbClr val="5A80B8"/>
                    </a:solidFill>
                  </a:tcPr>
                </a:tc>
                <a:tc>
                  <a:txBody>
                    <a:bodyPr/>
                    <a:lstStyle/>
                    <a:p>
                      <a:pPr algn="ctr"/>
                      <a:r>
                        <a:rPr sz="1200" b="1" i="0">
                          <a:solidFill>
                            <a:srgbClr val="FFFFFF"/>
                          </a:solidFill>
                          <a:latin typeface="Tahoma"/>
                        </a:rPr>
                        <a:t>41</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r>
            </a:tbl>
          </a:graphicData>
        </a:graphic>
      </p:graphicFrame>
    </p:spTree>
    <p:extLst>
      <p:ext uri="{BB962C8B-B14F-4D97-AF65-F5344CB8AC3E}">
        <p14:creationId xmlns:p14="http://schemas.microsoft.com/office/powerpoint/2010/main" val="15876760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59</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D8. In general, which of the following describes your health?</a:t>
            </a:r>
          </a:p>
        </p:txBody>
      </p:sp>
      <p:graphicFrame>
        <p:nvGraphicFramePr>
          <p:cNvPr id="3" name="Chart 6"/>
          <p:cNvGraphicFramePr>
            <a:graphicFrameLocks/>
          </p:cNvGraphicFramePr>
          <p:nvPr>
            <p:extLst>
              <p:ext uri="{D42A27DB-BD31-4B8C-83A1-F6EECF244321}">
                <p14:modId xmlns:p14="http://schemas.microsoft.com/office/powerpoint/2010/main" val="1205481721"/>
              </p:ext>
            </p:extLst>
          </p:nvPr>
        </p:nvGraphicFramePr>
        <p:xfrm>
          <a:off x="50800" y="1521023"/>
          <a:ext cx="6756400" cy="489585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790"/>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2" name="TextBox 1">
            <a:extLst>
              <a:ext uri="{FF2B5EF4-FFF2-40B4-BE49-F238E27FC236}">
                <a16:creationId xmlns:a16="http://schemas.microsoft.com/office/drawing/2014/main" id="{7975BBDD-AFD7-AB44-82B5-472A7D418D5D}"/>
              </a:ext>
            </a:extLst>
          </p:cNvPr>
          <p:cNvSpPr txBox="1"/>
          <p:nvPr/>
        </p:nvSpPr>
        <p:spPr>
          <a:xfrm>
            <a:off x="1543050" y="1384671"/>
            <a:ext cx="3771900" cy="338554"/>
          </a:xfrm>
          <a:prstGeom prst="rect">
            <a:avLst/>
          </a:prstGeom>
          <a:noFill/>
        </p:spPr>
        <p:txBody>
          <a:bodyPr wrap="square" rtlCol="0">
            <a:spAutoFit/>
          </a:bodyPr>
          <a:lstStyle/>
          <a:p>
            <a:pPr algn="ctr"/>
            <a:r>
              <a:rPr lang="en-US" sz="1600"/>
              <a:t>How would you describe your health?</a:t>
            </a:r>
          </a:p>
        </p:txBody>
      </p:sp>
    </p:spTree>
    <p:extLst>
      <p:ext uri="{BB962C8B-B14F-4D97-AF65-F5344CB8AC3E}">
        <p14:creationId xmlns:p14="http://schemas.microsoft.com/office/powerpoint/2010/main" val="15135797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Methodology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60</a:t>
            </a:fld>
            <a:endParaRPr lang="en-US" altLang="en-US" sz="1400"/>
          </a:p>
        </p:txBody>
      </p:sp>
      <p:sp>
        <p:nvSpPr>
          <p:cNvPr id="22532" name="Rectangle 3"/>
          <p:cNvSpPr>
            <a:spLocks noGrp="1" noChangeArrowheads="1"/>
          </p:cNvSpPr>
          <p:nvPr>
            <p:ph type="body" idx="1"/>
          </p:nvPr>
        </p:nvSpPr>
        <p:spPr>
          <a:xfrm>
            <a:off x="419100" y="1219200"/>
            <a:ext cx="6019800" cy="4916354"/>
          </a:xfrm>
        </p:spPr>
        <p:txBody>
          <a:bodyPr/>
          <a:lstStyle/>
          <a:p>
            <a:r>
              <a:rPr lang="en-US" sz="1800">
                <a:cs typeface="Tahoma"/>
              </a:rPr>
              <a:t>Creative Consumer Research (CCR) mailed an invitation to complete the survey online to Low Income Weatherization customers. This invitation included a $1 bill.</a:t>
            </a:r>
            <a:endParaRPr lang="en-US">
              <a:cs typeface="Tahoma"/>
            </a:endParaRPr>
          </a:p>
          <a:p>
            <a:r>
              <a:rPr lang="en-US" sz="1800">
                <a:ea typeface="Tahoma"/>
                <a:cs typeface="Tahoma"/>
              </a:rPr>
              <a:t>Of those who received an invitation, 46 contacts completed the survey, and the average survey length was 17 minutes.</a:t>
            </a:r>
            <a:endParaRPr lang="en-US">
              <a:ea typeface="Tahoma"/>
              <a:cs typeface="Tahoma"/>
            </a:endParaRPr>
          </a:p>
          <a:p>
            <a:pPr>
              <a:spcBef>
                <a:spcPts val="600"/>
              </a:spcBef>
            </a:pPr>
            <a:r>
              <a:rPr lang="en-US" altLang="en-US" sz="1800">
                <a:ea typeface="Geneva"/>
                <a:cs typeface="Geneva"/>
              </a:rPr>
              <a:t>Throughout this report there are instances where, for a variety of reasons, respondents did not answer a question, which resulted in very small base sizes. The tables containing low base sizes are reported as the number of respondents answering the questions, not the percentage.</a:t>
            </a:r>
          </a:p>
          <a:p>
            <a:pPr>
              <a:spcBef>
                <a:spcPts val="600"/>
              </a:spcBef>
            </a:pPr>
            <a:r>
              <a:rPr lang="en-US" altLang="en-US" sz="1800">
                <a:ea typeface="Geneva"/>
                <a:cs typeface="Geneva"/>
              </a:rPr>
              <a:t>For reference throughout the report, a ‘Top Box’ score is the percentage of ‘8’, ‘9’, and ‘10’ scores on a </a:t>
            </a:r>
            <a:br>
              <a:rPr lang="en-US" altLang="en-US" sz="1800">
                <a:ea typeface="Geneva"/>
                <a:cs typeface="Geneva"/>
              </a:rPr>
            </a:br>
            <a:r>
              <a:rPr lang="en-US" altLang="en-US" sz="1800">
                <a:ea typeface="Geneva"/>
                <a:cs typeface="Geneva"/>
              </a:rPr>
              <a:t>10-point scale.</a:t>
            </a:r>
          </a:p>
          <a:p>
            <a:pPr marL="0" indent="0">
              <a:buNone/>
            </a:pPr>
            <a:r>
              <a:rPr lang="en-US" altLang="en-US" sz="1800">
                <a:ea typeface="Geneva"/>
                <a:cs typeface="Geneva"/>
              </a:rPr>
              <a:t> </a:t>
            </a:r>
          </a:p>
          <a:p>
            <a:endParaRPr lang="en-US" altLang="en-US" sz="1800">
              <a:ea typeface="Geneva"/>
              <a:cs typeface="Geneva"/>
            </a:endParaRPr>
          </a:p>
          <a:p>
            <a:pPr marL="0" indent="0">
              <a:buNone/>
            </a:pPr>
            <a:endParaRPr lang="en-US" altLang="en-US" sz="1800">
              <a:ea typeface="MS PGothic" panose="020B0600070205080204" pitchFamily="34" charset="-128"/>
            </a:endParaRPr>
          </a:p>
          <a:p>
            <a:pPr marL="0" indent="0">
              <a:buNone/>
            </a:pPr>
            <a:endParaRPr lang="en-US" altLang="en-US" sz="1800">
              <a:ea typeface="MS PGothic" panose="020B0600070205080204" pitchFamily="34" charset="-128"/>
              <a:cs typeface="Geneva"/>
            </a:endParaRPr>
          </a:p>
        </p:txBody>
      </p:sp>
    </p:spTree>
    <p:extLst>
      <p:ext uri="{BB962C8B-B14F-4D97-AF65-F5344CB8AC3E}">
        <p14:creationId xmlns:p14="http://schemas.microsoft.com/office/powerpoint/2010/main" val="17274110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Contact Us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61</a:t>
            </a:fld>
            <a:endParaRPr lang="en-US" altLang="en-US" sz="1400"/>
          </a:p>
        </p:txBody>
      </p:sp>
      <p:sp>
        <p:nvSpPr>
          <p:cNvPr id="7" name="Rectangle 3"/>
          <p:cNvSpPr>
            <a:spLocks noGrp="1" noChangeArrowheads="1"/>
          </p:cNvSpPr>
          <p:nvPr>
            <p:ph type="body" idx="1"/>
          </p:nvPr>
        </p:nvSpPr>
        <p:spPr>
          <a:xfrm>
            <a:off x="361950" y="2990850"/>
            <a:ext cx="6134100" cy="3162300"/>
          </a:xfrm>
        </p:spPr>
        <p:txBody>
          <a:bodyPr anchor="ctr"/>
          <a:lstStyle/>
          <a:p>
            <a:pPr algn="ctr" eaLnBrk="1" hangingPunct="1">
              <a:buClr>
                <a:srgbClr val="353535"/>
              </a:buClr>
              <a:buFontTx/>
              <a:buNone/>
            </a:pP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 Kennedy</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Brian.Kennedy@austinenergy.com</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512-322-6053</a:t>
            </a:r>
          </a:p>
        </p:txBody>
      </p:sp>
    </p:spTree>
    <p:extLst>
      <p:ext uri="{BB962C8B-B14F-4D97-AF65-F5344CB8AC3E}">
        <p14:creationId xmlns:p14="http://schemas.microsoft.com/office/powerpoint/2010/main" val="357595772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B65558C4126594098843BB8409C1AC7" ma:contentTypeVersion="7" ma:contentTypeDescription="Create a new document." ma:contentTypeScope="" ma:versionID="3752edeb00482d7ee82ad143f51a55ad">
  <xsd:schema xmlns:xsd="http://www.w3.org/2001/XMLSchema" xmlns:xs="http://www.w3.org/2001/XMLSchema" xmlns:p="http://schemas.microsoft.com/office/2006/metadata/properties" xmlns:ns3="a1993117-620a-45ca-b1ce-648217e8dca2" xmlns:ns4="1cfa4720-0a9b-4001-ba70-f0bfcb19b73b" targetNamespace="http://schemas.microsoft.com/office/2006/metadata/properties" ma:root="true" ma:fieldsID="0e3ddd33553d45c3c2d459412a9171c4" ns3:_="" ns4:_="">
    <xsd:import namespace="a1993117-620a-45ca-b1ce-648217e8dca2"/>
    <xsd:import namespace="1cfa4720-0a9b-4001-ba70-f0bfcb19b73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993117-620a-45ca-b1ce-648217e8dc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cfa4720-0a9b-4001-ba70-f0bfcb19b73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DFEB8F1-3F6B-4FFF-B0A9-DF70FE4F0C2E}">
  <ds:schemaRefs>
    <ds:schemaRef ds:uri="1cfa4720-0a9b-4001-ba70-f0bfcb19b73b"/>
    <ds:schemaRef ds:uri="a1993117-620a-45ca-b1ce-648217e8dca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0D050B2-3251-403C-968B-F8C9227395F9}">
  <ds:schemaRefs>
    <ds:schemaRef ds:uri="http://schemas.microsoft.com/sharepoint/v3/contenttype/forms"/>
  </ds:schemaRefs>
</ds:datastoreItem>
</file>

<file path=customXml/itemProps3.xml><?xml version="1.0" encoding="utf-8"?>
<ds:datastoreItem xmlns:ds="http://schemas.openxmlformats.org/officeDocument/2006/customXml" ds:itemID="{E64F1C09-2BBC-44B7-BCE1-32D172598C3D}">
  <ds:schemaRefs>
    <ds:schemaRef ds:uri="1cfa4720-0a9b-4001-ba70-f0bfcb19b73b"/>
    <ds:schemaRef ds:uri="a1993117-620a-45ca-b1ce-648217e8dca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d08aee54-23a1-44bc-928c-69bab9445b32}" enabled="0" method="" siteId="{d08aee54-23a1-44bc-928c-69bab9445b32}" removed="1"/>
</clbl:labelList>
</file>

<file path=docProps/app.xml><?xml version="1.0" encoding="utf-8"?>
<Properties xmlns="http://schemas.openxmlformats.org/officeDocument/2006/extended-properties" xmlns:vt="http://schemas.openxmlformats.org/officeDocument/2006/docPropsVTypes">
  <Template/>
  <TotalTime>1117</TotalTime>
  <Words>4422</Words>
  <Application>Microsoft Macintosh PowerPoint</Application>
  <PresentationFormat>On-screen Show (4:3)</PresentationFormat>
  <Paragraphs>1151</Paragraphs>
  <Slides>61</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61</vt:i4>
      </vt:variant>
    </vt:vector>
  </HeadingPairs>
  <TitlesOfParts>
    <vt:vector size="72" baseType="lpstr">
      <vt:lpstr>MS PGothic</vt:lpstr>
      <vt:lpstr>MS PGothic</vt:lpstr>
      <vt:lpstr>Arial</vt:lpstr>
      <vt:lpstr>Calibri</vt:lpstr>
      <vt:lpstr>Courier New</vt:lpstr>
      <vt:lpstr>Geneva</vt:lpstr>
      <vt:lpstr>Helvetica</vt:lpstr>
      <vt:lpstr>Tahoma</vt:lpstr>
      <vt:lpstr>Times New Roman</vt:lpstr>
      <vt:lpstr>Univers 49 Light Ultra Condense</vt:lpstr>
      <vt:lpstr>Default Design</vt:lpstr>
      <vt:lpstr>Low Income Weatherization Survey FY2025 Q2  August 2025</vt:lpstr>
      <vt:lpstr>Key Takeaway</vt:lpstr>
      <vt:lpstr>Summary</vt:lpstr>
      <vt:lpstr>Summary</vt:lpstr>
      <vt:lpstr>Weatherization Program</vt:lpstr>
      <vt:lpstr>Would Have Weatherized  Without Assistance</vt:lpstr>
      <vt:lpstr>Importance of Customer Assistance</vt:lpstr>
      <vt:lpstr>Reasons Rated Importance  Below an ‘8’</vt:lpstr>
      <vt:lpstr>Helpfulness of the  Weatherization Program</vt:lpstr>
      <vt:lpstr>Changes Since Energy Improvements</vt:lpstr>
      <vt:lpstr>Changes Since Energy Improvements</vt:lpstr>
      <vt:lpstr>Changes Since Energy Improvements</vt:lpstr>
      <vt:lpstr>Changes Since Energy Improvements</vt:lpstr>
      <vt:lpstr>Changes Since Energy Improvements</vt:lpstr>
      <vt:lpstr>Overall Satisfaction with Weatherization Program</vt:lpstr>
      <vt:lpstr>Suggested Improvements to Increase Satisfaction Ratings</vt:lpstr>
      <vt:lpstr>Would You Recommend Austin Energy’s Home Weatherization Program</vt:lpstr>
      <vt:lpstr>Reasons for Not Recommending Austin Energy’s Home Weatherization Program</vt:lpstr>
      <vt:lpstr>Suggested Improvements to  the Weatherization Program</vt:lpstr>
      <vt:lpstr>Customer Service</vt:lpstr>
      <vt:lpstr>Contractor Ratings</vt:lpstr>
      <vt:lpstr>Contractor Ratings</vt:lpstr>
      <vt:lpstr>Contractor Ratings</vt:lpstr>
      <vt:lpstr>Received a Follow-Up  From the Contractor</vt:lpstr>
      <vt:lpstr>Satisfaction with Follow-Up </vt:lpstr>
      <vt:lpstr>Improvements to Follow-Up Concerns with the Contractor</vt:lpstr>
      <vt:lpstr>Customer Service Ratings</vt:lpstr>
      <vt:lpstr>Customer Service Ratings</vt:lpstr>
      <vt:lpstr>Customer Service Ratings</vt:lpstr>
      <vt:lpstr>Received a Follow-Up From  Austin Energy Staff Member</vt:lpstr>
      <vt:lpstr>Satisfaction with Follow-Up </vt:lpstr>
      <vt:lpstr>Improvements to Follow-Up Concerns with Austin Energy Staff Member</vt:lpstr>
      <vt:lpstr>Experience with Those Who Weatherized Your Home</vt:lpstr>
      <vt:lpstr>Energy Savings</vt:lpstr>
      <vt:lpstr>Pays the Utility Bills</vt:lpstr>
      <vt:lpstr>Level of Understanding with  Utility Bill and Energy Savings </vt:lpstr>
      <vt:lpstr>What Energy Savings Mean</vt:lpstr>
      <vt:lpstr>Satisfaction with Amount  of Energy Savings</vt:lpstr>
      <vt:lpstr>Suggested Energy-Efficiency Improvement</vt:lpstr>
      <vt:lpstr>Satisfaction with Austin Energy’s Customer Assistance Program</vt:lpstr>
      <vt:lpstr>Suggested Improvements for Austin Energy’s Customer Assistance Program</vt:lpstr>
      <vt:lpstr>Communication</vt:lpstr>
      <vt:lpstr>Communication Regarding Low Income Weatherization</vt:lpstr>
      <vt:lpstr>How First Learned About Weatherization</vt:lpstr>
      <vt:lpstr>Best Method for Communication</vt:lpstr>
      <vt:lpstr>Types of Useful Information</vt:lpstr>
      <vt:lpstr>Relationship with  Austin Energy</vt:lpstr>
      <vt:lpstr>Overall Satisfaction with  Austin Energy</vt:lpstr>
      <vt:lpstr>Low Income Weatherization Program Names</vt:lpstr>
      <vt:lpstr>Possible Low Income Weatherization Program Names</vt:lpstr>
      <vt:lpstr>Possible Low Income Weatherization Program Names</vt:lpstr>
      <vt:lpstr>Demographics</vt:lpstr>
      <vt:lpstr>Demographics</vt:lpstr>
      <vt:lpstr>Demographics</vt:lpstr>
      <vt:lpstr>Demographics</vt:lpstr>
      <vt:lpstr>Demographics</vt:lpstr>
      <vt:lpstr>Demographics</vt:lpstr>
      <vt:lpstr>Demographics</vt:lpstr>
      <vt:lpstr>Demographics</vt:lpstr>
      <vt:lpstr>Methodology</vt:lpstr>
      <vt:lpstr>Contact Us</vt:lpstr>
    </vt:vector>
  </TitlesOfParts>
  <Manager/>
  <Company>ccr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Austin Energy _ LIW</dc:title>
  <dc:subject/>
  <dc:creator>Richard Cisneros</dc:creator>
  <cp:keywords>Austin Energy</cp:keywords>
  <dc:description/>
  <cp:lastModifiedBy>pat escalona</cp:lastModifiedBy>
  <cp:revision>14</cp:revision>
  <cp:lastPrinted>2025-12-10T19:29:18Z</cp:lastPrinted>
  <dcterms:created xsi:type="dcterms:W3CDTF">2004-11-29T14:50:58Z</dcterms:created>
  <dcterms:modified xsi:type="dcterms:W3CDTF">2025-12-11T13:56:18Z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0x0101005B65558C4126594098843BB8409C1AC7</vt:lpwstr>
  </property>
</Properties>
</file>