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s/modernComment_254_66F63346.xml" ContentType="application/vnd.ms-powerpoint.comments+xml"/>
  <Override PartName="/ppt/drawings/drawing1.xml" ContentType="application/vnd.openxmlformats-officedocument.drawingml.chartshapes+xml"/>
  <Override PartName="/ppt/drawings/drawing10.xml" ContentType="application/vnd.openxmlformats-officedocument.drawingml.chartshapes+xml"/>
  <Override PartName="/ppt/drawings/drawing11.xml" ContentType="application/vnd.openxmlformats-officedocument.drawingml.chartshapes+xml"/>
  <Override PartName="/ppt/drawings/drawing12.xml" ContentType="application/vnd.openxmlformats-officedocument.drawingml.chartshapes+xml"/>
  <Override PartName="/ppt/drawings/drawing13.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drawings/drawing7.xml" ContentType="application/vnd.openxmlformats-officedocument.drawingml.chartshapes+xml"/>
  <Override PartName="/ppt/drawings/drawing8.xml" ContentType="application/vnd.openxmlformats-officedocument.drawingml.chartshapes+xml"/>
  <Override PartName="/ppt/drawings/drawing9.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9"/>
  </p:notesMasterIdLst>
  <p:handoutMasterIdLst>
    <p:handoutMasterId r:id="rId70"/>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99" r:id="rId56"/>
    <p:sldId id="698" r:id="rId57"/>
    <p:sldId id="707" r:id="rId58"/>
    <p:sldId id="648" r:id="rId59"/>
    <p:sldId id="649" r:id="rId60"/>
    <p:sldId id="672" r:id="rId61"/>
    <p:sldId id="650" r:id="rId62"/>
    <p:sldId id="656" r:id="rId63"/>
    <p:sldId id="673" r:id="rId64"/>
    <p:sldId id="687" r:id="rId65"/>
    <p:sldId id="676" r:id="rId66"/>
    <p:sldId id="596" r:id="rId67"/>
    <p:sldId id="659" r:id="rId68"/>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8F3"/>
    <a:srgbClr val="4F81BD"/>
    <a:srgbClr val="DDE7F2"/>
    <a:srgbClr val="FFC003"/>
    <a:srgbClr val="00CC99"/>
    <a:srgbClr val="3233CC"/>
    <a:srgbClr val="00CC9A"/>
    <a:srgbClr val="FFC000"/>
    <a:srgbClr val="0F6FC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788E0-DD99-394A-976F-F781DC18E593}" v="4" dt="2025-12-11T19:50:11.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024"/>
    <p:restoredTop sz="94694"/>
  </p:normalViewPr>
  <p:slideViewPr>
    <p:cSldViewPr snapToGrid="0">
      <p:cViewPr varScale="1">
        <p:scale>
          <a:sx n="102" d="100"/>
          <a:sy n="102" d="100"/>
        </p:scale>
        <p:origin x="176" y="536"/>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microsoft.com/office/2016/11/relationships/changesInfo" Target="changesInfos/changesInfo1.xml"/><Relationship Id="rId76" Type="http://schemas.microsoft.com/office/2015/10/relationships/revisionInfo" Target="revisionInfo.xml"/><Relationship Id="rId7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escalona" userId="9d691d3bd590836a" providerId="LiveId" clId="{5B771B3E-A80B-565C-A31D-48307992B49D}"/>
    <pc:docChg chg="modSld">
      <pc:chgData name="pat escalona" userId="9d691d3bd590836a" providerId="LiveId" clId="{5B771B3E-A80B-565C-A31D-48307992B49D}" dt="2025-12-11T19:50:11.253" v="3" actId="27918"/>
      <pc:docMkLst>
        <pc:docMk/>
      </pc:docMkLst>
      <pc:sldChg chg="mod">
        <pc:chgData name="pat escalona" userId="9d691d3bd590836a" providerId="LiveId" clId="{5B771B3E-A80B-565C-A31D-48307992B49D}" dt="2025-12-11T19:49:58.451" v="1" actId="27918"/>
        <pc:sldMkLst>
          <pc:docMk/>
          <pc:sldMk cId="3475746221" sldId="645"/>
        </pc:sldMkLst>
      </pc:sldChg>
      <pc:sldChg chg="mod">
        <pc:chgData name="pat escalona" userId="9d691d3bd590836a" providerId="LiveId" clId="{5B771B3E-A80B-565C-A31D-48307992B49D}" dt="2025-12-11T19:50:11.253" v="3" actId="27918"/>
        <pc:sldMkLst>
          <pc:docMk/>
          <pc:sldMk cId="2803606299" sldId="69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 Id="rId2"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 Id="rId2" Type="http://schemas.openxmlformats.org/officeDocument/2006/relationships/chartUserShapes" Target="../drawings/drawing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 Id="rId2" Type="http://schemas.openxmlformats.org/officeDocument/2006/relationships/chartUserShapes" Target="../drawings/drawing5.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 Id="rId2"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 Id="rId2" Type="http://schemas.openxmlformats.org/officeDocument/2006/relationships/chartUserShapes" Target="../drawings/drawing10.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 Id="rId2" Type="http://schemas.openxmlformats.org/officeDocument/2006/relationships/chartUserShapes" Target="../drawings/drawing11.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 Id="rId2" Type="http://schemas.openxmlformats.org/officeDocument/2006/relationships/chartUserShapes" Target="../drawings/drawing12.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 Id="rId2" Type="http://schemas.openxmlformats.org/officeDocument/2006/relationships/chartUserShapes" Target="../drawings/drawing13.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Sheet1!$B$2:$B$3</c:f>
              <c:numCache>
                <c:formatCode>0%</c:formatCode>
                <c:ptCount val="2"/>
                <c:pt idx="0">
                  <c:v>0.24242424242424243</c:v>
                </c:pt>
                <c:pt idx="1">
                  <c:v>0.7575757575757576</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0.06666666666666667</c:v>
                </c:pt>
                <c:pt idx="1">
                  <c:v>0.8</c:v>
                </c:pt>
                <c:pt idx="2">
                  <c:v>0.13333333333333333</c:v>
                </c:pt>
              </c:numCache>
            </c:numRef>
          </c:val>
          <c:extLst>
            <c:ext xmlns:c16="http://schemas.microsoft.com/office/drawing/2014/chart" uri="{C3380CC4-5D6E-409C-BE32-E72D297353CC}">
              <c16:uniqueId val="{00000001-5341-4021-8530-F4858413767C}"/>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Sheet1!$D$2:$D$4</c:f>
              <c:numCache>
                <c:formatCode>0%</c:formatCode>
                <c:ptCount val="3"/>
                <c:pt idx="0">
                  <c:v>0.043478260869565216</c:v>
                </c:pt>
                <c:pt idx="1">
                  <c:v>0.8260869565217391</c:v>
                </c:pt>
                <c:pt idx="2">
                  <c:v>0.13043478260869565</c:v>
                </c:pt>
              </c:numCache>
            </c:numRef>
          </c:val>
          <c:extLst>
            <c:ext xmlns:c16="http://schemas.microsoft.com/office/drawing/2014/chart" uri="{C3380CC4-5D6E-409C-BE32-E72D297353CC}">
              <c16:uniqueId val="{00000002-5341-4021-8530-F4858413767C}"/>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0.13157894736842105</c:v>
                </c:pt>
                <c:pt idx="1">
                  <c:v>0.6052631578947368</c:v>
                </c:pt>
                <c:pt idx="2">
                  <c:v>0.2631578947368421</c:v>
                </c:pt>
              </c:numCache>
            </c:numRef>
          </c:val>
          <c:extLst>
            <c:ext xmlns:c16="http://schemas.microsoft.com/office/drawing/2014/chart" uri="{C3380CC4-5D6E-409C-BE32-E72D297353CC}">
              <c16:uniqueId val="{00000003-5341-4021-8530-F4858413767C}"/>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0.02222222222222222</c:v>
                </c:pt>
                <c:pt idx="3">
                  <c:v>0.02631578947368421</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1">
                  <c:v>0.04444444444444445</c:v>
                </c:pt>
                <c:pt idx="2">
                  <c:v>0.04347826086956522</c:v>
                </c:pt>
                <c:pt idx="3">
                  <c:v>0.02631578947368421</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0.94</c:v>
                </c:pt>
                <c:pt idx="1">
                  <c:v>0.9111111111111111</c:v>
                </c:pt>
                <c:pt idx="2">
                  <c:v>0.9565217391304348</c:v>
                </c:pt>
                <c:pt idx="3">
                  <c:v>0.9210526315789473</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0.94</c:v>
                </c:pt>
                <c:pt idx="1">
                  <c:v>0.9777777777777777</c:v>
                </c:pt>
                <c:pt idx="2">
                  <c:v>1</c:v>
                </c:pt>
                <c:pt idx="3">
                  <c:v>0.9736842105263157</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Q4 2024
(N=33)</c:v>
                </c:pt>
                <c:pt idx="1">
                  <c:v/>
                </c:pt>
                <c:pt idx="2">
                  <c:v/>
                </c:pt>
                <c:pt idx="3">
                  <c:v/>
                </c:pt>
                <c:pt idx="4">
                  <c:v/>
                </c:pt>
                <c:pt idx="5">
                  <c:v/>
                </c:pt>
                <c:pt idx="6">
                  <c:v/>
                </c:pt>
                <c:pt idx="7">
                  <c:v/>
                </c:pt>
                <c:pt idx="8">
                  <c:v/>
                </c:pt>
                <c:pt idx="9">
                  <c:v/>
                </c:pt>
                <c:pt idx="10">
                  <c:v/>
                </c:pt>
                <c:pt idx="11">
                  <c:v>Q1 2025
(N=45)</c:v>
                </c:pt>
                <c:pt idx="12">
                  <c:v>Q2 2025
(N=46)</c:v>
                </c:pt>
                <c:pt idx="13">
                  <c:v>Q3 2025
(N=38)</c:v>
                </c:pt>
              </c:strCache>
            </c:strRef>
          </c:cat>
          <c:val>
            <c:numRef>
              <c:f>Sheet1!$B$2:$B$15</c:f>
              <c:numCache>
                <c:formatCode>0%</c:formatCode>
                <c:ptCount val="14"/>
                <c:pt idx="0">
                  <c:v>0.1212121212121212</c:v>
                </c:pt>
                <c:pt idx="11">
                  <c:v>0.1111111111111111</c:v>
                </c:pt>
                <c:pt idx="12">
                  <c:v>0.1304347826086956</c:v>
                </c:pt>
                <c:pt idx="13">
                  <c:v>0.15789473684210525</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Q4 2024
(N=33)</c:v>
                </c:pt>
                <c:pt idx="1">
                  <c:v/>
                </c:pt>
                <c:pt idx="2">
                  <c:v/>
                </c:pt>
                <c:pt idx="3">
                  <c:v/>
                </c:pt>
                <c:pt idx="4">
                  <c:v/>
                </c:pt>
                <c:pt idx="5">
                  <c:v/>
                </c:pt>
                <c:pt idx="6">
                  <c:v/>
                </c:pt>
                <c:pt idx="7">
                  <c:v/>
                </c:pt>
                <c:pt idx="8">
                  <c:v/>
                </c:pt>
                <c:pt idx="9">
                  <c:v/>
                </c:pt>
                <c:pt idx="10">
                  <c:v/>
                </c:pt>
                <c:pt idx="11">
                  <c:v>Q1 2025
(N=45)</c:v>
                </c:pt>
                <c:pt idx="12">
                  <c:v>Q2 2025
(N=46)</c:v>
                </c:pt>
                <c:pt idx="13">
                  <c:v>Q3 2025
(N=38)</c:v>
                </c:pt>
              </c:strCache>
            </c:strRef>
          </c:cat>
          <c:val>
            <c:numRef>
              <c:f>Sheet1!$C$2:$C$15</c:f>
              <c:numCache>
                <c:formatCode>0%</c:formatCode>
                <c:ptCount val="14"/>
                <c:pt idx="0">
                  <c:v>0.06060606060606061</c:v>
                </c:pt>
                <c:pt idx="11">
                  <c:v>0.1111111111111111</c:v>
                </c:pt>
                <c:pt idx="12">
                  <c:v>0.06521739130434782</c:v>
                </c:pt>
                <c:pt idx="13">
                  <c:v>0.07894736842105263</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Q4 2024
(N=33)</c:v>
                </c:pt>
                <c:pt idx="1">
                  <c:v/>
                </c:pt>
                <c:pt idx="2">
                  <c:v/>
                </c:pt>
                <c:pt idx="3">
                  <c:v/>
                </c:pt>
                <c:pt idx="4">
                  <c:v/>
                </c:pt>
                <c:pt idx="5">
                  <c:v/>
                </c:pt>
                <c:pt idx="6">
                  <c:v/>
                </c:pt>
                <c:pt idx="7">
                  <c:v/>
                </c:pt>
                <c:pt idx="8">
                  <c:v/>
                </c:pt>
                <c:pt idx="9">
                  <c:v/>
                </c:pt>
                <c:pt idx="10">
                  <c:v/>
                </c:pt>
                <c:pt idx="11">
                  <c:v>Q1 2025
(N=45)</c:v>
                </c:pt>
                <c:pt idx="12">
                  <c:v>Q2 2025
(N=46)</c:v>
                </c:pt>
                <c:pt idx="13">
                  <c:v>Q3 2025
(N=38)</c:v>
                </c:pt>
              </c:strCache>
            </c:strRef>
          </c:cat>
          <c:val>
            <c:numRef>
              <c:f>Sheet1!$D$2:$D$15</c:f>
              <c:numCache>
                <c:formatCode>0%</c:formatCode>
                <c:ptCount val="14"/>
                <c:pt idx="0">
                  <c:v>0.4848484848484849</c:v>
                </c:pt>
                <c:pt idx="11">
                  <c:v>0.5111111111111111</c:v>
                </c:pt>
                <c:pt idx="12">
                  <c:v>0.6956521739130435</c:v>
                </c:pt>
                <c:pt idx="13">
                  <c:v>0.5526315789473685</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Q4 2024
(N=33)</c:v>
                </c:pt>
                <c:pt idx="1">
                  <c:v/>
                </c:pt>
                <c:pt idx="2">
                  <c:v/>
                </c:pt>
                <c:pt idx="3">
                  <c:v/>
                </c:pt>
                <c:pt idx="4">
                  <c:v/>
                </c:pt>
                <c:pt idx="5">
                  <c:v/>
                </c:pt>
                <c:pt idx="6">
                  <c:v/>
                </c:pt>
                <c:pt idx="7">
                  <c:v/>
                </c:pt>
                <c:pt idx="8">
                  <c:v/>
                </c:pt>
                <c:pt idx="9">
                  <c:v/>
                </c:pt>
                <c:pt idx="10">
                  <c:v/>
                </c:pt>
                <c:pt idx="11">
                  <c:v>Q1 2025
(N=45)</c:v>
                </c:pt>
                <c:pt idx="12">
                  <c:v>Q2 2025
(N=46)</c:v>
                </c:pt>
                <c:pt idx="13">
                  <c:v>Q3 2025
(N=38)</c:v>
                </c:pt>
              </c:strCache>
            </c:strRef>
          </c:cat>
          <c:val>
            <c:numRef>
              <c:f>Sheet1!$E$2:$E$15</c:f>
              <c:numCache>
                <c:formatCode>0%</c:formatCode>
                <c:ptCount val="14"/>
                <c:pt idx="0">
                  <c:v>0.66</c:v>
                </c:pt>
              </c:numCache>
            </c:numRef>
          </c:val>
          <c:extLst>
            <c:ext xmlns:c16="http://schemas.microsoft.com/office/drawing/2014/chart" uri="{C3380CC4-5D6E-409C-BE32-E72D297353CC}">
              <c16:uniqueId val="{00000004-BA82-4646-B133-ACCBD878F7F2}"/>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Q4 2024
(N=33)</c:v>
                </c:pt>
                <c:pt idx="1">
                  <c:v/>
                </c:pt>
                <c:pt idx="2">
                  <c:v/>
                </c:pt>
                <c:pt idx="3">
                  <c:v/>
                </c:pt>
                <c:pt idx="4">
                  <c:v/>
                </c:pt>
                <c:pt idx="5">
                  <c:v/>
                </c:pt>
                <c:pt idx="6">
                  <c:v/>
                </c:pt>
                <c:pt idx="7">
                  <c:v/>
                </c:pt>
                <c:pt idx="8">
                  <c:v/>
                </c:pt>
                <c:pt idx="9">
                  <c:v/>
                </c:pt>
                <c:pt idx="10">
                  <c:v/>
                </c:pt>
                <c:pt idx="11">
                  <c:v>Q1 2025
(N=45)</c:v>
                </c:pt>
                <c:pt idx="12">
                  <c:v>Q2 2025
(N=46)</c:v>
                </c:pt>
                <c:pt idx="13">
                  <c:v>Q3 2025
(N=38)</c:v>
                </c:pt>
              </c:strCache>
            </c:strRef>
          </c:cat>
          <c:val>
            <c:numRef>
              <c:f>Sheet1!$F$2:$F$15</c:f>
              <c:numCache>
                <c:formatCode>0%</c:formatCode>
                <c:ptCount val="14"/>
                <c:pt idx="11">
                  <c:v>0.7333333333333333</c:v>
                </c:pt>
                <c:pt idx="12">
                  <c:v>0.8913043478260869</c:v>
                </c:pt>
                <c:pt idx="13">
                  <c:v>0.7894736842105263</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2.0</c:v>
                </c:pt>
                <c:pt idx="1">
                  <c:v>14.0</c:v>
                </c:pt>
                <c:pt idx="2">
                  <c:v>11.0</c:v>
                </c:pt>
                <c:pt idx="3">
                  <c:v>6.0</c:v>
                </c:pt>
                <c:pt idx="4">
                  <c:v>1.0</c:v>
                </c:pt>
                <c:pt idx="5">
                  <c:v>5.0</c:v>
                </c:pt>
                <c:pt idx="6">
                  <c:v>6.0</c:v>
                </c:pt>
                <c:pt idx="7">
                  <c:v>20.0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2.0</c:v>
                </c:pt>
                <c:pt idx="1">
                  <c:v>15.0</c:v>
                </c:pt>
                <c:pt idx="2">
                  <c:v>15.0</c:v>
                </c:pt>
                <c:pt idx="3">
                  <c:v>8.0</c:v>
                </c:pt>
                <c:pt idx="4">
                  <c:v>0.0</c:v>
                </c:pt>
                <c:pt idx="5">
                  <c:v>6.0</c:v>
                </c:pt>
                <c:pt idx="6">
                  <c:v>6.0</c:v>
                </c:pt>
                <c:pt idx="7">
                  <c:v>30.0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4.0</c:v>
                </c:pt>
                <c:pt idx="1">
                  <c:v>13.0</c:v>
                </c:pt>
                <c:pt idx="2">
                  <c:v>21.0</c:v>
                </c:pt>
                <c:pt idx="3">
                  <c:v>7.0</c:v>
                </c:pt>
                <c:pt idx="4">
                  <c:v>1.0</c:v>
                </c:pt>
                <c:pt idx="5">
                  <c:v>4.0</c:v>
                </c:pt>
                <c:pt idx="6">
                  <c:v>10.0</c:v>
                </c:pt>
                <c:pt idx="7">
                  <c:v>29.0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Q3 2025
(N=38)</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7</c:v>
                </c:pt>
                <c:pt idx="2">
                  <c:v>18</c:v>
                </c:pt>
                <c:pt idx="3">
                  <c:v>10</c:v>
                </c:pt>
                <c:pt idx="4">
                  <c:v>0</c:v>
                </c:pt>
                <c:pt idx="5">
                  <c:v>1</c:v>
                </c:pt>
                <c:pt idx="6">
                  <c:v>4</c:v>
                </c:pt>
                <c:pt idx="7">
                  <c:v>33</c:v>
                </c:pt>
              </c:numCache>
            </c:numRef>
          </c:val>
          <c:extLst>
            <c:ext xmlns:c16="http://schemas.microsoft.com/office/drawing/2014/chart" uri="{C3380CC4-5D6E-409C-BE32-E72D297353CC}">
              <c16:uniqueId val="{00000005-228A-4467-BB3A-D385FE43A01E}"/>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4.0</c:v>
                </c:pt>
                <c:pt idx="2">
                  <c:v>13.0</c:v>
                </c:pt>
                <c:pt idx="3">
                  <c:v>11.0</c:v>
                </c:pt>
                <c:pt idx="4">
                  <c:v>9.0</c:v>
                </c:pt>
                <c:pt idx="5">
                  <c:v>15.0</c:v>
                </c:pt>
                <c:pt idx="6">
                  <c:v>2.0</c:v>
                </c:pt>
                <c:pt idx="7">
                  <c:v>6.0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c:v>
                </c:pt>
                <c:pt idx="1">
                  <c:v>11.0</c:v>
                </c:pt>
                <c:pt idx="2">
                  <c:v>10.0</c:v>
                </c:pt>
                <c:pt idx="3">
                  <c:v>18.0</c:v>
                </c:pt>
                <c:pt idx="4">
                  <c:v>7.0</c:v>
                </c:pt>
                <c:pt idx="5">
                  <c:v>20.0</c:v>
                </c:pt>
                <c:pt idx="6">
                  <c:v>1.0</c:v>
                </c:pt>
                <c:pt idx="7">
                  <c:v>16.0</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2.0</c:v>
                </c:pt>
                <c:pt idx="1">
                  <c:v>5.0</c:v>
                </c:pt>
                <c:pt idx="2">
                  <c:v>11.0</c:v>
                </c:pt>
                <c:pt idx="3">
                  <c:v>21.0</c:v>
                </c:pt>
                <c:pt idx="4">
                  <c:v>15.0</c:v>
                </c:pt>
                <c:pt idx="5">
                  <c:v>17.0</c:v>
                </c:pt>
                <c:pt idx="6">
                  <c:v>1.0</c:v>
                </c:pt>
                <c:pt idx="7">
                  <c:v>13.0</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Q3 2025
(N=38)</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0</c:v>
                </c:pt>
                <c:pt idx="1">
                  <c:v>4</c:v>
                </c:pt>
                <c:pt idx="2">
                  <c:v>9</c:v>
                </c:pt>
                <c:pt idx="3">
                  <c:v>19</c:v>
                </c:pt>
                <c:pt idx="4">
                  <c:v>14</c:v>
                </c:pt>
                <c:pt idx="5">
                  <c:v>6</c:v>
                </c:pt>
                <c:pt idx="6">
                  <c:v>1</c:v>
                </c:pt>
                <c:pt idx="7">
                  <c:v>16</c:v>
                </c:pt>
              </c:numCache>
            </c:numRef>
          </c:val>
          <c:extLst>
            <c:ext xmlns:c16="http://schemas.microsoft.com/office/drawing/2014/chart" uri="{C3380CC4-5D6E-409C-BE32-E72D297353CC}">
              <c16:uniqueId val="{00000005-6C66-4CAF-81AB-F70542D9BDB7}"/>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19.0</c:v>
                </c:pt>
                <c:pt idx="2">
                  <c:v>4.0</c:v>
                </c:pt>
                <c:pt idx="3">
                  <c:v>6.0</c:v>
                </c:pt>
                <c:pt idx="4">
                  <c:v>22.0</c:v>
                </c:pt>
                <c:pt idx="5">
                  <c:v>8.0</c:v>
                </c:pt>
                <c:pt idx="6">
                  <c:v>3.0</c:v>
                </c:pt>
                <c:pt idx="7">
                  <c:v>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3.0</c:v>
                </c:pt>
                <c:pt idx="1">
                  <c:v>23.0</c:v>
                </c:pt>
                <c:pt idx="2">
                  <c:v>3.0</c:v>
                </c:pt>
                <c:pt idx="3">
                  <c:v>14.0</c:v>
                </c:pt>
                <c:pt idx="4">
                  <c:v>33.0</c:v>
                </c:pt>
                <c:pt idx="5">
                  <c:v>6.0</c:v>
                </c:pt>
                <c:pt idx="6">
                  <c:v>1.0</c:v>
                </c:pt>
                <c:pt idx="7">
                  <c:v>3.0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1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5.0</c:v>
                </c:pt>
                <c:pt idx="1">
                  <c:v>23.0</c:v>
                </c:pt>
                <c:pt idx="2">
                  <c:v>2.0</c:v>
                </c:pt>
                <c:pt idx="3">
                  <c:v>15.0</c:v>
                </c:pt>
                <c:pt idx="4">
                  <c:v>31.0</c:v>
                </c:pt>
                <c:pt idx="5">
                  <c:v>10.0</c:v>
                </c:pt>
                <c:pt idx="6">
                  <c:v>1.0</c:v>
                </c:pt>
                <c:pt idx="7">
                  <c:v>4.0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4</c:v>
                </c:pt>
                <c:pt idx="1">
                  <c:v>4</c:v>
                </c:pt>
                <c:pt idx="2">
                  <c:v>4</c:v>
                </c:pt>
                <c:pt idx="3">
                  <c:v>25</c:v>
                </c:pt>
                <c:pt idx="4">
                  <c:v>31</c:v>
                </c:pt>
                <c:pt idx="5">
                  <c:v>3</c:v>
                </c:pt>
                <c:pt idx="6">
                  <c:v>1</c:v>
                </c:pt>
                <c:pt idx="7">
                  <c:v>2</c:v>
                </c:pt>
              </c:numCache>
            </c:numRef>
          </c:val>
          <c:extLst>
            <c:ext xmlns:c16="http://schemas.microsoft.com/office/drawing/2014/chart" uri="{C3380CC4-5D6E-409C-BE32-E72D297353CC}">
              <c16:uniqueId val="{00000000-4866-694C-B315-C018B2EC4AE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6.0</c:v>
                </c:pt>
                <c:pt idx="1">
                  <c:v>16.0</c:v>
                </c:pt>
                <c:pt idx="2">
                  <c:v>1.0</c:v>
                </c:pt>
                <c:pt idx="3">
                  <c:v>9.0</c:v>
                </c:pt>
                <c:pt idx="4">
                  <c:v>20.0</c:v>
                </c:pt>
                <c:pt idx="5">
                  <c:v>11.0</c:v>
                </c:pt>
                <c:pt idx="6">
                  <c:v>0.0</c:v>
                </c:pt>
                <c:pt idx="7">
                  <c:v>1.0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7.0</c:v>
                </c:pt>
                <c:pt idx="1">
                  <c:v>14.0</c:v>
                </c:pt>
                <c:pt idx="2">
                  <c:v>1.0</c:v>
                </c:pt>
                <c:pt idx="3">
                  <c:v>23.0</c:v>
                </c:pt>
                <c:pt idx="4">
                  <c:v>29.0</c:v>
                </c:pt>
                <c:pt idx="5">
                  <c:v>10.0</c:v>
                </c:pt>
                <c:pt idx="6">
                  <c:v>1.0</c:v>
                </c:pt>
                <c:pt idx="7">
                  <c:v>5.0</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10.0</c:v>
                </c:pt>
                <c:pt idx="1">
                  <c:v>14.0</c:v>
                </c:pt>
                <c:pt idx="2">
                  <c:v>0.0</c:v>
                </c:pt>
                <c:pt idx="3">
                  <c:v>21.0</c:v>
                </c:pt>
                <c:pt idx="4">
                  <c:v>21.0</c:v>
                </c:pt>
                <c:pt idx="5">
                  <c:v>6.0</c:v>
                </c:pt>
                <c:pt idx="6">
                  <c:v>0.0</c:v>
                </c:pt>
                <c:pt idx="7">
                  <c:v>18.0</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Q3 2025
(N=38)</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9</c:v>
                </c:pt>
                <c:pt idx="1">
                  <c:v>5</c:v>
                </c:pt>
                <c:pt idx="2">
                  <c:v>0</c:v>
                </c:pt>
                <c:pt idx="3">
                  <c:v>24</c:v>
                </c:pt>
                <c:pt idx="4">
                  <c:v>26</c:v>
                </c:pt>
                <c:pt idx="5">
                  <c:v>2</c:v>
                </c:pt>
                <c:pt idx="6">
                  <c:v>1</c:v>
                </c:pt>
                <c:pt idx="7">
                  <c:v>9</c:v>
                </c:pt>
              </c:numCache>
            </c:numRef>
          </c:val>
          <c:extLst>
            <c:ext xmlns:c16="http://schemas.microsoft.com/office/drawing/2014/chart" uri="{C3380CC4-5D6E-409C-BE32-E72D297353CC}">
              <c16:uniqueId val="{00000003-A189-4DD3-B104-E94BF8E7B46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16.0</c:v>
                </c:pt>
                <c:pt idx="1">
                  <c:v>7.0</c:v>
                </c:pt>
                <c:pt idx="2">
                  <c:v>0.0</c:v>
                </c:pt>
                <c:pt idx="3">
                  <c:v>9.0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11.0</c:v>
                </c:pt>
                <c:pt idx="1">
                  <c:v>18.0</c:v>
                </c:pt>
                <c:pt idx="2">
                  <c:v>1.0</c:v>
                </c:pt>
                <c:pt idx="3">
                  <c:v>14.0</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20.0</c:v>
                </c:pt>
                <c:pt idx="1">
                  <c:v>11.0</c:v>
                </c:pt>
                <c:pt idx="2">
                  <c:v>0.0</c:v>
                </c:pt>
                <c:pt idx="3">
                  <c:v>14.0</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Q3 2025
(N=38)</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14</c:v>
                </c:pt>
                <c:pt idx="1">
                  <c:v>4</c:v>
                </c:pt>
                <c:pt idx="2">
                  <c:v>1</c:v>
                </c:pt>
                <c:pt idx="3">
                  <c:v>18</c:v>
                </c:pt>
              </c:numCache>
            </c:numRef>
          </c:val>
          <c:extLst>
            <c:ext xmlns:c16="http://schemas.microsoft.com/office/drawing/2014/chart" uri="{C3380CC4-5D6E-409C-BE32-E72D297353CC}">
              <c16:uniqueId val="{00000005-2D8F-4DC4-8B87-B0638A575DEB}"/>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Q4 2024
(N=33)</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Q1 2025
(N=45)</c:v>
                </c:pt>
                <c:pt idx="19">
                  <c:v>Q2 2025
(N=46)</c:v>
                </c:pt>
                <c:pt idx="20">
                  <c:v>Q3 2025
(N=38)</c:v>
                </c:pt>
              </c:strCache>
            </c:strRef>
          </c:cat>
          <c:val>
            <c:numRef>
              <c:f>Sheet1!$B$2:$B$22</c:f>
              <c:numCache>
                <c:formatCode>0%</c:formatCode>
                <c:ptCount val="21"/>
                <c:pt idx="18">
                  <c:v>0.08888888888888889</c:v>
                </c:pt>
                <c:pt idx="19">
                  <c:v>0.02173913043478261</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Q4 2024
(N=33)</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Q1 2025
(N=45)</c:v>
                </c:pt>
                <c:pt idx="19">
                  <c:v>Q2 2025
(N=46)</c:v>
                </c:pt>
                <c:pt idx="20">
                  <c:v>Q3 2025
(N=38)</c:v>
                </c:pt>
              </c:strCache>
            </c:strRef>
          </c:cat>
          <c:val>
            <c:numRef>
              <c:f>Sheet1!$C$2:$C$22</c:f>
              <c:numCache>
                <c:formatCode>0%</c:formatCode>
                <c:ptCount val="21"/>
                <c:pt idx="0">
                  <c:v>0.06060606060606061</c:v>
                </c:pt>
                <c:pt idx="18">
                  <c:v>0.1111111111111111</c:v>
                </c:pt>
                <c:pt idx="19">
                  <c:v>0.108695652173913</c:v>
                </c:pt>
                <c:pt idx="20">
                  <c:v>0.02631578947368421</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Q4 2024
(N=33)</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Q1 2025
(N=45)</c:v>
                </c:pt>
                <c:pt idx="19">
                  <c:v>Q2 2025
(N=46)</c:v>
                </c:pt>
                <c:pt idx="20">
                  <c:v>Q3 2025
(N=38)</c:v>
                </c:pt>
              </c:strCache>
            </c:strRef>
          </c:cat>
          <c:val>
            <c:numRef>
              <c:f>Sheet1!$D$2:$D$22</c:f>
              <c:numCache>
                <c:formatCode>0%</c:formatCode>
                <c:ptCount val="21"/>
                <c:pt idx="0">
                  <c:v>0.8181818181818183</c:v>
                </c:pt>
                <c:pt idx="18">
                  <c:v>0.7555555555555555</c:v>
                </c:pt>
                <c:pt idx="19">
                  <c:v>0.8260869565217391</c:v>
                </c:pt>
                <c:pt idx="20">
                  <c:v>0.8157894736842105</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Q4 2024
(N=33)</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Q1 2025
(N=45)</c:v>
                </c:pt>
                <c:pt idx="19">
                  <c:v>Q2 2025
(N=46)</c:v>
                </c:pt>
                <c:pt idx="20">
                  <c:v>Q3 2025
(N=38)</c:v>
                </c:pt>
              </c:strCache>
            </c:strRef>
          </c:cat>
          <c:val>
            <c:numRef>
              <c:f>Sheet1!$E$2:$E$22</c:f>
              <c:numCache>
                <c:formatCode>0%</c:formatCode>
                <c:ptCount val="21"/>
                <c:pt idx="0">
                  <c:v>0.88</c:v>
                </c:pt>
              </c:numCache>
            </c:numRef>
          </c:val>
          <c:extLst>
            <c:ext xmlns:c16="http://schemas.microsoft.com/office/drawing/2014/chart" uri="{C3380CC4-5D6E-409C-BE32-E72D297353CC}">
              <c16:uniqueId val="{00000004-33C6-46D0-A451-9992BB76C127}"/>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Q4 2024
(N=33)</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Q1 2025
(N=45)</c:v>
                </c:pt>
                <c:pt idx="19">
                  <c:v>Q2 2025
(N=46)</c:v>
                </c:pt>
                <c:pt idx="20">
                  <c:v>Q3 2025
(N=38)</c:v>
                </c:pt>
              </c:strCache>
            </c:strRef>
          </c:cat>
          <c:val>
            <c:numRef>
              <c:f>Sheet1!$F$2:$F$22</c:f>
              <c:numCache>
                <c:formatCode>0%</c:formatCode>
                <c:ptCount val="21"/>
                <c:pt idx="18">
                  <c:v>0.9555555555555555</c:v>
                </c:pt>
                <c:pt idx="19">
                  <c:v>0.9565217391304348</c:v>
                </c:pt>
                <c:pt idx="20">
                  <c:v>0.8421052631578947</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Sheet1!$B$2:$B$3</c:f>
              <c:numCache>
                <c:formatCode>0%</c:formatCode>
                <c:ptCount val="2"/>
                <c:pt idx="0">
                  <c:v>0.9090909090909091</c:v>
                </c:pt>
                <c:pt idx="1">
                  <c:v>0.09090909090909091</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0.9555555555555556</c:v>
                </c:pt>
                <c:pt idx="1">
                  <c:v>0.022222222222222223</c:v>
                </c:pt>
                <c:pt idx="2">
                  <c:v>0.022222222222222223</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Q2 2025
(N=46)</c:v>
                </c:pt>
              </c:strCache>
            </c:strRef>
          </c:tx>
          <c:spPr>
            <a:solidFill>
              <a:srgbClr val="00CC99"/>
            </a:solidFill>
          </c:spPr>
          <c:invertIfNegative val="0"/>
          <c:dLbls>
            <c:dLbl>
              <c:idx val="0"/>
              <c:layout>
                <c:manualLayout>
                  <c:x val="3.759398496240567E-3"/>
                  <c:y val="-2.33463035019455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Sheet1!$D$2:$D$3</c:f>
              <c:numCache>
                <c:formatCode>0%</c:formatCode>
                <c:ptCount val="2"/>
                <c:pt idx="0">
                  <c:v>0.9782608695652174</c:v>
                </c:pt>
                <c:pt idx="1">
                  <c:v>0.021739130434782608</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Q3 2025
(N=38)</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Sheet1!$E$2:$E$3</c:f>
              <c:numCache>
                <c:formatCode>0%</c:formatCode>
                <c:ptCount val="2"/>
                <c:pt idx="0">
                  <c:v>0.9473684210526315</c:v>
                </c:pt>
                <c:pt idx="1">
                  <c:v>0.05263157894736842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0.06060606060606061</c:v>
                </c:pt>
                <c:pt idx="1">
                  <c:v>0.044444444444444446</c:v>
                </c:pt>
                <c:pt idx="2">
                  <c:v>0.10869565217391304</c:v>
                </c:pt>
                <c:pt idx="3">
                  <c:v>0.07894736842105263</c:v>
                </c:pt>
                <c:pt idx="5">
                  <c:v>0.044444444444444446</c:v>
                </c:pt>
                <c:pt idx="6">
                  <c:v>0.043478260869565216</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0.15151515151515152</c:v>
                </c:pt>
                <c:pt idx="1">
                  <c:v>0.13333333333333333</c:v>
                </c:pt>
                <c:pt idx="2">
                  <c:v>0.021739130434782608</c:v>
                </c:pt>
                <c:pt idx="3">
                  <c:v>0.07894736842105263</c:v>
                </c:pt>
                <c:pt idx="4">
                  <c:v>0.09090909090909093</c:v>
                </c:pt>
                <c:pt idx="5">
                  <c:v>0.06666666666666667</c:v>
                </c:pt>
                <c:pt idx="6">
                  <c:v>0.08695652173913043</c:v>
                </c:pt>
                <c:pt idx="7">
                  <c:v>0.15789473684210525</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0.696969696969697</c:v>
                </c:pt>
                <c:pt idx="1">
                  <c:v>0.7333333333333333</c:v>
                </c:pt>
                <c:pt idx="2">
                  <c:v>0.7608695652173914</c:v>
                </c:pt>
                <c:pt idx="3">
                  <c:v>0.7894736842105263</c:v>
                </c:pt>
                <c:pt idx="4">
                  <c:v>0.8484848484848485</c:v>
                </c:pt>
                <c:pt idx="5">
                  <c:v>0.8444444444444444</c:v>
                </c:pt>
                <c:pt idx="6">
                  <c:v>0.8478260869565217</c:v>
                </c:pt>
                <c:pt idx="7">
                  <c:v>0.8421052631578947</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c:v>
                </c:pt>
                <c:pt idx="1">
                  <c:v>0.9111111111111111</c:v>
                </c:pt>
                <c:pt idx="2">
                  <c:v>0.891304347826087</c:v>
                </c:pt>
                <c:pt idx="3">
                  <c:v>0.9473684210526316</c:v>
                </c:pt>
                <c:pt idx="4">
                  <c:v>0.94</c:v>
                </c:pt>
                <c:pt idx="5">
                  <c:v>0.9555555555555555</c:v>
                </c:pt>
                <c:pt idx="6">
                  <c:v>0.9782608695652174</c:v>
                </c:pt>
                <c:pt idx="7">
                  <c:v>1.0</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0.09090909090909093</c:v>
                </c:pt>
                <c:pt idx="1">
                  <c:v>0.06666666666666667</c:v>
                </c:pt>
                <c:pt idx="2">
                  <c:v>0.043478260869565216</c:v>
                </c:pt>
                <c:pt idx="3">
                  <c:v>0.02631578947368421</c:v>
                </c:pt>
                <c:pt idx="4">
                  <c:v>0.030303030303030304</c:v>
                </c:pt>
                <c:pt idx="5">
                  <c:v>0.022222222222222223</c:v>
                </c:pt>
                <c:pt idx="7">
                  <c:v>0.05263157894736842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1">
                  <c:v>0.15555555555555556</c:v>
                </c:pt>
                <c:pt idx="2">
                  <c:v>0.15217391304347827</c:v>
                </c:pt>
                <c:pt idx="3">
                  <c:v>0.18421052631578946</c:v>
                </c:pt>
                <c:pt idx="5">
                  <c:v>0.15555555555555556</c:v>
                </c:pt>
                <c:pt idx="6">
                  <c:v>0.15217391304347827</c:v>
                </c:pt>
                <c:pt idx="7">
                  <c:v>0.13157894736842105</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0.8181818181818183</c:v>
                </c:pt>
                <c:pt idx="1">
                  <c:v>0.7111111111111111</c:v>
                </c:pt>
                <c:pt idx="2">
                  <c:v>0.7608695652173914</c:v>
                </c:pt>
                <c:pt idx="3">
                  <c:v>0.7631578947368421</c:v>
                </c:pt>
                <c:pt idx="4">
                  <c:v>0.8787878787878788</c:v>
                </c:pt>
                <c:pt idx="5">
                  <c:v>0.7555555555555555</c:v>
                </c:pt>
                <c:pt idx="6">
                  <c:v>0.8043478260869565</c:v>
                </c:pt>
                <c:pt idx="7">
                  <c:v>0.7631578947368421</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c:v>
                </c:pt>
                <c:pt idx="1">
                  <c:v>0.9333333333333333</c:v>
                </c:pt>
                <c:pt idx="2">
                  <c:v>0.9565217391304348</c:v>
                </c:pt>
                <c:pt idx="3">
                  <c:v>0.9736842105263158</c:v>
                </c:pt>
                <c:pt idx="4">
                  <c:v>0.91</c:v>
                </c:pt>
                <c:pt idx="5">
                  <c:v>0.9333333333333333</c:v>
                </c:pt>
                <c:pt idx="6">
                  <c:v>0.9565217391304348</c:v>
                </c:pt>
                <c:pt idx="7">
                  <c:v>0.9473684210526316</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0.06666666666666667</c:v>
                </c:pt>
                <c:pt idx="2">
                  <c:v>0.021739130434782608</c:v>
                </c:pt>
                <c:pt idx="3">
                  <c:v>0.07894736842105263</c:v>
                </c:pt>
                <c:pt idx="4">
                  <c:v>0.030303030303030304</c:v>
                </c:pt>
                <c:pt idx="5">
                  <c:v>0.06666666666666667</c:v>
                </c:pt>
                <c:pt idx="6">
                  <c:v>0.043478260869565216</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0.13333333333333333</c:v>
                </c:pt>
                <c:pt idx="2">
                  <c:v>0.06521739130434782</c:v>
                </c:pt>
                <c:pt idx="3">
                  <c:v>0.10526315789473684</c:v>
                </c:pt>
                <c:pt idx="4">
                  <c:v>0.06060606060606061</c:v>
                </c:pt>
                <c:pt idx="5">
                  <c:v>0.2222222222222222</c:v>
                </c:pt>
                <c:pt idx="6">
                  <c:v>0.1956521739130435</c:v>
                </c:pt>
                <c:pt idx="7">
                  <c:v>0.23684210526315788</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0.7111111111111111</c:v>
                </c:pt>
                <c:pt idx="2">
                  <c:v>0.8913043478260869</c:v>
                </c:pt>
                <c:pt idx="3">
                  <c:v>0.8157894736842105</c:v>
                </c:pt>
                <c:pt idx="4">
                  <c:v>0.8484848484848485</c:v>
                </c:pt>
                <c:pt idx="5">
                  <c:v>0.6444444444444445</c:v>
                </c:pt>
                <c:pt idx="6">
                  <c:v>0.6956521739130435</c:v>
                </c:pt>
                <c:pt idx="7">
                  <c:v>0.6578947368421053</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0.9111111111111112</c:v>
                </c:pt>
                <c:pt idx="2">
                  <c:v>0.9782608695652173</c:v>
                </c:pt>
                <c:pt idx="3">
                  <c:v>1.0</c:v>
                </c:pt>
                <c:pt idx="4">
                  <c:v>0.94</c:v>
                </c:pt>
                <c:pt idx="5">
                  <c:v>0.9333333333333333</c:v>
                </c:pt>
                <c:pt idx="6">
                  <c:v>0.9347826086956521</c:v>
                </c:pt>
                <c:pt idx="7">
                  <c:v>0.8947368421052632</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0.696969696969697</c:v>
                </c:pt>
                <c:pt idx="1">
                  <c:v>0.06060606060606061</c:v>
                </c:pt>
                <c:pt idx="2">
                  <c:v>0.24242424242424243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0.4888888888888889</c:v>
                </c:pt>
                <c:pt idx="1">
                  <c:v>0.06666666666666667</c:v>
                </c:pt>
                <c:pt idx="2">
                  <c:v>0.4444444444444444</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0.717391304347826</c:v>
                </c:pt>
                <c:pt idx="1">
                  <c:v>0.021739130434782608</c:v>
                </c:pt>
                <c:pt idx="2">
                  <c:v>0.2608695652173913</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0.5789473684210527</c:v>
                </c:pt>
                <c:pt idx="1">
                  <c:v>0.07894736842105263</c:v>
                </c:pt>
                <c:pt idx="2">
                  <c:v>0.34210526315789475</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18460807530637618"/>
          <c:y val="1.0785303876998281E-2"/>
          <c:w val="0.60640370611568284"/>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(n=25)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0.84</c:v>
                </c:pt>
                <c:pt idx="1">
                  <c:v>0.16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Sheet1!$C$2:$C$4</c:f>
              <c:numCache>
                <c:formatCode>0%</c:formatCode>
                <c:ptCount val="3"/>
                <c:pt idx="0">
                  <c:v>0.8</c:v>
                </c:pt>
                <c:pt idx="1">
                  <c:v>0.16</c:v>
                </c:pt>
                <c:pt idx="2">
                  <c:v>0.04</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Q2 2025
(n=34)</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0.9411764705882353</c:v>
                </c:pt>
                <c:pt idx="1">
                  <c:v>0.058823529411764705</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Q3 2025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0.92</c:v>
                </c:pt>
                <c:pt idx="1">
                  <c:v>0.08</c:v>
                </c:pt>
              </c:numCache>
            </c:numRef>
          </c:val>
          <c:extLst>
            <c:ext xmlns:c16="http://schemas.microsoft.com/office/drawing/2014/chart" uri="{C3380CC4-5D6E-409C-BE32-E72D297353CC}">
              <c16:uniqueId val="{00000000-AF88-4348-8696-5A67F3EFD30E}"/>
            </c:ext>
          </c:extLst>
        </c:ser>
        <c:dLbls>
          <c:showLegendKey val="0"/>
          <c:showVal val="0"/>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5039754899058669"/>
          <c:y val="1.0785303876998281E-2"/>
          <c:w val="0.61850526907820735"/>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0.044444444444444446</c:v>
                </c:pt>
                <c:pt idx="2">
                  <c:v>0.021739130434782608</c:v>
                </c:pt>
                <c:pt idx="4">
                  <c:v>0.09090909090909093</c:v>
                </c:pt>
                <c:pt idx="5">
                  <c:v>0.06666666666666667</c:v>
                </c:pt>
                <c:pt idx="6">
                  <c:v>0.043478260869565216</c:v>
                </c:pt>
                <c:pt idx="7">
                  <c:v>0.05263157894736842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0.08888888888888889</c:v>
                </c:pt>
                <c:pt idx="2">
                  <c:v>0.15217391304347827</c:v>
                </c:pt>
                <c:pt idx="3">
                  <c:v>0.10526315789473684</c:v>
                </c:pt>
                <c:pt idx="4">
                  <c:v>0.06060606060606061</c:v>
                </c:pt>
                <c:pt idx="5">
                  <c:v>0.15555555555555556</c:v>
                </c:pt>
                <c:pt idx="6">
                  <c:v>0.13043478260869565</c:v>
                </c:pt>
                <c:pt idx="7">
                  <c:v>0.10526315789473684</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0.8</c:v>
                </c:pt>
                <c:pt idx="2">
                  <c:v>0.8043478260869565</c:v>
                </c:pt>
                <c:pt idx="3">
                  <c:v>0.868421052631579</c:v>
                </c:pt>
                <c:pt idx="4">
                  <c:v>0.7878787878787878</c:v>
                </c:pt>
                <c:pt idx="5">
                  <c:v>0.7111111111111111</c:v>
                </c:pt>
                <c:pt idx="6">
                  <c:v>0.782608695652174</c:v>
                </c:pt>
                <c:pt idx="7">
                  <c:v>0.8157894736842105</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0.9333333333333333</c:v>
                </c:pt>
                <c:pt idx="2">
                  <c:v>0.9782608695652174</c:v>
                </c:pt>
                <c:pt idx="3">
                  <c:v>0.9736842105263158</c:v>
                </c:pt>
                <c:pt idx="4">
                  <c:v>0.9400000000000001</c:v>
                </c:pt>
                <c:pt idx="5">
                  <c:v>0.9333333333333333</c:v>
                </c:pt>
                <c:pt idx="6">
                  <c:v>0.9565217391304348</c:v>
                </c:pt>
                <c:pt idx="7">
                  <c:v>0.9736842105263157</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0.044444444444444446</c:v>
                </c:pt>
                <c:pt idx="3">
                  <c:v>0.02631578947368421</c:v>
                </c:pt>
                <c:pt idx="4">
                  <c:v>0.030303030303030304</c:v>
                </c:pt>
                <c:pt idx="5">
                  <c:v>0.022222222222222223</c:v>
                </c:pt>
                <c:pt idx="6">
                  <c:v>0.021739130434782608</c:v>
                </c:pt>
                <c:pt idx="7">
                  <c:v>0.05263157894736842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0.15555555555555556</c:v>
                </c:pt>
                <c:pt idx="2">
                  <c:v>0.17391304347826086</c:v>
                </c:pt>
                <c:pt idx="3">
                  <c:v>0.05263157894736842</c:v>
                </c:pt>
                <c:pt idx="4">
                  <c:v>0.030303030303030304</c:v>
                </c:pt>
                <c:pt idx="5">
                  <c:v>0.1111111111111111</c:v>
                </c:pt>
                <c:pt idx="6">
                  <c:v>0.21739130434782608</c:v>
                </c:pt>
                <c:pt idx="7">
                  <c:v>0.05263157894736842</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0.7111111111111111</c:v>
                </c:pt>
                <c:pt idx="2">
                  <c:v>0.8043478260869565</c:v>
                </c:pt>
                <c:pt idx="3">
                  <c:v>0.8947368421052632</c:v>
                </c:pt>
                <c:pt idx="4">
                  <c:v>0.8787878787878788</c:v>
                </c:pt>
                <c:pt idx="5">
                  <c:v>0.7555555555555555</c:v>
                </c:pt>
                <c:pt idx="6">
                  <c:v>0.7391304347826086</c:v>
                </c:pt>
                <c:pt idx="7">
                  <c:v>0.8421052631578947</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0.9111111111111112</c:v>
                </c:pt>
                <c:pt idx="2">
                  <c:v>0.9782608695652174</c:v>
                </c:pt>
                <c:pt idx="3">
                  <c:v>0.9736842105263158</c:v>
                </c:pt>
                <c:pt idx="4">
                  <c:v>0.94</c:v>
                </c:pt>
                <c:pt idx="5">
                  <c:v>0.8888888888888888</c:v>
                </c:pt>
                <c:pt idx="6">
                  <c:v>0.9782608695652173</c:v>
                </c:pt>
                <c:pt idx="7">
                  <c:v>0.9473684210526315</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0.030303030303030304</c:v>
                </c:pt>
                <c:pt idx="1">
                  <c:v>0.06666666666666667</c:v>
                </c:pt>
                <c:pt idx="2">
                  <c:v>0.13043478260869565</c:v>
                </c:pt>
                <c:pt idx="3">
                  <c:v>0.02631578947368421</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0.2222222222222222</c:v>
                </c:pt>
                <c:pt idx="2">
                  <c:v>0.17391304347826086</c:v>
                </c:pt>
                <c:pt idx="3">
                  <c:v>0.07894736842105263</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0.7878787878787878</c:v>
                </c:pt>
                <c:pt idx="1">
                  <c:v>0.6</c:v>
                </c:pt>
                <c:pt idx="2">
                  <c:v>0.6521739130434783</c:v>
                </c:pt>
                <c:pt idx="3">
                  <c:v>0.7631578947368421</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0.91</c:v>
                </c:pt>
                <c:pt idx="1">
                  <c:v>0.8888888888888888</c:v>
                </c:pt>
                <c:pt idx="2">
                  <c:v>0.9565217391304348</c:v>
                </c:pt>
                <c:pt idx="3">
                  <c:v>0.868421052631579</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0.5757575757575758</c:v>
                </c:pt>
                <c:pt idx="1">
                  <c:v>0.15151515151515152</c:v>
                </c:pt>
                <c:pt idx="2">
                  <c:v>0.2727272727272727</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0.4222222222222222</c:v>
                </c:pt>
                <c:pt idx="1">
                  <c:v>0.08888888888888889</c:v>
                </c:pt>
                <c:pt idx="2">
                  <c:v>0.4888888888888889</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0.5217391304347826</c:v>
                </c:pt>
                <c:pt idx="1">
                  <c:v>0.08695652173913043</c:v>
                </c:pt>
                <c:pt idx="2">
                  <c:v>0.391304347826087</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0.4473684210526316</c:v>
                </c:pt>
                <c:pt idx="1">
                  <c:v>0.05263157894736842</c:v>
                </c:pt>
                <c:pt idx="2">
                  <c:v>0.5</c:v>
                </c:pt>
              </c:numCache>
            </c:numRef>
          </c:val>
          <c:extLst>
            <c:ext xmlns:c16="http://schemas.microsoft.com/office/drawing/2014/chart" uri="{C3380CC4-5D6E-409C-BE32-E72D297353CC}">
              <c16:uniqueId val="{00000000-A205-4F76-994F-922B6EF4212F}"/>
            </c:ext>
          </c:extLst>
        </c:ser>
        <c:dLbls>
          <c:showLegendKey val="0"/>
          <c:showVal val="0"/>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78944408264758"/>
          <c:h val="7.9494483465683302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Q4 2024
(n=24)</c:v>
                </c:pt>
              </c:strCache>
            </c:strRef>
          </c:tx>
          <c:spPr>
            <a:solidFill>
              <a:srgbClr val="FFC003"/>
            </a:solidFill>
            <a:ln w="20893">
              <a:noFill/>
            </a:ln>
          </c:spPr>
          <c:invertIfNegative val="0"/>
          <c:dLbls>
            <c:dLbl>
              <c:idx val="0"/>
              <c:layout>
                <c:manualLayout>
                  <c:x val="-1.8796992481203006E-2"/>
                  <c:y val="-2.4336251625344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3B-4672-93AE-F5A1DBB78370}"/>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Sheet1!$B$2:$B$3</c:f>
              <c:numCache>
                <c:formatCode>0%</c:formatCode>
                <c:ptCount val="2"/>
                <c:pt idx="0">
                  <c:v>0.7916666666666666</c:v>
                </c:pt>
                <c:pt idx="1">
                  <c:v>0.20833333333333334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0.782608695652174</c:v>
                </c:pt>
                <c:pt idx="1">
                  <c:v>0.08695652173913043</c:v>
                </c:pt>
                <c:pt idx="2">
                  <c:v>0.13043478260869565</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Q2 2025
(n=28)</c:v>
                </c:pt>
              </c:strCache>
            </c:strRef>
          </c:tx>
          <c:spPr>
            <a:solidFill>
              <a:srgbClr val="00CC99"/>
            </a:solidFill>
          </c:spPr>
          <c:invertIfNegative val="0"/>
          <c:dLbls>
            <c:dLbl>
              <c:idx val="0"/>
              <c:layout>
                <c:manualLayout>
                  <c:x val="1.1278195488721804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A3B-4672-93AE-F5A1DBB7837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0.8928571428571429</c:v>
                </c:pt>
                <c:pt idx="1">
                  <c:v>0.07142857142857142</c:v>
                </c:pt>
                <c:pt idx="2">
                  <c:v>0.03571428571428571</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Q3 2025
(n=19)</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dLbl>
              <c:idx val="0"/>
              <c:layout>
                <c:manualLayout>
                  <c:x val="1.3157894736842072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6-504A-BA49-89DD2B9F1447}"/>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0.8421052631578947</c:v>
                </c:pt>
                <c:pt idx="1">
                  <c:v>0.10526315789473684</c:v>
                </c:pt>
                <c:pt idx="2">
                  <c:v>0.05263157894736842</c:v>
                </c:pt>
              </c:numCache>
            </c:numRef>
          </c:val>
          <c:extLst>
            <c:ext xmlns:c16="http://schemas.microsoft.com/office/drawing/2014/chart" uri="{C3380CC4-5D6E-409C-BE32-E72D297353CC}">
              <c16:uniqueId val="{00000001-9A02-4932-A087-5B84C8851181}"/>
            </c:ext>
          </c:extLst>
        </c:ser>
        <c:dLbls>
          <c:showLegendKey val="0"/>
          <c:showVal val="0"/>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61676025694156655"/>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0.9696969696969697</c:v>
                </c:pt>
                <c:pt idx="1">
                  <c:v>0.030303030303030304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0.9555555555555556</c:v>
                </c:pt>
                <c:pt idx="1">
                  <c:v>0.044444444444444446</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0.9347826086956522</c:v>
                </c:pt>
                <c:pt idx="1">
                  <c:v>0.06521739130434782</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0.9736842105263158</c:v>
                </c:pt>
                <c:pt idx="1">
                  <c:v>0.02631578947368421</c:v>
                </c:pt>
              </c:numCache>
            </c:numRef>
          </c:val>
          <c:extLst>
            <c:ext xmlns:c16="http://schemas.microsoft.com/office/drawing/2014/chart" uri="{C3380CC4-5D6E-409C-BE32-E72D297353CC}">
              <c16:uniqueId val="{00000003-B3BC-4399-9949-26421AA520BC}"/>
            </c:ext>
          </c:extLst>
        </c:ser>
        <c:dLbls>
          <c:showLegendKey val="0"/>
          <c:showVal val="0"/>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Sheet1!$B$2:$B$18</c:f>
              <c:numCache>
                <c:formatCode>0%</c:formatCode>
                <c:ptCount val="17"/>
                <c:pt idx="0">
                  <c:v>0.1875</c:v>
                </c:pt>
                <c:pt idx="14">
                  <c:v>0.186046511627907</c:v>
                </c:pt>
                <c:pt idx="15">
                  <c:v>0.09302325581395349</c:v>
                </c:pt>
                <c:pt idx="16">
                  <c:v>0.05405405405405406</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Sheet1!$C$2:$C$18</c:f>
              <c:numCache>
                <c:formatCode>0%</c:formatCode>
                <c:ptCount val="17"/>
                <c:pt idx="0">
                  <c:v>0.03125</c:v>
                </c:pt>
                <c:pt idx="14">
                  <c:v>0.09302325581395349</c:v>
                </c:pt>
                <c:pt idx="15">
                  <c:v>0.1162790697674419</c:v>
                </c:pt>
                <c:pt idx="16">
                  <c:v>0.13513513513513514</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Sheet1!$D$2:$D$18</c:f>
              <c:numCache>
                <c:formatCode>0%</c:formatCode>
                <c:ptCount val="17"/>
                <c:pt idx="0">
                  <c:v>0.53125</c:v>
                </c:pt>
                <c:pt idx="14">
                  <c:v>0.4883720930232558</c:v>
                </c:pt>
                <c:pt idx="15">
                  <c:v>0.5581395348837209</c:v>
                </c:pt>
                <c:pt idx="16">
                  <c:v>0.5945945945945946</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Sheet1!$E$2:$E$18</c:f>
              <c:numCache>
                <c:formatCode>0%</c:formatCode>
                <c:ptCount val="17"/>
                <c:pt idx="0">
                  <c:v>0.75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Sheet1!$F$2:$F$18</c:f>
              <c:numCache>
                <c:formatCode>0%</c:formatCode>
                <c:ptCount val="17"/>
                <c:pt idx="14">
                  <c:v>0.7674418604651163</c:v>
                </c:pt>
                <c:pt idx="15">
                  <c:v>0.7674418604651163</c:v>
                </c:pt>
                <c:pt idx="16">
                  <c:v>0.7837837837837838</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0.09090909090909093</c:v>
                </c:pt>
                <c:pt idx="1">
                  <c:v>0.13333333333333333</c:v>
                </c:pt>
                <c:pt idx="2">
                  <c:v>0.08695652173913043</c:v>
                </c:pt>
                <c:pt idx="3">
                  <c:v>0.07894736842105263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0.06666666666666667</c:v>
                </c:pt>
                <c:pt idx="2">
                  <c:v>0.08695652173913043</c:v>
                </c:pt>
                <c:pt idx="3">
                  <c:v>0.05263157894736842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0.3333333333333333</c:v>
                </c:pt>
                <c:pt idx="1">
                  <c:v>0.28888888888888886</c:v>
                </c:pt>
                <c:pt idx="2">
                  <c:v>0.391304347826087</c:v>
                </c:pt>
                <c:pt idx="3">
                  <c:v>0.3684210526315789</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0.51</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Sheet1!$F$2:$F$5</c:f>
              <c:numCache>
                <c:formatCode>0%</c:formatCode>
                <c:ptCount val="4"/>
                <c:pt idx="1">
                  <c:v>0.4888888888888889</c:v>
                </c:pt>
                <c:pt idx="2">
                  <c:v>0.5652173913043479</c:v>
                </c:pt>
                <c:pt idx="3">
                  <c:v>0.5</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Sheet1!$B$2:$B$18</c:f>
              <c:numCache>
                <c:formatCode>0%</c:formatCode>
                <c:ptCount val="17"/>
                <c:pt idx="14">
                  <c:v>0.04444444444444445</c:v>
                </c:pt>
                <c:pt idx="15">
                  <c:v>0.06521739130434782</c:v>
                </c:pt>
                <c:pt idx="16">
                  <c:v>0.02631578947368421</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Sheet1!$C$2:$C$18</c:f>
              <c:numCache>
                <c:formatCode>0%</c:formatCode>
                <c:ptCount val="17"/>
                <c:pt idx="14">
                  <c:v>0.06666666666666667</c:v>
                </c:pt>
                <c:pt idx="15">
                  <c:v>0.04347826086956522</c:v>
                </c:pt>
                <c:pt idx="16">
                  <c:v>0.05263157894736842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Sheet1!$D$2:$D$18</c:f>
              <c:numCache>
                <c:formatCode>0%</c:formatCode>
                <c:ptCount val="17"/>
                <c:pt idx="0">
                  <c:v>0.33</c:v>
                </c:pt>
                <c:pt idx="14">
                  <c:v>0.3555555555555556</c:v>
                </c:pt>
                <c:pt idx="15">
                  <c:v>0.5434782608695652</c:v>
                </c:pt>
                <c:pt idx="16">
                  <c:v>0.5526315789473685</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Column1</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Sheet1!$E$2:$E$18</c:f>
              <c:numCache>
                <c:formatCode>0%</c:formatCode>
                <c:ptCount val="17"/>
                <c:pt idx="0">
                  <c:v>0.33</c:v>
                </c:pt>
              </c:numCache>
            </c:numRef>
          </c:val>
          <c:extLst>
            <c:ext xmlns:c16="http://schemas.microsoft.com/office/drawing/2014/chart" uri="{C3380CC4-5D6E-409C-BE32-E72D297353CC}">
              <c16:uniqueId val="{00000003-D709-46B7-8D5F-DCA6F61C30BE}"/>
            </c:ext>
          </c:extLst>
        </c:ser>
        <c:ser>
          <c:idx val="4"/>
          <c:order val="4"/>
          <c:tx>
            <c:strRef>
              <c:f>Sheet1!$F$1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Q4 2024
(N=33)</c:v>
                </c:pt>
                <c:pt idx="1">
                  <c:v/>
                </c:pt>
                <c:pt idx="2">
                  <c:v/>
                </c:pt>
                <c:pt idx="3">
                  <c:v/>
                </c:pt>
                <c:pt idx="4">
                  <c:v/>
                </c:pt>
                <c:pt idx="5">
                  <c:v/>
                </c:pt>
                <c:pt idx="6">
                  <c:v/>
                </c:pt>
                <c:pt idx="7">
                  <c:v/>
                </c:pt>
                <c:pt idx="8">
                  <c:v/>
                </c:pt>
                <c:pt idx="9">
                  <c:v/>
                </c:pt>
                <c:pt idx="10">
                  <c:v/>
                </c:pt>
                <c:pt idx="11">
                  <c:v/>
                </c:pt>
                <c:pt idx="12">
                  <c:v/>
                </c:pt>
                <c:pt idx="13">
                  <c:v/>
                </c:pt>
                <c:pt idx="14">
                  <c:v>Q1 2025
(N=45)</c:v>
                </c:pt>
                <c:pt idx="15">
                  <c:v>Q2 2025
(N=46)</c:v>
                </c:pt>
                <c:pt idx="16">
                  <c:v>Q3 2025
(N=38)</c:v>
                </c:pt>
              </c:strCache>
            </c:strRef>
          </c:cat>
          <c:val>
            <c:numRef>
              <c:f>Sheet1!$F$2:$F$18</c:f>
              <c:numCache>
                <c:formatCode>0%</c:formatCode>
                <c:ptCount val="17"/>
                <c:pt idx="14">
                  <c:v>0.4666666666666667</c:v>
                </c:pt>
                <c:pt idx="15">
                  <c:v>0.6521739130434783</c:v>
                </c:pt>
                <c:pt idx="16">
                  <c:v>0.6315789473684211</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Q3 2025
(N=38)</c:v>
                </c:pt>
              </c:strCache>
            </c:strRef>
          </c:tx>
          <c:spPr>
            <a:solidFill>
              <a:schemeClr val="tx1"/>
            </a:solidFill>
            <a:ln w="21264">
              <a:noFill/>
            </a:ln>
          </c:spPr>
          <c:invertIfNegative val="0"/>
          <c:dLbls>
            <c:dLbl>
              <c:idx val="0"/>
              <c:layout>
                <c:manualLayout>
                  <c:x val="1.1134420658704729E-2"/>
                  <c:y val="3.831417624521072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2498-46B6-9C63-2CEDD08F99FB}"/>
                </c:ext>
              </c:extLst>
            </c:dLbl>
            <c:dLbl>
              <c:idx val="1"/>
              <c:layout>
                <c:manualLayout>
                  <c:x val="9.2786838822539394E-3"/>
                  <c:y val="-1.915708812260536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498-46B6-9C63-2CEDD08F99FB}"/>
                </c:ext>
              </c:extLst>
            </c:dLbl>
            <c:dLbl>
              <c:idx val="2"/>
              <c:layout>
                <c:manualLayout>
                  <c:x val="-5.56721032935239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498-46B6-9C63-2CEDD08F99FB}"/>
                </c:ext>
              </c:extLst>
            </c:dLbl>
            <c:dLbl>
              <c:idx val="3"/>
              <c:layout>
                <c:manualLayout>
                  <c:x val="-5.5672103293523982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D5-9B4B-B15F-370C6B41CFCF}"/>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98-46B6-9C63-2CEDD08F99FB}"/>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98-46B6-9C63-2CEDD08F99FB}"/>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498-46B6-9C63-2CEDD08F99FB}"/>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98-46B6-9C63-2CEDD08F99FB}"/>
                </c:ext>
              </c:extLst>
            </c:dLbl>
            <c:dLbl>
              <c:idx val="10"/>
              <c:layout>
                <c:manualLayout>
                  <c:x val="0"/>
                  <c:y val="5.74712643678157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D5-9B4B-B15F-370C6B41CFCF}"/>
                </c:ext>
              </c:extLst>
            </c:dLbl>
            <c:dLbl>
              <c:idx val="11"/>
              <c:layout>
                <c:manualLayout>
                  <c:x val="0"/>
                  <c:y val="-3.512092250488273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Contact Center</c:v>
                </c:pt>
                <c:pt idx="4">
                  <c:v>Austin 311</c:v>
                </c:pt>
                <c:pt idx="5">
                  <c:v>Utility bill insert/mail</c:v>
                </c:pt>
                <c:pt idx="6">
                  <c:v>Neighborhood event</c:v>
                </c:pt>
                <c:pt idx="7">
                  <c:v>Social sevice agency referral</c:v>
                </c:pt>
                <c:pt idx="8">
                  <c:v>Word of mouth</c:v>
                </c:pt>
                <c:pt idx="9">
                  <c:v>On City's website</c:v>
                </c:pt>
                <c:pt idx="10">
                  <c:v>Austin Energy called me</c:v>
                </c:pt>
                <c:pt idx="11">
                  <c:v>Austin Energy's website</c:v>
                </c:pt>
                <c:pt idx="12">
                  <c:v>Referred</c:v>
                </c:pt>
                <c:pt idx="13">
                  <c:v>I called them</c:v>
                </c:pt>
                <c:pt idx="14">
                  <c:v>Utility Contact Center </c:v>
                </c:pt>
              </c:strCache>
            </c:strRef>
          </c:cat>
          <c:val>
            <c:numRef>
              <c:f>Sheet1!$B$2:$B$16</c:f>
              <c:numCache>
                <c:formatCode>0%</c:formatCode>
                <c:ptCount val="15"/>
                <c:pt idx="0">
                  <c:v>0.0</c:v>
                </c:pt>
                <c:pt idx="1">
                  <c:v>0.0</c:v>
                </c:pt>
                <c:pt idx="2">
                  <c:v>0.02631578947368421</c:v>
                </c:pt>
                <c:pt idx="3">
                  <c:v>0.02631578947368421</c:v>
                </c:pt>
                <c:pt idx="4">
                  <c:v>0.05263157894736842</c:v>
                </c:pt>
                <c:pt idx="5">
                  <c:v>0.05263157894736842</c:v>
                </c:pt>
                <c:pt idx="6">
                  <c:v>0.07894736842105263</c:v>
                </c:pt>
                <c:pt idx="7">
                  <c:v>0.07894736842105263</c:v>
                </c:pt>
                <c:pt idx="8">
                  <c:v>0.07894736842105263</c:v>
                </c:pt>
                <c:pt idx="9">
                  <c:v>0.10526315789473684</c:v>
                </c:pt>
                <c:pt idx="10">
                  <c:v>0.18421052631578946</c:v>
                </c:pt>
                <c:pt idx="11">
                  <c:v>0.3157894736842105</c:v>
                </c:pt>
                <c:pt idx="12">
                  <c:v>0.0</c:v>
                </c:pt>
                <c:pt idx="13">
                  <c:v>0.0</c:v>
                </c:pt>
                <c:pt idx="14">
                  <c:v>0.0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Q2 2025
(N=46)</c:v>
                </c:pt>
              </c:strCache>
            </c:strRef>
          </c:tx>
          <c:spPr>
            <a:solidFill>
              <a:srgbClr val="00CC99"/>
            </a:solidFill>
          </c:spPr>
          <c:invertIfNegative val="0"/>
          <c:dLbls>
            <c:dLbl>
              <c:idx val="0"/>
              <c:layout>
                <c:manualLayout>
                  <c:x val="1.1134420658704729E-2"/>
                  <c:y val="-1.4048369001953096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FD5-9B4B-B15F-370C6B41CFCF}"/>
                </c:ext>
              </c:extLst>
            </c:dLbl>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A05-294F-B2B7-24B10EF57FC1}"/>
                </c:ext>
              </c:extLst>
            </c:dLbl>
            <c:dLbl>
              <c:idx val="2"/>
              <c:layout>
                <c:manualLayout>
                  <c:x val="2.5980314870310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FD5-9B4B-B15F-370C6B41CFCF}"/>
                </c:ext>
              </c:extLst>
            </c:dLbl>
            <c:dLbl>
              <c:idx val="5"/>
              <c:layout>
                <c:manualLayout>
                  <c:x val="5.5672103293523643E-3"/>
                  <c:y val="1.91570881226046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854-2147-903F-0829DBEE9518}"/>
                </c:ext>
              </c:extLst>
            </c:dLbl>
            <c:dLbl>
              <c:idx val="11"/>
              <c:layout>
                <c:manualLayout>
                  <c:x val="9.4642575598990183E-2"/>
                  <c:y val="-4.789272030651340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Contact Center</c:v>
                </c:pt>
                <c:pt idx="4">
                  <c:v>Austin 311</c:v>
                </c:pt>
                <c:pt idx="5">
                  <c:v>Utility bill insert/mail</c:v>
                </c:pt>
                <c:pt idx="6">
                  <c:v>Neighborhood event</c:v>
                </c:pt>
                <c:pt idx="7">
                  <c:v>Social sevice agency referral</c:v>
                </c:pt>
                <c:pt idx="8">
                  <c:v>Word of mouth</c:v>
                </c:pt>
                <c:pt idx="9">
                  <c:v>On City's website</c:v>
                </c:pt>
                <c:pt idx="10">
                  <c:v>Austin Energy called me</c:v>
                </c:pt>
                <c:pt idx="11">
                  <c:v>Austin Energy's website</c:v>
                </c:pt>
                <c:pt idx="12">
                  <c:v>Referred</c:v>
                </c:pt>
                <c:pt idx="13">
                  <c:v>I called them</c:v>
                </c:pt>
                <c:pt idx="14">
                  <c:v>Utility Contact Center </c:v>
                </c:pt>
              </c:strCache>
            </c:strRef>
          </c:cat>
          <c:val>
            <c:numRef>
              <c:f>Sheet1!$C$2:$C$16</c:f>
              <c:numCache>
                <c:formatCode>0%</c:formatCode>
                <c:ptCount val="15"/>
                <c:pt idx="0">
                  <c:v>0.02173913043478261</c:v>
                </c:pt>
                <c:pt idx="1">
                  <c:v>0.02173913043478261</c:v>
                </c:pt>
                <c:pt idx="2">
                  <c:v>0.02173913043478261</c:v>
                </c:pt>
                <c:pt idx="3">
                  <c:v>0.08695652173913043</c:v>
                </c:pt>
                <c:pt idx="4">
                  <c:v>0.0</c:v>
                </c:pt>
                <c:pt idx="5">
                  <c:v>0.02173913043478261</c:v>
                </c:pt>
                <c:pt idx="6">
                  <c:v>0.108695652173913</c:v>
                </c:pt>
                <c:pt idx="7">
                  <c:v>0.0</c:v>
                </c:pt>
                <c:pt idx="8">
                  <c:v>0.108695652173913</c:v>
                </c:pt>
                <c:pt idx="9">
                  <c:v>0.2608695652173913</c:v>
                </c:pt>
                <c:pt idx="10">
                  <c:v>0.0</c:v>
                </c:pt>
                <c:pt idx="11">
                  <c:v>0.3478260869565217</c:v>
                </c:pt>
                <c:pt idx="12">
                  <c:v>0.0</c:v>
                </c:pt>
                <c:pt idx="13">
                  <c:v>0.0</c:v>
                </c:pt>
                <c:pt idx="14">
                  <c:v>0.0</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Q1 2025
(N=45)</c:v>
                </c:pt>
              </c:strCache>
            </c:strRef>
          </c:tx>
          <c:spPr>
            <a:solidFill>
              <a:srgbClr val="3233CC"/>
            </a:solidFill>
          </c:spPr>
          <c:invertIfNegative val="0"/>
          <c:dLbls>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F9-D842-945D-F49A2F6B2AE1}"/>
                </c:ext>
              </c:extLst>
            </c:dLbl>
            <c:dLbl>
              <c:idx val="2"/>
              <c:layout>
                <c:manualLayout>
                  <c:x val="-5.5672103293523982E-3"/>
                  <c:y val="-1.91570881226067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FD5-9B4B-B15F-370C6B41CFCF}"/>
                </c:ext>
              </c:extLst>
            </c:dLbl>
            <c:dLbl>
              <c:idx val="5"/>
              <c:layout>
                <c:manualLayout>
                  <c:x val="3.7114735529015759E-3"/>
                  <c:y val="-7.024184500976547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D5-9B4B-B15F-370C6B41CFCF}"/>
                </c:ext>
              </c:extLst>
            </c:dLbl>
            <c:dLbl>
              <c:idx val="8"/>
              <c:layout>
                <c:manualLayout>
                  <c:x val="1.6701630988057093E-2"/>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D5-9B4B-B15F-370C6B41CFCF}"/>
                </c:ext>
              </c:extLst>
            </c:dLbl>
            <c:dLbl>
              <c:idx val="11"/>
              <c:layout>
                <c:manualLayout>
                  <c:x val="2.7836051646761787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D5-9B4B-B15F-370C6B41CFCF}"/>
                </c:ext>
              </c:extLst>
            </c:dLbl>
            <c:dLbl>
              <c:idx val="1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Contact Center</c:v>
                </c:pt>
                <c:pt idx="4">
                  <c:v>Austin 311</c:v>
                </c:pt>
                <c:pt idx="5">
                  <c:v>Utility bill insert/mail</c:v>
                </c:pt>
                <c:pt idx="6">
                  <c:v>Neighborhood event</c:v>
                </c:pt>
                <c:pt idx="7">
                  <c:v>Social sevice agency referral</c:v>
                </c:pt>
                <c:pt idx="8">
                  <c:v>Word of mouth</c:v>
                </c:pt>
                <c:pt idx="9">
                  <c:v>On City's website</c:v>
                </c:pt>
                <c:pt idx="10">
                  <c:v>Austin Energy called me</c:v>
                </c:pt>
                <c:pt idx="11">
                  <c:v>Austin Energy's website</c:v>
                </c:pt>
                <c:pt idx="12">
                  <c:v>Referred</c:v>
                </c:pt>
                <c:pt idx="13">
                  <c:v>I called them</c:v>
                </c:pt>
                <c:pt idx="14">
                  <c:v>Utility Contact Center </c:v>
                </c:pt>
              </c:strCache>
            </c:strRef>
          </c:cat>
          <c:val>
            <c:numRef>
              <c:f>Sheet1!$D$2:$D$16</c:f>
              <c:numCache>
                <c:formatCode>0%</c:formatCode>
                <c:ptCount val="15"/>
                <c:pt idx="0">
                  <c:v>0.0</c:v>
                </c:pt>
                <c:pt idx="1">
                  <c:v>0.02222222222222222</c:v>
                </c:pt>
                <c:pt idx="2">
                  <c:v>0.02222222222222222</c:v>
                </c:pt>
                <c:pt idx="3">
                  <c:v>0.04444444444444445</c:v>
                </c:pt>
                <c:pt idx="4">
                  <c:v>0.0</c:v>
                </c:pt>
                <c:pt idx="5">
                  <c:v>0.04444444444444445</c:v>
                </c:pt>
                <c:pt idx="6">
                  <c:v>0.02222222222222222</c:v>
                </c:pt>
                <c:pt idx="7">
                  <c:v>0.02222222222222222</c:v>
                </c:pt>
                <c:pt idx="8">
                  <c:v>0.1555555555555556</c:v>
                </c:pt>
                <c:pt idx="9">
                  <c:v>0.08888888888888889</c:v>
                </c:pt>
                <c:pt idx="10">
                  <c:v>0.02222222222222222</c:v>
                </c:pt>
                <c:pt idx="11">
                  <c:v>0.5333333333333333</c:v>
                </c:pt>
                <c:pt idx="12">
                  <c:v>0.02222222222222222</c:v>
                </c:pt>
                <c:pt idx="13">
                  <c:v>0.0</c:v>
                </c:pt>
                <c:pt idx="14">
                  <c:v>0.0</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Q4 2024
(N=33)</c:v>
                </c:pt>
              </c:strCache>
            </c:strRef>
          </c:tx>
          <c:spPr>
            <a:solidFill>
              <a:srgbClr val="FFC003"/>
            </a:solidFill>
          </c:spPr>
          <c:invertIfNegative val="0"/>
          <c:dLbls>
            <c:dLbl>
              <c:idx val="1"/>
              <c:layout>
                <c:manualLayout>
                  <c:x val="-1.855736776450788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F9-D842-945D-F49A2F6B2AE1}"/>
                </c:ext>
              </c:extLst>
            </c:dLbl>
            <c:dLbl>
              <c:idx val="5"/>
              <c:layout>
                <c:manualLayout>
                  <c:x val="-5.5672103293523982E-3"/>
                  <c:y val="-1.91570881226053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D5-9B4B-B15F-370C6B41CFCF}"/>
                </c:ext>
              </c:extLst>
            </c:dLbl>
            <c:dLbl>
              <c:idx val="6"/>
              <c:layout>
                <c:manualLayout>
                  <c:x val="-5.5672103293523982E-3"/>
                  <c:y val="-5.747126436781679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D5-9B4B-B15F-370C6B41CFCF}"/>
                </c:ext>
              </c:extLst>
            </c:dLbl>
            <c:dLbl>
              <c:idx val="8"/>
              <c:layout>
                <c:manualLayout>
                  <c:x val="-5.5672103293523982E-3"/>
                  <c:y val="-7.66283524904214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D5-9B4B-B15F-370C6B41CFCF}"/>
                </c:ext>
              </c:extLst>
            </c:dLbl>
            <c:dLbl>
              <c:idx val="9"/>
              <c:layout>
                <c:manualLayout>
                  <c:x val="1.6701630988057093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6-5445-9E8E-B4E6C15FCE7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All other</c:v>
                </c:pt>
                <c:pt idx="1">
                  <c:v>Do not know</c:v>
                </c:pt>
                <c:pt idx="2">
                  <c:v>Email</c:v>
                </c:pt>
                <c:pt idx="3">
                  <c:v>Utility Contact Center</c:v>
                </c:pt>
                <c:pt idx="4">
                  <c:v>Austin 311</c:v>
                </c:pt>
                <c:pt idx="5">
                  <c:v>Utility bill insert/mail</c:v>
                </c:pt>
                <c:pt idx="6">
                  <c:v>Neighborhood event</c:v>
                </c:pt>
                <c:pt idx="7">
                  <c:v>Social sevice agency referral</c:v>
                </c:pt>
                <c:pt idx="8">
                  <c:v>Word of mouth</c:v>
                </c:pt>
                <c:pt idx="9">
                  <c:v>On City's website</c:v>
                </c:pt>
                <c:pt idx="10">
                  <c:v>Austin Energy called me</c:v>
                </c:pt>
                <c:pt idx="11">
                  <c:v>Austin Energy's website</c:v>
                </c:pt>
                <c:pt idx="12">
                  <c:v>Referred</c:v>
                </c:pt>
                <c:pt idx="13">
                  <c:v>I called them</c:v>
                </c:pt>
                <c:pt idx="14">
                  <c:v>Utility Contact Center </c:v>
                </c:pt>
              </c:strCache>
            </c:strRef>
          </c:cat>
          <c:val>
            <c:numRef>
              <c:f>Sheet1!$E$2:$E$16</c:f>
              <c:numCache>
                <c:formatCode>0%</c:formatCode>
                <c:ptCount val="15"/>
                <c:pt idx="0">
                  <c:v>0.0</c:v>
                </c:pt>
                <c:pt idx="1">
                  <c:v>0.0</c:v>
                </c:pt>
                <c:pt idx="2">
                  <c:v>0.0</c:v>
                </c:pt>
                <c:pt idx="3">
                  <c:v>0.0</c:v>
                </c:pt>
                <c:pt idx="4">
                  <c:v>0.0</c:v>
                </c:pt>
                <c:pt idx="5">
                  <c:v>0.0</c:v>
                </c:pt>
                <c:pt idx="6">
                  <c:v>0.0</c:v>
                </c:pt>
                <c:pt idx="7">
                  <c:v>0.0</c:v>
                </c:pt>
                <c:pt idx="8">
                  <c:v>0.09</c:v>
                </c:pt>
                <c:pt idx="9">
                  <c:v>0.0</c:v>
                </c:pt>
                <c:pt idx="10">
                  <c:v>0.0</c:v>
                </c:pt>
                <c:pt idx="11">
                  <c:v>0.67</c:v>
                </c:pt>
                <c:pt idx="12">
                  <c:v>0.0</c:v>
                </c:pt>
                <c:pt idx="13">
                  <c:v>0.06</c:v>
                </c:pt>
                <c:pt idx="14">
                  <c:v>0.18</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dLbl>
              <c:idx val="1"/>
              <c:layout>
                <c:manualLayout>
                  <c:x val="1.8726959020547603E-2"/>
                  <c:y val="1.45500964663085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2D-8F45-BEA4-DD7B6F0918C9}"/>
                </c:ext>
              </c:extLst>
            </c:dLbl>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Friends/family/word-of-mouth</c:v>
                </c:pt>
                <c:pt idx="1">
                  <c:v>Austin Energy's website</c:v>
                </c:pt>
                <c:pt idx="2">
                  <c:v>AE Customer Assistance Program (CAPS)</c:v>
                </c:pt>
                <c:pt idx="3">
                  <c:v>Mall advertisement</c:v>
                </c:pt>
                <c:pt idx="4">
                  <c:v>On City’s website</c:v>
                </c:pt>
                <c:pt idx="5">
                  <c:v>Contractors</c:v>
                </c:pt>
                <c:pt idx="6">
                  <c:v>Radio</c:v>
                </c:pt>
                <c:pt idx="7">
                  <c:v>Utility bill inserts</c:v>
                </c:pt>
                <c:pt idx="8">
                  <c:v>Television</c:v>
                </c:pt>
                <c:pt idx="9">
                  <c:v>Newspaper advertisement</c:v>
                </c:pt>
                <c:pt idx="10">
                  <c:v>All other </c:v>
                </c:pt>
                <c:pt idx="11">
                  <c:v>All other</c:v>
                </c:pt>
              </c:strCache>
            </c:strRef>
          </c:cat>
          <c:val>
            <c:numRef>
              <c:f>Sheet1!$B$2:$B$13</c:f>
              <c:numCache>
                <c:formatCode>0%</c:formatCode>
                <c:ptCount val="12"/>
                <c:pt idx="0">
                  <c:v>0.48</c:v>
                </c:pt>
                <c:pt idx="1">
                  <c:v>0.09</c:v>
                </c:pt>
                <c:pt idx="2">
                  <c:v>0.0</c:v>
                </c:pt>
                <c:pt idx="3">
                  <c:v>0.0</c:v>
                </c:pt>
                <c:pt idx="4">
                  <c:v>0.0</c:v>
                </c:pt>
                <c:pt idx="5">
                  <c:v>0.0</c:v>
                </c:pt>
                <c:pt idx="6">
                  <c:v>0.03</c:v>
                </c:pt>
                <c:pt idx="7">
                  <c:v>0.03</c:v>
                </c:pt>
                <c:pt idx="8">
                  <c:v>0.0</c:v>
                </c:pt>
                <c:pt idx="9">
                  <c:v>0.03</c:v>
                </c:pt>
                <c:pt idx="10">
                  <c:v>0.33</c:v>
                </c:pt>
                <c:pt idx="11">
                  <c:v>0.0</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Q1 2025
(N=45)</c:v>
                </c:pt>
              </c:strCache>
            </c:strRef>
          </c:tx>
          <c:spPr>
            <a:solidFill>
              <a:srgbClr val="3233CC"/>
            </a:solidFill>
          </c:spPr>
          <c:invertIfNegative val="0"/>
          <c:dLbls>
            <c:dLbl>
              <c:idx val="0"/>
              <c:layout>
                <c:manualLayout>
                  <c:x val="1.8726959020547603E-2"/>
                  <c:y val="-4.7615298087738886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78F-9347-9FC8-FB69A09104DE}"/>
                </c:ext>
              </c:extLst>
            </c:dLbl>
            <c:dLbl>
              <c:idx val="1"/>
              <c:layout>
                <c:manualLayout>
                  <c:x val="6.804289576585734E-17"/>
                  <c:y val="6.3437269936690507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5E4-9746-BF4E-478D43DF2CB2}"/>
                </c:ext>
              </c:extLst>
            </c:dLbl>
            <c:dLbl>
              <c:idx val="11"/>
              <c:layout>
                <c:manualLayout>
                  <c:x val="7.4229471058030842E-3"/>
                  <c:y val="0"/>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5E4-9746-BF4E-478D43DF2CB2}"/>
                </c:ext>
              </c:extLst>
            </c:dLbl>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Sheet1!$A$2:$A$13</c:f>
              <c:strCache>
                <c:ptCount val="12"/>
                <c:pt idx="0">
                  <c:v>Friends/family/word-of-mouth</c:v>
                </c:pt>
                <c:pt idx="1">
                  <c:v>Austin Energy's website</c:v>
                </c:pt>
                <c:pt idx="2">
                  <c:v>AE Customer Assistance Program (CAPS)</c:v>
                </c:pt>
                <c:pt idx="3">
                  <c:v>Mall advertisement</c:v>
                </c:pt>
                <c:pt idx="4">
                  <c:v>On City’s website</c:v>
                </c:pt>
                <c:pt idx="5">
                  <c:v>Contractors</c:v>
                </c:pt>
                <c:pt idx="6">
                  <c:v>Radio</c:v>
                </c:pt>
                <c:pt idx="7">
                  <c:v>Utility bill inserts</c:v>
                </c:pt>
                <c:pt idx="8">
                  <c:v>Television</c:v>
                </c:pt>
                <c:pt idx="9">
                  <c:v>Newspaper advertisement</c:v>
                </c:pt>
                <c:pt idx="10">
                  <c:v>All other </c:v>
                </c:pt>
                <c:pt idx="11">
                  <c:v>All other</c:v>
                </c:pt>
              </c:strCache>
            </c:strRef>
          </c:cat>
          <c:val>
            <c:numRef>
              <c:f>Sheet1!$C$2:$C$13</c:f>
              <c:numCache>
                <c:formatCode>0%</c:formatCode>
                <c:ptCount val="12"/>
                <c:pt idx="0">
                  <c:v>0.4</c:v>
                </c:pt>
                <c:pt idx="1">
                  <c:v>0.4</c:v>
                </c:pt>
                <c:pt idx="2">
                  <c:v>0.0</c:v>
                </c:pt>
                <c:pt idx="3">
                  <c:v>0.04444444444444445</c:v>
                </c:pt>
                <c:pt idx="4">
                  <c:v>0.02222222222222222</c:v>
                </c:pt>
                <c:pt idx="5">
                  <c:v>0.06666666666666667</c:v>
                </c:pt>
                <c:pt idx="6">
                  <c:v>0.0</c:v>
                </c:pt>
                <c:pt idx="7">
                  <c:v>0.2</c:v>
                </c:pt>
                <c:pt idx="8">
                  <c:v>0.02222222222222222</c:v>
                </c:pt>
                <c:pt idx="9">
                  <c:v>0.0</c:v>
                </c:pt>
                <c:pt idx="10">
                  <c:v>0.0</c:v>
                </c:pt>
                <c:pt idx="11">
                  <c:v>0.06666666666666667</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Q2 2025
(N=46)</c:v>
                </c:pt>
              </c:strCache>
            </c:strRef>
          </c:tx>
          <c:spPr>
            <a:solidFill>
              <a:srgbClr val="00CC9A"/>
            </a:solidFill>
          </c:spPr>
          <c:invertIfNegative val="0"/>
          <c:dLbls>
            <c:dLbl>
              <c:idx val="2"/>
              <c:layout>
                <c:manualLayout>
                  <c:x val="-1.8726959020547603E-3"/>
                  <c:y val="-3.17460317460317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2D-8F45-BEA4-DD7B6F0918C9}"/>
                </c:ext>
              </c:extLst>
            </c:dLbl>
            <c:dLbl>
              <c:idx val="14"/>
              <c:layout>
                <c:manualLayout>
                  <c:x val="1.855736776450788E-3"/>
                  <c:y val="5.94204123620658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Sheet1!$A$2:$A$13</c:f>
              <c:strCache>
                <c:ptCount val="12"/>
                <c:pt idx="0">
                  <c:v>Friends/family/word-of-mouth</c:v>
                </c:pt>
                <c:pt idx="1">
                  <c:v>Austin Energy's website</c:v>
                </c:pt>
                <c:pt idx="2">
                  <c:v>AE Customer Assistance Program (CAPS)</c:v>
                </c:pt>
                <c:pt idx="3">
                  <c:v>Mall advertisement</c:v>
                </c:pt>
                <c:pt idx="4">
                  <c:v>On City’s website</c:v>
                </c:pt>
                <c:pt idx="5">
                  <c:v>Contractors</c:v>
                </c:pt>
                <c:pt idx="6">
                  <c:v>Radio</c:v>
                </c:pt>
                <c:pt idx="7">
                  <c:v>Utility bill inserts</c:v>
                </c:pt>
                <c:pt idx="8">
                  <c:v>Television</c:v>
                </c:pt>
                <c:pt idx="9">
                  <c:v>Newspaper advertisement</c:v>
                </c:pt>
                <c:pt idx="10">
                  <c:v>All other </c:v>
                </c:pt>
                <c:pt idx="11">
                  <c:v>All other</c:v>
                </c:pt>
              </c:strCache>
            </c:strRef>
          </c:cat>
          <c:val>
            <c:numRef>
              <c:f>Sheet1!$D$2:$D$13</c:f>
              <c:numCache>
                <c:formatCode>0%</c:formatCode>
                <c:ptCount val="12"/>
                <c:pt idx="0">
                  <c:v>0.2608695652173913</c:v>
                </c:pt>
                <c:pt idx="1">
                  <c:v>0.2391304347826087</c:v>
                </c:pt>
                <c:pt idx="2">
                  <c:v>0.02173913043478261</c:v>
                </c:pt>
                <c:pt idx="3">
                  <c:v>0.04347826086956522</c:v>
                </c:pt>
                <c:pt idx="4">
                  <c:v>0.1521739130434783</c:v>
                </c:pt>
                <c:pt idx="5">
                  <c:v>0.02173913043478261</c:v>
                </c:pt>
                <c:pt idx="6">
                  <c:v>0.0</c:v>
                </c:pt>
                <c:pt idx="7">
                  <c:v>0.1739130434782609</c:v>
                </c:pt>
                <c:pt idx="8">
                  <c:v>0.0</c:v>
                </c:pt>
                <c:pt idx="9">
                  <c:v>0.0</c:v>
                </c:pt>
                <c:pt idx="10">
                  <c:v>0.0</c:v>
                </c:pt>
                <c:pt idx="11">
                  <c:v>0.1739130434782609</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Q3 2025
(N=38)</c:v>
                </c:pt>
              </c:strCache>
            </c:strRef>
          </c:tx>
          <c:spPr>
            <a:solidFill>
              <a:schemeClr val="tx1"/>
            </a:solidFill>
          </c:spPr>
          <c:invertIfNegative val="0"/>
          <c:dLbls>
            <c:dLbl>
              <c:idx val="1"/>
              <c:layout>
                <c:manualLayout>
                  <c:x val="2.0413104540958599E-2"/>
                  <c:y val="-1.980368493893733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E4-9746-BF4E-478D43DF2CB2}"/>
                </c:ext>
              </c:extLst>
            </c:dLbl>
            <c:dLbl>
              <c:idx val="2"/>
              <c:layout>
                <c:manualLayout>
                  <c:x val="1.1236175412328561E-2"/>
                  <c:y val="-6.349081364829396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2D-8F45-BEA4-DD7B6F0918C9}"/>
                </c:ext>
              </c:extLst>
            </c:dLbl>
            <c:dLbl>
              <c:idx val="14"/>
              <c:layout>
                <c:manualLayout>
                  <c:x val="2.0413104540958599E-2"/>
                  <c:y val="3.96151678322529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Friends/family/word-of-mouth</c:v>
                </c:pt>
                <c:pt idx="1">
                  <c:v>Austin Energy's website</c:v>
                </c:pt>
                <c:pt idx="2">
                  <c:v>AE Customer Assistance Program (CAPS)</c:v>
                </c:pt>
                <c:pt idx="3">
                  <c:v>Mall advertisement</c:v>
                </c:pt>
                <c:pt idx="4">
                  <c:v>On City’s website</c:v>
                </c:pt>
                <c:pt idx="5">
                  <c:v>Contractors</c:v>
                </c:pt>
                <c:pt idx="6">
                  <c:v>Radio</c:v>
                </c:pt>
                <c:pt idx="7">
                  <c:v>Utility bill inserts</c:v>
                </c:pt>
                <c:pt idx="8">
                  <c:v>Television</c:v>
                </c:pt>
                <c:pt idx="9">
                  <c:v>Newspaper advertisement</c:v>
                </c:pt>
                <c:pt idx="10">
                  <c:v>All other </c:v>
                </c:pt>
                <c:pt idx="11">
                  <c:v>All other</c:v>
                </c:pt>
              </c:strCache>
            </c:strRef>
          </c:cat>
          <c:val>
            <c:numRef>
              <c:f>Sheet1!$E$2:$E$13</c:f>
              <c:numCache>
                <c:formatCode>0%</c:formatCode>
                <c:ptCount val="12"/>
                <c:pt idx="0">
                  <c:v>0.3157894736842105</c:v>
                </c:pt>
                <c:pt idx="1">
                  <c:v>0.23684210526315788</c:v>
                </c:pt>
                <c:pt idx="2">
                  <c:v>0.10526315789473684</c:v>
                </c:pt>
                <c:pt idx="3">
                  <c:v>0.07894736842105263</c:v>
                </c:pt>
                <c:pt idx="4">
                  <c:v>0.02631578947368421</c:v>
                </c:pt>
                <c:pt idx="5">
                  <c:v>0.02631578947368421</c:v>
                </c:pt>
                <c:pt idx="6">
                  <c:v>0.02631578947368421</c:v>
                </c:pt>
                <c:pt idx="7">
                  <c:v>0.0</c:v>
                </c:pt>
                <c:pt idx="8">
                  <c:v>0.0</c:v>
                </c:pt>
                <c:pt idx="9">
                  <c:v>0.0</c:v>
                </c:pt>
                <c:pt idx="10">
                  <c:v>0.0</c:v>
                </c:pt>
                <c:pt idx="11">
                  <c:v>0.34210526315789475</c:v>
                </c:pt>
              </c:numCache>
            </c:numRef>
          </c:val>
          <c:extLst>
            <c:ext xmlns:c16="http://schemas.microsoft.com/office/drawing/2014/chart" uri="{C3380CC4-5D6E-409C-BE32-E72D297353CC}">
              <c16:uniqueId val="{00000003-CC47-4228-84BB-2FF78CC943F0}"/>
            </c:ext>
          </c:extLst>
        </c:ser>
        <c:dLbls>
          <c:showLegendKey val="0"/>
          <c:showVal val="0"/>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240756421689441"/>
          <c:h val="5.345872694943792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8014803453525725"/>
          <c:y val="0.14592833876221498"/>
          <c:w val="0.58321878046561992"/>
          <c:h val="0.78987714483572291"/>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Text messages</c:v>
                </c:pt>
                <c:pt idx="2">
                  <c:v>Direct mail</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Sheet1!$B$2:$B$12</c:f>
              <c:numCache>
                <c:formatCode>0%</c:formatCode>
                <c:ptCount val="11"/>
                <c:pt idx="0">
                  <c:v>0.0</c:v>
                </c:pt>
                <c:pt idx="1">
                  <c:v>0.4545454545454545</c:v>
                </c:pt>
                <c:pt idx="2">
                  <c:v>0.09090909090909093</c:v>
                </c:pt>
                <c:pt idx="3">
                  <c:v>0.0</c:v>
                </c:pt>
                <c:pt idx="4">
                  <c:v>0.0</c:v>
                </c:pt>
                <c:pt idx="5">
                  <c:v>0.0</c:v>
                </c:pt>
                <c:pt idx="6">
                  <c:v>0.0303030303030303</c:v>
                </c:pt>
                <c:pt idx="7">
                  <c:v>0.7575757575757576</c:v>
                </c:pt>
                <c:pt idx="8">
                  <c:v>0.2424242424242424</c:v>
                </c:pt>
                <c:pt idx="9">
                  <c:v>0.1212121212121212</c:v>
                </c:pt>
                <c:pt idx="10">
                  <c:v>0.05263157894736842</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Q1 2025
(N=45)</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Text messages</c:v>
                </c:pt>
                <c:pt idx="2">
                  <c:v>Direct mail</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Sheet1!$C$2:$C$12</c:f>
              <c:numCache>
                <c:formatCode>0%</c:formatCode>
                <c:ptCount val="11"/>
                <c:pt idx="0">
                  <c:v>0.7111111111111111</c:v>
                </c:pt>
                <c:pt idx="1">
                  <c:v>0.3777777777777778</c:v>
                </c:pt>
                <c:pt idx="2">
                  <c:v>0.4444444444444444</c:v>
                </c:pt>
                <c:pt idx="3">
                  <c:v>0.3555555555555556</c:v>
                </c:pt>
                <c:pt idx="4">
                  <c:v>0.06666666666666667</c:v>
                </c:pt>
                <c:pt idx="5">
                  <c:v>0.1333333333333333</c:v>
                </c:pt>
                <c:pt idx="6">
                  <c:v>0.08888888888888889</c:v>
                </c:pt>
                <c:pt idx="7">
                  <c:v>0.0</c:v>
                </c:pt>
                <c:pt idx="8">
                  <c:v>0.0</c:v>
                </c:pt>
                <c:pt idx="9">
                  <c:v>0.0</c:v>
                </c:pt>
                <c:pt idx="10">
                  <c:v>0.0</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Q2 2025
(N=46)</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Text messages</c:v>
                </c:pt>
                <c:pt idx="2">
                  <c:v>Direct mail</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Sheet1!$D$2:$D$12</c:f>
              <c:numCache>
                <c:formatCode>0%</c:formatCode>
                <c:ptCount val="11"/>
                <c:pt idx="0">
                  <c:v>0.5869565217391305</c:v>
                </c:pt>
                <c:pt idx="1">
                  <c:v>0.3043478260869565</c:v>
                </c:pt>
                <c:pt idx="2">
                  <c:v>0.4130434782608696</c:v>
                </c:pt>
                <c:pt idx="3">
                  <c:v>0.2173913043478261</c:v>
                </c:pt>
                <c:pt idx="4">
                  <c:v>0.1521739130434783</c:v>
                </c:pt>
                <c:pt idx="5">
                  <c:v>0.06521739130434782</c:v>
                </c:pt>
                <c:pt idx="6">
                  <c:v>0.06521739130434782</c:v>
                </c:pt>
                <c:pt idx="7">
                  <c:v>0.0</c:v>
                </c:pt>
                <c:pt idx="8">
                  <c:v>0.0</c:v>
                </c:pt>
                <c:pt idx="9">
                  <c:v>0.0</c:v>
                </c:pt>
                <c:pt idx="10">
                  <c:v>0.06521739130434782</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Text messages</c:v>
                </c:pt>
                <c:pt idx="2">
                  <c:v>Direct mail</c:v>
                </c:pt>
                <c:pt idx="3">
                  <c:v>Austin Energy's website</c:v>
                </c:pt>
                <c:pt idx="4">
                  <c:v>Phone</c:v>
                </c:pt>
                <c:pt idx="5">
                  <c:v>Door hangers</c:v>
                </c:pt>
                <c:pt idx="6">
                  <c:v>Facebook, Twitter, or other Social Media</c:v>
                </c:pt>
                <c:pt idx="7">
                  <c:v>Email </c:v>
                </c:pt>
                <c:pt idx="8">
                  <c:v>Phone call</c:v>
                </c:pt>
                <c:pt idx="9">
                  <c:v>Austin Energy's Website</c:v>
                </c:pt>
                <c:pt idx="10">
                  <c:v>All other</c:v>
                </c:pt>
              </c:strCache>
            </c:strRef>
          </c:cat>
          <c:val>
            <c:numRef>
              <c:f>Sheet1!$E$2:$E$12</c:f>
              <c:numCache>
                <c:formatCode>0%</c:formatCode>
                <c:ptCount val="11"/>
                <c:pt idx="0">
                  <c:v>0.6842105263157895</c:v>
                </c:pt>
                <c:pt idx="1">
                  <c:v>0.2631578947368421</c:v>
                </c:pt>
                <c:pt idx="2">
                  <c:v>0.23684210526315788</c:v>
                </c:pt>
                <c:pt idx="3">
                  <c:v>0.21052631578947367</c:v>
                </c:pt>
                <c:pt idx="4">
                  <c:v>0.15789473684210525</c:v>
                </c:pt>
                <c:pt idx="5">
                  <c:v>0.07894736842105263</c:v>
                </c:pt>
                <c:pt idx="6">
                  <c:v>0.02631578947368421</c:v>
                </c:pt>
                <c:pt idx="7">
                  <c:v>0.0</c:v>
                </c:pt>
                <c:pt idx="8">
                  <c:v>0.0</c:v>
                </c:pt>
                <c:pt idx="9">
                  <c:v>0.0</c:v>
                </c:pt>
                <c:pt idx="10">
                  <c:v>0.02631578947368421</c:v>
                </c:pt>
              </c:numCache>
            </c:numRef>
          </c:val>
          <c:extLst>
            <c:ext xmlns:c16="http://schemas.microsoft.com/office/drawing/2014/chart" uri="{C3380CC4-5D6E-409C-BE32-E72D297353CC}">
              <c16:uniqueId val="{00000003-08BA-4719-85C8-FABAF5FAC883}"/>
            </c:ext>
          </c:extLst>
        </c:ser>
        <c:dLbls>
          <c:showLegendKey val="0"/>
          <c:showVal val="0"/>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0.24242424242424243</c:v>
                </c:pt>
                <c:pt idx="1">
                  <c:v>0.17777777777777778</c:v>
                </c:pt>
                <c:pt idx="2">
                  <c:v>0.2391304347826087</c:v>
                </c:pt>
                <c:pt idx="3">
                  <c:v>0.21052631578947367</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0.2</c:v>
                </c:pt>
                <c:pt idx="2">
                  <c:v>0.10869565217391304</c:v>
                </c:pt>
                <c:pt idx="3">
                  <c:v>0.07894736842105263</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0.48484848484848486</c:v>
                </c:pt>
                <c:pt idx="1">
                  <c:v>0.4222222222222222</c:v>
                </c:pt>
                <c:pt idx="2">
                  <c:v>0.5652173913043478</c:v>
                </c:pt>
                <c:pt idx="3">
                  <c:v>0.5789473684210527</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0.8099999999999999</c:v>
                </c:pt>
              </c:numCache>
            </c:numRef>
          </c:val>
          <c:extLst>
            <c:ext xmlns:c16="http://schemas.microsoft.com/office/drawing/2014/chart" uri="{C3380CC4-5D6E-409C-BE32-E72D297353CC}">
              <c16:uniqueId val="{00000004-3743-46B7-9453-554D3F76B7F0}"/>
            </c:ext>
          </c:extLst>
        </c:ser>
        <c:ser>
          <c:idx val="4"/>
          <c:order val="4"/>
          <c:tx>
            <c:strRef>
              <c:f>Sheet1!$F$1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Sheet1!$F$2:$F$5</c:f>
              <c:numCache>
                <c:formatCode>0%</c:formatCode>
                <c:ptCount val="4"/>
                <c:pt idx="1">
                  <c:v>0.8</c:v>
                </c:pt>
                <c:pt idx="2">
                  <c:v>0.9130434782608695</c:v>
                </c:pt>
                <c:pt idx="3">
                  <c:v>0.868421052631579</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0.6666666666666666</c:v>
                </c:pt>
                <c:pt idx="1">
                  <c:v>0.1111111111111111</c:v>
                </c:pt>
                <c:pt idx="2">
                  <c:v>0.13333333333333333</c:v>
                </c:pt>
                <c:pt idx="3">
                  <c:v>0.08888888888888889</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0.5652173913043478</c:v>
                </c:pt>
                <c:pt idx="1">
                  <c:v>0.17391304347826086</c:v>
                </c:pt>
                <c:pt idx="2">
                  <c:v>0.15217391304347827</c:v>
                </c:pt>
                <c:pt idx="3">
                  <c:v>0.10869565217391304</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0.4473684210526316</c:v>
                </c:pt>
                <c:pt idx="1">
                  <c:v>0.18421052631578946</c:v>
                </c:pt>
                <c:pt idx="2">
                  <c:v>0.15789473684210525</c:v>
                </c:pt>
                <c:pt idx="3">
                  <c:v>0.21052631578947367</c:v>
                </c:pt>
              </c:numCache>
            </c:numRef>
          </c:val>
          <c:extLst>
            <c:ext xmlns:c16="http://schemas.microsoft.com/office/drawing/2014/chart" uri="{C3380CC4-5D6E-409C-BE32-E72D297353CC}">
              <c16:uniqueId val="{00000001-7258-4992-8173-9478F5C9226D}"/>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2012358652536854"/>
          <c:y val="7.1924555082085506E-2"/>
          <c:w val="0.61070348114380435"/>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dLbl>
              <c:idx val="1"/>
              <c:layout>
                <c:manualLayout>
                  <c:x val="-3.7593984962406013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FE-264A-AA8F-8C5E1D74083B}"/>
                </c:ext>
              </c:extLst>
            </c:dLbl>
            <c:dLbl>
              <c:idx val="2"/>
              <c:layout>
                <c:manualLayout>
                  <c:x val="1.8796992481203006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08-5A44-AE10-D32273A62191}"/>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1">
                  <c:v>0.030303030303030304</c:v>
                </c:pt>
                <c:pt idx="2">
                  <c:v>0.30303030303030304</c:v>
                </c:pt>
                <c:pt idx="3">
                  <c:v>0.3636363636363637</c:v>
                </c:pt>
                <c:pt idx="4">
                  <c:v>0.30303030303030304</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233CC"/>
            </a:solidFill>
          </c:spPr>
          <c:invertIfNegative val="0"/>
          <c:dLbls>
            <c:dLbl>
              <c:idx val="4"/>
              <c:layout>
                <c:manualLayout>
                  <c:x val="5.6390977443609019E-3"/>
                  <c:y val="-2.33463035019456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FE-264A-AA8F-8C5E1D74083B}"/>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0.06666666666666667</c:v>
                </c:pt>
                <c:pt idx="2">
                  <c:v>0.37777777777777777</c:v>
                </c:pt>
                <c:pt idx="3">
                  <c:v>0.37777777777777777</c:v>
                </c:pt>
                <c:pt idx="4">
                  <c:v>0.1111111111111111</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Q2 2025
(N=46)</c:v>
                </c:pt>
              </c:strCache>
            </c:strRef>
          </c:tx>
          <c:spPr>
            <a:solidFill>
              <a:srgbClr val="00CC99"/>
            </a:solidFill>
          </c:spPr>
          <c:invertIfNegative val="0"/>
          <c:dLbls>
            <c:dLbl>
              <c:idx val="0"/>
              <c:layout>
                <c:manualLayout>
                  <c:x val="5.6390977443608681E-3"/>
                  <c:y val="-2.59403372243839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F-41DB-9749-29C4F283D6D5}"/>
                </c:ext>
              </c:extLst>
            </c:dLbl>
            <c:dLbl>
              <c:idx val="2"/>
              <c:layout>
                <c:manualLayout>
                  <c:x val="3.7593984962406013E-3"/>
                  <c:y val="-4.66926070038911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FE-264A-AA8F-8C5E1D74083B}"/>
                </c:ext>
              </c:extLst>
            </c:dLbl>
            <c:dLbl>
              <c:idx val="3"/>
              <c:layout>
                <c:manualLayout>
                  <c:x val="1.8796992481203006E-3"/>
                  <c:y val="-1.03761348897535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FE-264A-AA8F-8C5E1D74083B}"/>
                </c:ext>
              </c:extLst>
            </c:dLbl>
            <c:dLbl>
              <c:idx val="4"/>
              <c:layout>
                <c:manualLayout>
                  <c:x val="1.87969924812016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08-5A44-AE10-D32273A62191}"/>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0">
                  <c:v>0.021739130434782608</c:v>
                </c:pt>
                <c:pt idx="1">
                  <c:v>0.15217391304347827</c:v>
                </c:pt>
                <c:pt idx="2">
                  <c:v>0.3695652173913043</c:v>
                </c:pt>
                <c:pt idx="3">
                  <c:v>0.2608695652173913</c:v>
                </c:pt>
                <c:pt idx="4">
                  <c:v>0.15217391304347827</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Q3 2025
(N=38)</c:v>
                </c:pt>
              </c:strCache>
            </c:strRef>
          </c:tx>
          <c:spPr>
            <a:solidFill>
              <a:schemeClr val="tx1"/>
            </a:solidFill>
          </c:spPr>
          <c:invertIfNegative val="0"/>
          <c:dLbls>
            <c:dLbl>
              <c:idx val="1"/>
              <c:layout>
                <c:manualLayout>
                  <c:x val="1.8796992481202937E-2"/>
                  <c:y val="-9.511347106380694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A-8A48-8F90-56878AD4850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0">
                  <c:v>0.07894736842105263</c:v>
                </c:pt>
                <c:pt idx="1">
                  <c:v>0.10526315789473684</c:v>
                </c:pt>
                <c:pt idx="2">
                  <c:v>0.3157894736842105</c:v>
                </c:pt>
                <c:pt idx="3">
                  <c:v>0.4473684210526316</c:v>
                </c:pt>
                <c:pt idx="4">
                  <c:v>0.05263157894736842</c:v>
                </c:pt>
              </c:numCache>
            </c:numRef>
          </c:val>
          <c:extLst>
            <c:ext xmlns:c16="http://schemas.microsoft.com/office/drawing/2014/chart" uri="{C3380CC4-5D6E-409C-BE32-E72D297353CC}">
              <c16:uniqueId val="{00000001-B251-43C1-89EF-86F39D1E8950}"/>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19380779705168433"/>
          <c:y val="5.9662775616083012E-2"/>
          <c:w val="0.61850526907820735"/>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omments/modernComment_254_66F63346.xml><?xml version="1.0" encoding="utf-8"?>
<p188:cmLst xmlns:a="http://schemas.openxmlformats.org/drawingml/2006/main" xmlns:r="http://schemas.openxmlformats.org/officeDocument/2006/relationships" xmlns:p188="http://schemas.microsoft.com/office/powerpoint/2018/8/main">
  <p188:cm id="{CF37E07D-6BEC-2943-A989-13B57669EC97}" authorId="{67A16604-D201-06CE-DBDB-10CEC180544C}" created="2024-07-19T11:39:55.880">
    <pc:sldMkLst xmlns:pc="http://schemas.microsoft.com/office/powerpoint/2013/main/command">
      <pc:docMk/>
      <pc:sldMk cId="1727411014" sldId="596"/>
    </pc:sldMkLst>
    <p188:txBody>
      <a:bodyPr/>
      <a:lstStyle/>
      <a:p>
        <a:r>
          <a:rPr lang="en-US"/>
          <a:t>I do not have the data to update the number of contacts provided .</a:t>
        </a:r>
      </a:p>
    </p188:txBody>
  </p188:cm>
</p188:cmLst>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254_66F633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Q3
</a:t>
            </a:r>
            <a:r>
              <a:rPr sz="1600">
                <a:latin typeface="Arial"/>
              </a:rPr>
              <a:t>July 2025</a:t>
            </a:r>
            <a:endParaRPr lang="en-US" altLang="en-US" sz="1800" b="1">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113" y="838200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a:ea typeface="Geneva"/>
              <a:cs typeface="Geneva"/>
            </a:endParaRPr>
          </a:p>
          <a:p>
            <a:pPr algn="l"/>
            <a:r>
              <a:rPr sz="1800">
                <a:latin typeface="Tahoma"/>
              </a:rPr>
              <a:t>Customers’ overall satisfaction with Austin Energy’s Weatherization Program remained favorable with a score of 84% for Q3 2025.</a:t>
            </a:r>
          </a:p>
          <a:p>
            <a:pPr algn="l"/>
            <a:r>
              <a:rPr sz="1800">
                <a:latin typeface="Tahoma"/>
              </a:rPr>
              <a:t>Overall satisfaction level with Austin Energy improved to 87% in Q3 2025 from 89% in Q2 2024.</a:t>
            </a:r>
          </a:p>
          <a:p>
            <a:pPr algn="l"/>
            <a:r>
              <a:rPr sz="1800">
                <a:latin typeface="Tahoma"/>
              </a:rPr>
              <a:t>Customers indicated a need for the program and home weatherization assistance.</a:t>
            </a:r>
          </a:p>
          <a:p>
            <a:pPr algn="l"/>
            <a:r>
              <a:rPr sz="1800">
                <a:latin typeface="Tahoma"/>
              </a:rPr>
              <a:t>95% of customers would recommend this program to a friend or family member.</a:t>
            </a:r>
          </a:p>
          <a:p>
            <a:pPr algn="l"/>
            <a:r>
              <a:rPr sz="1800">
                <a:latin typeface="Tahoma"/>
              </a:rPr>
              <a:t>78%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228600" y="1219200"/>
            <a:ext cx="6172200" cy="6934200"/>
          </a:xfrm>
        </p:spPr>
        <p:txBody>
          <a:bodyPr/>
          <a:lstStyle/>
          <a:p>
            <a:pPr lvl="0" algn="l">
              <a:lnSpc>
                <a:spcPts val="2000"/>
              </a:lnSpc>
              <a:defRPr/>
            </a:pPr>
            <a:r>
              <a:rPr sz="1800" b="0" i="0">
                <a:solidFill>
                  <a:srgbClr val="000000"/>
                </a:solidFill>
                <a:latin typeface="Tahoma"/>
              </a:rPr>
              <a:t>Overall satisfaction score with energy savings was 50% in Q3 2025, UP/DOWN/UNCHANGED from PREVIOUS QTR% in Q2.</a:t>
            </a:r>
          </a:p>
          <a:p/>
          <a:p>
            <a:pPr algn="l" lvl="0">
              <a:lnSpc>
                <a:spcPts val="2000"/>
              </a:lnSpc>
            </a:pPr>
            <a:r>
              <a:rPr sz="1800" b="0" i="0">
                <a:solidFill>
                  <a:srgbClr val="000000"/>
                </a:solidFill>
                <a:latin typeface="Tahoma"/>
              </a:rPr>
              <a:t>Contractor and customer service ratings remained relatively high for all attributes.</a:t>
            </a:r>
          </a:p>
          <a:p/>
          <a:p>
            <a:pPr algn="l" lvl="0">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p>
            <a:pPr algn="l" lvl="0">
              <a:lnSpc>
                <a:spcPts val="2000"/>
              </a:lnSpc>
            </a:pPr>
            <a:r>
              <a:rPr sz="1800" b="0" i="0">
                <a:solidFill>
                  <a:srgbClr val="000000"/>
                </a:solidFill>
                <a:latin typeface="Tahoma"/>
              </a:rPr>
              <a:t>For this quarter, Friends/family/word of mouth, Austin Energy’s website, and AE Customer Assistance Program (CAPS) were the top responses for how customers first learned about the weatherization program.</a:t>
            </a:r>
          </a:p>
          <a:p/>
          <a:p>
            <a:pPr algn="l" lvl="0">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nvGraphicFramePr>
        <p:xfrm>
          <a:off x="50801" y="12763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23430785"/>
              </p:ext>
            </p:extLst>
          </p:nvPr>
        </p:nvGraphicFramePr>
        <p:xfrm>
          <a:off x="50800" y="14652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762000">
                <a:tc>
                  <a:txBody>
                    <a:bodyPr/>
                    <a:lstStyle/>
                    <a:p>
                      <a:pPr algn="l"/>
                      <a:r>
                        <a:rPr sz="1300" b="0" i="0">
                          <a:solidFill>
                            <a:srgbClr val="000000"/>
                          </a:solidFill>
                          <a:latin typeface="Tahoma"/>
                        </a:rPr>
                        <a:t>Weatherization program depending on cost, might be overkill or wasteful. I would need more information to give it a higher score.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It's important but people came and left mess and weren't very helpful. Damaged MY big shop vac vacuumed wet mastic. F ers Don't get me stared on the hole.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Because it's really up to them if they would prefer to do it</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r>
            </a:tbl>
          </a:graphicData>
        </a:graphic>
      </p:graphicFrame>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976561412"/>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354065040"/>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7079111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68354326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862803879"/>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020272971"/>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273494832"/>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508000">
                <a:tc>
                  <a:txBody>
                    <a:bodyPr/>
                    <a:lstStyle/>
                    <a:p>
                      <a:pPr algn="l"/>
                      <a:r>
                        <a:rPr sz="1300" b="0" i="0">
                          <a:solidFill>
                            <a:srgbClr val="000000"/>
                          </a:solidFill>
                          <a:latin typeface="Tahoma"/>
                        </a:rPr>
                        <a:t>Better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508000">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508000">
                <a:tc>
                  <a:txBody>
                    <a:bodyPr/>
                    <a:lstStyle/>
                    <a:p>
                      <a:pPr algn="l"/>
                      <a:r>
                        <a:rPr sz="1300" b="0" i="0">
                          <a:solidFill>
                            <a:srgbClr val="000000"/>
                          </a:solidFill>
                          <a:latin typeface="Tahoma"/>
                        </a:rPr>
                        <a:t>Make sure equipment is good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Complete all promised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762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Because of the moisture for one. For a long time, it was very humid. I feel like it didn't really change anything.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I don't think I got enough benefit out of it. I know it doesn't cost anything, but I don't think it really helped at all.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It took a really long time. I don't think they accomplished anything. It was just awful.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r>
            </a:tbl>
          </a:graphicData>
        </a:graphic>
      </p:graphicFrame>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47</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34553801"/>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973189737"/>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881928283"/>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5080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Complete work correctly</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Inform me of what is being repaired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Improve, increase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c>
                  <a:txBody>
                    <a:bodyPr/>
                    <a:lstStyle/>
                    <a:p>
                      <a:pPr algn="ctr"/>
                      <a:r>
                        <a:rPr sz="1300" b="0" i="0">
                          <a:solidFill>
                            <a:srgbClr val="FFFFFF"/>
                          </a:solidFill>
                          <a:latin typeface="Tahoma"/>
                        </a:rPr>
                        <a:t>46</a:t>
                      </a:r>
                    </a:p>
                  </a:txBody>
                  <a:tcPr anchor="ctr">
                    <a:solidFill>
                      <a:srgbClr val="5A80B8"/>
                    </a:solidFill>
                  </a:tcPr>
                </a:tc>
                <a:tc>
                  <a:txBody>
                    <a:bodyPr/>
                    <a:lstStyle/>
                    <a:p>
                      <a:pPr algn="ctr"/>
                      <a:r>
                        <a:rPr sz="1300" b="0"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1595924"/>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296376831"/>
              </p:ext>
            </p:extLst>
          </p:nvPr>
        </p:nvGraphicFramePr>
        <p:xfrm>
          <a:off x="50801" y="137160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742575478"/>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715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5715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5715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Follow up after a few months to check on work performed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5</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c>
                  <a:txBody>
                    <a:bodyPr/>
                    <a:lstStyle/>
                    <a:p>
                      <a:pPr algn="ctr"/>
                      <a:r>
                        <a:rPr sz="1300" b="0" i="0">
                          <a:solidFill>
                            <a:srgbClr val="FFFFFF"/>
                          </a:solidFill>
                          <a:latin typeface="Tahoma"/>
                        </a:rPr>
                        <a:t>46</a:t>
                      </a:r>
                    </a:p>
                  </a:txBody>
                  <a:tcPr anchor="ctr">
                    <a:solidFill>
                      <a:srgbClr val="5A80B8"/>
                    </a:solidFill>
                  </a:tcPr>
                </a:tc>
                <a:tc>
                  <a:txBody>
                    <a:bodyPr/>
                    <a:lstStyle/>
                    <a:p>
                      <a:pPr algn="ctr"/>
                      <a:r>
                        <a:rPr sz="1300" b="0"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13. Was there anything about your experience with the people who weatherized your home that you would like to share with Austin Energy?</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91802184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tc>
                  <a:txBody>
                    <a:bodyPr/>
                    <a:lstStyle/>
                    <a:p>
                      <a:pPr algn="ctr"/>
                      <a:r>
                        <a:rPr sz="1300" b="1" i="0">
                          <a:solidFill>
                            <a:srgbClr val="FFFFFF"/>
                          </a:solidFill>
                          <a:latin typeface="Tahoma"/>
                        </a:rPr>
                        <a:t>37</a:t>
                      </a:r>
                    </a:p>
                  </a:txBody>
                  <a:tcPr anchor="ctr">
                    <a:solidFill>
                      <a:srgbClr val="5A80B8"/>
                    </a:solidFill>
                  </a:tcPr>
                </a:tc>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48146545"/>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85750">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37790173"/>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r>
              <a:tr h="508000">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508000">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08000">
                <a:tc>
                  <a:txBody>
                    <a:bodyPr/>
                    <a:lstStyle/>
                    <a:p>
                      <a:pPr algn="l"/>
                      <a:r>
                        <a:rPr sz="1300" b="0" i="0">
                          <a:solidFill>
                            <a:srgbClr val="000000"/>
                          </a:solidFill>
                          <a:latin typeface="Tahoma"/>
                        </a:rPr>
                        <a:t>Complete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 follow ups with the customers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508000">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508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22</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1</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919611102"/>
              </p:ext>
            </p:extLst>
          </p:nvPr>
        </p:nvGraphicFramePr>
        <p:xfrm>
          <a:off x="14356" y="1371600"/>
          <a:ext cx="6843643"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841468582"/>
              </p:ext>
            </p:extLst>
          </p:nvPr>
        </p:nvGraphicFramePr>
        <p:xfrm>
          <a:off x="133" y="990600"/>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384144801"/>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048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3048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r>
              <a:tr h="3048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3048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Anything useful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Communicate details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321920897"/>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98262214"/>
              </p:ext>
            </p:extLst>
          </p:nvPr>
        </p:nvGraphicFramePr>
        <p:xfrm>
          <a:off x="29308" y="10336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E31-2491-E16B-5725-5843319FE222}"/>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D9CC2B8B-77D9-EF38-B2C1-BCDF6AEF3362}"/>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a:extLst>
              <a:ext uri="{FF2B5EF4-FFF2-40B4-BE49-F238E27FC236}">
                <a16:creationId xmlns:a16="http://schemas.microsoft.com/office/drawing/2014/main" id="{ED2C9CA4-C99A-FCD2-E77F-DD51B3AD3E75}"/>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D0AE372A-084E-9095-BA69-D2FF70E46156}"/>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1A5B7E8D-1F0F-3E60-A629-98596DC2FEBA}"/>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1944">
                <a:tc>
                  <a:txBody>
                    <a:bodyPr/>
                    <a:lstStyle/>
                    <a:p>
                      <a:pPr algn="ct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41944">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41944">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41944">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41944">
                <a:tc>
                  <a:txBody>
                    <a:bodyPr/>
                    <a:lstStyle/>
                    <a:p>
                      <a:pPr algn="l"/>
                      <a:r>
                        <a:rPr sz="1200" b="0" i="0">
                          <a:solidFill>
                            <a:srgbClr val="000000"/>
                          </a:solidFill>
                          <a:latin typeface="Tahoma"/>
                        </a:rPr>
                        <a:t>Not that I can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not commet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people who want this program should reach out to Austin energy to help with energy efficiency,  its a lot of help, and a lot of knowledge of your home and you can learn a lot about saving energy in your home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try it you will be pleased, its worth it, you wont regret it.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free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its a great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tell people to try it out for them selves, i recommend it city of Austin is helping with these issues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cant think of any other thing to say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fabulous worth it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refuse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Relief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The program is wonderful. I am a 78 year old and appreciate having the work done.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weatherization helped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i think efficiency is important the purpose is to improve your homes efficiency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home improvement qualifications are important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Use the word "free"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this program helps a lot, i have mentioned to my friends but not everyone is approved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Environmental protection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Awesome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Income/residents qualification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Environment enhanced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Hugely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Idk</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Not sure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1944">
                <a:tc>
                  <a:txBody>
                    <a:bodyPr/>
                    <a:lstStyle/>
                    <a:p>
                      <a:pPr algn="l"/>
                      <a:r>
                        <a:rPr sz="1200" b="0" i="0">
                          <a:solidFill>
                            <a:srgbClr val="000000"/>
                          </a:solidFill>
                          <a:latin typeface="Tahoma"/>
                        </a:rPr>
                        <a:t>No I can't think of anything.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can't think of anything</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Low income home improvement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Anything that the city offers the low-income residences; apply for it. Low-income people need all the help they can get.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Saving money increased comfort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The title now is great. Austin Energy Efficiency Program.</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 pain in the butt. There was an issue with my water heater getting tagged after they did the work. Whatever they did caused the gas company to shut off my gas. They were difficult to acknowledge that.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My age or income didn't seem to be a factor in the weatherization program. Income does seem to be a factor in the hands on housing program I’m applying for.  I don't exactly know how to describe it except that it is wonderful! I could not have afforded these upgrades but they will save me money and are good for our environment too.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Austin weatherization program to qualifying customers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Efficiency</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Environmentally Friendly</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Equitable Weatherization</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Exceptional</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Extremely helpful</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Already appropriately described.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Tackling global warming one house at a time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Save money, save energy. Good for you, good for the environment. Good for everyone why not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Not really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Weatherization assistance free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other words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Fair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None I could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response.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answer.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 improvement enrichment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think anyone who owns a home for 5\10 years should qualify for the home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Great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Awesome, great ideas, and prefer for every home.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Thank you!</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 very thorough duct replacement.  Magnificent.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God sent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already got three people signed up by telling them what I had done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The way it was worded was Low to moderate income individuals.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 improvement qualification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Okay, hopefully a better crew</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Austin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Totally worth the upgrades needed highly recommend the changes that were completed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Energy and cost savings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 /energy assistance… maybe they don’t know what weatherization means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The program help elderly people as well.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think “income qualified upgrades” is a good description.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Save money.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 improvement. Increased home value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Very good program that many should take advantage of if eligible.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Energy savings plus comfortable living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Helping reach carbon neutral goals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Income qualified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response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Income qualified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None that I can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Go for it.  If you get a good contractor it’s 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recommended the program to my neighbors. I believe I used the word “unbelievable “because I couldn’t believe it was done at no cost to 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Homes 10 years and older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Every effect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think it's wonderful</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Homeowner program</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None/nothing</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changes, stay the same</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 have referred neighbors and all have been very pleased.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Helpful, efficient, eco-conscious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Older home weatherization</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It has saved me money on my utility bill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Assistance for senior citizens and those we deem are in need, regardless of if all credentials are met that would qualify you for assistance through the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Energy saving weatherization help!</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Great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No answer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Helps the planet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Home improvement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Subsidized home improvements, energy efficient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1944">
                <a:tc>
                  <a:txBody>
                    <a:bodyPr/>
                    <a:lstStyle/>
                    <a:p>
                      <a:pPr algn="l"/>
                      <a:r>
                        <a:rPr sz="1200" b="0" i="0">
                          <a:solidFill>
                            <a:srgbClr val="000000"/>
                          </a:solidFill>
                          <a:latin typeface="Tahoma"/>
                        </a:rPr>
                        <a:t>Don’t know</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42048">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1220586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2045784845"/>
              </p:ext>
            </p:extLst>
          </p:nvPr>
        </p:nvGraphicFramePr>
        <p:xfrm>
          <a:off x="485927" y="1321432"/>
          <a:ext cx="5886145" cy="6932858"/>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bl>
          </a:graphicData>
        </a:graphic>
      </p:graphicFrame>
    </p:spTree>
    <p:extLst>
      <p:ext uri="{BB962C8B-B14F-4D97-AF65-F5344CB8AC3E}">
        <p14:creationId xmlns:p14="http://schemas.microsoft.com/office/powerpoint/2010/main" val="2106910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2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879476681"/>
              </p:ext>
            </p:extLst>
          </p:nvPr>
        </p:nvGraphicFramePr>
        <p:xfrm>
          <a:off x="514654" y="1296536"/>
          <a:ext cx="5886145" cy="6715546"/>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408126">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3872747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5380707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19778">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19778">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19778">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408126">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19778">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19778">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19778">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19778">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19778">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408126">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21625">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21625">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CE6F1"/>
                    </a:solidFill>
                  </a:tcPr>
                </a:tc>
                <a:extLst>
                  <a:ext uri="{0D108BD9-81ED-4DB2-BD59-A6C34878D82A}">
                    <a16:rowId xmlns:a16="http://schemas.microsoft.com/office/drawing/2014/main" val="4068219562"/>
                  </a:ext>
                </a:extLst>
              </a:tr>
              <a:tr h="221625">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DCE6F1"/>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7339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C0D3-9D5C-03FB-A235-67CDAA15B423}"/>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C3BD757-E22A-8CA5-CD5D-3E7F8D9EDFCC}"/>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3 of 3)</a:t>
            </a:r>
            <a:endParaRPr lang="en-US" altLang="en-US"/>
          </a:p>
        </p:txBody>
      </p:sp>
      <p:sp>
        <p:nvSpPr>
          <p:cNvPr id="23555" name="Slide Number Placeholder 7">
            <a:extLst>
              <a:ext uri="{FF2B5EF4-FFF2-40B4-BE49-F238E27FC236}">
                <a16:creationId xmlns:a16="http://schemas.microsoft.com/office/drawing/2014/main" id="{3C731882-17C9-62CC-B978-F7C6EB539231}"/>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1ED5A6ED-9335-53A3-FA65-3F332554071B}"/>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0A3082A5-4124-0FF2-C6A7-7F81BC703AA1}"/>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94840290-6ABC-48F4-F41B-B018492D8A38}"/>
              </a:ext>
            </a:extLst>
          </p:cNvPr>
          <p:cNvGraphicFramePr>
            <a:graphicFrameLocks noGrp="1"/>
          </p:cNvGraphicFramePr>
          <p:nvPr>
            <p:extLst>
              <p:ext uri="{D42A27DB-BD31-4B8C-83A1-F6EECF244321}">
                <p14:modId xmlns:p14="http://schemas.microsoft.com/office/powerpoint/2010/main" val="2016592355"/>
              </p:ext>
            </p:extLst>
          </p:nvPr>
        </p:nvGraphicFramePr>
        <p:xfrm>
          <a:off x="514654" y="1296536"/>
          <a:ext cx="5886145" cy="6870094"/>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87733">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387274723"/>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41814725"/>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880038080"/>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53807071"/>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03799">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03799">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03799">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56533">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387733">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03799">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03799">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03799">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03799">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03799">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03799">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387733">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10551">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10551">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68219562"/>
                  </a:ext>
                </a:extLst>
              </a:tr>
              <a:tr h="21055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451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60"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4572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r>
              <a:tr h="4572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r>
              <a:tr h="4572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61"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8575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8575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r>
              <a:tr h="28575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8575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8575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r>
              <a:tr h="28575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69419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23560"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29%</a:t>
                      </a:r>
                    </a:p>
                  </a:txBody>
                  <a:tcPr anchor="ctr">
                    <a:solidFill>
                      <a:srgbClr val="E0E5F0"/>
                    </a:solidFill>
                  </a:tcPr>
                </a:tc>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61" name="Table 5"/>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4572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r>
              <a:tr h="4572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85%</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r>
              <a:tr h="457200">
                <a:tc>
                  <a:txBody>
                    <a:bodyPr/>
                    <a:lstStyle/>
                    <a:p>
                      <a:pPr algn="l"/>
                      <a:r>
                        <a:rPr sz="1200" b="0" i="0">
                          <a:solidFill>
                            <a:srgbClr val="000000"/>
                          </a:solidFill>
                          <a:latin typeface="Tahoma"/>
                        </a:rPr>
                        <a:t>Base:</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graphicFrame>
        <p:nvGraphicFramePr>
          <p:cNvPr id="23560"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34%</a:t>
                      </a:r>
                    </a:p>
                  </a:txBody>
                  <a:tcPr anchor="ctr">
                    <a:solidFill>
                      <a:srgbClr val="E0E5F0"/>
                    </a:solidFill>
                  </a:tcPr>
                </a:tc>
              </a:tr>
              <a:tr h="2286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61"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8575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8575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8575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8575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8575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74%</a:t>
                      </a:r>
                    </a:p>
                  </a:txBody>
                  <a:tcPr anchor="ctr">
                    <a:solidFill>
                      <a:srgbClr val="E0E5F0"/>
                    </a:solidFill>
                  </a:tcPr>
                </a:tc>
              </a:tr>
              <a:tr h="28575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41829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60</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34470">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13447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64%</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r>
              <a:tr h="13447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r>
              <a:tr h="13447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r>
              <a:tr h="134470">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13448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331388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42875">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1587676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62</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142653356"/>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63</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altLang="en-US" sz="1800">
                <a:cs typeface="Geneva"/>
              </a:rPr>
              <a:t>During January 2025, Creative Consumer Research (CCR) conducted 33 telephone interviews with individuals living in homes that went through Austin Energy’s Low Income Weatherization Program.</a:t>
            </a:r>
          </a:p>
          <a:p>
            <a:pPr>
              <a:spcBef>
                <a:spcPts val="600"/>
              </a:spcBef>
            </a:pPr>
            <a:r>
              <a:rPr lang="en-US" altLang="en-US" sz="1800">
                <a:ea typeface="Geneva"/>
                <a:cs typeface="Geneva"/>
              </a:rPr>
              <a:t>This quarter 36 contacts were provided, and the average survey length was 17 minutes.</a:t>
            </a: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64</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D050B2-3251-403C-968B-F8C9227395F9}">
  <ds:schemaRefs>
    <ds:schemaRef ds:uri="http://schemas.microsoft.com/sharepoint/v3/contenttype/forms"/>
  </ds:schemaRefs>
</ds:datastoreItem>
</file>

<file path=customXml/itemProps3.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94</TotalTime>
  <Words>6862</Words>
  <Application>Microsoft Macintosh PowerPoint</Application>
  <PresentationFormat>On-screen Show (4:3)</PresentationFormat>
  <Paragraphs>2070</Paragraphs>
  <Slides>64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Q2
April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  (Table 1 of 3)</vt:lpstr>
      <vt:lpstr>Possible Low Income Weatherization Program Names  (Table 1 of 3)</vt:lpstr>
      <vt:lpstr>Possible Low Income Weatherization Program Names (Table 2 of 3)</vt:lpstr>
      <vt:lpstr>Possible Low Income Weatherization Program Names (Table 3 of 3)</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14</cp:revision>
  <cp:lastPrinted>2024-11-19T11:53:05Z</cp:lastPrinted>
  <dcterms:created xsi:type="dcterms:W3CDTF">2004-11-29T14:50:58Z</dcterms:created>
  <dcterms:modified xsi:type="dcterms:W3CDTF">2025-12-12T18:13:08Z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