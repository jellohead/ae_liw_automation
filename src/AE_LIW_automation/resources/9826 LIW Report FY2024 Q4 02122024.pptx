
<file path=[Content_Types].xml><?xml version="1.0" encoding="utf-8"?>
<Types xmlns="http://schemas.openxmlformats.org/package/2006/content-types">
  <Default Extension="emf" ContentType="image/x-emf"/>
  <Default Extension="gif" ContentType="image/gif"/>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drawings/drawing3.xml" ContentType="application/vnd.openxmlformats-officedocument.drawingml.chartshapes+xml"/>
  <Override PartName="/ppt/charts/chart10.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1.xml" ContentType="application/vnd.openxmlformats-officedocument.drawingml.chart+xml"/>
  <Override PartName="/ppt/drawings/drawing4.xml" ContentType="application/vnd.openxmlformats-officedocument.drawingml.chartshapes+xml"/>
  <Override PartName="/ppt/charts/chart12.xml" ContentType="application/vnd.openxmlformats-officedocument.drawingml.chart+xml"/>
  <Override PartName="/ppt/drawings/drawing5.xml" ContentType="application/vnd.openxmlformats-officedocument.drawingml.chartshapes+xml"/>
  <Override PartName="/ppt/charts/chart13.xml" ContentType="application/vnd.openxmlformats-officedocument.drawingml.chart+xml"/>
  <Override PartName="/ppt/drawings/drawing6.xml" ContentType="application/vnd.openxmlformats-officedocument.drawingml.chartshapes+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drawings/drawing7.xml" ContentType="application/vnd.openxmlformats-officedocument.drawingml.chartshapes+xml"/>
  <Override PartName="/ppt/charts/chart17.xml" ContentType="application/vnd.openxmlformats-officedocument.drawingml.chart+xml"/>
  <Override PartName="/ppt/drawings/drawing8.xml" ContentType="application/vnd.openxmlformats-officedocument.drawingml.chartshapes+xml"/>
  <Override PartName="/ppt/charts/chart18.xml" ContentType="application/vnd.openxmlformats-officedocument.drawingml.chart+xml"/>
  <Override PartName="/ppt/drawings/drawing9.xml" ContentType="application/vnd.openxmlformats-officedocument.drawingml.chartshapes+xml"/>
  <Override PartName="/ppt/charts/chart19.xml" ContentType="application/vnd.openxmlformats-officedocument.drawingml.chart+xml"/>
  <Override PartName="/ppt/notesSlides/notesSlide7.xml" ContentType="application/vnd.openxmlformats-officedocument.presentationml.notesSlide+xml"/>
  <Override PartName="/ppt/charts/chart20.xml" ContentType="application/vnd.openxmlformats-officedocument.drawingml.chart+xml"/>
  <Override PartName="/ppt/notesSlides/notesSlide8.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drawings/drawing10.xml" ContentType="application/vnd.openxmlformats-officedocument.drawingml.chartshapes+xml"/>
  <Override PartName="/ppt/charts/chart23.xml" ContentType="application/vnd.openxmlformats-officedocument.drawingml.chart+xml"/>
  <Override PartName="/ppt/drawings/drawing11.xml" ContentType="application/vnd.openxmlformats-officedocument.drawingml.chartshapes+xml"/>
  <Override PartName="/ppt/charts/chart24.xml" ContentType="application/vnd.openxmlformats-officedocument.drawingml.chart+xml"/>
  <Override PartName="/ppt/notesSlides/notesSlide9.xml" ContentType="application/vnd.openxmlformats-officedocument.presentationml.notesSlide+xml"/>
  <Override PartName="/ppt/charts/chart25.xml" ContentType="application/vnd.openxmlformats-officedocument.drawingml.chart+xml"/>
  <Override PartName="/ppt/drawings/drawing12.xml" ContentType="application/vnd.openxmlformats-officedocument.drawingml.chartshapes+xml"/>
  <Override PartName="/ppt/charts/chart26.xml" ContentType="application/vnd.openxmlformats-officedocument.drawingml.chart+xml"/>
  <Override PartName="/ppt/charts/chart27.xml" ContentType="application/vnd.openxmlformats-officedocument.drawingml.chart+xml"/>
  <Override PartName="/ppt/notesSlides/notesSlide10.xml" ContentType="application/vnd.openxmlformats-officedocument.presentationml.notesSlide+xml"/>
  <Override PartName="/ppt/charts/chart28.xml" ContentType="application/vnd.openxmlformats-officedocument.drawingml.chart+xml"/>
  <Override PartName="/ppt/drawings/drawing13.xml" ContentType="application/vnd.openxmlformats-officedocument.drawingml.chartshapes+xml"/>
  <Override PartName="/ppt/notesSlides/notesSlide11.xml" ContentType="application/vnd.openxmlformats-officedocument.presentationml.notesSlide+xml"/>
  <Override PartName="/ppt/charts/chart29.xml" ContentType="application/vnd.openxmlformats-officedocument.drawingml.chart+xml"/>
  <Override PartName="/ppt/notesSlides/notesSlide12.xml" ContentType="application/vnd.openxmlformats-officedocument.presentationml.notesSlide+xml"/>
  <Override PartName="/ppt/charts/chart30.xml" ContentType="application/vnd.openxmlformats-officedocument.drawingml.chart+xml"/>
  <Override PartName="/ppt/comments/modernComment_254_66F63346.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9"/>
  </p:notesMasterIdLst>
  <p:handoutMasterIdLst>
    <p:handoutMasterId r:id="rId70"/>
  </p:handoutMasterIdLst>
  <p:sldIdLst>
    <p:sldId id="474" r:id="rId5"/>
    <p:sldId id="689" r:id="rId6"/>
    <p:sldId id="662" r:id="rId7"/>
    <p:sldId id="661" r:id="rId8"/>
    <p:sldId id="616" r:id="rId9"/>
    <p:sldId id="700" r:id="rId10"/>
    <p:sldId id="690" r:id="rId11"/>
    <p:sldId id="619" r:id="rId12"/>
    <p:sldId id="620" r:id="rId13"/>
    <p:sldId id="691" r:id="rId14"/>
    <p:sldId id="680" r:id="rId15"/>
    <p:sldId id="686" r:id="rId16"/>
    <p:sldId id="682" r:id="rId17"/>
    <p:sldId id="683" r:id="rId18"/>
    <p:sldId id="695" r:id="rId19"/>
    <p:sldId id="622" r:id="rId20"/>
    <p:sldId id="696" r:id="rId21"/>
    <p:sldId id="624" r:id="rId22"/>
    <p:sldId id="625" r:id="rId23"/>
    <p:sldId id="626" r:id="rId24"/>
    <p:sldId id="694" r:id="rId25"/>
    <p:sldId id="628" r:id="rId26"/>
    <p:sldId id="629" r:id="rId27"/>
    <p:sldId id="702" r:id="rId28"/>
    <p:sldId id="703" r:id="rId29"/>
    <p:sldId id="665" r:id="rId30"/>
    <p:sldId id="630" r:id="rId31"/>
    <p:sldId id="631" r:id="rId32"/>
    <p:sldId id="632" r:id="rId33"/>
    <p:sldId id="704" r:id="rId34"/>
    <p:sldId id="705" r:id="rId35"/>
    <p:sldId id="668" r:id="rId36"/>
    <p:sldId id="633" r:id="rId37"/>
    <p:sldId id="634" r:id="rId38"/>
    <p:sldId id="706" r:id="rId39"/>
    <p:sldId id="669" r:id="rId40"/>
    <p:sldId id="670" r:id="rId41"/>
    <p:sldId id="636" r:id="rId42"/>
    <p:sldId id="637" r:id="rId43"/>
    <p:sldId id="638" r:id="rId44"/>
    <p:sldId id="639" r:id="rId45"/>
    <p:sldId id="640" r:id="rId46"/>
    <p:sldId id="697" r:id="rId47"/>
    <p:sldId id="643" r:id="rId48"/>
    <p:sldId id="645" r:id="rId49"/>
    <p:sldId id="647" r:id="rId50"/>
    <p:sldId id="615" r:id="rId51"/>
    <p:sldId id="608" r:id="rId52"/>
    <p:sldId id="678" r:id="rId53"/>
    <p:sldId id="677" r:id="rId54"/>
    <p:sldId id="708" r:id="rId55"/>
    <p:sldId id="699" r:id="rId56"/>
    <p:sldId id="698" r:id="rId57"/>
    <p:sldId id="707" r:id="rId58"/>
    <p:sldId id="648" r:id="rId59"/>
    <p:sldId id="649" r:id="rId60"/>
    <p:sldId id="672" r:id="rId61"/>
    <p:sldId id="650" r:id="rId62"/>
    <p:sldId id="656" r:id="rId63"/>
    <p:sldId id="673" r:id="rId64"/>
    <p:sldId id="687" r:id="rId65"/>
    <p:sldId id="676" r:id="rId66"/>
    <p:sldId id="596" r:id="rId67"/>
    <p:sldId id="659" r:id="rId68"/>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8F3"/>
    <a:srgbClr val="4F81BD"/>
    <a:srgbClr val="DDE7F2"/>
    <a:srgbClr val="FFC003"/>
    <a:srgbClr val="00CC99"/>
    <a:srgbClr val="3233CC"/>
    <a:srgbClr val="00CC9A"/>
    <a:srgbClr val="FFC000"/>
    <a:srgbClr val="0F6FC6"/>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788E0-DD99-394A-976F-F781DC18E593}" v="4" dt="2025-12-11T19:50:11.2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85"/>
  </p:normalViewPr>
  <p:slideViewPr>
    <p:cSldViewPr snapToGrid="0">
      <p:cViewPr varScale="1">
        <p:scale>
          <a:sx n="152" d="100"/>
          <a:sy n="152" d="100"/>
        </p:scale>
        <p:origin x="176" y="960"/>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77"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 escalona" userId="9d691d3bd590836a" providerId="LiveId" clId="{5B771B3E-A80B-565C-A31D-48307992B49D}"/>
    <pc:docChg chg="modSld">
      <pc:chgData name="pat escalona" userId="9d691d3bd590836a" providerId="LiveId" clId="{5B771B3E-A80B-565C-A31D-48307992B49D}" dt="2025-12-11T19:50:11.253" v="3" actId="27918"/>
      <pc:docMkLst>
        <pc:docMk/>
      </pc:docMkLst>
      <pc:sldChg chg="mod">
        <pc:chgData name="pat escalona" userId="9d691d3bd590836a" providerId="LiveId" clId="{5B771B3E-A80B-565C-A31D-48307992B49D}" dt="2025-12-11T19:49:58.451" v="1" actId="27918"/>
        <pc:sldMkLst>
          <pc:docMk/>
          <pc:sldMk cId="3475746221" sldId="645"/>
        </pc:sldMkLst>
      </pc:sldChg>
      <pc:sldChg chg="mod">
        <pc:chgData name="pat escalona" userId="9d691d3bd590836a" providerId="LiveId" clId="{5B771B3E-A80B-565C-A31D-48307992B49D}" dt="2025-12-11T19:50:11.253" v="3" actId="27918"/>
        <pc:sldMkLst>
          <pc:docMk/>
          <pc:sldMk cId="2803606299" sldId="69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2" Type="http://schemas.openxmlformats.org/officeDocument/2006/relationships/chartUserShapes" Target="../drawings/drawing9.xml"/><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2" Type="http://schemas.openxmlformats.org/officeDocument/2006/relationships/chartUserShapes" Target="../drawings/drawing10.xml"/><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2" Type="http://schemas.openxmlformats.org/officeDocument/2006/relationships/chartUserShapes" Target="../drawings/drawing11.xml"/><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2" Type="http://schemas.openxmlformats.org/officeDocument/2006/relationships/chartUserShapes" Target="../drawings/drawing12.xml"/><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2" Type="http://schemas.openxmlformats.org/officeDocument/2006/relationships/chartUserShapes" Target="../drawings/drawing13.xml"/><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Q1 2024
(N=12)</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8.3333333333333315E-2</c:v>
                </c:pt>
                <c:pt idx="1">
                  <c:v>0.91666666666666652</c:v>
                </c:pt>
                <c:pt idx="2">
                  <c:v>0</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Q2 2024
(N=44)</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0.25</c:v>
                </c:pt>
                <c:pt idx="1">
                  <c:v>0.75</c:v>
                </c:pt>
                <c:pt idx="2">
                  <c:v>0</c:v>
                </c:pt>
              </c:numCache>
            </c:numRef>
          </c:val>
          <c:extLst>
            <c:ext xmlns:c16="http://schemas.microsoft.com/office/drawing/2014/chart" uri="{C3380CC4-5D6E-409C-BE32-E72D297353CC}">
              <c16:uniqueId val="{00000001-5341-4021-8530-F4858413767C}"/>
            </c:ext>
          </c:extLst>
        </c:ser>
        <c:ser>
          <c:idx val="2"/>
          <c:order val="2"/>
          <c:tx>
            <c:strRef>
              <c:f>Sheet1!$D$1</c:f>
              <c:strCache>
                <c:ptCount val="1"/>
                <c:pt idx="0">
                  <c:v>Q3 2024
(N=19)</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Sheet1!$D$2:$D$4</c:f>
              <c:numCache>
                <c:formatCode>0%</c:formatCode>
                <c:ptCount val="3"/>
                <c:pt idx="0">
                  <c:v>0.15789473684210525</c:v>
                </c:pt>
                <c:pt idx="1">
                  <c:v>0.84210526315789469</c:v>
                </c:pt>
                <c:pt idx="2">
                  <c:v>0</c:v>
                </c:pt>
              </c:numCache>
            </c:numRef>
          </c:val>
          <c:extLst>
            <c:ext xmlns:c16="http://schemas.microsoft.com/office/drawing/2014/chart" uri="{C3380CC4-5D6E-409C-BE32-E72D297353CC}">
              <c16:uniqueId val="{00000002-5341-4021-8530-F4858413767C}"/>
            </c:ext>
          </c:extLst>
        </c:ser>
        <c:ser>
          <c:idx val="3"/>
          <c:order val="3"/>
          <c:tx>
            <c:strRef>
              <c:f>Sheet1!$E$1</c:f>
              <c:strCache>
                <c:ptCount val="1"/>
                <c:pt idx="0">
                  <c:v>Q4 2024
(N=33)</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Sheet1!$E$2:$E$3</c:f>
              <c:numCache>
                <c:formatCode>0%</c:formatCode>
                <c:ptCount val="2"/>
                <c:pt idx="0">
                  <c:v>0.24242424242424243</c:v>
                </c:pt>
                <c:pt idx="1">
                  <c:v>0.75757575757575757</c:v>
                </c:pt>
              </c:numCache>
            </c:numRef>
          </c:val>
          <c:extLst>
            <c:ext xmlns:c16="http://schemas.microsoft.com/office/drawing/2014/chart" uri="{C3380CC4-5D6E-409C-BE32-E72D297353CC}">
              <c16:uniqueId val="{00000003-5341-4021-8530-F4858413767C}"/>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Sheet1!$B$2:$B$5</c:f>
              <c:numCache>
                <c:formatCode>0%</c:formatCode>
                <c:ptCount val="4"/>
                <c:pt idx="0">
                  <c:v>0.08</c:v>
                </c:pt>
                <c:pt idx="1">
                  <c:v>4.5454545454545463E-2</c:v>
                </c:pt>
                <c:pt idx="2">
                  <c:v>5.2631578947368418E-2</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Sheet1!$C$2:$C$5</c:f>
              <c:numCache>
                <c:formatCode>0%</c:formatCode>
                <c:ptCount val="4"/>
                <c:pt idx="1">
                  <c:v>4.5454545454545463E-2</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Sheet1!$D$2:$D$5</c:f>
              <c:numCache>
                <c:formatCode>0%</c:formatCode>
                <c:ptCount val="4"/>
                <c:pt idx="0">
                  <c:v>0.83</c:v>
                </c:pt>
                <c:pt idx="1">
                  <c:v>0.86363636363636365</c:v>
                </c:pt>
                <c:pt idx="2">
                  <c:v>0.94736842105263153</c:v>
                </c:pt>
                <c:pt idx="3">
                  <c:v>0.94</c:v>
                </c:pt>
              </c:numCache>
            </c:numRef>
          </c:val>
          <c:extLst>
            <c:ext xmlns:c16="http://schemas.microsoft.com/office/drawing/2014/chart" uri="{C3380CC4-5D6E-409C-BE32-E72D297353CC}">
              <c16:uniqueId val="{00000006-B9B0-4EA2-8CFB-1195A0386E81}"/>
            </c:ext>
          </c:extLst>
        </c:ser>
        <c:ser>
          <c:idx val="3"/>
          <c:order val="3"/>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Sheet1!#REF!</c:f>
              <c:numCache>
                <c:formatCode>General</c:formatCode>
                <c:ptCount val="1"/>
                <c:pt idx="0">
                  <c:v>1</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Sheet1!$B$2:$B$5</c:f>
              <c:numCache>
                <c:formatCode>0%</c:formatCode>
                <c:ptCount val="4"/>
                <c:pt idx="0">
                  <c:v>8.3333333333333315E-2</c:v>
                </c:pt>
                <c:pt idx="1">
                  <c:v>9.0909090909090925E-2</c:v>
                </c:pt>
                <c:pt idx="2">
                  <c:v>0.10526315789473684</c:v>
                </c:pt>
                <c:pt idx="3">
                  <c:v>0.12121212121212122</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Sheet1!$C$2:$C$5</c:f>
              <c:numCache>
                <c:formatCode>0%</c:formatCode>
                <c:ptCount val="4"/>
                <c:pt idx="0">
                  <c:v>8.3333333333333315E-2</c:v>
                </c:pt>
                <c:pt idx="1">
                  <c:v>2.2727272727272731E-2</c:v>
                </c:pt>
                <c:pt idx="2">
                  <c:v>0.10526315789473684</c:v>
                </c:pt>
                <c:pt idx="3">
                  <c:v>6.0606060606060608E-2</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Sheet1!$D$2:$D$5</c:f>
              <c:numCache>
                <c:formatCode>0%</c:formatCode>
                <c:ptCount val="4"/>
                <c:pt idx="0">
                  <c:v>0.58333333333333337</c:v>
                </c:pt>
                <c:pt idx="1">
                  <c:v>0.61363636363636365</c:v>
                </c:pt>
                <c:pt idx="2">
                  <c:v>0.47368421052631576</c:v>
                </c:pt>
                <c:pt idx="3">
                  <c:v>0.48484848484848486</c:v>
                </c:pt>
              </c:numCache>
            </c:numRef>
          </c:val>
          <c:extLst>
            <c:ext xmlns:c16="http://schemas.microsoft.com/office/drawing/2014/chart" uri="{C3380CC4-5D6E-409C-BE32-E72D297353CC}">
              <c16:uniqueId val="{00000003-BA82-4646-B133-ACCBD878F7F2}"/>
            </c:ext>
          </c:extLst>
        </c:ser>
        <c:ser>
          <c:idx val="3"/>
          <c:order val="3"/>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Sheet1!#REF!</c:f>
              <c:numCache>
                <c:formatCode>General</c:formatCode>
                <c:ptCount val="1"/>
                <c:pt idx="0">
                  <c:v>1</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2024
(N=12)</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0</c:v>
                </c:pt>
                <c:pt idx="1">
                  <c:v>3</c:v>
                </c:pt>
                <c:pt idx="2">
                  <c:v>3</c:v>
                </c:pt>
                <c:pt idx="3">
                  <c:v>4</c:v>
                </c:pt>
                <c:pt idx="4">
                  <c:v>0</c:v>
                </c:pt>
                <c:pt idx="5">
                  <c:v>2</c:v>
                </c:pt>
                <c:pt idx="6">
                  <c:v>2</c:v>
                </c:pt>
                <c:pt idx="7">
                  <c:v>8</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2024
(N=44)</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0</c:v>
                </c:pt>
                <c:pt idx="1">
                  <c:v>12</c:v>
                </c:pt>
                <c:pt idx="2">
                  <c:v>18</c:v>
                </c:pt>
                <c:pt idx="3">
                  <c:v>13</c:v>
                </c:pt>
                <c:pt idx="4">
                  <c:v>0</c:v>
                </c:pt>
                <c:pt idx="5">
                  <c:v>8</c:v>
                </c:pt>
                <c:pt idx="6">
                  <c:v>4</c:v>
                </c:pt>
                <c:pt idx="7">
                  <c:v>31</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Q3 2024
(N=19)</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1</c:v>
                </c:pt>
                <c:pt idx="1">
                  <c:v>5</c:v>
                </c:pt>
                <c:pt idx="2">
                  <c:v>10</c:v>
                </c:pt>
                <c:pt idx="3">
                  <c:v>3</c:v>
                </c:pt>
                <c:pt idx="4">
                  <c:v>2</c:v>
                </c:pt>
                <c:pt idx="5">
                  <c:v>2</c:v>
                </c:pt>
                <c:pt idx="6">
                  <c:v>2</c:v>
                </c:pt>
                <c:pt idx="7">
                  <c:v>13</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Q4 2024
(N=33)</c:v>
                </c:pt>
              </c:strCache>
            </c:strRef>
          </c:tx>
          <c:invertIfNegative val="0"/>
          <c:dLbls>
            <c:spPr>
              <a:noFill/>
              <a:ln>
                <a:noFill/>
              </a:ln>
              <a:effectLst/>
            </c:spPr>
            <c:txPr>
              <a:bodyPr wrap="square" lIns="38100" tIns="19050" rIns="38100" bIns="19050" anchor="ctr">
                <a:spAutoFit/>
              </a:bodyPr>
              <a:lstStyle/>
              <a:p>
                <a:pPr>
                  <a:defRPr sz="12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2</c:v>
                </c:pt>
                <c:pt idx="1">
                  <c:v>14</c:v>
                </c:pt>
                <c:pt idx="2">
                  <c:v>11</c:v>
                </c:pt>
                <c:pt idx="3">
                  <c:v>6</c:v>
                </c:pt>
                <c:pt idx="4">
                  <c:v>1</c:v>
                </c:pt>
                <c:pt idx="5">
                  <c:v>5</c:v>
                </c:pt>
                <c:pt idx="6">
                  <c:v>6</c:v>
                </c:pt>
                <c:pt idx="7">
                  <c:v>20</c:v>
                </c:pt>
              </c:numCache>
            </c:numRef>
          </c:val>
          <c:extLst>
            <c:ext xmlns:c16="http://schemas.microsoft.com/office/drawing/2014/chart" uri="{C3380CC4-5D6E-409C-BE32-E72D297353CC}">
              <c16:uniqueId val="{00000005-228A-4467-BB3A-D385FE43A01E}"/>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2024
(N=12)</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0</c:v>
                </c:pt>
                <c:pt idx="1">
                  <c:v>2</c:v>
                </c:pt>
                <c:pt idx="2">
                  <c:v>5</c:v>
                </c:pt>
                <c:pt idx="3">
                  <c:v>5</c:v>
                </c:pt>
                <c:pt idx="4">
                  <c:v>3</c:v>
                </c:pt>
                <c:pt idx="5">
                  <c:v>4</c:v>
                </c:pt>
                <c:pt idx="6">
                  <c:v>0</c:v>
                </c:pt>
                <c:pt idx="7">
                  <c:v>3</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2024
(N=44)</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2</c:v>
                </c:pt>
                <c:pt idx="1">
                  <c:v>10</c:v>
                </c:pt>
                <c:pt idx="2">
                  <c:v>9</c:v>
                </c:pt>
                <c:pt idx="3">
                  <c:v>18</c:v>
                </c:pt>
                <c:pt idx="4">
                  <c:v>24</c:v>
                </c:pt>
                <c:pt idx="5">
                  <c:v>11</c:v>
                </c:pt>
                <c:pt idx="6">
                  <c:v>1</c:v>
                </c:pt>
                <c:pt idx="7">
                  <c:v>7</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Q3 2024
(N=19)</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4</c:v>
                </c:pt>
                <c:pt idx="1">
                  <c:v>5</c:v>
                </c:pt>
                <c:pt idx="2">
                  <c:v>3</c:v>
                </c:pt>
                <c:pt idx="3">
                  <c:v>7</c:v>
                </c:pt>
                <c:pt idx="4">
                  <c:v>9</c:v>
                </c:pt>
                <c:pt idx="5">
                  <c:v>6</c:v>
                </c:pt>
                <c:pt idx="6">
                  <c:v>1</c:v>
                </c:pt>
                <c:pt idx="7">
                  <c:v>3</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Q4 2024
(N=33)</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3</c:v>
                </c:pt>
                <c:pt idx="1">
                  <c:v>4</c:v>
                </c:pt>
                <c:pt idx="2">
                  <c:v>13</c:v>
                </c:pt>
                <c:pt idx="3">
                  <c:v>11</c:v>
                </c:pt>
                <c:pt idx="4">
                  <c:v>9</c:v>
                </c:pt>
                <c:pt idx="5">
                  <c:v>15</c:v>
                </c:pt>
                <c:pt idx="6">
                  <c:v>2</c:v>
                </c:pt>
                <c:pt idx="7">
                  <c:v>6</c:v>
                </c:pt>
              </c:numCache>
            </c:numRef>
          </c:val>
          <c:extLst>
            <c:ext xmlns:c16="http://schemas.microsoft.com/office/drawing/2014/chart" uri="{C3380CC4-5D6E-409C-BE32-E72D297353CC}">
              <c16:uniqueId val="{00000005-6C66-4CAF-81AB-F70542D9BDB7}"/>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2024
(N=12)</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4</c:v>
                </c:pt>
                <c:pt idx="1">
                  <c:v>5</c:v>
                </c:pt>
                <c:pt idx="2">
                  <c:v>1</c:v>
                </c:pt>
                <c:pt idx="3">
                  <c:v>0</c:v>
                </c:pt>
                <c:pt idx="4">
                  <c:v>10</c:v>
                </c:pt>
                <c:pt idx="5">
                  <c:v>0</c:v>
                </c:pt>
                <c:pt idx="6">
                  <c:v>2</c:v>
                </c:pt>
                <c:pt idx="7">
                  <c:v>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2024
(N=44)</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8</c:v>
                </c:pt>
                <c:pt idx="1">
                  <c:v>16</c:v>
                </c:pt>
                <c:pt idx="2">
                  <c:v>10</c:v>
                </c:pt>
                <c:pt idx="3">
                  <c:v>9</c:v>
                </c:pt>
                <c:pt idx="4">
                  <c:v>34</c:v>
                </c:pt>
                <c:pt idx="5">
                  <c:v>7</c:v>
                </c:pt>
                <c:pt idx="6">
                  <c:v>0</c:v>
                </c:pt>
                <c:pt idx="7">
                  <c:v>1</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Q3 2024
(N=19)</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1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1</c:v>
                </c:pt>
                <c:pt idx="1">
                  <c:v>14</c:v>
                </c:pt>
                <c:pt idx="2">
                  <c:v>1</c:v>
                </c:pt>
                <c:pt idx="3">
                  <c:v>3</c:v>
                </c:pt>
                <c:pt idx="4">
                  <c:v>15</c:v>
                </c:pt>
                <c:pt idx="5">
                  <c:v>4</c:v>
                </c:pt>
                <c:pt idx="6">
                  <c:v>0</c:v>
                </c:pt>
                <c:pt idx="7">
                  <c:v>0</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Q4 2024
(N=33)</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3</c:v>
                </c:pt>
                <c:pt idx="1">
                  <c:v>19</c:v>
                </c:pt>
                <c:pt idx="2">
                  <c:v>4</c:v>
                </c:pt>
                <c:pt idx="3">
                  <c:v>6</c:v>
                </c:pt>
                <c:pt idx="4">
                  <c:v>22</c:v>
                </c:pt>
                <c:pt idx="5">
                  <c:v>8</c:v>
                </c:pt>
                <c:pt idx="6">
                  <c:v>3</c:v>
                </c:pt>
                <c:pt idx="7">
                  <c:v>0</c:v>
                </c:pt>
              </c:numCache>
            </c:numRef>
          </c:val>
          <c:extLst>
            <c:ext xmlns:c16="http://schemas.microsoft.com/office/drawing/2014/chart" uri="{C3380CC4-5D6E-409C-BE32-E72D297353CC}">
              <c16:uniqueId val="{00000000-4866-694C-B315-C018B2EC4AE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2024
(N=12)</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1</c:v>
                </c:pt>
                <c:pt idx="1">
                  <c:v>5</c:v>
                </c:pt>
                <c:pt idx="2">
                  <c:v>0</c:v>
                </c:pt>
                <c:pt idx="3">
                  <c:v>6</c:v>
                </c:pt>
                <c:pt idx="4">
                  <c:v>5</c:v>
                </c:pt>
                <c:pt idx="5">
                  <c:v>4</c:v>
                </c:pt>
                <c:pt idx="6">
                  <c:v>0</c:v>
                </c:pt>
                <c:pt idx="7">
                  <c:v>2</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2024
(N=44)</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11</c:v>
                </c:pt>
                <c:pt idx="1">
                  <c:v>11</c:v>
                </c:pt>
                <c:pt idx="2">
                  <c:v>1</c:v>
                </c:pt>
                <c:pt idx="3">
                  <c:v>21</c:v>
                </c:pt>
                <c:pt idx="4">
                  <c:v>29</c:v>
                </c:pt>
                <c:pt idx="5">
                  <c:v>6</c:v>
                </c:pt>
                <c:pt idx="6">
                  <c:v>2</c:v>
                </c:pt>
                <c:pt idx="7">
                  <c:v>6</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Q3 2024
(N=19)</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7</c:v>
                </c:pt>
                <c:pt idx="1">
                  <c:v>5</c:v>
                </c:pt>
                <c:pt idx="2">
                  <c:v>0</c:v>
                </c:pt>
                <c:pt idx="3">
                  <c:v>7</c:v>
                </c:pt>
                <c:pt idx="4">
                  <c:v>13</c:v>
                </c:pt>
                <c:pt idx="5">
                  <c:v>2</c:v>
                </c:pt>
                <c:pt idx="6">
                  <c:v>1</c:v>
                </c:pt>
                <c:pt idx="7">
                  <c:v>2</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Q4 2024
(N=33)</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6</c:v>
                </c:pt>
                <c:pt idx="1">
                  <c:v>16</c:v>
                </c:pt>
                <c:pt idx="2">
                  <c:v>1</c:v>
                </c:pt>
                <c:pt idx="3">
                  <c:v>9</c:v>
                </c:pt>
                <c:pt idx="4">
                  <c:v>20</c:v>
                </c:pt>
                <c:pt idx="5">
                  <c:v>11</c:v>
                </c:pt>
                <c:pt idx="6">
                  <c:v>0</c:v>
                </c:pt>
                <c:pt idx="7">
                  <c:v>1</c:v>
                </c:pt>
              </c:numCache>
            </c:numRef>
          </c:val>
          <c:extLst>
            <c:ext xmlns:c16="http://schemas.microsoft.com/office/drawing/2014/chart" uri="{C3380CC4-5D6E-409C-BE32-E72D297353CC}">
              <c16:uniqueId val="{00000003-A189-4DD3-B104-E94BF8E7B46F}"/>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2024
(N=12)</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3</c:v>
                </c:pt>
                <c:pt idx="1">
                  <c:v>2</c:v>
                </c:pt>
                <c:pt idx="2">
                  <c:v>0</c:v>
                </c:pt>
                <c:pt idx="3">
                  <c:v>6</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2024
(N=44)</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17</c:v>
                </c:pt>
                <c:pt idx="1">
                  <c:v>12</c:v>
                </c:pt>
                <c:pt idx="2">
                  <c:v>4</c:v>
                </c:pt>
                <c:pt idx="3">
                  <c:v>9</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Q3 2024
(N=19)</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9</c:v>
                </c:pt>
                <c:pt idx="1">
                  <c:v>5</c:v>
                </c:pt>
                <c:pt idx="2">
                  <c:v>0</c:v>
                </c:pt>
                <c:pt idx="3">
                  <c:v>5</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Q4 2024
(N=33)</c:v>
                </c:pt>
              </c:strCache>
            </c:strRef>
          </c:tx>
          <c:invertIfNegative val="0"/>
          <c:dLbls>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16</c:v>
                </c:pt>
                <c:pt idx="1">
                  <c:v>7</c:v>
                </c:pt>
                <c:pt idx="2">
                  <c:v>0</c:v>
                </c:pt>
                <c:pt idx="3">
                  <c:v>9</c:v>
                </c:pt>
              </c:numCache>
            </c:numRef>
          </c:val>
          <c:extLst>
            <c:ext xmlns:c16="http://schemas.microsoft.com/office/drawing/2014/chart" uri="{C3380CC4-5D6E-409C-BE32-E72D297353CC}">
              <c16:uniqueId val="{00000005-2D8F-4DC4-8B87-B0638A575DEB}"/>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Sheet1!$B$2:$B$5</c:f>
              <c:numCache>
                <c:formatCode>0%</c:formatCode>
                <c:ptCount val="4"/>
                <c:pt idx="1">
                  <c:v>6.8181818181818177E-2</c:v>
                </c:pt>
                <c:pt idx="2">
                  <c:v>5.2631578947368418E-2</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Sheet1!$C$2:$C$5</c:f>
              <c:numCache>
                <c:formatCode>0%</c:formatCode>
                <c:ptCount val="4"/>
                <c:pt idx="3">
                  <c:v>6.0606060606060608E-2</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Sheet1!$D$2:$D$5</c:f>
              <c:numCache>
                <c:formatCode>0%</c:formatCode>
                <c:ptCount val="4"/>
                <c:pt idx="0">
                  <c:v>0.92</c:v>
                </c:pt>
                <c:pt idx="1">
                  <c:v>0.93181818181818177</c:v>
                </c:pt>
                <c:pt idx="2">
                  <c:v>0.89473684210526316</c:v>
                </c:pt>
                <c:pt idx="3">
                  <c:v>0.81818181818181834</c:v>
                </c:pt>
              </c:numCache>
            </c:numRef>
          </c:val>
          <c:extLst>
            <c:ext xmlns:c16="http://schemas.microsoft.com/office/drawing/2014/chart" uri="{C3380CC4-5D6E-409C-BE32-E72D297353CC}">
              <c16:uniqueId val="{00000003-33C6-46D0-A451-9992BB76C127}"/>
            </c:ext>
          </c:extLst>
        </c:ser>
        <c:ser>
          <c:idx val="3"/>
          <c:order val="3"/>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Sheet1!#REF!</c:f>
              <c:numCache>
                <c:formatCode>General</c:formatCode>
                <c:ptCount val="1"/>
                <c:pt idx="0">
                  <c:v>1</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Q1 2024
(N=12)</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1</c:v>
                </c:pt>
                <c:pt idx="1">
                  <c:v>0</c:v>
                </c:pt>
                <c:pt idx="2">
                  <c:v>0</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Q2 2024
(N=44)</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1</c:v>
                </c:pt>
                <c:pt idx="1">
                  <c:v>0</c:v>
                </c:pt>
                <c:pt idx="2">
                  <c:v>0</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Q3 2024
(N=19)</c:v>
                </c:pt>
              </c:strCache>
            </c:strRef>
          </c:tx>
          <c:spPr>
            <a:solidFill>
              <a:srgbClr val="00CC99"/>
            </a:solidFill>
          </c:spPr>
          <c:invertIfNegative val="0"/>
          <c:dLbls>
            <c:dLbl>
              <c:idx val="0"/>
              <c:layout>
                <c:manualLayout>
                  <c:x val="3.759398496240567E-3"/>
                  <c:y val="-2.33463035019455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2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Sheet1!$D$2:$D$4</c:f>
              <c:numCache>
                <c:formatCode>0%</c:formatCode>
                <c:ptCount val="3"/>
                <c:pt idx="0">
                  <c:v>1</c:v>
                </c:pt>
                <c:pt idx="1">
                  <c:v>0</c:v>
                </c:pt>
                <c:pt idx="2">
                  <c:v>0</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Q4 2024
(N=33)</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200" b="0">
                    <a:solidFill>
                      <a:schemeClr val="bg2">
                        <a:lumMod val="50000"/>
                      </a:schemeClr>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Sheet1!$E$2:$E$3</c:f>
              <c:numCache>
                <c:formatCode>0%</c:formatCode>
                <c:ptCount val="2"/>
                <c:pt idx="0">
                  <c:v>0.90909090909090906</c:v>
                </c:pt>
                <c:pt idx="1">
                  <c:v>9.0909090909090912E-2</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Sheet1!$B$2:$B$9</c:f>
              <c:numCache>
                <c:formatCode>0%</c:formatCode>
                <c:ptCount val="8"/>
                <c:pt idx="0">
                  <c:v>8.3333333333333315E-2</c:v>
                </c:pt>
                <c:pt idx="1">
                  <c:v>9.0909090909090925E-2</c:v>
                </c:pt>
                <c:pt idx="2">
                  <c:v>5.2631578947368397E-2</c:v>
                </c:pt>
                <c:pt idx="3">
                  <c:v>6.0606060606060608E-2</c:v>
                </c:pt>
                <c:pt idx="4">
                  <c:v>8.3333333333333315E-2</c:v>
                </c:pt>
                <c:pt idx="5">
                  <c:v>2.2727272727272731E-2</c:v>
                </c:pt>
                <c:pt idx="6">
                  <c:v>5.2631578947368418E-2</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Sheet1!$C$2:$C$9</c:f>
              <c:numCache>
                <c:formatCode>0%</c:formatCode>
                <c:ptCount val="8"/>
                <c:pt idx="0">
                  <c:v>8.3333333333333315E-2</c:v>
                </c:pt>
                <c:pt idx="1">
                  <c:v>0.13636363636363635</c:v>
                </c:pt>
                <c:pt idx="2">
                  <c:v>0.10526315789473684</c:v>
                </c:pt>
                <c:pt idx="3">
                  <c:v>0.15151515151515152</c:v>
                </c:pt>
                <c:pt idx="4">
                  <c:v>8.3333333333333315E-2</c:v>
                </c:pt>
                <c:pt idx="5">
                  <c:v>9.0909090909090925E-2</c:v>
                </c:pt>
                <c:pt idx="7">
                  <c:v>9.0909090909090925E-2</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Sheet1!$D$2:$D$9</c:f>
              <c:numCache>
                <c:formatCode>0%</c:formatCode>
                <c:ptCount val="8"/>
                <c:pt idx="0">
                  <c:v>0.75</c:v>
                </c:pt>
                <c:pt idx="1">
                  <c:v>0.70454545454545459</c:v>
                </c:pt>
                <c:pt idx="2">
                  <c:v>0.73684210526315785</c:v>
                </c:pt>
                <c:pt idx="3">
                  <c:v>0.69696969696969702</c:v>
                </c:pt>
                <c:pt idx="4">
                  <c:v>0.75</c:v>
                </c:pt>
                <c:pt idx="5">
                  <c:v>0.86363636363636365</c:v>
                </c:pt>
                <c:pt idx="6">
                  <c:v>0.84210526315789469</c:v>
                </c:pt>
                <c:pt idx="7">
                  <c:v>0.84848484848484851</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Sheet1!$E$2:$E$9</c:f>
              <c:numCache>
                <c:formatCode>0%</c:formatCode>
                <c:ptCount val="8"/>
                <c:pt idx="0">
                  <c:v>0.91</c:v>
                </c:pt>
                <c:pt idx="1">
                  <c:v>0.92999999999999994</c:v>
                </c:pt>
                <c:pt idx="2">
                  <c:v>0.9</c:v>
                </c:pt>
                <c:pt idx="3">
                  <c:v>0.90999999999999992</c:v>
                </c:pt>
                <c:pt idx="4">
                  <c:v>0.91</c:v>
                </c:pt>
                <c:pt idx="5">
                  <c:v>0.97</c:v>
                </c:pt>
                <c:pt idx="6">
                  <c:v>0.89</c:v>
                </c:pt>
                <c:pt idx="7">
                  <c:v>0.94</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Sheet1!$B$2:$B$9</c:f>
              <c:numCache>
                <c:formatCode>General</c:formatCode>
                <c:ptCount val="8"/>
                <c:pt idx="3" formatCode="0%">
                  <c:v>9.0909090909090925E-2</c:v>
                </c:pt>
                <c:pt idx="4" formatCode="0%">
                  <c:v>0.16666666666666663</c:v>
                </c:pt>
                <c:pt idx="5" formatCode="0%">
                  <c:v>2.2727272727272731E-2</c:v>
                </c:pt>
                <c:pt idx="6" formatCode="0%">
                  <c:v>5.2631578947368418E-2</c:v>
                </c:pt>
                <c:pt idx="7" formatCode="0%">
                  <c:v>3.0303030303030304E-2</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Sheet1!$C$2:$C$9</c:f>
              <c:numCache>
                <c:formatCode>0%</c:formatCode>
                <c:ptCount val="8"/>
                <c:pt idx="0">
                  <c:v>0.25</c:v>
                </c:pt>
                <c:pt idx="1">
                  <c:v>0.11363636363636363</c:v>
                </c:pt>
                <c:pt idx="2">
                  <c:v>5.2631578947368418E-2</c:v>
                </c:pt>
                <c:pt idx="4">
                  <c:v>8.3333333333333315E-2</c:v>
                </c:pt>
                <c:pt idx="5">
                  <c:v>9.0909090909090925E-2</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Sheet1!$D$2:$D$9</c:f>
              <c:numCache>
                <c:formatCode>0%</c:formatCode>
                <c:ptCount val="8"/>
                <c:pt idx="0">
                  <c:v>0.67</c:v>
                </c:pt>
                <c:pt idx="1">
                  <c:v>0.86363636363636365</c:v>
                </c:pt>
                <c:pt idx="2">
                  <c:v>0.78947368421052633</c:v>
                </c:pt>
                <c:pt idx="3">
                  <c:v>0.81818181818181834</c:v>
                </c:pt>
                <c:pt idx="4">
                  <c:v>0.75</c:v>
                </c:pt>
                <c:pt idx="5">
                  <c:v>0.86363636363636365</c:v>
                </c:pt>
                <c:pt idx="6">
                  <c:v>0.84210526315789469</c:v>
                </c:pt>
                <c:pt idx="7">
                  <c:v>0.87878787878787878</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Sheet1!$E$2:$E$9</c:f>
              <c:numCache>
                <c:formatCode>0%</c:formatCode>
                <c:ptCount val="8"/>
                <c:pt idx="0">
                  <c:v>0.92</c:v>
                </c:pt>
                <c:pt idx="1">
                  <c:v>0.97</c:v>
                </c:pt>
                <c:pt idx="2">
                  <c:v>0.84000000000000008</c:v>
                </c:pt>
                <c:pt idx="3">
                  <c:v>0.90999999999999992</c:v>
                </c:pt>
                <c:pt idx="4">
                  <c:v>1</c:v>
                </c:pt>
                <c:pt idx="5">
                  <c:v>0.97</c:v>
                </c:pt>
                <c:pt idx="6">
                  <c:v>0.89</c:v>
                </c:pt>
                <c:pt idx="7">
                  <c:v>0.91</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General"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Sheet1!$B$2:$B$9</c:f>
              <c:numCache>
                <c:formatCode>0%</c:formatCode>
                <c:ptCount val="8"/>
                <c:pt idx="0">
                  <c:v>0.08</c:v>
                </c:pt>
                <c:pt idx="1">
                  <c:v>2.2727272727272731E-2</c:v>
                </c:pt>
                <c:pt idx="2">
                  <c:v>0.10526315789473684</c:v>
                </c:pt>
                <c:pt idx="5">
                  <c:v>2.2727272727272731E-2</c:v>
                </c:pt>
                <c:pt idx="7">
                  <c:v>3.0303030303030304E-2</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Sheet1!$C$2:$C$9</c:f>
              <c:numCache>
                <c:formatCode>0%</c:formatCode>
                <c:ptCount val="8"/>
                <c:pt idx="1">
                  <c:v>9.0909090909090925E-2</c:v>
                </c:pt>
                <c:pt idx="2">
                  <c:v>5.2631578947368418E-2</c:v>
                </c:pt>
                <c:pt idx="3">
                  <c:v>9.0909090909090925E-2</c:v>
                </c:pt>
                <c:pt idx="4">
                  <c:v>0.17</c:v>
                </c:pt>
                <c:pt idx="5">
                  <c:v>6.8181818181818177E-2</c:v>
                </c:pt>
                <c:pt idx="7">
                  <c:v>6.0606060606060608E-2</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Sheet1!$D$2:$D$9</c:f>
              <c:numCache>
                <c:formatCode>0%</c:formatCode>
                <c:ptCount val="8"/>
                <c:pt idx="0">
                  <c:v>0.75</c:v>
                </c:pt>
                <c:pt idx="1">
                  <c:v>0.79545454545454553</c:v>
                </c:pt>
                <c:pt idx="2">
                  <c:v>0.78947368421052633</c:v>
                </c:pt>
                <c:pt idx="3">
                  <c:v>0.84848484848484851</c:v>
                </c:pt>
                <c:pt idx="4">
                  <c:v>0.75</c:v>
                </c:pt>
                <c:pt idx="5">
                  <c:v>0.86363636363636365</c:v>
                </c:pt>
                <c:pt idx="6">
                  <c:v>0.84210526315789469</c:v>
                </c:pt>
                <c:pt idx="7">
                  <c:v>0.84848484848484851</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Sheet1!$E$2:$E$9</c:f>
              <c:numCache>
                <c:formatCode>0%</c:formatCode>
                <c:ptCount val="8"/>
                <c:pt idx="0">
                  <c:v>0.83</c:v>
                </c:pt>
                <c:pt idx="1">
                  <c:v>0.91</c:v>
                </c:pt>
                <c:pt idx="2">
                  <c:v>0.95000000000000007</c:v>
                </c:pt>
                <c:pt idx="3">
                  <c:v>0.94</c:v>
                </c:pt>
                <c:pt idx="4">
                  <c:v>0.92</c:v>
                </c:pt>
                <c:pt idx="5">
                  <c:v>0.95</c:v>
                </c:pt>
                <c:pt idx="6">
                  <c:v>0.84</c:v>
                </c:pt>
                <c:pt idx="7">
                  <c:v>0.94</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Q1 2024
(N=12)</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0.33333333333333326</c:v>
                </c:pt>
                <c:pt idx="1">
                  <c:v>8.3333333333333315E-2</c:v>
                </c:pt>
                <c:pt idx="2">
                  <c:v>0.58333333333333337</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2024
(N=44)</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0.3636363636363637</c:v>
                </c:pt>
                <c:pt idx="1">
                  <c:v>0</c:v>
                </c:pt>
                <c:pt idx="2">
                  <c:v>0.63636363636363635</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Q3 2024
(N=19)</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0.47368421052631576</c:v>
                </c:pt>
                <c:pt idx="1">
                  <c:v>0</c:v>
                </c:pt>
                <c:pt idx="2">
                  <c:v>0.52631578947368418</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Q4 2024
(N=33)</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0.69696969696969702</c:v>
                </c:pt>
                <c:pt idx="1">
                  <c:v>6.0606060606060608E-2</c:v>
                </c:pt>
                <c:pt idx="2">
                  <c:v>0.24242424242424243</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18460807530637618"/>
          <c:y val="1.0785303876998281E-2"/>
          <c:w val="0.60640370611568284"/>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Q1 2024
(n=5)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0.8</c:v>
                </c:pt>
                <c:pt idx="1">
                  <c:v>0.2</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2024
(n=16)</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Sheet1!$C$2:$C$3</c:f>
              <c:numCache>
                <c:formatCode>0%</c:formatCode>
                <c:ptCount val="2"/>
                <c:pt idx="0">
                  <c:v>0.94</c:v>
                </c:pt>
                <c:pt idx="1">
                  <c:v>0.06</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Q3 2024
(n=9)</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0.66666666666666663</c:v>
                </c:pt>
                <c:pt idx="1">
                  <c:v>0.33333333333333331</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Q4 2024
(n=25)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0.84</c:v>
                </c:pt>
                <c:pt idx="1">
                  <c:v>0.16</c:v>
                </c:pt>
              </c:numCache>
            </c:numRef>
          </c:val>
          <c:extLst>
            <c:ext xmlns:c16="http://schemas.microsoft.com/office/drawing/2014/chart" uri="{C3380CC4-5D6E-409C-BE32-E72D297353CC}">
              <c16:uniqueId val="{00000000-AF88-4348-8696-5A67F3EFD30E}"/>
            </c:ext>
          </c:extLst>
        </c:ser>
        <c:dLbls>
          <c:showLegendKey val="0"/>
          <c:showVal val="0"/>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5039754899058669"/>
          <c:y val="1.0785303876998281E-2"/>
          <c:w val="0.61850526907820735"/>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Sheet1!$B$2:$B$9</c:f>
              <c:numCache>
                <c:formatCode>0%</c:formatCode>
                <c:ptCount val="8"/>
                <c:pt idx="1">
                  <c:v>2.2727272727272731E-2</c:v>
                </c:pt>
                <c:pt idx="2">
                  <c:v>0.10526315789473684</c:v>
                </c:pt>
                <c:pt idx="4">
                  <c:v>0.08</c:v>
                </c:pt>
                <c:pt idx="6">
                  <c:v>0.10526315789473684</c:v>
                </c:pt>
                <c:pt idx="7">
                  <c:v>9.0909090909090925E-2</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Sheet1!$C$2:$C$9</c:f>
              <c:numCache>
                <c:formatCode>0%</c:formatCode>
                <c:ptCount val="8"/>
                <c:pt idx="1">
                  <c:v>6.8181818181818177E-2</c:v>
                </c:pt>
                <c:pt idx="3">
                  <c:v>9.0909090909090925E-2</c:v>
                </c:pt>
                <c:pt idx="5">
                  <c:v>4.5454545454545463E-2</c:v>
                </c:pt>
                <c:pt idx="7">
                  <c:v>6.0606060606060608E-2</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Sheet1!$D$2:$D$9</c:f>
              <c:numCache>
                <c:formatCode>0%</c:formatCode>
                <c:ptCount val="8"/>
                <c:pt idx="0">
                  <c:v>0.92</c:v>
                </c:pt>
                <c:pt idx="1">
                  <c:v>0.90909090909090906</c:v>
                </c:pt>
                <c:pt idx="2">
                  <c:v>0.84210526315789469</c:v>
                </c:pt>
                <c:pt idx="3">
                  <c:v>0.84848484848484851</c:v>
                </c:pt>
                <c:pt idx="4">
                  <c:v>0.83</c:v>
                </c:pt>
                <c:pt idx="5">
                  <c:v>0.93181818181818177</c:v>
                </c:pt>
                <c:pt idx="6">
                  <c:v>0.78947368421052633</c:v>
                </c:pt>
                <c:pt idx="7">
                  <c:v>0.78787878787878785</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Sheet1!$E$2:$E$9</c:f>
              <c:numCache>
                <c:formatCode>0%</c:formatCode>
                <c:ptCount val="8"/>
                <c:pt idx="0">
                  <c:v>0.92</c:v>
                </c:pt>
                <c:pt idx="1">
                  <c:v>1</c:v>
                </c:pt>
                <c:pt idx="2">
                  <c:v>0.95</c:v>
                </c:pt>
                <c:pt idx="3">
                  <c:v>0.94</c:v>
                </c:pt>
                <c:pt idx="4">
                  <c:v>0.90999999999999992</c:v>
                </c:pt>
                <c:pt idx="5">
                  <c:v>0.98000000000000009</c:v>
                </c:pt>
                <c:pt idx="6">
                  <c:v>0.9</c:v>
                </c:pt>
                <c:pt idx="7">
                  <c:v>0.94000000000000006</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Sheet1!$B$2:$B$9</c:f>
              <c:numCache>
                <c:formatCode>0%</c:formatCode>
                <c:ptCount val="8"/>
                <c:pt idx="1">
                  <c:v>2.2727272727272731E-2</c:v>
                </c:pt>
                <c:pt idx="2">
                  <c:v>0.10526315789473684</c:v>
                </c:pt>
                <c:pt idx="5">
                  <c:v>2.2727272727272731E-2</c:v>
                </c:pt>
                <c:pt idx="6">
                  <c:v>0.10526315789473684</c:v>
                </c:pt>
                <c:pt idx="7">
                  <c:v>3.0303030303030304E-2</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Sheet1!$C$2:$C$9</c:f>
              <c:numCache>
                <c:formatCode>0%</c:formatCode>
                <c:ptCount val="8"/>
                <c:pt idx="0">
                  <c:v>0.08</c:v>
                </c:pt>
                <c:pt idx="1">
                  <c:v>4.5454545454545463E-2</c:v>
                </c:pt>
                <c:pt idx="3">
                  <c:v>9.0909090909090925E-2</c:v>
                </c:pt>
                <c:pt idx="4">
                  <c:v>0.08</c:v>
                </c:pt>
                <c:pt idx="5">
                  <c:v>6.8181818181818177E-2</c:v>
                </c:pt>
                <c:pt idx="6">
                  <c:v>5.2631578947368418E-2</c:v>
                </c:pt>
                <c:pt idx="7">
                  <c:v>3.0303030303030304E-2</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Sheet1!$D$2:$D$9</c:f>
              <c:numCache>
                <c:formatCode>0%</c:formatCode>
                <c:ptCount val="8"/>
                <c:pt idx="0">
                  <c:v>0.75</c:v>
                </c:pt>
                <c:pt idx="1">
                  <c:v>0.90909090909090906</c:v>
                </c:pt>
                <c:pt idx="2">
                  <c:v>0.78947368421052633</c:v>
                </c:pt>
                <c:pt idx="3">
                  <c:v>0.84848484848484851</c:v>
                </c:pt>
                <c:pt idx="4">
                  <c:v>0.83</c:v>
                </c:pt>
                <c:pt idx="5">
                  <c:v>0.88636363636363646</c:v>
                </c:pt>
                <c:pt idx="6">
                  <c:v>0.78947368421052633</c:v>
                </c:pt>
                <c:pt idx="7">
                  <c:v>0.87878787878787878</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2024 
(N=12)</c:v>
                </c:pt>
                <c:pt idx="1">
                  <c:v>Q2 2024 
(N=44)</c:v>
                </c:pt>
                <c:pt idx="2">
                  <c:v>Q3 2024 
(N=19)</c:v>
                </c:pt>
                <c:pt idx="3">
                  <c:v>Q4 2024 
(N=33)</c:v>
                </c:pt>
                <c:pt idx="4">
                  <c:v>Q1 2024 
(N=12)</c:v>
                </c:pt>
                <c:pt idx="5">
                  <c:v>Q2 2024 
(N=44)</c:v>
                </c:pt>
                <c:pt idx="6">
                  <c:v>Q3 2024 
(N=19)</c:v>
                </c:pt>
                <c:pt idx="7">
                  <c:v>Q4 2024 
(N=33)</c:v>
                </c:pt>
              </c:strCache>
            </c:strRef>
          </c:cat>
          <c:val>
            <c:numRef>
              <c:f>Sheet1!$E$2:$E$9</c:f>
              <c:numCache>
                <c:formatCode>0%</c:formatCode>
                <c:ptCount val="8"/>
                <c:pt idx="0">
                  <c:v>0.83</c:v>
                </c:pt>
                <c:pt idx="1">
                  <c:v>0.98</c:v>
                </c:pt>
                <c:pt idx="2">
                  <c:v>0.9</c:v>
                </c:pt>
                <c:pt idx="3">
                  <c:v>0.94</c:v>
                </c:pt>
                <c:pt idx="4">
                  <c:v>0.90999999999999992</c:v>
                </c:pt>
                <c:pt idx="5">
                  <c:v>0.98</c:v>
                </c:pt>
                <c:pt idx="6">
                  <c:v>0.95000000000000007</c:v>
                </c:pt>
                <c:pt idx="7">
                  <c:v>0.94</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Sheet1!$B$2:$B$5</c:f>
              <c:numCache>
                <c:formatCode>0%</c:formatCode>
                <c:ptCount val="4"/>
                <c:pt idx="1">
                  <c:v>0.03</c:v>
                </c:pt>
                <c:pt idx="2">
                  <c:v>0.11</c:v>
                </c:pt>
                <c:pt idx="3">
                  <c:v>3.0303030303030304E-2</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Sheet1!$C$2:$C$5</c:f>
              <c:numCache>
                <c:formatCode>0%</c:formatCode>
                <c:ptCount val="4"/>
                <c:pt idx="0">
                  <c:v>0.06</c:v>
                </c:pt>
                <c:pt idx="1">
                  <c:v>0.08</c:v>
                </c:pt>
                <c:pt idx="3">
                  <c:v>9.0909090909090925E-2</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Sheet1!$D$2:$D$5</c:f>
              <c:numCache>
                <c:formatCode>0%</c:formatCode>
                <c:ptCount val="4"/>
                <c:pt idx="0">
                  <c:v>0.81</c:v>
                </c:pt>
                <c:pt idx="1">
                  <c:v>0.85</c:v>
                </c:pt>
                <c:pt idx="2">
                  <c:v>0.84</c:v>
                </c:pt>
                <c:pt idx="3">
                  <c:v>0.78787878787878785</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Q1 2024 
(N=12)</c:v>
                </c:pt>
                <c:pt idx="1">
                  <c:v>Q2 2024 
(N=44)</c:v>
                </c:pt>
                <c:pt idx="2">
                  <c:v>Q3 2024 
(N=19)</c:v>
                </c:pt>
                <c:pt idx="3">
                  <c:v>Q4 2024 
(N=33)</c:v>
                </c:pt>
              </c:strCache>
            </c:strRef>
          </c:cat>
          <c:val>
            <c:numRef>
              <c:f>Sheet1!$E$2:$E$5</c:f>
              <c:numCache>
                <c:formatCode>0%</c:formatCode>
                <c:ptCount val="4"/>
                <c:pt idx="0">
                  <c:v>0.87000000000000011</c:v>
                </c:pt>
                <c:pt idx="1">
                  <c:v>0.96</c:v>
                </c:pt>
                <c:pt idx="2">
                  <c:v>0.95</c:v>
                </c:pt>
                <c:pt idx="3">
                  <c:v>0.91</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Q1 2024
(N=12)</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0.5</c:v>
                </c:pt>
                <c:pt idx="1">
                  <c:v>8.3333333333333315E-2</c:v>
                </c:pt>
                <c:pt idx="2">
                  <c:v>0.41666666666666674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2024
(N=44)</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0.15909090909090909</c:v>
                </c:pt>
                <c:pt idx="1">
                  <c:v>2.2727272727272731E-2</c:v>
                </c:pt>
                <c:pt idx="2">
                  <c:v>0.81818181818181834</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Q3 2024
(N=19)</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0.36842105263157893</c:v>
                </c:pt>
                <c:pt idx="1">
                  <c:v>5.2631578947368418E-2</c:v>
                </c:pt>
                <c:pt idx="2">
                  <c:v>0.57894736842105265</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Q4 2024
(N=33)</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0.5757575757575758</c:v>
                </c:pt>
                <c:pt idx="1">
                  <c:v>0.15151515151515152</c:v>
                </c:pt>
                <c:pt idx="2">
                  <c:v>0.27272727272727271</c:v>
                </c:pt>
              </c:numCache>
            </c:numRef>
          </c:val>
          <c:extLst>
            <c:ext xmlns:c16="http://schemas.microsoft.com/office/drawing/2014/chart" uri="{C3380CC4-5D6E-409C-BE32-E72D297353CC}">
              <c16:uniqueId val="{00000000-A205-4F76-994F-922B6EF4212F}"/>
            </c:ext>
          </c:extLst>
        </c:ser>
        <c:dLbls>
          <c:showLegendKey val="0"/>
          <c:showVal val="0"/>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78944408264758"/>
          <c:h val="7.9494483465683302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Q1 2024
(n=7)</c:v>
                </c:pt>
              </c:strCache>
            </c:strRef>
          </c:tx>
          <c:spPr>
            <a:solidFill>
              <a:srgbClr val="FFC003"/>
            </a:solidFill>
            <a:ln w="20893">
              <a:noFill/>
            </a:ln>
          </c:spPr>
          <c:invertIfNegative val="0"/>
          <c:dLbls>
            <c:dLbl>
              <c:idx val="0"/>
              <c:layout>
                <c:manualLayout>
                  <c:x val="-1.8796992481203006E-2"/>
                  <c:y val="-2.43362516253443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A3B-4672-93AE-F5A1DBB78370}"/>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0.8571428571428571</c:v>
                </c:pt>
                <c:pt idx="1">
                  <c:v>0.14285714285714285</c:v>
                </c:pt>
                <c:pt idx="2">
                  <c:v>0</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2024
(n=8)</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0.875</c:v>
                </c:pt>
                <c:pt idx="1">
                  <c:v>0.125</c:v>
                </c:pt>
                <c:pt idx="2">
                  <c:v>0</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Q3 2024
(n=8)</c:v>
                </c:pt>
              </c:strCache>
            </c:strRef>
          </c:tx>
          <c:spPr>
            <a:solidFill>
              <a:srgbClr val="00CC99"/>
            </a:solidFill>
          </c:spPr>
          <c:invertIfNegative val="0"/>
          <c:dLbls>
            <c:dLbl>
              <c:idx val="0"/>
              <c:layout>
                <c:manualLayout>
                  <c:x val="1.1278195488721804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A3B-4672-93AE-F5A1DBB7837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Sheet1!$D$2:$D$4</c:f>
              <c:numCache>
                <c:formatCode>0%</c:formatCode>
                <c:ptCount val="3"/>
                <c:pt idx="0">
                  <c:v>0.875</c:v>
                </c:pt>
                <c:pt idx="1">
                  <c:v>0.125</c:v>
                </c:pt>
                <c:pt idx="2">
                  <c:v>0</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Q4 2024
(n=24)</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dLbl>
              <c:idx val="0"/>
              <c:layout>
                <c:manualLayout>
                  <c:x val="1.3157894736842072E-2"/>
                  <c:y val="5.4080559167431919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746-504A-BA49-89DD2B9F1447}"/>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Sheet1!$E$2:$E$3</c:f>
              <c:numCache>
                <c:formatCode>0%</c:formatCode>
                <c:ptCount val="2"/>
                <c:pt idx="0">
                  <c:v>0.79166666666666663</c:v>
                </c:pt>
                <c:pt idx="1">
                  <c:v>0.20833333333333334</c:v>
                </c:pt>
              </c:numCache>
            </c:numRef>
          </c:val>
          <c:extLst>
            <c:ext xmlns:c16="http://schemas.microsoft.com/office/drawing/2014/chart" uri="{C3380CC4-5D6E-409C-BE32-E72D297353CC}">
              <c16:uniqueId val="{00000001-9A02-4932-A087-5B84C8851181}"/>
            </c:ext>
          </c:extLst>
        </c:ser>
        <c:dLbls>
          <c:showLegendKey val="0"/>
          <c:showVal val="0"/>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61676025694156655"/>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Q1 2024
(N=12)</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1</c:v>
                </c:pt>
                <c:pt idx="1">
                  <c:v>0</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2024
(N=44)</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1</c:v>
                </c:pt>
                <c:pt idx="1">
                  <c:v>0</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Q3 2024
(N=19)</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0.94736842105263153</c:v>
                </c:pt>
                <c:pt idx="1">
                  <c:v>5.2631578947368418E-2</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Q4 2024
(N=33)</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0.96969696969696972</c:v>
                </c:pt>
                <c:pt idx="1">
                  <c:v>3.0303030303030304E-2</c:v>
                </c:pt>
              </c:numCache>
            </c:numRef>
          </c:val>
          <c:extLst>
            <c:ext xmlns:c16="http://schemas.microsoft.com/office/drawing/2014/chart" uri="{C3380CC4-5D6E-409C-BE32-E72D297353CC}">
              <c16:uniqueId val="{00000003-B3BC-4399-9949-26421AA520BC}"/>
            </c:ext>
          </c:extLst>
        </c:ser>
        <c:dLbls>
          <c:showLegendKey val="0"/>
          <c:showVal val="0"/>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Sheet1!$B$2:$B$5</c:f>
              <c:numCache>
                <c:formatCode>0%</c:formatCode>
                <c:ptCount val="4"/>
                <c:pt idx="0">
                  <c:v>0.33333333333333326</c:v>
                </c:pt>
                <c:pt idx="1">
                  <c:v>9.0909090909090925E-2</c:v>
                </c:pt>
                <c:pt idx="3">
                  <c:v>0.1875</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Sheet1!$C$2:$C$5</c:f>
              <c:numCache>
                <c:formatCode>0%</c:formatCode>
                <c:ptCount val="4"/>
                <c:pt idx="0">
                  <c:v>8.3333333333333315E-2</c:v>
                </c:pt>
                <c:pt idx="1">
                  <c:v>0.11363636363636363</c:v>
                </c:pt>
                <c:pt idx="2">
                  <c:v>0.1111111111111111</c:v>
                </c:pt>
                <c:pt idx="3">
                  <c:v>3.125E-2</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Sheet1!$D$2:$D$5</c:f>
              <c:numCache>
                <c:formatCode>0%</c:formatCode>
                <c:ptCount val="4"/>
                <c:pt idx="0">
                  <c:v>0.41666666666666674</c:v>
                </c:pt>
                <c:pt idx="1">
                  <c:v>0.52272727272727271</c:v>
                </c:pt>
                <c:pt idx="2">
                  <c:v>0.55555555555555558</c:v>
                </c:pt>
                <c:pt idx="3">
                  <c:v>0.53125</c:v>
                </c:pt>
              </c:numCache>
            </c:numRef>
          </c:val>
          <c:extLst>
            <c:ext xmlns:c16="http://schemas.microsoft.com/office/drawing/2014/chart" uri="{C3380CC4-5D6E-409C-BE32-E72D297353CC}">
              <c16:uniqueId val="{00000003-9512-4180-AFC8-C9702FFCB6FC}"/>
            </c:ext>
          </c:extLst>
        </c:ser>
        <c:ser>
          <c:idx val="3"/>
          <c:order val="3"/>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Sheet1!#REF!</c:f>
              <c:numCache>
                <c:formatCode>General</c:formatCode>
                <c:ptCount val="1"/>
                <c:pt idx="0">
                  <c:v>1</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Sheet1!$B$2:$B$5</c:f>
              <c:numCache>
                <c:formatCode>General</c:formatCode>
                <c:ptCount val="4"/>
                <c:pt idx="0" formatCode="0%">
                  <c:v>0.17</c:v>
                </c:pt>
                <c:pt idx="2" formatCode="0%">
                  <c:v>0.11</c:v>
                </c:pt>
                <c:pt idx="3" formatCode="0%">
                  <c:v>9.0909090909090925E-2</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Sheet1!$C$2:$C$5</c:f>
              <c:numCache>
                <c:formatCode>0%</c:formatCode>
                <c:ptCount val="4"/>
                <c:pt idx="1">
                  <c:v>0.02</c:v>
                </c:pt>
                <c:pt idx="2">
                  <c:v>0.11</c:v>
                </c:pt>
                <c:pt idx="3">
                  <c:v>9.0909090909090925E-2</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Sheet1!$D$2:$D$5</c:f>
              <c:numCache>
                <c:formatCode>0%</c:formatCode>
                <c:ptCount val="4"/>
                <c:pt idx="0">
                  <c:v>0.08</c:v>
                </c:pt>
                <c:pt idx="1">
                  <c:v>0.27</c:v>
                </c:pt>
                <c:pt idx="2">
                  <c:v>0.16</c:v>
                </c:pt>
                <c:pt idx="3">
                  <c:v>0.33333333333333331</c:v>
                </c:pt>
              </c:numCache>
            </c:numRef>
          </c:val>
          <c:extLst>
            <c:ext xmlns:c16="http://schemas.microsoft.com/office/drawing/2014/chart" uri="{C3380CC4-5D6E-409C-BE32-E72D297353CC}">
              <c16:uniqueId val="{00000003-9512-4180-AFC8-C9702FFCB6FC}"/>
            </c:ext>
          </c:extLst>
        </c:ser>
        <c:ser>
          <c:idx val="3"/>
          <c:order val="3"/>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Sheet1!$E$2:$E$5</c:f>
              <c:numCache>
                <c:formatCode>0%</c:formatCode>
                <c:ptCount val="4"/>
                <c:pt idx="0">
                  <c:v>0.25</c:v>
                </c:pt>
                <c:pt idx="1">
                  <c:v>0.29000000000000004</c:v>
                </c:pt>
                <c:pt idx="2">
                  <c:v>0.38</c:v>
                </c:pt>
                <c:pt idx="3">
                  <c:v>0.51</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Sheet1!$B$2:$B$5</c:f>
              <c:numCache>
                <c:formatCode>0%</c:formatCode>
                <c:ptCount val="4"/>
                <c:pt idx="0">
                  <c:v>0.17</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Sheet1!$C$2:$C$5</c:f>
              <c:numCache>
                <c:formatCode>0%</c:formatCode>
                <c:ptCount val="4"/>
                <c:pt idx="1">
                  <c:v>6.8181818181818177E-2</c:v>
                </c:pt>
                <c:pt idx="2">
                  <c:v>5.2631578947368418E-2</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Sheet1!$D$2:$D$5</c:f>
              <c:numCache>
                <c:formatCode>0%</c:formatCode>
                <c:ptCount val="4"/>
                <c:pt idx="0">
                  <c:v>0.33</c:v>
                </c:pt>
                <c:pt idx="1">
                  <c:v>0.47727272727272729</c:v>
                </c:pt>
                <c:pt idx="2">
                  <c:v>0.36842105263157893</c:v>
                </c:pt>
                <c:pt idx="3">
                  <c:v>0.33</c:v>
                </c:pt>
              </c:numCache>
            </c:numRef>
          </c:val>
          <c:extLst>
            <c:ext xmlns:c16="http://schemas.microsoft.com/office/drawing/2014/chart" uri="{C3380CC4-5D6E-409C-BE32-E72D297353CC}">
              <c16:uniqueId val="{00000002-D709-46B7-8D5F-DCA6F61C30BE}"/>
            </c:ext>
          </c:extLst>
        </c:ser>
        <c:ser>
          <c:idx val="3"/>
          <c:order val="3"/>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Sheet1!#REF!</c:f>
              <c:numCache>
                <c:formatCode>General</c:formatCode>
                <c:ptCount val="1"/>
                <c:pt idx="0">
                  <c:v>1</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Q4 2024
(N=33)</c:v>
                </c:pt>
              </c:strCache>
            </c:strRef>
          </c:tx>
          <c:spPr>
            <a:solidFill>
              <a:schemeClr val="tx1"/>
            </a:solidFill>
            <a:ln w="21264">
              <a:noFill/>
            </a:ln>
          </c:spPr>
          <c:invertIfNegative val="0"/>
          <c:dLbls>
            <c:dLbl>
              <c:idx val="0"/>
              <c:layout>
                <c:manualLayout>
                  <c:x val="1.1134420658704729E-2"/>
                  <c:y val="3.831417624521072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2498-46B6-9C63-2CEDD08F99FB}"/>
                </c:ext>
              </c:extLst>
            </c:dLbl>
            <c:dLbl>
              <c:idx val="1"/>
              <c:layout>
                <c:manualLayout>
                  <c:x val="9.2786838822539394E-3"/>
                  <c:y val="-1.915708812260536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2498-46B6-9C63-2CEDD08F99FB}"/>
                </c:ext>
              </c:extLst>
            </c:dLbl>
            <c:dLbl>
              <c:idx val="2"/>
              <c:layout>
                <c:manualLayout>
                  <c:x val="-5.567210329352398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2498-46B6-9C63-2CEDD08F99FB}"/>
                </c:ext>
              </c:extLst>
            </c:dLbl>
            <c:dLbl>
              <c:idx val="3"/>
              <c:layout>
                <c:manualLayout>
                  <c:x val="-5.5672103293523982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FD5-9B4B-B15F-370C6B41CFCF}"/>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498-46B6-9C63-2CEDD08F99FB}"/>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498-46B6-9C63-2CEDD08F99FB}"/>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498-46B6-9C63-2CEDD08F99FB}"/>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2498-46B6-9C63-2CEDD08F99FB}"/>
                </c:ext>
              </c:extLst>
            </c:dLbl>
            <c:dLbl>
              <c:idx val="10"/>
              <c:layout>
                <c:manualLayout>
                  <c:x val="0"/>
                  <c:y val="5.747126436781574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D5-9B4B-B15F-370C6B41CFCF}"/>
                </c:ext>
              </c:extLst>
            </c:dLbl>
            <c:dLbl>
              <c:idx val="11"/>
              <c:layout>
                <c:manualLayout>
                  <c:x val="0"/>
                  <c:y val="-3.5120922504882739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All other</c:v>
                </c:pt>
                <c:pt idx="1">
                  <c:v>Do not know</c:v>
                </c:pt>
                <c:pt idx="2">
                  <c:v>Austin 311</c:v>
                </c:pt>
                <c:pt idx="3">
                  <c:v>Austin Energy called me</c:v>
                </c:pt>
                <c:pt idx="4">
                  <c:v>On city's website</c:v>
                </c:pt>
                <c:pt idx="5">
                  <c:v>Utility bill insert</c:v>
                </c:pt>
                <c:pt idx="6">
                  <c:v>Email</c:v>
                </c:pt>
                <c:pt idx="7">
                  <c:v>I called them</c:v>
                </c:pt>
                <c:pt idx="8">
                  <c:v>Word of mouth</c:v>
                </c:pt>
                <c:pt idx="9">
                  <c:v>Utility Contact Center </c:v>
                </c:pt>
              </c:strCache>
            </c:strRef>
          </c:cat>
          <c:val>
            <c:numRef>
              <c:f>Sheet1!$B$2:$B$11</c:f>
              <c:numCache>
                <c:formatCode>0%</c:formatCode>
                <c:ptCount val="10"/>
                <c:pt idx="7">
                  <c:v>0.06</c:v>
                </c:pt>
                <c:pt idx="8">
                  <c:v>0.09</c:v>
                </c:pt>
                <c:pt idx="9">
                  <c:v>0.18</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Q3 2024
(N=19)</c:v>
                </c:pt>
              </c:strCache>
            </c:strRef>
          </c:tx>
          <c:spPr>
            <a:solidFill>
              <a:srgbClr val="00CC99"/>
            </a:solidFill>
          </c:spPr>
          <c:invertIfNegative val="0"/>
          <c:dLbls>
            <c:dLbl>
              <c:idx val="0"/>
              <c:layout>
                <c:manualLayout>
                  <c:x val="1.1134420658704729E-2"/>
                  <c:y val="-1.4048369001953096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FD5-9B4B-B15F-370C6B41CFCF}"/>
                </c:ext>
              </c:extLst>
            </c:dLbl>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A05-294F-B2B7-24B10EF57FC1}"/>
                </c:ext>
              </c:extLst>
            </c:dLbl>
            <c:dLbl>
              <c:idx val="2"/>
              <c:layout>
                <c:manualLayout>
                  <c:x val="2.598031487031099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FD5-9B4B-B15F-370C6B41CFCF}"/>
                </c:ext>
              </c:extLst>
            </c:dLbl>
            <c:dLbl>
              <c:idx val="5"/>
              <c:layout>
                <c:manualLayout>
                  <c:x val="5.5672103293523643E-3"/>
                  <c:y val="1.91570881226046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854-2147-903F-0829DBEE9518}"/>
                </c:ext>
              </c:extLst>
            </c:dLbl>
            <c:dLbl>
              <c:idx val="11"/>
              <c:layout>
                <c:manualLayout>
                  <c:x val="9.4642575598990183E-2"/>
                  <c:y val="-4.7892720306513406E-3"/>
                </c:manualLayout>
              </c:layout>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3.9387940019664967E-2"/>
                      <c:h val="2.3122605363984673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All other</c:v>
                </c:pt>
                <c:pt idx="1">
                  <c:v>Do not know</c:v>
                </c:pt>
                <c:pt idx="2">
                  <c:v>Austin 311</c:v>
                </c:pt>
                <c:pt idx="3">
                  <c:v>Austin Energy called me</c:v>
                </c:pt>
                <c:pt idx="4">
                  <c:v>On city's website</c:v>
                </c:pt>
                <c:pt idx="5">
                  <c:v>Utility bill insert</c:v>
                </c:pt>
                <c:pt idx="6">
                  <c:v>Email</c:v>
                </c:pt>
                <c:pt idx="7">
                  <c:v>I called them</c:v>
                </c:pt>
                <c:pt idx="8">
                  <c:v>Word of mouth</c:v>
                </c:pt>
                <c:pt idx="9">
                  <c:v>Utility Contact Center </c:v>
                </c:pt>
              </c:strCache>
            </c:strRef>
          </c:cat>
          <c:val>
            <c:numRef>
              <c:f>Sheet1!$C$2:$C$11</c:f>
              <c:numCache>
                <c:formatCode>0%</c:formatCode>
                <c:ptCount val="10"/>
                <c:pt idx="0">
                  <c:v>0.11</c:v>
                </c:pt>
                <c:pt idx="1">
                  <c:v>0.05</c:v>
                </c:pt>
                <c:pt idx="5">
                  <c:v>0.05</c:v>
                </c:pt>
                <c:pt idx="6">
                  <c:v>0.05</c:v>
                </c:pt>
                <c:pt idx="7">
                  <c:v>0.05</c:v>
                </c:pt>
                <c:pt idx="8">
                  <c:v>0.11</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Q2 2024
(N=44)</c:v>
                </c:pt>
              </c:strCache>
            </c:strRef>
          </c:tx>
          <c:spPr>
            <a:solidFill>
              <a:srgbClr val="3233CC"/>
            </a:solidFill>
          </c:spPr>
          <c:invertIfNegative val="0"/>
          <c:dLbls>
            <c:dLbl>
              <c:idx val="1"/>
              <c:layout>
                <c:manualLayout>
                  <c:x val="9.2786838822539394E-3"/>
                  <c:y val="-3.831417624521072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AF9-D842-945D-F49A2F6B2AE1}"/>
                </c:ext>
              </c:extLst>
            </c:dLbl>
            <c:dLbl>
              <c:idx val="2"/>
              <c:layout>
                <c:manualLayout>
                  <c:x val="-5.5672103293523982E-3"/>
                  <c:y val="-1.9157088122606768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FD5-9B4B-B15F-370C6B41CFCF}"/>
                </c:ext>
              </c:extLst>
            </c:dLbl>
            <c:dLbl>
              <c:idx val="5"/>
              <c:layout>
                <c:manualLayout>
                  <c:x val="3.7114735529015759E-3"/>
                  <c:y val="-7.0241845009765478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FD5-9B4B-B15F-370C6B41CFCF}"/>
                </c:ext>
              </c:extLst>
            </c:dLbl>
            <c:dLbl>
              <c:idx val="8"/>
              <c:layout>
                <c:manualLayout>
                  <c:x val="1.6701630988057093E-2"/>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D5-9B4B-B15F-370C6B41CFCF}"/>
                </c:ext>
              </c:extLst>
            </c:dLbl>
            <c:dLbl>
              <c:idx val="11"/>
              <c:layout>
                <c:manualLayout>
                  <c:x val="2.7836051646761787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D5-9B4B-B15F-370C6B41CFCF}"/>
                </c:ext>
              </c:extLst>
            </c:dLbl>
            <c:dLbl>
              <c:idx val="12"/>
              <c:layout>
                <c:manualLayout>
                  <c:x val="1.6701630988057093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D5-9B4B-B15F-370C6B41CFCF}"/>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All other</c:v>
                </c:pt>
                <c:pt idx="1">
                  <c:v>Do not know</c:v>
                </c:pt>
                <c:pt idx="2">
                  <c:v>Austin 311</c:v>
                </c:pt>
                <c:pt idx="3">
                  <c:v>Austin Energy called me</c:v>
                </c:pt>
                <c:pt idx="4">
                  <c:v>On city's website</c:v>
                </c:pt>
                <c:pt idx="5">
                  <c:v>Utility bill insert</c:v>
                </c:pt>
                <c:pt idx="6">
                  <c:v>Email</c:v>
                </c:pt>
                <c:pt idx="7">
                  <c:v>I called them</c:v>
                </c:pt>
                <c:pt idx="8">
                  <c:v>Word of mouth</c:v>
                </c:pt>
                <c:pt idx="9">
                  <c:v>Utility Contact Center </c:v>
                </c:pt>
              </c:strCache>
            </c:strRef>
          </c:cat>
          <c:val>
            <c:numRef>
              <c:f>Sheet1!$D$2:$D$11</c:f>
              <c:numCache>
                <c:formatCode>0%</c:formatCode>
                <c:ptCount val="10"/>
                <c:pt idx="0">
                  <c:v>0.11</c:v>
                </c:pt>
                <c:pt idx="1">
                  <c:v>7.0000000000000007E-2</c:v>
                </c:pt>
                <c:pt idx="3">
                  <c:v>0.02</c:v>
                </c:pt>
                <c:pt idx="4">
                  <c:v>0.09</c:v>
                </c:pt>
                <c:pt idx="7">
                  <c:v>0.02</c:v>
                </c:pt>
                <c:pt idx="9">
                  <c:v>0.18</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Q1 2024
(N=12)</c:v>
                </c:pt>
              </c:strCache>
            </c:strRef>
          </c:tx>
          <c:spPr>
            <a:solidFill>
              <a:srgbClr val="FFC003"/>
            </a:solidFill>
          </c:spPr>
          <c:invertIfNegative val="0"/>
          <c:dLbls>
            <c:dLbl>
              <c:idx val="1"/>
              <c:layout>
                <c:manualLayout>
                  <c:x val="-1.855736776450788E-3"/>
                  <c:y val="-5.747126436781609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AF9-D842-945D-F49A2F6B2AE1}"/>
                </c:ext>
              </c:extLst>
            </c:dLbl>
            <c:dLbl>
              <c:idx val="5"/>
              <c:layout>
                <c:manualLayout>
                  <c:x val="-5.5672103293523982E-3"/>
                  <c:y val="-1.915708812260536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FD5-9B4B-B15F-370C6B41CFCF}"/>
                </c:ext>
              </c:extLst>
            </c:dLbl>
            <c:dLbl>
              <c:idx val="6"/>
              <c:layout>
                <c:manualLayout>
                  <c:x val="-5.5672103293523982E-3"/>
                  <c:y val="-5.747126436781679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FD5-9B4B-B15F-370C6B41CFCF}"/>
                </c:ext>
              </c:extLst>
            </c:dLbl>
            <c:dLbl>
              <c:idx val="8"/>
              <c:layout>
                <c:manualLayout>
                  <c:x val="-5.5672103293523982E-3"/>
                  <c:y val="-7.662835249042145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FD5-9B4B-B15F-370C6B41CFCF}"/>
                </c:ext>
              </c:extLst>
            </c:dLbl>
            <c:dLbl>
              <c:idx val="9"/>
              <c:layout>
                <c:manualLayout>
                  <c:x val="1.6701630988057093E-2"/>
                  <c:y val="-1.9157088122605714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96-5445-9E8E-B4E6C15FCE73}"/>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All other</c:v>
                </c:pt>
                <c:pt idx="1">
                  <c:v>Do not know</c:v>
                </c:pt>
                <c:pt idx="2">
                  <c:v>Austin 311</c:v>
                </c:pt>
                <c:pt idx="3">
                  <c:v>Austin Energy called me</c:v>
                </c:pt>
                <c:pt idx="4">
                  <c:v>On city's website</c:v>
                </c:pt>
                <c:pt idx="5">
                  <c:v>Utility bill insert</c:v>
                </c:pt>
                <c:pt idx="6">
                  <c:v>Email</c:v>
                </c:pt>
                <c:pt idx="7">
                  <c:v>I called them</c:v>
                </c:pt>
                <c:pt idx="8">
                  <c:v>Word of mouth</c:v>
                </c:pt>
                <c:pt idx="9">
                  <c:v>Utility Contact Center </c:v>
                </c:pt>
              </c:strCache>
            </c:strRef>
          </c:cat>
          <c:val>
            <c:numRef>
              <c:f>Sheet1!$E$2:$E$11</c:f>
              <c:numCache>
                <c:formatCode>0%</c:formatCode>
                <c:ptCount val="10"/>
                <c:pt idx="0">
                  <c:v>0.17</c:v>
                </c:pt>
                <c:pt idx="1">
                  <c:v>0.17</c:v>
                </c:pt>
                <c:pt idx="2">
                  <c:v>0.08</c:v>
                </c:pt>
                <c:pt idx="5">
                  <c:v>0.08</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Q1 2024
(N=12)</c:v>
                </c:pt>
              </c:strCache>
            </c:strRef>
          </c:tx>
          <c:spPr>
            <a:solidFill>
              <a:srgbClr val="FFC003"/>
            </a:solidFill>
            <a:ln w="21264">
              <a:noFill/>
            </a:ln>
          </c:spPr>
          <c:invertIfNegative val="0"/>
          <c:dLbls>
            <c:dLbl>
              <c:idx val="1"/>
              <c:layout>
                <c:manualLayout>
                  <c:x val="1.8726959020547603E-2"/>
                  <c:y val="1.455009646630856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2D-8F45-BEA4-DD7B6F0918C9}"/>
                </c:ext>
              </c:extLst>
            </c:dLbl>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Friends/family/word-of-mouth</c:v>
                </c:pt>
                <c:pt idx="1">
                  <c:v>Austin Energy's website</c:v>
                </c:pt>
                <c:pt idx="2">
                  <c:v>Utility bill inserts</c:v>
                </c:pt>
                <c:pt idx="3">
                  <c:v>Radio</c:v>
                </c:pt>
                <c:pt idx="4">
                  <c:v>Newspaper advertisement</c:v>
                </c:pt>
                <c:pt idx="5">
                  <c:v>AE Customer Assistance Program (CAPS)</c:v>
                </c:pt>
                <c:pt idx="6">
                  <c:v>Contractors</c:v>
                </c:pt>
                <c:pt idx="7">
                  <c:v>Television</c:v>
                </c:pt>
                <c:pt idx="8">
                  <c:v>Email</c:v>
                </c:pt>
                <c:pt idx="9">
                  <c:v>Do not know</c:v>
                </c:pt>
                <c:pt idx="10">
                  <c:v>All other </c:v>
                </c:pt>
              </c:strCache>
            </c:strRef>
          </c:cat>
          <c:val>
            <c:numRef>
              <c:f>Sheet1!$B$2:$B$12</c:f>
              <c:numCache>
                <c:formatCode>0%</c:formatCode>
                <c:ptCount val="11"/>
                <c:pt idx="0">
                  <c:v>0.42</c:v>
                </c:pt>
                <c:pt idx="1">
                  <c:v>0.17</c:v>
                </c:pt>
                <c:pt idx="2">
                  <c:v>0.08</c:v>
                </c:pt>
                <c:pt idx="8">
                  <c:v>0.08</c:v>
                </c:pt>
                <c:pt idx="9">
                  <c:v>0.08</c:v>
                </c:pt>
                <c:pt idx="10">
                  <c:v>0.17</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Q2 2024
(N=44)</c:v>
                </c:pt>
              </c:strCache>
            </c:strRef>
          </c:tx>
          <c:spPr>
            <a:solidFill>
              <a:srgbClr val="3233CC"/>
            </a:solidFill>
          </c:spPr>
          <c:invertIfNegative val="0"/>
          <c:dLbls>
            <c:dLbl>
              <c:idx val="0"/>
              <c:layout>
                <c:manualLayout>
                  <c:x val="1.8726959020547603E-2"/>
                  <c:y val="-4.7615298087738886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378F-9347-9FC8-FB69A09104DE}"/>
                </c:ext>
              </c:extLst>
            </c:dLbl>
            <c:dLbl>
              <c:idx val="1"/>
              <c:layout>
                <c:manualLayout>
                  <c:x val="6.804289576585734E-17"/>
                  <c:y val="6.3437269936690507E-3"/>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0-85E4-9746-BF4E-478D43DF2CB2}"/>
                </c:ext>
              </c:extLst>
            </c:dLbl>
            <c:dLbl>
              <c:idx val="11"/>
              <c:layout>
                <c:manualLayout>
                  <c:x val="7.4229471058030842E-3"/>
                  <c:y val="0"/>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2-85E4-9746-BF4E-478D43DF2CB2}"/>
                </c:ext>
              </c:extLst>
            </c:dLbl>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Sheet1!$A$2:$A$12</c:f>
              <c:strCache>
                <c:ptCount val="11"/>
                <c:pt idx="0">
                  <c:v>Friends/family/word-of-mouth</c:v>
                </c:pt>
                <c:pt idx="1">
                  <c:v>Austin Energy's website</c:v>
                </c:pt>
                <c:pt idx="2">
                  <c:v>Utility bill inserts</c:v>
                </c:pt>
                <c:pt idx="3">
                  <c:v>Radio</c:v>
                </c:pt>
                <c:pt idx="4">
                  <c:v>Newspaper advertisement</c:v>
                </c:pt>
                <c:pt idx="5">
                  <c:v>AE Customer Assistance Program (CAPS)</c:v>
                </c:pt>
                <c:pt idx="6">
                  <c:v>Contractors</c:v>
                </c:pt>
                <c:pt idx="7">
                  <c:v>Television</c:v>
                </c:pt>
                <c:pt idx="8">
                  <c:v>Email</c:v>
                </c:pt>
                <c:pt idx="9">
                  <c:v>Do not know</c:v>
                </c:pt>
                <c:pt idx="10">
                  <c:v>All other </c:v>
                </c:pt>
              </c:strCache>
            </c:strRef>
          </c:cat>
          <c:val>
            <c:numRef>
              <c:f>Sheet1!$C$2:$C$12</c:f>
              <c:numCache>
                <c:formatCode>0%</c:formatCode>
                <c:ptCount val="11"/>
                <c:pt idx="0">
                  <c:v>0.29545454545454547</c:v>
                </c:pt>
                <c:pt idx="1">
                  <c:v>0.22727272727272727</c:v>
                </c:pt>
                <c:pt idx="2">
                  <c:v>0.25</c:v>
                </c:pt>
                <c:pt idx="3">
                  <c:v>6.8181818181818177E-2</c:v>
                </c:pt>
                <c:pt idx="6">
                  <c:v>2.2727272727272731E-2</c:v>
                </c:pt>
                <c:pt idx="7">
                  <c:v>2.2727272727272731E-2</c:v>
                </c:pt>
                <c:pt idx="9">
                  <c:v>2.2727272727272728E-2</c:v>
                </c:pt>
                <c:pt idx="10">
                  <c:v>0.11363636363636363</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Q3 2024
(N=19)</c:v>
                </c:pt>
              </c:strCache>
            </c:strRef>
          </c:tx>
          <c:spPr>
            <a:solidFill>
              <a:srgbClr val="00CC9A"/>
            </a:solidFill>
          </c:spPr>
          <c:invertIfNegative val="0"/>
          <c:dLbls>
            <c:dLbl>
              <c:idx val="2"/>
              <c:layout>
                <c:manualLayout>
                  <c:x val="-1.8726959020547603E-3"/>
                  <c:y val="-3.174603174603174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72D-8F45-BEA4-DD7B6F0918C9}"/>
                </c:ext>
              </c:extLst>
            </c:dLbl>
            <c:dLbl>
              <c:idx val="14"/>
              <c:layout>
                <c:manualLayout>
                  <c:x val="1.855736776450788E-3"/>
                  <c:y val="5.942041236206588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Friends/family/word-of-mouth</c:v>
                </c:pt>
                <c:pt idx="1">
                  <c:v>Austin Energy's website</c:v>
                </c:pt>
                <c:pt idx="2">
                  <c:v>Utility bill inserts</c:v>
                </c:pt>
                <c:pt idx="3">
                  <c:v>Radio</c:v>
                </c:pt>
                <c:pt idx="4">
                  <c:v>Newspaper advertisement</c:v>
                </c:pt>
                <c:pt idx="5">
                  <c:v>AE Customer Assistance Program (CAPS)</c:v>
                </c:pt>
                <c:pt idx="6">
                  <c:v>Contractors</c:v>
                </c:pt>
                <c:pt idx="7">
                  <c:v>Television</c:v>
                </c:pt>
                <c:pt idx="8">
                  <c:v>Email</c:v>
                </c:pt>
                <c:pt idx="9">
                  <c:v>Do not know</c:v>
                </c:pt>
                <c:pt idx="10">
                  <c:v>All other </c:v>
                </c:pt>
              </c:strCache>
            </c:strRef>
          </c:cat>
          <c:val>
            <c:numRef>
              <c:f>Sheet1!$D$2:$D$12</c:f>
              <c:numCache>
                <c:formatCode>0%</c:formatCode>
                <c:ptCount val="11"/>
                <c:pt idx="0">
                  <c:v>5.2631578947368418E-2</c:v>
                </c:pt>
                <c:pt idx="1">
                  <c:v>0.36842105263157893</c:v>
                </c:pt>
                <c:pt idx="2">
                  <c:v>5.2631578947368418E-2</c:v>
                </c:pt>
                <c:pt idx="3">
                  <c:v>5.2631578947368418E-2</c:v>
                </c:pt>
                <c:pt idx="4">
                  <c:v>5.2631578947368418E-2</c:v>
                </c:pt>
                <c:pt idx="5">
                  <c:v>5.2631578947368418E-2</c:v>
                </c:pt>
                <c:pt idx="9">
                  <c:v>0.05</c:v>
                </c:pt>
                <c:pt idx="10">
                  <c:v>0.32</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Q4 2024
(N=33)</c:v>
                </c:pt>
              </c:strCache>
            </c:strRef>
          </c:tx>
          <c:spPr>
            <a:solidFill>
              <a:schemeClr val="tx1"/>
            </a:solidFill>
          </c:spPr>
          <c:invertIfNegative val="0"/>
          <c:dLbls>
            <c:dLbl>
              <c:idx val="1"/>
              <c:layout>
                <c:manualLayout>
                  <c:x val="2.0413104540958599E-2"/>
                  <c:y val="-1.980368493893733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E4-9746-BF4E-478D43DF2CB2}"/>
                </c:ext>
              </c:extLst>
            </c:dLbl>
            <c:dLbl>
              <c:idx val="2"/>
              <c:layout>
                <c:manualLayout>
                  <c:x val="1.1236175412328561E-2"/>
                  <c:y val="-6.349081364829396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72D-8F45-BEA4-DD7B6F0918C9}"/>
                </c:ext>
              </c:extLst>
            </c:dLbl>
            <c:dLbl>
              <c:idx val="14"/>
              <c:layout>
                <c:manualLayout>
                  <c:x val="2.0413104540958599E-2"/>
                  <c:y val="3.961516783225290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5E4-9746-BF4E-478D43DF2CB2}"/>
                </c:ext>
              </c:extLst>
            </c:dLbl>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Friends/family/word-of-mouth</c:v>
                </c:pt>
                <c:pt idx="1">
                  <c:v>Austin Energy's website</c:v>
                </c:pt>
                <c:pt idx="2">
                  <c:v>Utility bill inserts</c:v>
                </c:pt>
                <c:pt idx="3">
                  <c:v>Radio</c:v>
                </c:pt>
                <c:pt idx="4">
                  <c:v>Newspaper advertisement</c:v>
                </c:pt>
                <c:pt idx="5">
                  <c:v>AE Customer Assistance Program (CAPS)</c:v>
                </c:pt>
                <c:pt idx="6">
                  <c:v>Contractors</c:v>
                </c:pt>
                <c:pt idx="7">
                  <c:v>Television</c:v>
                </c:pt>
                <c:pt idx="8">
                  <c:v>Email</c:v>
                </c:pt>
                <c:pt idx="9">
                  <c:v>Do not know</c:v>
                </c:pt>
                <c:pt idx="10">
                  <c:v>All other </c:v>
                </c:pt>
              </c:strCache>
            </c:strRef>
          </c:cat>
          <c:val>
            <c:numRef>
              <c:f>Sheet1!$E$2:$E$12</c:f>
              <c:numCache>
                <c:formatCode>0%</c:formatCode>
                <c:ptCount val="11"/>
                <c:pt idx="0">
                  <c:v>0.48</c:v>
                </c:pt>
                <c:pt idx="1">
                  <c:v>0.09</c:v>
                </c:pt>
                <c:pt idx="2">
                  <c:v>0.03</c:v>
                </c:pt>
                <c:pt idx="3">
                  <c:v>0.03</c:v>
                </c:pt>
                <c:pt idx="4">
                  <c:v>0.03</c:v>
                </c:pt>
                <c:pt idx="10">
                  <c:v>0.33</c:v>
                </c:pt>
              </c:numCache>
            </c:numRef>
          </c:val>
          <c:extLst>
            <c:ext xmlns:c16="http://schemas.microsoft.com/office/drawing/2014/chart" uri="{C3380CC4-5D6E-409C-BE32-E72D297353CC}">
              <c16:uniqueId val="{00000003-CC47-4228-84BB-2FF78CC943F0}"/>
            </c:ext>
          </c:extLst>
        </c:ser>
        <c:dLbls>
          <c:showLegendKey val="0"/>
          <c:showVal val="0"/>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240756421689441"/>
          <c:h val="5.345872694943792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8014803453525725"/>
          <c:y val="0.14592833876221498"/>
          <c:w val="0.58321878046561992"/>
          <c:h val="0.78987714483572291"/>
        </c:manualLayout>
      </c:layout>
      <c:barChart>
        <c:barDir val="bar"/>
        <c:grouping val="clustered"/>
        <c:varyColors val="0"/>
        <c:ser>
          <c:idx val="0"/>
          <c:order val="0"/>
          <c:tx>
            <c:strRef>
              <c:f>Sheet1!$B$1</c:f>
              <c:strCache>
                <c:ptCount val="1"/>
                <c:pt idx="0">
                  <c:v>Q1 2024
(N=12)</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Email </c:v>
                </c:pt>
                <c:pt idx="1">
                  <c:v>Text messages</c:v>
                </c:pt>
                <c:pt idx="2">
                  <c:v>Phone call</c:v>
                </c:pt>
                <c:pt idx="3">
                  <c:v>Austin Energy's Website</c:v>
                </c:pt>
                <c:pt idx="4">
                  <c:v>Direct mail</c:v>
                </c:pt>
                <c:pt idx="5">
                  <c:v>Facebook, Twitter, or other Social Media</c:v>
                </c:pt>
                <c:pt idx="6">
                  <c:v>All other</c:v>
                </c:pt>
              </c:strCache>
            </c:strRef>
          </c:cat>
          <c:val>
            <c:numRef>
              <c:f>Sheet1!$B$2:$B$8</c:f>
              <c:numCache>
                <c:formatCode>0%</c:formatCode>
                <c:ptCount val="7"/>
                <c:pt idx="0">
                  <c:v>0.75</c:v>
                </c:pt>
                <c:pt idx="1">
                  <c:v>0.17</c:v>
                </c:pt>
                <c:pt idx="2">
                  <c:v>0.25</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Q2 2024
(N=44)</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Email </c:v>
                </c:pt>
                <c:pt idx="1">
                  <c:v>Text messages</c:v>
                </c:pt>
                <c:pt idx="2">
                  <c:v>Phone call</c:v>
                </c:pt>
                <c:pt idx="3">
                  <c:v>Austin Energy's Website</c:v>
                </c:pt>
                <c:pt idx="4">
                  <c:v>Direct mail</c:v>
                </c:pt>
                <c:pt idx="5">
                  <c:v>Facebook, Twitter, or other Social Media</c:v>
                </c:pt>
                <c:pt idx="6">
                  <c:v>All other</c:v>
                </c:pt>
              </c:strCache>
            </c:strRef>
          </c:cat>
          <c:val>
            <c:numRef>
              <c:f>Sheet1!$C$2:$C$8</c:f>
              <c:numCache>
                <c:formatCode>0%</c:formatCode>
                <c:ptCount val="7"/>
                <c:pt idx="0">
                  <c:v>0.70454545454545459</c:v>
                </c:pt>
                <c:pt idx="1">
                  <c:v>0.13636363636363635</c:v>
                </c:pt>
                <c:pt idx="2">
                  <c:v>0.15909090909090909</c:v>
                </c:pt>
                <c:pt idx="4">
                  <c:v>0.11363636363636363</c:v>
                </c:pt>
                <c:pt idx="6">
                  <c:v>2.2727272727272731E-2</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Q3 2024
(N=19)</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Sheet1!$A$2:$A$8</c:f>
              <c:strCache>
                <c:ptCount val="7"/>
                <c:pt idx="0">
                  <c:v>Email </c:v>
                </c:pt>
                <c:pt idx="1">
                  <c:v>Text messages</c:v>
                </c:pt>
                <c:pt idx="2">
                  <c:v>Phone call</c:v>
                </c:pt>
                <c:pt idx="3">
                  <c:v>Austin Energy's Website</c:v>
                </c:pt>
                <c:pt idx="4">
                  <c:v>Direct mail</c:v>
                </c:pt>
                <c:pt idx="5">
                  <c:v>Facebook, Twitter, or other Social Media</c:v>
                </c:pt>
                <c:pt idx="6">
                  <c:v>All other</c:v>
                </c:pt>
              </c:strCache>
            </c:strRef>
          </c:cat>
          <c:val>
            <c:numRef>
              <c:f>Sheet1!$D$2:$D$8</c:f>
              <c:numCache>
                <c:formatCode>0%</c:formatCode>
                <c:ptCount val="7"/>
                <c:pt idx="0">
                  <c:v>0.63157894736842102</c:v>
                </c:pt>
                <c:pt idx="1">
                  <c:v>0.21052631578947367</c:v>
                </c:pt>
                <c:pt idx="2">
                  <c:v>0.31578947368421051</c:v>
                </c:pt>
                <c:pt idx="4">
                  <c:v>0.10526315789473684</c:v>
                </c:pt>
                <c:pt idx="6">
                  <c:v>5.2631578947368418E-2</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Q4 2024
(N=33)</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930" b="0" i="0" baseline="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Sheet1!$A$2:$A$8</c:f>
              <c:strCache>
                <c:ptCount val="7"/>
                <c:pt idx="0">
                  <c:v>Email </c:v>
                </c:pt>
                <c:pt idx="1">
                  <c:v>Text messages</c:v>
                </c:pt>
                <c:pt idx="2">
                  <c:v>Phone call</c:v>
                </c:pt>
                <c:pt idx="3">
                  <c:v>Austin Energy's Website</c:v>
                </c:pt>
                <c:pt idx="4">
                  <c:v>Direct mail</c:v>
                </c:pt>
                <c:pt idx="5">
                  <c:v>Facebook, Twitter, or other Social Media</c:v>
                </c:pt>
                <c:pt idx="6">
                  <c:v>All other</c:v>
                </c:pt>
              </c:strCache>
            </c:strRef>
          </c:cat>
          <c:val>
            <c:numRef>
              <c:f>Sheet1!$E$2:$E$8</c:f>
              <c:numCache>
                <c:formatCode>0%</c:formatCode>
                <c:ptCount val="7"/>
                <c:pt idx="0">
                  <c:v>0.75757575757575757</c:v>
                </c:pt>
                <c:pt idx="1">
                  <c:v>0.45454545454545453</c:v>
                </c:pt>
                <c:pt idx="2">
                  <c:v>0.24242424242424243</c:v>
                </c:pt>
                <c:pt idx="3">
                  <c:v>0.12121212121212122</c:v>
                </c:pt>
                <c:pt idx="4">
                  <c:v>9.0909090909090925E-2</c:v>
                </c:pt>
                <c:pt idx="5">
                  <c:v>3.0303030303030304E-2</c:v>
                </c:pt>
                <c:pt idx="6">
                  <c:v>5.2631578947368418E-2</c:v>
                </c:pt>
              </c:numCache>
            </c:numRef>
          </c:val>
          <c:extLst>
            <c:ext xmlns:c16="http://schemas.microsoft.com/office/drawing/2014/chart" uri="{C3380CC4-5D6E-409C-BE32-E72D297353CC}">
              <c16:uniqueId val="{00000003-08BA-4719-85C8-FABAF5FAC883}"/>
            </c:ext>
          </c:extLst>
        </c:ser>
        <c:dLbls>
          <c:showLegendKey val="0"/>
          <c:showVal val="0"/>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Sheet1!$B$2:$B$5</c:f>
              <c:numCache>
                <c:formatCode>0%</c:formatCode>
                <c:ptCount val="4"/>
                <c:pt idx="0">
                  <c:v>0.08</c:v>
                </c:pt>
                <c:pt idx="1">
                  <c:v>0.11363636363636363</c:v>
                </c:pt>
                <c:pt idx="2">
                  <c:v>0.36842105263157893</c:v>
                </c:pt>
                <c:pt idx="3">
                  <c:v>0.24242424242424243</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Sheet1!$C$2:$C$5</c:f>
              <c:numCache>
                <c:formatCode>0%</c:formatCode>
                <c:ptCount val="4"/>
                <c:pt idx="0">
                  <c:v>0.08</c:v>
                </c:pt>
                <c:pt idx="1">
                  <c:v>0.20454545454545459</c:v>
                </c:pt>
                <c:pt idx="2">
                  <c:v>5.2631578947368418E-2</c:v>
                </c:pt>
                <c:pt idx="3">
                  <c:v>9.0909090909090925E-2</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Sheet1!$D$2:$D$5</c:f>
              <c:numCache>
                <c:formatCode>0%</c:formatCode>
                <c:ptCount val="4"/>
                <c:pt idx="0">
                  <c:v>0.67</c:v>
                </c:pt>
                <c:pt idx="1">
                  <c:v>0.56818181818181823</c:v>
                </c:pt>
                <c:pt idx="2">
                  <c:v>0.47368421052631576</c:v>
                </c:pt>
                <c:pt idx="3">
                  <c:v>0.48484848484848486</c:v>
                </c:pt>
              </c:numCache>
            </c:numRef>
          </c:val>
          <c:extLst>
            <c:ext xmlns:c16="http://schemas.microsoft.com/office/drawing/2014/chart" uri="{C3380CC4-5D6E-409C-BE32-E72D297353CC}">
              <c16:uniqueId val="{00000003-3743-46B7-9453-554D3F76B7F0}"/>
            </c:ext>
          </c:extLst>
        </c:ser>
        <c:ser>
          <c:idx val="3"/>
          <c:order val="3"/>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2024
(N=12)</c:v>
                </c:pt>
                <c:pt idx="1">
                  <c:v>Q2 2024
(N=44)</c:v>
                </c:pt>
                <c:pt idx="2">
                  <c:v>Q3 2024
(N=19)</c:v>
                </c:pt>
                <c:pt idx="3">
                  <c:v>Q4 2024
(N=33)</c:v>
                </c:pt>
              </c:strCache>
            </c:strRef>
          </c:cat>
          <c:val>
            <c:numRef>
              <c:f>Sheet1!$E$2:$E$5</c:f>
              <c:numCache>
                <c:formatCode>0%</c:formatCode>
                <c:ptCount val="4"/>
                <c:pt idx="0">
                  <c:v>0.83000000000000007</c:v>
                </c:pt>
                <c:pt idx="1">
                  <c:v>0.87999999999999989</c:v>
                </c:pt>
                <c:pt idx="2">
                  <c:v>0.8899999999999999</c:v>
                </c:pt>
                <c:pt idx="3">
                  <c:v>0.80999999999999994</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Q1 2024
(N=12)</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General</c:formatCode>
                <c:ptCount val="4"/>
                <c:pt idx="0" formatCode="0%">
                  <c:v>0.5</c:v>
                </c:pt>
                <c:pt idx="2" formatCode="0%">
                  <c:v>0.25</c:v>
                </c:pt>
                <c:pt idx="3" formatCode="0%">
                  <c:v>0.25</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Q2 2024
(N=44)</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0.43181818181818182</c:v>
                </c:pt>
                <c:pt idx="1">
                  <c:v>0.18181818181818185</c:v>
                </c:pt>
                <c:pt idx="2">
                  <c:v>0.20454545454545459</c:v>
                </c:pt>
                <c:pt idx="3">
                  <c:v>0.18181818181818185</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Q3 2024
(N=19)</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0.42105263157894735</c:v>
                </c:pt>
                <c:pt idx="1">
                  <c:v>0.15789473684210525</c:v>
                </c:pt>
                <c:pt idx="2">
                  <c:v>0.10526315789473684</c:v>
                </c:pt>
                <c:pt idx="3">
                  <c:v>0.31578947368421051</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Q4 2024
(N=33)</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0.3636363636363637</c:v>
                </c:pt>
                <c:pt idx="1">
                  <c:v>0.21212121212121213</c:v>
                </c:pt>
                <c:pt idx="2">
                  <c:v>0.24242424242424243</c:v>
                </c:pt>
                <c:pt idx="3">
                  <c:v>0.18181818181818185</c:v>
                </c:pt>
              </c:numCache>
            </c:numRef>
          </c:val>
          <c:extLst>
            <c:ext xmlns:c16="http://schemas.microsoft.com/office/drawing/2014/chart" uri="{C3380CC4-5D6E-409C-BE32-E72D297353CC}">
              <c16:uniqueId val="{00000001-7258-4992-8173-9478F5C9226D}"/>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2012358652536854"/>
          <c:y val="7.1924555082085506E-2"/>
          <c:w val="0.61070348114380435"/>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Q1 2024
(N=12)</c:v>
                </c:pt>
              </c:strCache>
            </c:strRef>
          </c:tx>
          <c:spPr>
            <a:solidFill>
              <a:srgbClr val="FFC000"/>
            </a:solidFill>
            <a:ln w="20893">
              <a:noFill/>
            </a:ln>
          </c:spPr>
          <c:invertIfNegative val="0"/>
          <c:dLbls>
            <c:dLbl>
              <c:idx val="1"/>
              <c:layout>
                <c:manualLayout>
                  <c:x val="-3.7593984962406013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FE-264A-AA8F-8C5E1D74083B}"/>
                </c:ext>
              </c:extLst>
            </c:dLbl>
            <c:dLbl>
              <c:idx val="2"/>
              <c:layout>
                <c:manualLayout>
                  <c:x val="1.8796992481203006E-3"/>
                  <c:y val="-1.5564202334630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E08-5A44-AE10-D32273A62191}"/>
                </c:ext>
              </c:extLst>
            </c:dLbl>
            <c:spPr>
              <a:noFill/>
              <a:ln w="20893">
                <a:noFill/>
              </a:ln>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1">
                  <c:v>0.17</c:v>
                </c:pt>
                <c:pt idx="3">
                  <c:v>0.33</c:v>
                </c:pt>
                <c:pt idx="4">
                  <c:v>0.42</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Q2 2024
(N=44)</c:v>
                </c:pt>
              </c:strCache>
            </c:strRef>
          </c:tx>
          <c:spPr>
            <a:solidFill>
              <a:srgbClr val="3233CC"/>
            </a:solidFill>
          </c:spPr>
          <c:invertIfNegative val="0"/>
          <c:dLbls>
            <c:dLbl>
              <c:idx val="4"/>
              <c:layout>
                <c:manualLayout>
                  <c:x val="5.6390977443609019E-3"/>
                  <c:y val="-2.334630350194561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FE-264A-AA8F-8C5E1D74083B}"/>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0">
                  <c:v>2.2727272727272731E-2</c:v>
                </c:pt>
                <c:pt idx="1">
                  <c:v>0.11</c:v>
                </c:pt>
                <c:pt idx="2">
                  <c:v>0.3636363636363637</c:v>
                </c:pt>
                <c:pt idx="3">
                  <c:v>0.22727272727272727</c:v>
                </c:pt>
                <c:pt idx="4">
                  <c:v>0.13636363636363635</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Q3 2024
(N=19)</c:v>
                </c:pt>
              </c:strCache>
            </c:strRef>
          </c:tx>
          <c:spPr>
            <a:solidFill>
              <a:srgbClr val="00CC99"/>
            </a:solidFill>
          </c:spPr>
          <c:invertIfNegative val="0"/>
          <c:dLbls>
            <c:dLbl>
              <c:idx val="0"/>
              <c:layout>
                <c:manualLayout>
                  <c:x val="5.6390977443608681E-3"/>
                  <c:y val="-2.594033722438391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E9F-41DB-9749-29C4F283D6D5}"/>
                </c:ext>
              </c:extLst>
            </c:dLbl>
            <c:dLbl>
              <c:idx val="2"/>
              <c:layout>
                <c:manualLayout>
                  <c:x val="3.7593984962406013E-3"/>
                  <c:y val="-4.66926070038911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FE-264A-AA8F-8C5E1D74083B}"/>
                </c:ext>
              </c:extLst>
            </c:dLbl>
            <c:dLbl>
              <c:idx val="3"/>
              <c:layout>
                <c:manualLayout>
                  <c:x val="1.8796992481203006E-3"/>
                  <c:y val="-1.037613488975356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AFE-264A-AA8F-8C5E1D74083B}"/>
                </c:ext>
              </c:extLst>
            </c:dLbl>
            <c:dLbl>
              <c:idx val="4"/>
              <c:layout>
                <c:manualLayout>
                  <c:x val="1.879699248120163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08-5A44-AE10-D32273A62191}"/>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1">
                  <c:v>0.10526315789473684</c:v>
                </c:pt>
                <c:pt idx="2">
                  <c:v>0.31578947368421051</c:v>
                </c:pt>
                <c:pt idx="3">
                  <c:v>0.31578947368421051</c:v>
                </c:pt>
                <c:pt idx="4">
                  <c:v>0.10526315789473684</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Q4 2024
(N=33)</c:v>
                </c:pt>
              </c:strCache>
            </c:strRef>
          </c:tx>
          <c:spPr>
            <a:solidFill>
              <a:schemeClr val="tx1"/>
            </a:solidFill>
          </c:spPr>
          <c:invertIfNegative val="0"/>
          <c:dLbls>
            <c:dLbl>
              <c:idx val="1"/>
              <c:layout>
                <c:manualLayout>
                  <c:x val="1.8796992481202937E-2"/>
                  <c:y val="-9.5113471063806945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0BA-8A48-8F90-56878AD48500}"/>
                </c:ext>
              </c:extLst>
            </c:dLbl>
            <c:spPr>
              <a:noFill/>
              <a:ln>
                <a:noFill/>
              </a:ln>
              <a:effectLst/>
            </c:spPr>
            <c:txPr>
              <a:bodyPr wrap="square" lIns="38100" tIns="19050" rIns="38100" bIns="19050" anchor="ctr">
                <a:spAutoFit/>
              </a:bodyPr>
              <a:lstStyle/>
              <a:p>
                <a:pPr>
                  <a:defRPr sz="12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1">
                  <c:v>3.0303030303030304E-2</c:v>
                </c:pt>
                <c:pt idx="2">
                  <c:v>0.30303030303030304</c:v>
                </c:pt>
                <c:pt idx="3">
                  <c:v>0.3636363636363637</c:v>
                </c:pt>
                <c:pt idx="4">
                  <c:v>0.30303030303030304</c:v>
                </c:pt>
              </c:numCache>
            </c:numRef>
          </c:val>
          <c:extLst>
            <c:ext xmlns:c16="http://schemas.microsoft.com/office/drawing/2014/chart" uri="{C3380CC4-5D6E-409C-BE32-E72D297353CC}">
              <c16:uniqueId val="{00000001-B251-43C1-89EF-86F39D1E8950}"/>
            </c:ext>
          </c:extLst>
        </c:ser>
        <c:dLbls>
          <c:showLegendKey val="0"/>
          <c:showVal val="0"/>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19380779705168433"/>
          <c:y val="5.9662775616083012E-2"/>
          <c:w val="0.61850526907820735"/>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omments/modernComment_254_66F63346.xml><?xml version="1.0" encoding="utf-8"?>
<p188:cmLst xmlns:a="http://schemas.openxmlformats.org/drawingml/2006/main" xmlns:r="http://schemas.openxmlformats.org/officeDocument/2006/relationships" xmlns:p188="http://schemas.microsoft.com/office/powerpoint/2018/8/main">
  <p188:cm id="{CF37E07D-6BEC-2943-A989-13B57669EC97}" authorId="{67A16604-D201-06CE-DBDB-10CEC180544C}" created="2024-07-19T11:39:55.880">
    <pc:sldMkLst xmlns:pc="http://schemas.microsoft.com/office/powerpoint/2013/main/command">
      <pc:docMk/>
      <pc:sldMk cId="1727411014" sldId="596"/>
    </pc:sldMkLst>
    <p188:txBody>
      <a:bodyPr/>
      <a:lstStyle/>
      <a:p>
        <a:r>
          <a:rPr lang="en-US"/>
          <a:t>I do not have the data to update the number of contacts provided .</a:t>
        </a:r>
      </a:p>
    </p188:txBody>
  </p188:cm>
</p188:cmLst>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chart" Target="../charts/chart2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chart" Target="../charts/chart30.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microsoft.com/office/2018/10/relationships/comments" Target="../comments/modernComment_254_66F6334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228598" y="3036421"/>
            <a:ext cx="6296025" cy="1524000"/>
          </a:xfrm>
        </p:spPr>
        <p:txBody>
          <a:bodyPr/>
          <a:lstStyle/>
          <a:p>
            <a:pPr eaLnBrk="1" hangingPunct="1"/>
            <a:r>
              <a:rPr lang="en-US" altLang="en-US" sz="2800">
                <a:solidFill>
                  <a:schemeClr val="bg1"/>
                </a:solidFill>
                <a:latin typeface="Arial" panose="020B0604020202020204" pitchFamily="34" charset="0"/>
              </a:rPr>
              <a:t>Low Income Weatherization Survey</a:t>
            </a:r>
            <a:br>
              <a:rPr lang="en-US" altLang="en-US" sz="2800">
                <a:solidFill>
                  <a:schemeClr val="bg1"/>
                </a:solidFill>
                <a:latin typeface="Arial" panose="020B0604020202020204" pitchFamily="34" charset="0"/>
              </a:rPr>
            </a:br>
            <a:r>
              <a:rPr lang="en-US" altLang="en-US" sz="2800">
                <a:solidFill>
                  <a:schemeClr val="bg1"/>
                </a:solidFill>
                <a:latin typeface="Arial" panose="020B0604020202020204" pitchFamily="34" charset="0"/>
              </a:rPr>
              <a:t>FY2024 Q4</a:t>
            </a:r>
            <a:br>
              <a:rPr lang="en-US" altLang="en-US" sz="2800">
                <a:solidFill>
                  <a:schemeClr val="bg1"/>
                </a:solidFill>
                <a:latin typeface="Arial" panose="020B0604020202020204" pitchFamily="34" charset="0"/>
              </a:rPr>
            </a:br>
            <a:br>
              <a:rPr lang="en-US" altLang="en-US" sz="1600">
                <a:solidFill>
                  <a:schemeClr val="bg1"/>
                </a:solidFill>
                <a:latin typeface="Univers 49 Light Ultra Condense" charset="0"/>
              </a:rPr>
            </a:br>
            <a:r>
              <a:rPr lang="en-US" altLang="en-US" sz="1600">
                <a:solidFill>
                  <a:schemeClr val="bg1"/>
                </a:solidFill>
                <a:latin typeface="Univers 49 Light Ultra Condense" charset="0"/>
              </a:rPr>
              <a:t>February 2025</a:t>
            </a:r>
            <a:endParaRPr lang="en-US" altLang="en-US" sz="1800" b="1">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113" y="8382000"/>
            <a:ext cx="617537"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r>
              <a:rPr lang="en-US" altLang="en-US" sz="1800">
                <a:ea typeface="Geneva"/>
                <a:cs typeface="Geneva"/>
              </a:rPr>
              <a:t>Customers’ overall satisfaction with Austin Energy’s </a:t>
            </a:r>
            <a:r>
              <a:rPr lang="en-US" altLang="en-US" sz="1800" u="sng">
                <a:ea typeface="Geneva"/>
                <a:cs typeface="Geneva"/>
              </a:rPr>
              <a:t>Weatherization Program</a:t>
            </a:r>
            <a:r>
              <a:rPr lang="en-US" altLang="en-US" sz="1800">
                <a:ea typeface="Geneva"/>
                <a:cs typeface="Geneva"/>
              </a:rPr>
              <a:t> remained favorable</a:t>
            </a:r>
            <a:r>
              <a:rPr lang="en-US" altLang="en-US" sz="1800">
                <a:cs typeface="Geneva"/>
              </a:rPr>
              <a:t> with a score of 100% for Q3 2024.</a:t>
            </a:r>
            <a:endParaRPr lang="en-US" altLang="en-US" sz="1600">
              <a:ea typeface="Geneva"/>
              <a:cs typeface="Geneva"/>
            </a:endParaRPr>
          </a:p>
          <a:p>
            <a:pPr>
              <a:defRPr/>
            </a:pPr>
            <a:r>
              <a:rPr lang="en-US" altLang="en-US" sz="1800">
                <a:ea typeface="Geneva"/>
                <a:cs typeface="Geneva"/>
              </a:rPr>
              <a:t>Overall satisfaction level with </a:t>
            </a:r>
            <a:r>
              <a:rPr lang="en-US" altLang="en-US" sz="1800" u="sng">
                <a:ea typeface="Geneva"/>
                <a:cs typeface="Geneva"/>
              </a:rPr>
              <a:t>Austin Energy</a:t>
            </a:r>
            <a:r>
              <a:rPr lang="en-US" altLang="en-US" sz="1800">
                <a:ea typeface="Geneva"/>
                <a:cs typeface="Geneva"/>
              </a:rPr>
              <a:t> dropped to 82% in Q4 2024 from 90% in Q3 2024. </a:t>
            </a:r>
            <a:endParaRPr lang="en-US" altLang="en-US" sz="1600">
              <a:ea typeface="Geneva"/>
              <a:cs typeface="Geneva"/>
            </a:endParaRPr>
          </a:p>
          <a:p>
            <a:pPr>
              <a:defRPr/>
            </a:pPr>
            <a:r>
              <a:rPr lang="en-US" altLang="en-US" sz="1800">
                <a:ea typeface="Geneva"/>
                <a:cs typeface="Geneva"/>
              </a:rPr>
              <a:t>Customers indicated a need for the program and home weatherization assistance. </a:t>
            </a:r>
          </a:p>
          <a:p>
            <a:pPr>
              <a:defRPr/>
            </a:pPr>
            <a:r>
              <a:rPr lang="en-US" altLang="en-US" sz="1800">
                <a:ea typeface="Geneva"/>
                <a:cs typeface="Geneva"/>
              </a:rPr>
              <a:t>91% of customers would recommend this program to a friend or family member.</a:t>
            </a:r>
          </a:p>
          <a:p>
            <a:pPr>
              <a:defRPr/>
            </a:pPr>
            <a:r>
              <a:rPr lang="en-US" altLang="en-US" sz="1800">
                <a:cs typeface="Geneva"/>
              </a:rPr>
              <a:t>75% of customers appeared to have a high level of understanding when it comes to their utility bill and energy savings. </a:t>
            </a:r>
            <a:endParaRPr lang="en-US" altLang="en-US" sz="1800">
              <a:solidFill>
                <a:srgbClr val="FF0000"/>
              </a:solidFill>
              <a:cs typeface="Geneva"/>
            </a:endParaRPr>
          </a:p>
          <a:p>
            <a:pPr lvl="1">
              <a:defRPr/>
            </a:pPr>
            <a:endParaRPr lang="en-US" altLang="en-US">
              <a:solidFill>
                <a:srgbClr val="FF0000"/>
              </a:solidFill>
              <a:cs typeface="Geneva"/>
            </a:endParaRPr>
          </a:p>
          <a:p>
            <a:pPr>
              <a:defRPr/>
            </a:pPr>
            <a:endParaRPr lang="en-US" altLang="en-US" sz="1800">
              <a:solidFill>
                <a:srgbClr val="FF0000"/>
              </a:solidFill>
              <a:ea typeface="Geneva"/>
              <a:cs typeface="Geneva"/>
            </a:endParaRP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228600" y="1219200"/>
            <a:ext cx="6172200" cy="6934200"/>
          </a:xfrm>
        </p:spPr>
        <p:txBody>
          <a:bodyPr/>
          <a:lstStyle/>
          <a:p>
            <a:pPr>
              <a:defRPr/>
            </a:pPr>
            <a:r>
              <a:rPr lang="en-US" altLang="en-US" sz="1800">
                <a:cs typeface="Geneva"/>
              </a:rPr>
              <a:t>Overall satisfaction score with energy savings was 52% in Q4 2024, up from 50% in Q3 2024.</a:t>
            </a:r>
          </a:p>
          <a:p>
            <a:pPr marL="0" indent="0">
              <a:buNone/>
              <a:defRPr/>
            </a:pPr>
            <a:endParaRPr lang="en-US" altLang="en-US" sz="1800">
              <a:cs typeface="Geneva"/>
            </a:endParaRPr>
          </a:p>
          <a:p>
            <a:pPr>
              <a:defRPr/>
            </a:pPr>
            <a:r>
              <a:rPr lang="en-US" altLang="en-US" sz="1800">
                <a:cs typeface="Geneva"/>
              </a:rPr>
              <a:t>Contractor and customer service ratings remained relatively high for all attributes. </a:t>
            </a:r>
          </a:p>
          <a:p>
            <a:pPr>
              <a:defRPr/>
            </a:pPr>
            <a:endParaRPr lang="en-US" altLang="en-US" sz="1800">
              <a:cs typeface="Geneva"/>
            </a:endParaRPr>
          </a:p>
          <a:p>
            <a:pPr>
              <a:defRPr/>
            </a:pPr>
            <a:r>
              <a:rPr lang="en-US" altLang="en-US" sz="1800">
                <a:ea typeface="Geneva"/>
                <a:cs typeface="Geneva"/>
              </a:rPr>
              <a:t>Customers appeared to be satisfied with the follow-up phone calls and indicated that the Austin Energy staff member/contractor did an overall good job on the work done at their homes. </a:t>
            </a:r>
          </a:p>
          <a:p>
            <a:pPr>
              <a:buSzPct val="130000"/>
              <a:buFont typeface="Arial" panose="020B0604020202020204" pitchFamily="34" charset="0"/>
              <a:buChar char="•"/>
              <a:defRPr/>
            </a:pPr>
            <a:endParaRPr lang="en-US" altLang="en-US" sz="1800">
              <a:ea typeface="Geneva"/>
              <a:cs typeface="Geneva"/>
            </a:endParaRPr>
          </a:p>
          <a:p>
            <a:pPr>
              <a:buSzPct val="130000"/>
              <a:buFont typeface="Arial" panose="020B0604020202020204" pitchFamily="34" charset="0"/>
              <a:buChar char="•"/>
              <a:defRPr/>
            </a:pPr>
            <a:r>
              <a:rPr lang="en-US" altLang="en-US" sz="1800">
                <a:ea typeface="Geneva"/>
                <a:cs typeface="Geneva"/>
              </a:rPr>
              <a:t>For this quarter, friends, family, and word of mouth, Austin Energy’s website, as well as utility bill inserts were the top responses for how customers first learned about the weatherization program. </a:t>
            </a:r>
          </a:p>
          <a:p>
            <a:pPr lvl="1">
              <a:buFont typeface="Courier New" panose="02070309020205020404" pitchFamily="49" charset="0"/>
              <a:buChar char="­"/>
              <a:defRPr/>
            </a:pPr>
            <a:endParaRPr lang="en-US" altLang="en-US" sz="1600">
              <a:ea typeface="Geneva"/>
              <a:cs typeface="Geneva"/>
            </a:endParaRPr>
          </a:p>
          <a:p>
            <a:pPr>
              <a:defRPr/>
            </a:pPr>
            <a:r>
              <a:rPr lang="en-US" altLang="en-US" sz="1800">
                <a:ea typeface="Geneva"/>
                <a:cs typeface="Geneva"/>
              </a:rPr>
              <a:t>For this quarter, due to the small sample size, none of the changes can be deemed significant.</a:t>
            </a:r>
          </a:p>
          <a:p>
            <a:pPr>
              <a:defRPr/>
            </a:pPr>
            <a:endParaRPr lang="en-US" altLang="en-US" sz="1600">
              <a:cs typeface="Geneva"/>
            </a:endParaRP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nvGraphicFramePr>
        <p:xfrm>
          <a:off x="50801" y="12763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923430785"/>
              </p:ext>
            </p:extLst>
          </p:nvPr>
        </p:nvGraphicFramePr>
        <p:xfrm>
          <a:off x="50800" y="14652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graphicFrame>
        <p:nvGraphicFramePr>
          <p:cNvPr id="2" name="Table 1"/>
          <p:cNvGraphicFramePr>
            <a:graphicFrameLocks noGrp="1"/>
          </p:cNvGraphicFramePr>
          <p:nvPr>
            <p:extLst>
              <p:ext uri="{D42A27DB-BD31-4B8C-83A1-F6EECF244321}">
                <p14:modId xmlns:p14="http://schemas.microsoft.com/office/powerpoint/2010/main" val="2509604193"/>
              </p:ext>
            </p:extLst>
          </p:nvPr>
        </p:nvGraphicFramePr>
        <p:xfrm>
          <a:off x="381000" y="1590719"/>
          <a:ext cx="5980122" cy="3537708"/>
        </p:xfrm>
        <a:graphic>
          <a:graphicData uri="http://schemas.openxmlformats.org/drawingml/2006/table">
            <a:tbl>
              <a:tblPr firstRow="1" lastRow="1">
                <a:tableStyleId>{5C22544A-7EE6-4342-B048-85BDC9FD1C3A}</a:tableStyleId>
              </a:tblPr>
              <a:tblGrid>
                <a:gridCol w="1820038">
                  <a:extLst>
                    <a:ext uri="{9D8B030D-6E8A-4147-A177-3AD203B41FA5}">
                      <a16:colId xmlns:a16="http://schemas.microsoft.com/office/drawing/2014/main" val="20000"/>
                    </a:ext>
                  </a:extLst>
                </a:gridCol>
                <a:gridCol w="1040021">
                  <a:extLst>
                    <a:ext uri="{9D8B030D-6E8A-4147-A177-3AD203B41FA5}">
                      <a16:colId xmlns:a16="http://schemas.microsoft.com/office/drawing/2014/main" val="20002"/>
                    </a:ext>
                  </a:extLst>
                </a:gridCol>
                <a:gridCol w="1040021">
                  <a:extLst>
                    <a:ext uri="{9D8B030D-6E8A-4147-A177-3AD203B41FA5}">
                      <a16:colId xmlns:a16="http://schemas.microsoft.com/office/drawing/2014/main" val="20003"/>
                    </a:ext>
                  </a:extLst>
                </a:gridCol>
                <a:gridCol w="1040021">
                  <a:extLst>
                    <a:ext uri="{9D8B030D-6E8A-4147-A177-3AD203B41FA5}">
                      <a16:colId xmlns:a16="http://schemas.microsoft.com/office/drawing/2014/main" val="20004"/>
                    </a:ext>
                  </a:extLst>
                </a:gridCol>
                <a:gridCol w="1040021">
                  <a:extLst>
                    <a:ext uri="{9D8B030D-6E8A-4147-A177-3AD203B41FA5}">
                      <a16:colId xmlns:a16="http://schemas.microsoft.com/office/drawing/2014/main" val="1414853991"/>
                    </a:ext>
                  </a:extLst>
                </a:gridCol>
              </a:tblGrid>
              <a:tr h="525708">
                <a:tc>
                  <a:txBody>
                    <a:bodyPr/>
                    <a:lstStyle/>
                    <a:p>
                      <a:pPr algn="ctr" rtl="0" fontAlgn="b"/>
                      <a:r>
                        <a:rPr lang="en-US" sz="1300" b="1" i="0" u="none" strike="noStrike">
                          <a:solidFill>
                            <a:srgbClr val="FFFFFF"/>
                          </a:solidFill>
                          <a:effectLst/>
                          <a:highlight>
                            <a:srgbClr val="4F81BD"/>
                          </a:highlight>
                          <a:latin typeface="Tahoma" panose="020B0604030504040204" pitchFamily="34" charset="0"/>
                        </a:rPr>
                        <a:t> </a:t>
                      </a:r>
                    </a:p>
                  </a:txBody>
                  <a:tcPr marL="9525" marR="9525" marT="9525" marB="0" anchor="ctr">
                    <a:solidFill>
                      <a:srgbClr val="4F81BD"/>
                    </a:solidFill>
                  </a:tcPr>
                </a:tc>
                <a:tc>
                  <a:txBody>
                    <a:bodyPr/>
                    <a:lstStyle/>
                    <a:p>
                      <a:pPr algn="ctr" rtl="0" fontAlgn="b"/>
                      <a:r>
                        <a:rPr lang="en-US" sz="1300" b="1" i="0" u="none" strike="noStrike">
                          <a:solidFill>
                            <a:srgbClr val="FFFFFF"/>
                          </a:solidFill>
                          <a:effectLst/>
                          <a:highlight>
                            <a:srgbClr val="4F81BD"/>
                          </a:highlight>
                          <a:latin typeface="Tahoma" panose="020B0604030504040204" pitchFamily="34" charset="0"/>
                        </a:rPr>
                        <a:t>Q1 2024</a:t>
                      </a:r>
                    </a:p>
                  </a:txBody>
                  <a:tcPr marL="9525" marR="9525" marT="9525" marB="0" anchor="ctr">
                    <a:solidFill>
                      <a:srgbClr val="4F81BD"/>
                    </a:solidFill>
                  </a:tcPr>
                </a:tc>
                <a:tc>
                  <a:txBody>
                    <a:bodyPr/>
                    <a:lstStyle/>
                    <a:p>
                      <a:pPr algn="ctr" rtl="0" fontAlgn="b"/>
                      <a:r>
                        <a:rPr lang="en-US" sz="1300" b="1" i="0" u="none" strike="noStrike">
                          <a:solidFill>
                            <a:srgbClr val="FFFFFF"/>
                          </a:solidFill>
                          <a:effectLst/>
                          <a:highlight>
                            <a:srgbClr val="4F81BD"/>
                          </a:highlight>
                          <a:latin typeface="Tahoma" panose="020B0604030504040204" pitchFamily="34" charset="0"/>
                        </a:rPr>
                        <a:t>Q2 2024</a:t>
                      </a:r>
                    </a:p>
                  </a:txBody>
                  <a:tcPr marL="9525" marR="9525" marT="9525" marB="0" anchor="ctr">
                    <a:solidFill>
                      <a:srgbClr val="4F81BD"/>
                    </a:solidFill>
                  </a:tcPr>
                </a:tc>
                <a:tc>
                  <a:txBody>
                    <a:bodyPr/>
                    <a:lstStyle/>
                    <a:p>
                      <a:pPr algn="ctr" rtl="0" fontAlgn="b"/>
                      <a:r>
                        <a:rPr lang="en-US" sz="1300" b="1" i="0" u="none" strike="noStrike">
                          <a:solidFill>
                            <a:srgbClr val="FFFFFF"/>
                          </a:solidFill>
                          <a:effectLst/>
                          <a:highlight>
                            <a:srgbClr val="4F81BD"/>
                          </a:highlight>
                          <a:latin typeface="Tahoma" panose="020B0604030504040204" pitchFamily="34" charset="0"/>
                        </a:rPr>
                        <a:t>Q3 2024</a:t>
                      </a:r>
                    </a:p>
                  </a:txBody>
                  <a:tcPr marL="9525" marR="9525" marT="9525" marB="0" anchor="ctr">
                    <a:solidFill>
                      <a:srgbClr val="4F81BD"/>
                    </a:solidFill>
                  </a:tcPr>
                </a:tc>
                <a:tc>
                  <a:txBody>
                    <a:bodyPr/>
                    <a:lstStyle/>
                    <a:p>
                      <a:pPr algn="ctr" rtl="0" fontAlgn="b"/>
                      <a:r>
                        <a:rPr lang="en-US" sz="1300" b="1" i="0" u="none" strike="noStrike">
                          <a:solidFill>
                            <a:srgbClr val="FFFFFF"/>
                          </a:solidFill>
                          <a:effectLst/>
                          <a:highlight>
                            <a:srgbClr val="4F81BD"/>
                          </a:highligh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606701">
                <a:tc>
                  <a:txBody>
                    <a:bodyPr/>
                    <a:lstStyle/>
                    <a:p>
                      <a:pPr algn="l" rtl="0" fontAlgn="b"/>
                      <a:r>
                        <a:rPr lang="en-US" sz="1300" b="0" i="0" u="none" strike="noStrike">
                          <a:solidFill>
                            <a:srgbClr val="000000"/>
                          </a:solidFill>
                          <a:effectLst/>
                          <a:highlight>
                            <a:srgbClr val="DCE6F1"/>
                          </a:highlight>
                          <a:latin typeface="Tahoma" panose="020B0604030504040204" pitchFamily="34" charset="0"/>
                        </a:rPr>
                        <a:t>Good number</a:t>
                      </a:r>
                    </a:p>
                  </a:txBody>
                  <a:tcPr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931651740"/>
                  </a:ext>
                </a:extLst>
              </a:tr>
              <a:tr h="606701">
                <a:tc>
                  <a:txBody>
                    <a:bodyPr/>
                    <a:lstStyle/>
                    <a:p>
                      <a:pPr algn="l" rtl="0" fontAlgn="b"/>
                      <a:r>
                        <a:rPr lang="en-US" sz="1300" b="0" i="0" u="none" strike="noStrike">
                          <a:solidFill>
                            <a:srgbClr val="000000"/>
                          </a:solidFill>
                          <a:effectLst/>
                          <a:highlight>
                            <a:srgbClr val="DCE6F1"/>
                          </a:highlight>
                          <a:latin typeface="Tahoma" panose="020B0604030504040204" pitchFamily="34" charset="0"/>
                        </a:rPr>
                        <a:t>Over advertisement of the program</a:t>
                      </a:r>
                    </a:p>
                  </a:txBody>
                  <a:tcPr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01"/>
                  </a:ext>
                </a:extLst>
              </a:tr>
              <a:tr h="700890">
                <a:tc>
                  <a:txBody>
                    <a:bodyPr/>
                    <a:lstStyle/>
                    <a:p>
                      <a:pPr algn="l" rtl="0" fontAlgn="b"/>
                      <a:r>
                        <a:rPr lang="en-US" sz="1300" b="0" i="0" u="none" strike="noStrike">
                          <a:solidFill>
                            <a:srgbClr val="000000"/>
                          </a:solidFill>
                          <a:effectLst/>
                          <a:latin typeface="Tahoma" panose="020B0604030504040204" pitchFamily="34" charset="0"/>
                        </a:rPr>
                        <a:t>Because it's really up to them if they would prefer to do it</a:t>
                      </a:r>
                      <a:endParaRPr lang="en-US" sz="1300" b="0" i="0" u="none" strike="noStrike">
                        <a:solidFill>
                          <a:srgbClr val="000000"/>
                        </a:solidFill>
                        <a:effectLst/>
                        <a:highlight>
                          <a:srgbClr val="DCE6F1"/>
                        </a:highlight>
                        <a:latin typeface="Tahoma" panose="020B0604030504040204" pitchFamily="34" charset="0"/>
                      </a:endParaRPr>
                    </a:p>
                  </a:txBody>
                  <a:tcPr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3356073777"/>
                  </a:ext>
                </a:extLst>
              </a:tr>
              <a:tr h="700890">
                <a:tc>
                  <a:txBody>
                    <a:bodyPr/>
                    <a:lstStyle/>
                    <a:p>
                      <a:pPr algn="l" rtl="0" fontAlgn="b"/>
                      <a:r>
                        <a:rPr lang="en-US" sz="1300" b="0" i="0" u="none" strike="noStrike">
                          <a:solidFill>
                            <a:srgbClr val="000000"/>
                          </a:solidFill>
                          <a:effectLst/>
                          <a:highlight>
                            <a:srgbClr val="DCE6F1"/>
                          </a:highlight>
                          <a:latin typeface="Tahoma" panose="020B0604030504040204" pitchFamily="34" charset="0"/>
                        </a:rPr>
                        <a:t>Don't know</a:t>
                      </a:r>
                    </a:p>
                  </a:txBody>
                  <a:tcPr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highlight>
                            <a:srgbClr val="DCE6F1"/>
                          </a:highligh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845396702"/>
                  </a:ext>
                </a:extLst>
              </a:tr>
              <a:tr h="396818">
                <a:tc>
                  <a:txBody>
                    <a:bodyPr/>
                    <a:lstStyle/>
                    <a:p>
                      <a:pPr algn="l" rtl="0" fontAlgn="b"/>
                      <a:r>
                        <a:rPr lang="en-US" sz="1300" b="1" i="0" u="none" strike="noStrike">
                          <a:solidFill>
                            <a:srgbClr val="FFFFFF"/>
                          </a:solidFill>
                          <a:effectLst/>
                          <a:highlight>
                            <a:srgbClr val="4F81BD"/>
                          </a:highlight>
                          <a:latin typeface="Tahoma" panose="020B0604030504040204" pitchFamily="34" charset="0"/>
                        </a:rPr>
                        <a:t>Base:</a:t>
                      </a:r>
                    </a:p>
                  </a:txBody>
                  <a:tcPr marR="9525" marT="9525" marB="0" anchor="ctr">
                    <a:solidFill>
                      <a:srgbClr val="4F81BD"/>
                    </a:solidFill>
                  </a:tcPr>
                </a:tc>
                <a:tc>
                  <a:txBody>
                    <a:bodyPr/>
                    <a:lstStyle/>
                    <a:p>
                      <a:pPr algn="ctr" rtl="0" fontAlgn="b"/>
                      <a:r>
                        <a:rPr lang="en-US" sz="1300" b="1" i="0" u="none" strike="noStrike">
                          <a:solidFill>
                            <a:srgbClr val="FFFFFF"/>
                          </a:solidFill>
                          <a:effectLst/>
                          <a:highlight>
                            <a:srgbClr val="4F81BD"/>
                          </a:highlight>
                          <a:latin typeface="Tahoma" panose="020B0604030504040204" pitchFamily="34" charset="0"/>
                        </a:rPr>
                        <a:t>1</a:t>
                      </a:r>
                    </a:p>
                  </a:txBody>
                  <a:tcPr marL="9525" marR="9525" marT="9525" marB="0" anchor="ctr">
                    <a:solidFill>
                      <a:srgbClr val="4F81BD"/>
                    </a:solidFill>
                  </a:tcPr>
                </a:tc>
                <a:tc>
                  <a:txBody>
                    <a:bodyPr/>
                    <a:lstStyle/>
                    <a:p>
                      <a:pPr algn="ctr" rtl="0" fontAlgn="b"/>
                      <a:r>
                        <a:rPr lang="en-US" sz="1300" b="1" i="0" u="none" strike="noStrike">
                          <a:solidFill>
                            <a:srgbClr val="FFFFFF"/>
                          </a:solidFill>
                          <a:effectLst/>
                          <a:highlight>
                            <a:srgbClr val="4F81BD"/>
                          </a:highlight>
                          <a:latin typeface="Tahoma" panose="020B0604030504040204" pitchFamily="34" charset="0"/>
                        </a:rPr>
                        <a:t>2</a:t>
                      </a:r>
                    </a:p>
                  </a:txBody>
                  <a:tcPr marL="9525" marR="9525" marT="9525" marB="0" anchor="ctr">
                    <a:solidFill>
                      <a:srgbClr val="4F81BD"/>
                    </a:solidFill>
                  </a:tcPr>
                </a:tc>
                <a:tc>
                  <a:txBody>
                    <a:bodyPr/>
                    <a:lstStyle/>
                    <a:p>
                      <a:pPr algn="ctr" rtl="0" fontAlgn="b"/>
                      <a:r>
                        <a:rPr lang="en-US" sz="1300" b="1" i="0" u="none" strike="noStrike">
                          <a:solidFill>
                            <a:srgbClr val="FFFFFF"/>
                          </a:solidFill>
                          <a:effectLst/>
                          <a:highlight>
                            <a:srgbClr val="4F81BD"/>
                          </a:highlight>
                          <a:latin typeface="Tahoma" panose="020B0604030504040204" pitchFamily="34" charset="0"/>
                        </a:rPr>
                        <a:t>0</a:t>
                      </a:r>
                    </a:p>
                  </a:txBody>
                  <a:tcPr marL="9525" marR="9525" marT="9525" marB="0" anchor="ctr">
                    <a:solidFill>
                      <a:srgbClr val="4F81BD"/>
                    </a:solidFill>
                  </a:tcPr>
                </a:tc>
                <a:tc>
                  <a:txBody>
                    <a:bodyPr/>
                    <a:lstStyle/>
                    <a:p>
                      <a:pPr algn="ctr" rtl="0" fontAlgn="b"/>
                      <a:r>
                        <a:rPr lang="en-US" sz="1300" b="1" i="0" u="none" strike="noStrike">
                          <a:solidFill>
                            <a:srgbClr val="FFFFFF"/>
                          </a:solidFill>
                          <a:effectLst/>
                          <a:highlight>
                            <a:srgbClr val="4F81BD"/>
                          </a:highlight>
                          <a:latin typeface="Tahoma" panose="020B0604030504040204" pitchFamily="34" charset="0"/>
                        </a:rPr>
                        <a:t>2</a:t>
                      </a:r>
                    </a:p>
                  </a:txBody>
                  <a:tcPr marL="9525" marR="9525" marT="9525" marB="0" anchor="ctr">
                    <a:solidFill>
                      <a:srgbClr val="4F81B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9598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976561412"/>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354065040"/>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Dust 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7079111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14244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Extra moisture</a:t>
            </a:r>
            <a:r>
              <a:rPr lang="en-US"/>
              <a:t>/humidity </a:t>
            </a:r>
          </a:p>
          <a:p>
            <a:pPr algn="ctr"/>
            <a:r>
              <a:rPr lang="en-US"/>
              <a:t>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14244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683543264"/>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862803879"/>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020272971"/>
              </p:ext>
            </p:extLst>
          </p:nvPr>
        </p:nvGraphicFramePr>
        <p:xfrm>
          <a:off x="50801" y="1276350"/>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09600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273494832"/>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graphicFrame>
        <p:nvGraphicFramePr>
          <p:cNvPr id="2" name="Table 1"/>
          <p:cNvGraphicFramePr>
            <a:graphicFrameLocks noGrp="1"/>
          </p:cNvGraphicFramePr>
          <p:nvPr>
            <p:extLst>
              <p:ext uri="{D42A27DB-BD31-4B8C-83A1-F6EECF244321}">
                <p14:modId xmlns:p14="http://schemas.microsoft.com/office/powerpoint/2010/main" val="2728069756"/>
              </p:ext>
            </p:extLst>
          </p:nvPr>
        </p:nvGraphicFramePr>
        <p:xfrm>
          <a:off x="334716" y="1989658"/>
          <a:ext cx="5894633" cy="3775913"/>
        </p:xfrm>
        <a:graphic>
          <a:graphicData uri="http://schemas.openxmlformats.org/drawingml/2006/table">
            <a:tbl>
              <a:tblPr firstRow="1" lastRow="1">
                <a:tableStyleId>{5C22544A-7EE6-4342-B048-85BDC9FD1C3A}</a:tableStyleId>
              </a:tblPr>
              <a:tblGrid>
                <a:gridCol w="1857725">
                  <a:extLst>
                    <a:ext uri="{9D8B030D-6E8A-4147-A177-3AD203B41FA5}">
                      <a16:colId xmlns:a16="http://schemas.microsoft.com/office/drawing/2014/main" val="20000"/>
                    </a:ext>
                  </a:extLst>
                </a:gridCol>
                <a:gridCol w="1009227">
                  <a:extLst>
                    <a:ext uri="{9D8B030D-6E8A-4147-A177-3AD203B41FA5}">
                      <a16:colId xmlns:a16="http://schemas.microsoft.com/office/drawing/2014/main" val="20002"/>
                    </a:ext>
                  </a:extLst>
                </a:gridCol>
                <a:gridCol w="1009227">
                  <a:extLst>
                    <a:ext uri="{9D8B030D-6E8A-4147-A177-3AD203B41FA5}">
                      <a16:colId xmlns:a16="http://schemas.microsoft.com/office/drawing/2014/main" val="20003"/>
                    </a:ext>
                  </a:extLst>
                </a:gridCol>
                <a:gridCol w="1009227">
                  <a:extLst>
                    <a:ext uri="{9D8B030D-6E8A-4147-A177-3AD203B41FA5}">
                      <a16:colId xmlns:a16="http://schemas.microsoft.com/office/drawing/2014/main" val="20004"/>
                    </a:ext>
                  </a:extLst>
                </a:gridCol>
                <a:gridCol w="1009227">
                  <a:extLst>
                    <a:ext uri="{9D8B030D-6E8A-4147-A177-3AD203B41FA5}">
                      <a16:colId xmlns:a16="http://schemas.microsoft.com/office/drawing/2014/main" val="2012633291"/>
                    </a:ext>
                  </a:extLst>
                </a:gridCol>
              </a:tblGrid>
              <a:tr h="551613">
                <a:tc>
                  <a:txBody>
                    <a:bodyPr/>
                    <a:lstStyle/>
                    <a:p>
                      <a:pPr algn="ctr"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551613">
                <a:tc>
                  <a:txBody>
                    <a:bodyPr/>
                    <a:lstStyle/>
                    <a:p>
                      <a:pPr algn="l" rtl="0" fontAlgn="ctr"/>
                      <a:r>
                        <a:rPr lang="en-US" sz="1300" b="0" i="0" u="none" strike="noStrike">
                          <a:solidFill>
                            <a:srgbClr val="000000"/>
                          </a:solidFill>
                          <a:effectLst/>
                          <a:latin typeface="Tahoma" panose="020B0604030504040204" pitchFamily="34" charset="0"/>
                        </a:rPr>
                        <a:t>Complete all promised work</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DE7F2"/>
                    </a:solidFill>
                  </a:tcPr>
                </a:tc>
                <a:extLst>
                  <a:ext uri="{0D108BD9-81ED-4DB2-BD59-A6C34878D82A}">
                    <a16:rowId xmlns:a16="http://schemas.microsoft.com/office/drawing/2014/main" val="1565975175"/>
                  </a:ext>
                </a:extLst>
              </a:tr>
              <a:tr h="298868">
                <a:tc>
                  <a:txBody>
                    <a:bodyPr/>
                    <a:lstStyle/>
                    <a:p>
                      <a:pPr algn="l" rtl="0" fontAlgn="ctr"/>
                      <a:r>
                        <a:rPr lang="en-US" sz="1300" b="0" i="0" u="none" strike="noStrike">
                          <a:solidFill>
                            <a:srgbClr val="000000"/>
                          </a:solidFill>
                          <a:effectLst/>
                          <a:latin typeface="Tahoma" panose="020B0604030504040204" pitchFamily="34" charset="0"/>
                        </a:rPr>
                        <a:t>Nothing</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265368374"/>
                  </a:ext>
                </a:extLst>
              </a:tr>
              <a:tr h="489557">
                <a:tc>
                  <a:txBody>
                    <a:bodyPr/>
                    <a:lstStyle/>
                    <a:p>
                      <a:pPr algn="l" rtl="0" fontAlgn="ctr"/>
                      <a:r>
                        <a:rPr lang="en-US" sz="1300" b="0" i="0" u="none" strike="noStrike">
                          <a:solidFill>
                            <a:srgbClr val="000000"/>
                          </a:solidFill>
                          <a:effectLst/>
                          <a:latin typeface="Tahoma" panose="020B0604030504040204" pitchFamily="34" charset="0"/>
                        </a:rPr>
                        <a:t>Better communication</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848510540"/>
                  </a:ext>
                </a:extLst>
              </a:tr>
              <a:tr h="489557">
                <a:tc>
                  <a:txBody>
                    <a:bodyPr/>
                    <a:lstStyle/>
                    <a:p>
                      <a:pPr algn="l" rtl="0" fontAlgn="ctr"/>
                      <a:r>
                        <a:rPr lang="en-US" sz="1300" b="0" i="0" u="none" strike="noStrike">
                          <a:solidFill>
                            <a:srgbClr val="000000"/>
                          </a:solidFill>
                          <a:effectLst/>
                          <a:latin typeface="Tahoma" panose="020B0604030504040204" pitchFamily="34" charset="0"/>
                        </a:rPr>
                        <a:t>More oversight of repairs</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144433516"/>
                  </a:ext>
                </a:extLst>
              </a:tr>
              <a:tr h="489557">
                <a:tc>
                  <a:txBody>
                    <a:bodyPr/>
                    <a:lstStyle/>
                    <a:p>
                      <a:pPr algn="l" rtl="0" fontAlgn="ctr"/>
                      <a:r>
                        <a:rPr lang="en-US" sz="1300" b="0" i="0" u="none" strike="noStrike">
                          <a:solidFill>
                            <a:srgbClr val="000000"/>
                          </a:solidFill>
                          <a:effectLst/>
                          <a:latin typeface="Tahoma" panose="020B0604030504040204" pitchFamily="34" charset="0"/>
                        </a:rPr>
                        <a:t>Do work correctly the first time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3153161596"/>
                  </a:ext>
                </a:extLst>
              </a:tr>
              <a:tr h="489557">
                <a:tc>
                  <a:txBody>
                    <a:bodyPr/>
                    <a:lstStyle/>
                    <a:p>
                      <a:pPr algn="l" rtl="0" fontAlgn="ctr"/>
                      <a:r>
                        <a:rPr lang="en-US" sz="1300" b="0" i="0" u="none" strike="noStrike">
                          <a:solidFill>
                            <a:srgbClr val="000000"/>
                          </a:solidFill>
                          <a:effectLst/>
                          <a:latin typeface="Tahoma" panose="020B0604030504040204" pitchFamily="34" charset="0"/>
                        </a:rPr>
                        <a:t>Other</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10003"/>
                  </a:ext>
                </a:extLst>
              </a:tr>
              <a:tr h="415591">
                <a:tc>
                  <a:txBody>
                    <a:bodyPr/>
                    <a:lstStyle/>
                    <a:p>
                      <a:pPr algn="l" rtl="0" fontAlgn="ctr"/>
                      <a:r>
                        <a:rPr lang="en-US" sz="1300" b="1" i="0" u="none" strike="noStrike">
                          <a:solidFill>
                            <a:srgbClr val="FFFFFF"/>
                          </a:solidFill>
                          <a:effectLst/>
                          <a:latin typeface="Tahoma" panose="020B0604030504040204" pitchFamily="34" charset="0"/>
                        </a:rPr>
                        <a:t>Base:</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0</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a:t>
                      </a:r>
                    </a:p>
                  </a:txBody>
                  <a:tcPr marL="9525" marR="9525" marT="9525" marB="0" anchor="ctr">
                    <a:solidFill>
                      <a:srgbClr val="4F81BD"/>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32488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graphicFrame>
        <p:nvGraphicFramePr>
          <p:cNvPr id="2" name="Table 1"/>
          <p:cNvGraphicFramePr>
            <a:graphicFrameLocks noGrp="1"/>
          </p:cNvGraphicFramePr>
          <p:nvPr>
            <p:extLst>
              <p:ext uri="{D42A27DB-BD31-4B8C-83A1-F6EECF244321}">
                <p14:modId xmlns:p14="http://schemas.microsoft.com/office/powerpoint/2010/main" val="3673201697"/>
              </p:ext>
            </p:extLst>
          </p:nvPr>
        </p:nvGraphicFramePr>
        <p:xfrm>
          <a:off x="381000" y="1828799"/>
          <a:ext cx="5848350" cy="4780548"/>
        </p:xfrm>
        <a:graphic>
          <a:graphicData uri="http://schemas.openxmlformats.org/drawingml/2006/table">
            <a:tbl>
              <a:tblPr firstRow="1" lastRow="1">
                <a:tableStyleId>{93296810-A885-4BE3-A3E7-6D5BEEA58F35}</a:tableStyleId>
              </a:tblPr>
              <a:tblGrid>
                <a:gridCol w="1905000">
                  <a:extLst>
                    <a:ext uri="{9D8B030D-6E8A-4147-A177-3AD203B41FA5}">
                      <a16:colId xmlns:a16="http://schemas.microsoft.com/office/drawing/2014/main" val="20000"/>
                    </a:ext>
                  </a:extLst>
                </a:gridCol>
                <a:gridCol w="939441">
                  <a:extLst>
                    <a:ext uri="{9D8B030D-6E8A-4147-A177-3AD203B41FA5}">
                      <a16:colId xmlns:a16="http://schemas.microsoft.com/office/drawing/2014/main" val="20002"/>
                    </a:ext>
                  </a:extLst>
                </a:gridCol>
                <a:gridCol w="1001303">
                  <a:extLst>
                    <a:ext uri="{9D8B030D-6E8A-4147-A177-3AD203B41FA5}">
                      <a16:colId xmlns:a16="http://schemas.microsoft.com/office/drawing/2014/main" val="20003"/>
                    </a:ext>
                  </a:extLst>
                </a:gridCol>
                <a:gridCol w="1001303">
                  <a:extLst>
                    <a:ext uri="{9D8B030D-6E8A-4147-A177-3AD203B41FA5}">
                      <a16:colId xmlns:a16="http://schemas.microsoft.com/office/drawing/2014/main" val="20004"/>
                    </a:ext>
                  </a:extLst>
                </a:gridCol>
                <a:gridCol w="1001303">
                  <a:extLst>
                    <a:ext uri="{9D8B030D-6E8A-4147-A177-3AD203B41FA5}">
                      <a16:colId xmlns:a16="http://schemas.microsoft.com/office/drawing/2014/main" val="3355876319"/>
                    </a:ext>
                  </a:extLst>
                </a:gridCol>
              </a:tblGrid>
              <a:tr h="855438">
                <a:tc>
                  <a:txBody>
                    <a:bodyPr/>
                    <a:lstStyle/>
                    <a:p>
                      <a:pPr algn="l"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1221702">
                <a:tc>
                  <a:txBody>
                    <a:bodyPr/>
                    <a:lstStyle/>
                    <a:p>
                      <a:pPr algn="l" fontAlgn="t"/>
                      <a:r>
                        <a:rPr lang="en-US" sz="1200" b="0" i="0" u="none" strike="noStrike">
                          <a:solidFill>
                            <a:srgbClr val="000000"/>
                          </a:solidFill>
                          <a:effectLst/>
                          <a:latin typeface="+mn-lt"/>
                        </a:rPr>
                        <a:t>Because of the moisture for one. For a long time, it was very humid. I feel like it didn't really change anything.</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DE7F2"/>
                    </a:solidFill>
                  </a:tcPr>
                </a:tc>
                <a:extLst>
                  <a:ext uri="{0D108BD9-81ED-4DB2-BD59-A6C34878D82A}">
                    <a16:rowId xmlns:a16="http://schemas.microsoft.com/office/drawing/2014/main" val="3162001003"/>
                  </a:ext>
                </a:extLst>
              </a:tr>
              <a:tr h="1221702">
                <a:tc>
                  <a:txBody>
                    <a:bodyPr/>
                    <a:lstStyle/>
                    <a:p>
                      <a:pPr algn="l" fontAlgn="t"/>
                      <a:r>
                        <a:rPr lang="en-US" sz="1200" b="0" i="0" u="none" strike="noStrike">
                          <a:solidFill>
                            <a:srgbClr val="000000"/>
                          </a:solidFill>
                          <a:effectLst/>
                          <a:latin typeface="+mn-lt"/>
                        </a:rPr>
                        <a:t>I don't think I got enough benefit out of it. I know it doesn't cost anything, but I don't think it really helped at all.</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DE7F2"/>
                    </a:solidFill>
                  </a:tcPr>
                </a:tc>
                <a:extLst>
                  <a:ext uri="{0D108BD9-81ED-4DB2-BD59-A6C34878D82A}">
                    <a16:rowId xmlns:a16="http://schemas.microsoft.com/office/drawing/2014/main" val="2352705455"/>
                  </a:ext>
                </a:extLst>
              </a:tr>
              <a:tr h="979880">
                <a:tc>
                  <a:txBody>
                    <a:bodyPr/>
                    <a:lstStyle/>
                    <a:p>
                      <a:pPr algn="l" fontAlgn="t"/>
                      <a:r>
                        <a:rPr lang="en-US" sz="1200" b="0" i="0" u="none" strike="noStrike">
                          <a:solidFill>
                            <a:srgbClr val="000000"/>
                          </a:solidFill>
                          <a:effectLst/>
                          <a:latin typeface="+mn-lt"/>
                        </a:rPr>
                        <a:t>It took a really long time. I don't think they accomplished anything. It was just awful.</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1157951883"/>
                  </a:ext>
                </a:extLst>
              </a:tr>
              <a:tr h="501826">
                <a:tc>
                  <a:txBody>
                    <a:bodyPr/>
                    <a:lstStyle/>
                    <a:p>
                      <a:pPr algn="l" rtl="0" fontAlgn="ctr"/>
                      <a:r>
                        <a:rPr lang="en-US" sz="1300" b="1" i="0" u="none" strike="noStrike">
                          <a:solidFill>
                            <a:srgbClr val="FFFFFF"/>
                          </a:solidFill>
                          <a:effectLst/>
                          <a:latin typeface="Tahoma" panose="020B0604030504040204" pitchFamily="34" charset="0"/>
                        </a:rPr>
                        <a:t>Base:</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0</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0</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0</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a:t>
                      </a:r>
                    </a:p>
                  </a:txBody>
                  <a:tcPr marL="9525" marR="9525" marT="9525" marB="0" anchor="ctr">
                    <a:solidFill>
                      <a:srgbClr val="4F81B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2897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 name="Table 1"/>
          <p:cNvGraphicFramePr>
            <a:graphicFrameLocks noGrp="1"/>
          </p:cNvGraphicFramePr>
          <p:nvPr>
            <p:extLst>
              <p:ext uri="{D42A27DB-BD31-4B8C-83A1-F6EECF244321}">
                <p14:modId xmlns:p14="http://schemas.microsoft.com/office/powerpoint/2010/main" val="2908851933"/>
              </p:ext>
            </p:extLst>
          </p:nvPr>
        </p:nvGraphicFramePr>
        <p:xfrm>
          <a:off x="381000" y="1524000"/>
          <a:ext cx="6019800" cy="6260916"/>
        </p:xfrm>
        <a:graphic>
          <a:graphicData uri="http://schemas.openxmlformats.org/drawingml/2006/table">
            <a:tbl>
              <a:tblPr firstRow="1" lastRow="1">
                <a:tableStyleId>{93296810-A885-4BE3-A3E7-6D5BEEA58F35}</a:tableStyleId>
              </a:tblPr>
              <a:tblGrid>
                <a:gridCol w="2006600">
                  <a:extLst>
                    <a:ext uri="{9D8B030D-6E8A-4147-A177-3AD203B41FA5}">
                      <a16:colId xmlns:a16="http://schemas.microsoft.com/office/drawing/2014/main" val="20000"/>
                    </a:ext>
                  </a:extLst>
                </a:gridCol>
                <a:gridCol w="1003300">
                  <a:extLst>
                    <a:ext uri="{9D8B030D-6E8A-4147-A177-3AD203B41FA5}">
                      <a16:colId xmlns:a16="http://schemas.microsoft.com/office/drawing/2014/main" val="20002"/>
                    </a:ext>
                  </a:extLst>
                </a:gridCol>
                <a:gridCol w="1003300">
                  <a:extLst>
                    <a:ext uri="{9D8B030D-6E8A-4147-A177-3AD203B41FA5}">
                      <a16:colId xmlns:a16="http://schemas.microsoft.com/office/drawing/2014/main" val="20003"/>
                    </a:ext>
                  </a:extLst>
                </a:gridCol>
                <a:gridCol w="1003300">
                  <a:extLst>
                    <a:ext uri="{9D8B030D-6E8A-4147-A177-3AD203B41FA5}">
                      <a16:colId xmlns:a16="http://schemas.microsoft.com/office/drawing/2014/main" val="20004"/>
                    </a:ext>
                  </a:extLst>
                </a:gridCol>
                <a:gridCol w="1003300">
                  <a:extLst>
                    <a:ext uri="{9D8B030D-6E8A-4147-A177-3AD203B41FA5}">
                      <a16:colId xmlns:a16="http://schemas.microsoft.com/office/drawing/2014/main" val="350061851"/>
                    </a:ext>
                  </a:extLst>
                </a:gridCol>
              </a:tblGrid>
              <a:tr h="496190">
                <a:tc>
                  <a:txBody>
                    <a:bodyPr/>
                    <a:lstStyle/>
                    <a:p>
                      <a:pPr algn="l"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0F6FC6"/>
                    </a:solidFill>
                  </a:tcPr>
                </a:tc>
                <a:tc>
                  <a:txBody>
                    <a:bodyPr/>
                    <a:lstStyle/>
                    <a:p>
                      <a:pPr algn="ctr" rtl="0" fontAlgn="ctr"/>
                      <a:r>
                        <a:rPr lang="en-US" sz="1300" b="1" i="0" u="none" strike="noStrike">
                          <a:solidFill>
                            <a:srgbClr val="FFFFFF"/>
                          </a:solidFill>
                          <a:effectLst/>
                          <a:latin typeface="Tahoma" panose="020B0604030504040204" pitchFamily="34" charset="0"/>
                        </a:rPr>
                        <a:t>Q1 2024</a:t>
                      </a:r>
                    </a:p>
                  </a:txBody>
                  <a:tcPr marL="9525" marR="9525" marT="9525" marB="0" anchor="ctr">
                    <a:solidFill>
                      <a:srgbClr val="0F6FC6"/>
                    </a:solidFill>
                  </a:tcPr>
                </a:tc>
                <a:tc>
                  <a:txBody>
                    <a:bodyPr/>
                    <a:lstStyle/>
                    <a:p>
                      <a:pPr algn="ctr" rtl="0" fontAlgn="ctr"/>
                      <a:r>
                        <a:rPr lang="en-US" sz="1300" b="1" i="0" u="none" strike="noStrike">
                          <a:solidFill>
                            <a:srgbClr val="FFFFFF"/>
                          </a:solidFill>
                          <a:effectLst/>
                          <a:latin typeface="Tahoma" panose="020B0604030504040204" pitchFamily="34" charset="0"/>
                        </a:rPr>
                        <a:t>Q2 2024</a:t>
                      </a:r>
                    </a:p>
                  </a:txBody>
                  <a:tcPr marL="9525" marR="9525" marT="9525" marB="0" anchor="ctr">
                    <a:solidFill>
                      <a:srgbClr val="0F6FC6"/>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0F6FC6"/>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0F6FC6"/>
                    </a:solidFill>
                  </a:tcPr>
                </a:tc>
                <a:extLst>
                  <a:ext uri="{0D108BD9-81ED-4DB2-BD59-A6C34878D82A}">
                    <a16:rowId xmlns:a16="http://schemas.microsoft.com/office/drawing/2014/main" val="10000"/>
                  </a:ext>
                </a:extLst>
              </a:tr>
              <a:tr h="496190">
                <a:tc>
                  <a:txBody>
                    <a:bodyPr/>
                    <a:lstStyle/>
                    <a:p>
                      <a:pPr algn="l" rtl="0" fontAlgn="ctr"/>
                      <a:r>
                        <a:rPr lang="en-US" sz="1300" b="0" i="0" u="none" strike="noStrike">
                          <a:solidFill>
                            <a:srgbClr val="000000"/>
                          </a:solidFill>
                          <a:effectLst/>
                          <a:latin typeface="Tahoma" panose="020B0604030504040204" pitchFamily="34" charset="0"/>
                        </a:rPr>
                        <a:t>Nothing/no changes needed</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20</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7</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11</a:t>
                      </a:r>
                    </a:p>
                  </a:txBody>
                  <a:tcPr marR="9525" marT="9525" marB="0" anchor="ctr">
                    <a:solidFill>
                      <a:srgbClr val="DDE7F2"/>
                    </a:solidFill>
                  </a:tcPr>
                </a:tc>
                <a:extLst>
                  <a:ext uri="{0D108BD9-81ED-4DB2-BD59-A6C34878D82A}">
                    <a16:rowId xmlns:a16="http://schemas.microsoft.com/office/drawing/2014/main" val="3718497687"/>
                  </a:ext>
                </a:extLst>
              </a:tr>
              <a:tr h="356039">
                <a:tc>
                  <a:txBody>
                    <a:bodyPr/>
                    <a:lstStyle/>
                    <a:p>
                      <a:pPr algn="l" rtl="0" fontAlgn="ctr"/>
                      <a:r>
                        <a:rPr lang="en-US" sz="1300" b="0" i="0" u="none" strike="noStrike">
                          <a:solidFill>
                            <a:srgbClr val="000000"/>
                          </a:solidFill>
                          <a:effectLst/>
                          <a:latin typeface="Tahoma" panose="020B0604030504040204" pitchFamily="34" charset="0"/>
                        </a:rPr>
                        <a:t>Promote, advertise more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7</a:t>
                      </a:r>
                    </a:p>
                  </a:txBody>
                  <a:tcPr marR="9525" marT="9525" marB="0" anchor="ctr">
                    <a:solidFill>
                      <a:srgbClr val="DCE6F1"/>
                    </a:solidFill>
                  </a:tcPr>
                </a:tc>
                <a:extLst>
                  <a:ext uri="{0D108BD9-81ED-4DB2-BD59-A6C34878D82A}">
                    <a16:rowId xmlns:a16="http://schemas.microsoft.com/office/drawing/2014/main" val="2257028205"/>
                  </a:ext>
                </a:extLst>
              </a:tr>
              <a:tr h="440368">
                <a:tc>
                  <a:txBody>
                    <a:bodyPr/>
                    <a:lstStyle/>
                    <a:p>
                      <a:pPr algn="l" rtl="0" fontAlgn="ctr"/>
                      <a:r>
                        <a:rPr lang="en-US" sz="1300" b="0" i="0" u="none" strike="noStrike">
                          <a:solidFill>
                            <a:srgbClr val="000000"/>
                          </a:solidFill>
                          <a:effectLst/>
                          <a:latin typeface="Tahoma" panose="020B0604030504040204" pitchFamily="34" charset="0"/>
                        </a:rPr>
                        <a:t>Replace doors, windows</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4</a:t>
                      </a:r>
                    </a:p>
                  </a:txBody>
                  <a:tcPr marR="9525" marT="9525" marB="0" anchor="ctr">
                    <a:solidFill>
                      <a:srgbClr val="DCE6F1"/>
                    </a:solidFill>
                  </a:tcPr>
                </a:tc>
                <a:extLst>
                  <a:ext uri="{0D108BD9-81ED-4DB2-BD59-A6C34878D82A}">
                    <a16:rowId xmlns:a16="http://schemas.microsoft.com/office/drawing/2014/main" val="202549590"/>
                  </a:ext>
                </a:extLst>
              </a:tr>
              <a:tr h="440368">
                <a:tc>
                  <a:txBody>
                    <a:bodyPr/>
                    <a:lstStyle/>
                    <a:p>
                      <a:pPr algn="l" rtl="0" fontAlgn="ctr"/>
                      <a:r>
                        <a:rPr lang="en-US" sz="1300" b="0" i="0" u="none" strike="noStrike">
                          <a:solidFill>
                            <a:srgbClr val="000000"/>
                          </a:solidFill>
                          <a:effectLst/>
                          <a:latin typeface="Tahoma" panose="020B0604030504040204" pitchFamily="34" charset="0"/>
                        </a:rPr>
                        <a:t>Faster response, shorter wait times</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5</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extLst>
                  <a:ext uri="{0D108BD9-81ED-4DB2-BD59-A6C34878D82A}">
                    <a16:rowId xmlns:a16="http://schemas.microsoft.com/office/drawing/2014/main" val="744547542"/>
                  </a:ext>
                </a:extLst>
              </a:tr>
              <a:tr h="356039">
                <a:tc>
                  <a:txBody>
                    <a:bodyPr/>
                    <a:lstStyle/>
                    <a:p>
                      <a:pPr algn="l" rtl="0" fontAlgn="ctr"/>
                      <a:r>
                        <a:rPr lang="en-US" sz="1300" b="0" i="0" u="none" strike="noStrike">
                          <a:solidFill>
                            <a:srgbClr val="000000"/>
                          </a:solidFill>
                          <a:effectLst/>
                          <a:latin typeface="Tahoma" panose="020B0604030504040204" pitchFamily="34" charset="0"/>
                        </a:rPr>
                        <a:t>More communication</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R="9525" marT="9525" marB="0" anchor="ctr">
                    <a:solidFill>
                      <a:srgbClr val="DCE6F1"/>
                    </a:solidFill>
                  </a:tcPr>
                </a:tc>
                <a:extLst>
                  <a:ext uri="{0D108BD9-81ED-4DB2-BD59-A6C34878D82A}">
                    <a16:rowId xmlns:a16="http://schemas.microsoft.com/office/drawing/2014/main" val="2622875174"/>
                  </a:ext>
                </a:extLst>
              </a:tr>
              <a:tr h="356039">
                <a:tc>
                  <a:txBody>
                    <a:bodyPr/>
                    <a:lstStyle/>
                    <a:p>
                      <a:pPr algn="l" rtl="0" fontAlgn="ctr"/>
                      <a:r>
                        <a:rPr lang="en-US" sz="1300" b="0" i="0" u="none" strike="noStrike">
                          <a:solidFill>
                            <a:srgbClr val="000000"/>
                          </a:solidFill>
                          <a:effectLst/>
                          <a:latin typeface="Tahoma" panose="020B0604030504040204" pitchFamily="34" charset="0"/>
                        </a:rPr>
                        <a:t>Have more repair options available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2</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2</a:t>
                      </a:r>
                    </a:p>
                  </a:txBody>
                  <a:tcPr marR="9525" marT="9525" marB="0" anchor="ctr">
                    <a:solidFill>
                      <a:srgbClr val="DCE6F1"/>
                    </a:solidFill>
                  </a:tcPr>
                </a:tc>
                <a:extLst>
                  <a:ext uri="{0D108BD9-81ED-4DB2-BD59-A6C34878D82A}">
                    <a16:rowId xmlns:a16="http://schemas.microsoft.com/office/drawing/2014/main" val="3519279437"/>
                  </a:ext>
                </a:extLst>
              </a:tr>
              <a:tr h="440368">
                <a:tc>
                  <a:txBody>
                    <a:bodyPr/>
                    <a:lstStyle/>
                    <a:p>
                      <a:pPr algn="l" rtl="0" fontAlgn="ctr"/>
                      <a:r>
                        <a:rPr lang="en-US" sz="1300" b="0" i="0" u="none" strike="noStrike">
                          <a:solidFill>
                            <a:srgbClr val="000000"/>
                          </a:solidFill>
                          <a:effectLst/>
                          <a:latin typeface="Tahoma" panose="020B0604030504040204" pitchFamily="34" charset="0"/>
                        </a:rPr>
                        <a:t>Better planning, improve budgeting</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extLst>
                  <a:ext uri="{0D108BD9-81ED-4DB2-BD59-A6C34878D82A}">
                    <a16:rowId xmlns:a16="http://schemas.microsoft.com/office/drawing/2014/main" val="273413062"/>
                  </a:ext>
                </a:extLst>
              </a:tr>
              <a:tr h="440368">
                <a:tc>
                  <a:txBody>
                    <a:bodyPr/>
                    <a:lstStyle/>
                    <a:p>
                      <a:pPr algn="l" rtl="0" fontAlgn="ctr"/>
                      <a:r>
                        <a:rPr lang="en-US" sz="1300" b="0" i="0" u="none" strike="noStrike">
                          <a:solidFill>
                            <a:srgbClr val="000000"/>
                          </a:solidFill>
                          <a:effectLst/>
                          <a:latin typeface="Tahoma" panose="020B0604030504040204" pitchFamily="34" charset="0"/>
                        </a:rPr>
                        <a:t>Increase water, energy saving options</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extLst>
                  <a:ext uri="{0D108BD9-81ED-4DB2-BD59-A6C34878D82A}">
                    <a16:rowId xmlns:a16="http://schemas.microsoft.com/office/drawing/2014/main" val="10008"/>
                  </a:ext>
                </a:extLst>
              </a:tr>
              <a:tr h="440368">
                <a:tc>
                  <a:txBody>
                    <a:bodyPr/>
                    <a:lstStyle/>
                    <a:p>
                      <a:pPr algn="l" rtl="0" fontAlgn="ctr"/>
                      <a:r>
                        <a:rPr lang="en-US" sz="1300" b="0" i="0" u="none" strike="noStrike">
                          <a:solidFill>
                            <a:srgbClr val="000000"/>
                          </a:solidFill>
                          <a:effectLst/>
                          <a:latin typeface="Tahoma" panose="020B0604030504040204" pitchFamily="34" charset="0"/>
                        </a:rPr>
                        <a:t>Use more skilled contractors</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R="9525" marT="9525" marB="0" anchor="ctr">
                    <a:solidFill>
                      <a:srgbClr val="DCE6F1"/>
                    </a:solidFill>
                  </a:tcPr>
                </a:tc>
                <a:extLst>
                  <a:ext uri="{0D108BD9-81ED-4DB2-BD59-A6C34878D82A}">
                    <a16:rowId xmlns:a16="http://schemas.microsoft.com/office/drawing/2014/main" val="10009"/>
                  </a:ext>
                </a:extLst>
              </a:tr>
              <a:tr h="440368">
                <a:tc>
                  <a:txBody>
                    <a:bodyPr/>
                    <a:lstStyle/>
                    <a:p>
                      <a:pPr algn="l" rtl="0" fontAlgn="ctr"/>
                      <a:r>
                        <a:rPr lang="en-US" sz="1300" b="0" i="0" u="none" strike="noStrike">
                          <a:solidFill>
                            <a:srgbClr val="000000"/>
                          </a:solidFill>
                          <a:effectLst/>
                          <a:latin typeface="Tahoma" panose="020B0604030504040204" pitchFamily="34" charset="0"/>
                        </a:rPr>
                        <a:t>Enroll more people in program</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extLst>
                  <a:ext uri="{0D108BD9-81ED-4DB2-BD59-A6C34878D82A}">
                    <a16:rowId xmlns:a16="http://schemas.microsoft.com/office/drawing/2014/main" val="3799266932"/>
                  </a:ext>
                </a:extLst>
              </a:tr>
              <a:tr h="440368">
                <a:tc>
                  <a:txBody>
                    <a:bodyPr/>
                    <a:lstStyle/>
                    <a:p>
                      <a:pPr algn="l" rtl="0" fontAlgn="ctr"/>
                      <a:r>
                        <a:rPr lang="en-US" sz="1300" b="0" i="0" u="none" strike="noStrike">
                          <a:solidFill>
                            <a:srgbClr val="000000"/>
                          </a:solidFill>
                          <a:effectLst/>
                          <a:latin typeface="Tahoma" panose="020B0604030504040204" pitchFamily="34" charset="0"/>
                        </a:rPr>
                        <a:t>Follow-up, Supervise contractor work</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Arial" panose="020B0604020202020204" pitchFamily="34" charset="0"/>
                        </a:rPr>
                        <a:t>0</a:t>
                      </a:r>
                    </a:p>
                  </a:txBody>
                  <a:tcPr marR="9525" marT="9525" marB="0" anchor="ctr">
                    <a:solidFill>
                      <a:srgbClr val="DCE6F1"/>
                    </a:solidFill>
                  </a:tcPr>
                </a:tc>
                <a:extLst>
                  <a:ext uri="{0D108BD9-81ED-4DB2-BD59-A6C34878D82A}">
                    <a16:rowId xmlns:a16="http://schemas.microsoft.com/office/drawing/2014/main" val="183074461"/>
                  </a:ext>
                </a:extLst>
              </a:tr>
              <a:tr h="356039">
                <a:tc>
                  <a:txBody>
                    <a:bodyPr/>
                    <a:lstStyle/>
                    <a:p>
                      <a:pPr algn="l" rtl="0" fontAlgn="ctr"/>
                      <a:r>
                        <a:rPr lang="en-US" sz="1300" b="0" i="0" u="none" strike="noStrike">
                          <a:solidFill>
                            <a:srgbClr val="000000"/>
                          </a:solidFill>
                          <a:effectLst/>
                          <a:latin typeface="Tahoma" panose="020B0604030504040204" pitchFamily="34" charset="0"/>
                        </a:rPr>
                        <a:t>Do not know</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4</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8</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extLst>
                  <a:ext uri="{0D108BD9-81ED-4DB2-BD59-A6C34878D82A}">
                    <a16:rowId xmlns:a16="http://schemas.microsoft.com/office/drawing/2014/main" val="3432197978"/>
                  </a:ext>
                </a:extLst>
              </a:tr>
              <a:tr h="356039">
                <a:tc>
                  <a:txBody>
                    <a:bodyPr/>
                    <a:lstStyle/>
                    <a:p>
                      <a:pPr algn="l" rtl="0" fontAlgn="ctr"/>
                      <a:r>
                        <a:rPr lang="en-US" sz="1300" b="0" i="0" u="none" strike="noStrike">
                          <a:solidFill>
                            <a:srgbClr val="000000"/>
                          </a:solidFill>
                          <a:effectLst/>
                          <a:latin typeface="Tahoma" panose="020B0604030504040204" pitchFamily="34" charset="0"/>
                        </a:rPr>
                        <a:t>All other</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5</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R="9525" marT="9525" marB="0" anchor="ctr">
                    <a:solidFill>
                      <a:srgbClr val="DCE6F1"/>
                    </a:solidFill>
                  </a:tcPr>
                </a:tc>
                <a:extLst>
                  <a:ext uri="{0D108BD9-81ED-4DB2-BD59-A6C34878D82A}">
                    <a16:rowId xmlns:a16="http://schemas.microsoft.com/office/drawing/2014/main" val="245832486"/>
                  </a:ext>
                </a:extLst>
              </a:tr>
              <a:tr h="356039">
                <a:tc>
                  <a:txBody>
                    <a:bodyPr/>
                    <a:lstStyle/>
                    <a:p>
                      <a:pPr algn="l" rtl="0" fontAlgn="ctr"/>
                      <a:r>
                        <a:rPr lang="en-US" sz="13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12</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44</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19</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33</a:t>
                      </a:r>
                    </a:p>
                  </a:txBody>
                  <a:tcPr marR="9525" marT="9525" marB="0" anchor="ctr">
                    <a:solidFill>
                      <a:srgbClr val="4F81BD"/>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34553801"/>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973189737"/>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881928283"/>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graphicFrame>
        <p:nvGraphicFramePr>
          <p:cNvPr id="2" name="Table 1"/>
          <p:cNvGraphicFramePr>
            <a:graphicFrameLocks noGrp="1"/>
          </p:cNvGraphicFramePr>
          <p:nvPr>
            <p:extLst>
              <p:ext uri="{D42A27DB-BD31-4B8C-83A1-F6EECF244321}">
                <p14:modId xmlns:p14="http://schemas.microsoft.com/office/powerpoint/2010/main" val="1892434575"/>
              </p:ext>
            </p:extLst>
          </p:nvPr>
        </p:nvGraphicFramePr>
        <p:xfrm>
          <a:off x="327486" y="2438400"/>
          <a:ext cx="6073314" cy="3694005"/>
        </p:xfrm>
        <a:graphic>
          <a:graphicData uri="http://schemas.openxmlformats.org/drawingml/2006/table">
            <a:tbl>
              <a:tblPr firstRow="1" lastRow="1">
                <a:tableStyleId>{93296810-A885-4BE3-A3E7-6D5BEEA58F35}</a:tableStyleId>
              </a:tblPr>
              <a:tblGrid>
                <a:gridCol w="2265809">
                  <a:extLst>
                    <a:ext uri="{9D8B030D-6E8A-4147-A177-3AD203B41FA5}">
                      <a16:colId xmlns:a16="http://schemas.microsoft.com/office/drawing/2014/main" val="20000"/>
                    </a:ext>
                  </a:extLst>
                </a:gridCol>
                <a:gridCol w="944087">
                  <a:extLst>
                    <a:ext uri="{9D8B030D-6E8A-4147-A177-3AD203B41FA5}">
                      <a16:colId xmlns:a16="http://schemas.microsoft.com/office/drawing/2014/main" val="20002"/>
                    </a:ext>
                  </a:extLst>
                </a:gridCol>
                <a:gridCol w="944087">
                  <a:extLst>
                    <a:ext uri="{9D8B030D-6E8A-4147-A177-3AD203B41FA5}">
                      <a16:colId xmlns:a16="http://schemas.microsoft.com/office/drawing/2014/main" val="20003"/>
                    </a:ext>
                  </a:extLst>
                </a:gridCol>
                <a:gridCol w="944087">
                  <a:extLst>
                    <a:ext uri="{9D8B030D-6E8A-4147-A177-3AD203B41FA5}">
                      <a16:colId xmlns:a16="http://schemas.microsoft.com/office/drawing/2014/main" val="784343411"/>
                    </a:ext>
                  </a:extLst>
                </a:gridCol>
                <a:gridCol w="975244">
                  <a:extLst>
                    <a:ext uri="{9D8B030D-6E8A-4147-A177-3AD203B41FA5}">
                      <a16:colId xmlns:a16="http://schemas.microsoft.com/office/drawing/2014/main" val="3436777026"/>
                    </a:ext>
                  </a:extLst>
                </a:gridCol>
              </a:tblGrid>
              <a:tr h="377522">
                <a:tc>
                  <a:txBody>
                    <a:bodyPr/>
                    <a:lstStyle/>
                    <a:p>
                      <a:pPr algn="l" rtl="0" fontAlgn="ctr"/>
                      <a:r>
                        <a:rPr lang="en-US" sz="1800" b="0" i="0" u="none" strike="noStrike">
                          <a:solidFill>
                            <a:srgbClr val="000000"/>
                          </a:solidFill>
                          <a:effectLst/>
                          <a:latin typeface="Arial" panose="020B0604020202020204" pitchFamily="34" charset="0"/>
                        </a:rPr>
                        <a:t> </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76186">
                <a:tc>
                  <a:txBody>
                    <a:bodyPr/>
                    <a:lstStyle/>
                    <a:p>
                      <a:pPr algn="l" rtl="0" fontAlgn="ctr"/>
                      <a:r>
                        <a:rPr lang="en-US" sz="1300" b="0" i="0" u="none" strike="noStrike">
                          <a:solidFill>
                            <a:srgbClr val="000000"/>
                          </a:solidFill>
                          <a:effectLst/>
                          <a:latin typeface="Tahoma" panose="020B0604030504040204" pitchFamily="34" charset="0"/>
                        </a:rPr>
                        <a:t>Cleaned up mess, repaired damage they caused</a:t>
                      </a:r>
                    </a:p>
                  </a:txBody>
                  <a:tcPr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L="9525" marR="9525" marT="9525" marB="0" anchor="ctr">
                    <a:solidFill>
                      <a:srgbClr val="DDE7F2"/>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L="9525" marR="9525" marT="9525" marB="0" anchor="ctr">
                    <a:solidFill>
                      <a:srgbClr val="DDE7F2"/>
                    </a:solidFill>
                  </a:tcPr>
                </a:tc>
                <a:extLst>
                  <a:ext uri="{0D108BD9-81ED-4DB2-BD59-A6C34878D82A}">
                    <a16:rowId xmlns:a16="http://schemas.microsoft.com/office/drawing/2014/main" val="2979853261"/>
                  </a:ext>
                </a:extLst>
              </a:tr>
              <a:tr h="498713">
                <a:tc>
                  <a:txBody>
                    <a:bodyPr/>
                    <a:lstStyle/>
                    <a:p>
                      <a:pPr algn="l" rtl="0" fontAlgn="ctr"/>
                      <a:r>
                        <a:rPr lang="en-US" sz="1300" b="0" i="0" u="none" strike="noStrike">
                          <a:solidFill>
                            <a:srgbClr val="000000"/>
                          </a:solidFill>
                          <a:effectLst/>
                          <a:latin typeface="Tahoma" panose="020B0604030504040204" pitchFamily="34" charset="0"/>
                        </a:rPr>
                        <a:t>Complete work correctly</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2125510728"/>
                  </a:ext>
                </a:extLst>
              </a:tr>
              <a:tr h="498713">
                <a:tc>
                  <a:txBody>
                    <a:bodyPr/>
                    <a:lstStyle/>
                    <a:p>
                      <a:pPr algn="l" rtl="0" fontAlgn="ctr"/>
                      <a:r>
                        <a:rPr lang="en-US" sz="1300" b="0" i="0" u="none" strike="noStrike">
                          <a:solidFill>
                            <a:srgbClr val="000000"/>
                          </a:solidFill>
                          <a:effectLst/>
                          <a:latin typeface="Tahoma" panose="020B0604030504040204" pitchFamily="34" charset="0"/>
                        </a:rPr>
                        <a:t>Inform me of what is being repaired</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301103295"/>
                  </a:ext>
                </a:extLst>
              </a:tr>
              <a:tr h="498713">
                <a:tc>
                  <a:txBody>
                    <a:bodyPr/>
                    <a:lstStyle/>
                    <a:p>
                      <a:pPr algn="l" rtl="0" fontAlgn="ctr"/>
                      <a:r>
                        <a:rPr lang="en-US" sz="1300" b="0" i="0" u="none" strike="noStrike">
                          <a:solidFill>
                            <a:srgbClr val="000000"/>
                          </a:solidFill>
                          <a:effectLst/>
                          <a:latin typeface="Tahoma" panose="020B0604030504040204" pitchFamily="34" charset="0"/>
                        </a:rPr>
                        <a:t>Improve, increase communication</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4144804038"/>
                  </a:ext>
                </a:extLst>
              </a:tr>
              <a:tr h="539680">
                <a:tc>
                  <a:txBody>
                    <a:bodyPr/>
                    <a:lstStyle/>
                    <a:p>
                      <a:pPr algn="l" rtl="0" fontAlgn="ctr"/>
                      <a:r>
                        <a:rPr lang="en-US" sz="1300" b="0" i="0" u="none" strike="noStrike">
                          <a:solidFill>
                            <a:srgbClr val="000000"/>
                          </a:solidFill>
                          <a:effectLst/>
                          <a:latin typeface="Tahoma" panose="020B0604030504040204" pitchFamily="34" charset="0"/>
                        </a:rPr>
                        <a:t>Followed up, reviewed work</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52468845"/>
                  </a:ext>
                </a:extLst>
              </a:tr>
              <a:tr h="498713">
                <a:tc>
                  <a:txBody>
                    <a:bodyPr/>
                    <a:lstStyle/>
                    <a:p>
                      <a:pPr algn="l" rtl="0" fontAlgn="ctr"/>
                      <a:r>
                        <a:rPr lang="en-US" sz="1300" b="0" i="0" u="none" strike="noStrike">
                          <a:solidFill>
                            <a:srgbClr val="000000"/>
                          </a:solidFill>
                          <a:effectLst/>
                          <a:latin typeface="Tahoma" panose="020B0604030504040204" pitchFamily="34" charset="0"/>
                        </a:rPr>
                        <a:t>Nothing</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25179378"/>
                  </a:ext>
                </a:extLst>
              </a:tr>
              <a:tr h="376186">
                <a:tc>
                  <a:txBody>
                    <a:bodyPr/>
                    <a:lstStyle/>
                    <a:p>
                      <a:pPr algn="l" rtl="0" fontAlgn="ctr"/>
                      <a:r>
                        <a:rPr lang="en-US" sz="13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6</a:t>
                      </a:r>
                    </a:p>
                  </a:txBody>
                  <a:tcPr marL="9525" marR="9525" marT="9525" marB="0" anchor="ctr">
                    <a:solidFill>
                      <a:srgbClr val="4F81BD"/>
                    </a:solidFill>
                  </a:tcPr>
                </a:tc>
                <a:extLst>
                  <a:ext uri="{0D108BD9-81ED-4DB2-BD59-A6C34878D82A}">
                    <a16:rowId xmlns:a16="http://schemas.microsoft.com/office/drawing/2014/main" val="10012"/>
                  </a:ext>
                </a:extLst>
              </a:tr>
            </a:tbl>
          </a:graphicData>
        </a:graphic>
      </p:graphicFrame>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3116263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1595924"/>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296376831"/>
              </p:ext>
            </p:extLst>
          </p:nvPr>
        </p:nvGraphicFramePr>
        <p:xfrm>
          <a:off x="50801" y="137160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742575478"/>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graphicFrame>
        <p:nvGraphicFramePr>
          <p:cNvPr id="2" name="Table 1"/>
          <p:cNvGraphicFramePr>
            <a:graphicFrameLocks noGrp="1"/>
          </p:cNvGraphicFramePr>
          <p:nvPr>
            <p:extLst>
              <p:ext uri="{D42A27DB-BD31-4B8C-83A1-F6EECF244321}">
                <p14:modId xmlns:p14="http://schemas.microsoft.com/office/powerpoint/2010/main" val="1007479670"/>
              </p:ext>
            </p:extLst>
          </p:nvPr>
        </p:nvGraphicFramePr>
        <p:xfrm>
          <a:off x="514655" y="2495656"/>
          <a:ext cx="5708065" cy="3833355"/>
        </p:xfrm>
        <a:graphic>
          <a:graphicData uri="http://schemas.openxmlformats.org/drawingml/2006/table">
            <a:tbl>
              <a:tblPr firstRow="1" lastRow="1">
                <a:tableStyleId>{93296810-A885-4BE3-A3E7-6D5BEEA58F35}</a:tableStyleId>
              </a:tblPr>
              <a:tblGrid>
                <a:gridCol w="1897312">
                  <a:extLst>
                    <a:ext uri="{9D8B030D-6E8A-4147-A177-3AD203B41FA5}">
                      <a16:colId xmlns:a16="http://schemas.microsoft.com/office/drawing/2014/main" val="20000"/>
                    </a:ext>
                  </a:extLst>
                </a:gridCol>
                <a:gridCol w="916585">
                  <a:extLst>
                    <a:ext uri="{9D8B030D-6E8A-4147-A177-3AD203B41FA5}">
                      <a16:colId xmlns:a16="http://schemas.microsoft.com/office/drawing/2014/main" val="2563655304"/>
                    </a:ext>
                  </a:extLst>
                </a:gridCol>
                <a:gridCol w="936801">
                  <a:extLst>
                    <a:ext uri="{9D8B030D-6E8A-4147-A177-3AD203B41FA5}">
                      <a16:colId xmlns:a16="http://schemas.microsoft.com/office/drawing/2014/main" val="20002"/>
                    </a:ext>
                  </a:extLst>
                </a:gridCol>
                <a:gridCol w="1015525">
                  <a:extLst>
                    <a:ext uri="{9D8B030D-6E8A-4147-A177-3AD203B41FA5}">
                      <a16:colId xmlns:a16="http://schemas.microsoft.com/office/drawing/2014/main" val="20003"/>
                    </a:ext>
                  </a:extLst>
                </a:gridCol>
                <a:gridCol w="941842">
                  <a:extLst>
                    <a:ext uri="{9D8B030D-6E8A-4147-A177-3AD203B41FA5}">
                      <a16:colId xmlns:a16="http://schemas.microsoft.com/office/drawing/2014/main" val="2871987320"/>
                    </a:ext>
                  </a:extLst>
                </a:gridCol>
              </a:tblGrid>
              <a:tr h="592504">
                <a:tc>
                  <a:txBody>
                    <a:bodyPr/>
                    <a:lstStyle/>
                    <a:p>
                      <a:pPr algn="l" fontAlgn="b"/>
                      <a:r>
                        <a:rPr lang="en-US" sz="1300" u="none" strike="noStrike">
                          <a:effectLst/>
                        </a:rPr>
                        <a:t> </a:t>
                      </a:r>
                      <a:endParaRPr lang="en-US" sz="1300" b="1" i="0" u="none" strike="noStrike">
                        <a:solidFill>
                          <a:srgbClr val="FFFFFF"/>
                        </a:solidFill>
                        <a:effectLst/>
                        <a:latin typeface="Calibri" panose="020F0502020204030204" pitchFamily="34" charset="0"/>
                      </a:endParaRPr>
                    </a:p>
                  </a:txBody>
                  <a:tcPr marL="8667" marR="8667" marT="8667" marB="0" anchor="ctr">
                    <a:solidFill>
                      <a:srgbClr val="4F81BD"/>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300" b="1" i="0" u="none" strike="noStrike" kern="1200">
                          <a:solidFill>
                            <a:srgbClr val="FFFFFF"/>
                          </a:solidFill>
                          <a:effectLst/>
                          <a:latin typeface="+mn-lt"/>
                          <a:ea typeface="+mn-ea"/>
                          <a:cs typeface="+mn-cs"/>
                        </a:rPr>
                        <a:t>Q1 2024</a:t>
                      </a:r>
                    </a:p>
                  </a:txBody>
                  <a:tcPr marL="8667" marR="8667" marT="8667" marB="0" anchor="ctr">
                    <a:solidFill>
                      <a:srgbClr val="4F81BD"/>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300" b="1" i="0" u="none" strike="noStrike" kern="1200">
                          <a:solidFill>
                            <a:srgbClr val="FFFFFF"/>
                          </a:solidFill>
                          <a:effectLst/>
                          <a:latin typeface="+mn-lt"/>
                          <a:ea typeface="+mn-ea"/>
                          <a:cs typeface="+mn-cs"/>
                        </a:rPr>
                        <a:t>Q2 2024</a:t>
                      </a:r>
                    </a:p>
                  </a:txBody>
                  <a:tcPr marL="8667" marR="8667" marT="8667" marB="0" anchor="ctr">
                    <a:solidFill>
                      <a:srgbClr val="4F81BD"/>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300" b="1" i="0" u="none" strike="noStrike" kern="1200">
                          <a:solidFill>
                            <a:srgbClr val="FFFFFF"/>
                          </a:solidFill>
                          <a:effectLst/>
                          <a:latin typeface="+mn-lt"/>
                          <a:ea typeface="+mn-ea"/>
                          <a:cs typeface="+mn-cs"/>
                        </a:rPr>
                        <a:t>Q3 2024</a:t>
                      </a:r>
                    </a:p>
                  </a:txBody>
                  <a:tcPr marL="8667" marR="8667" marT="8667" marB="0" anchor="ctr">
                    <a:solidFill>
                      <a:srgbClr val="4F81BD"/>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300" b="1" i="0" u="none" strike="noStrike" kern="1200">
                          <a:solidFill>
                            <a:srgbClr val="FFFFFF"/>
                          </a:solidFill>
                          <a:effectLst/>
                          <a:latin typeface="+mn-lt"/>
                          <a:ea typeface="+mn-ea"/>
                          <a:cs typeface="+mn-cs"/>
                        </a:rPr>
                        <a:t>Q4 2024</a:t>
                      </a:r>
                    </a:p>
                  </a:txBody>
                  <a:tcPr marL="8667" marR="8667" marT="8667" marB="0" anchor="ctr">
                    <a:solidFill>
                      <a:srgbClr val="4F81BD"/>
                    </a:solidFill>
                  </a:tcPr>
                </a:tc>
                <a:extLst>
                  <a:ext uri="{0D108BD9-81ED-4DB2-BD59-A6C34878D82A}">
                    <a16:rowId xmlns:a16="http://schemas.microsoft.com/office/drawing/2014/main" val="10000"/>
                  </a:ext>
                </a:extLst>
              </a:tr>
              <a:tr h="592504">
                <a:tc>
                  <a:txBody>
                    <a:bodyPr/>
                    <a:lstStyle/>
                    <a:p>
                      <a:pPr algn="l" fontAlgn="ctr"/>
                      <a:r>
                        <a:rPr lang="en-US" sz="1300" b="0" i="0" u="none" strike="noStrike">
                          <a:solidFill>
                            <a:srgbClr val="000000"/>
                          </a:solidFill>
                          <a:effectLst/>
                          <a:latin typeface="+mj-lt"/>
                        </a:rPr>
                        <a:t>Improve communication</a:t>
                      </a:r>
                    </a:p>
                  </a:txBody>
                  <a:tcPr marL="78006" marR="8667" marT="8667" marB="0" anchor="ctr">
                    <a:solidFill>
                      <a:srgbClr val="DCE6F1"/>
                    </a:solidFill>
                  </a:tcPr>
                </a:tc>
                <a:tc>
                  <a:txBody>
                    <a:bodyPr/>
                    <a:lstStyle/>
                    <a:p>
                      <a:pPr algn="ctr" fontAlgn="ctr"/>
                      <a:r>
                        <a:rPr lang="en-US" sz="1300" b="0" i="0" u="none" strike="noStrike">
                          <a:solidFill>
                            <a:srgbClr val="000000"/>
                          </a:solidFill>
                          <a:effectLst/>
                          <a:latin typeface="+mj-lt"/>
                        </a:rPr>
                        <a:t>1</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1</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2</a:t>
                      </a:r>
                    </a:p>
                  </a:txBody>
                  <a:tcPr marL="8667" marR="8667" marT="8667" marB="0" anchor="ctr">
                    <a:solidFill>
                      <a:srgbClr val="DCE6F1"/>
                    </a:solidFill>
                  </a:tcPr>
                </a:tc>
                <a:extLst>
                  <a:ext uri="{0D108BD9-81ED-4DB2-BD59-A6C34878D82A}">
                    <a16:rowId xmlns:a16="http://schemas.microsoft.com/office/drawing/2014/main" val="3425647790"/>
                  </a:ext>
                </a:extLst>
              </a:tr>
              <a:tr h="592504">
                <a:tc>
                  <a:txBody>
                    <a:bodyPr/>
                    <a:lstStyle/>
                    <a:p>
                      <a:pPr algn="l" fontAlgn="ctr"/>
                      <a:r>
                        <a:rPr lang="en-US" sz="1300" u="none" strike="noStrike">
                          <a:effectLst/>
                          <a:latin typeface="+mj-lt"/>
                        </a:rPr>
                        <a:t>Follow</a:t>
                      </a:r>
                      <a:r>
                        <a:rPr lang="en-US" sz="1300" u="none" strike="noStrike" baseline="0">
                          <a:effectLst/>
                          <a:latin typeface="+mj-lt"/>
                        </a:rPr>
                        <a:t> up after a few months to check on work performed</a:t>
                      </a:r>
                      <a:endParaRPr lang="en-US" sz="1300" b="0" i="0" u="none" strike="noStrike">
                        <a:solidFill>
                          <a:srgbClr val="000000"/>
                        </a:solidFill>
                        <a:effectLst/>
                        <a:latin typeface="+mj-lt"/>
                      </a:endParaRPr>
                    </a:p>
                  </a:txBody>
                  <a:tcPr marL="78006"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1</a:t>
                      </a:r>
                    </a:p>
                  </a:txBody>
                  <a:tcPr marL="8667" marR="8667" marT="8667" marB="0" anchor="ctr">
                    <a:solidFill>
                      <a:srgbClr val="DCE6F1"/>
                    </a:solidFill>
                  </a:tcPr>
                </a:tc>
                <a:extLst>
                  <a:ext uri="{0D108BD9-81ED-4DB2-BD59-A6C34878D82A}">
                    <a16:rowId xmlns:a16="http://schemas.microsoft.com/office/drawing/2014/main" val="2765865942"/>
                  </a:ext>
                </a:extLst>
              </a:tr>
              <a:tr h="592504">
                <a:tc>
                  <a:txBody>
                    <a:bodyPr/>
                    <a:lstStyle/>
                    <a:p>
                      <a:pPr algn="l" fontAlgn="ctr"/>
                      <a:r>
                        <a:rPr lang="en-US" sz="1300" b="0" i="0" u="none" strike="noStrike">
                          <a:solidFill>
                            <a:srgbClr val="000000"/>
                          </a:solidFill>
                          <a:effectLst/>
                          <a:latin typeface="+mj-lt"/>
                        </a:rPr>
                        <a:t>Complete repair</a:t>
                      </a:r>
                    </a:p>
                  </a:txBody>
                  <a:tcPr marL="78006"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1</a:t>
                      </a:r>
                    </a:p>
                  </a:txBody>
                  <a:tcPr marL="8667" marR="8667" marT="8667" marB="0" anchor="ctr">
                    <a:solidFill>
                      <a:srgbClr val="DCE6F1"/>
                    </a:solidFill>
                  </a:tcPr>
                </a:tc>
                <a:extLst>
                  <a:ext uri="{0D108BD9-81ED-4DB2-BD59-A6C34878D82A}">
                    <a16:rowId xmlns:a16="http://schemas.microsoft.com/office/drawing/2014/main" val="3752748562"/>
                  </a:ext>
                </a:extLst>
              </a:tr>
              <a:tr h="592504">
                <a:tc>
                  <a:txBody>
                    <a:bodyPr/>
                    <a:lstStyle/>
                    <a:p>
                      <a:pPr algn="l" fontAlgn="ctr"/>
                      <a:r>
                        <a:rPr lang="en-US" sz="1300" b="0" i="0" u="none" strike="noStrike">
                          <a:solidFill>
                            <a:srgbClr val="000000"/>
                          </a:solidFill>
                          <a:effectLst/>
                          <a:latin typeface="+mj-lt"/>
                        </a:rPr>
                        <a:t>Don’t know</a:t>
                      </a:r>
                    </a:p>
                  </a:txBody>
                  <a:tcPr marL="78006"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1</a:t>
                      </a:r>
                    </a:p>
                  </a:txBody>
                  <a:tcPr marL="8667" marR="8667" marT="8667" marB="0" anchor="ctr">
                    <a:solidFill>
                      <a:srgbClr val="DCE6F1"/>
                    </a:solidFill>
                  </a:tcPr>
                </a:tc>
                <a:extLst>
                  <a:ext uri="{0D108BD9-81ED-4DB2-BD59-A6C34878D82A}">
                    <a16:rowId xmlns:a16="http://schemas.microsoft.com/office/drawing/2014/main" val="3274041711"/>
                  </a:ext>
                </a:extLst>
              </a:tr>
              <a:tr h="592504">
                <a:tc>
                  <a:txBody>
                    <a:bodyPr/>
                    <a:lstStyle/>
                    <a:p>
                      <a:pPr algn="l" fontAlgn="ctr"/>
                      <a:r>
                        <a:rPr lang="en-US" sz="1300" b="0" i="0" u="none" strike="noStrike">
                          <a:solidFill>
                            <a:srgbClr val="000000"/>
                          </a:solidFill>
                          <a:effectLst/>
                          <a:latin typeface="+mj-lt"/>
                        </a:rPr>
                        <a:t>Other</a:t>
                      </a:r>
                    </a:p>
                  </a:txBody>
                  <a:tcPr marL="78006"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1</a:t>
                      </a:r>
                    </a:p>
                  </a:txBody>
                  <a:tcPr marL="8667" marR="8667" marT="8667" marB="0" anchor="ctr">
                    <a:solidFill>
                      <a:srgbClr val="DCE6F1"/>
                    </a:solidFill>
                  </a:tcPr>
                </a:tc>
                <a:tc>
                  <a:txBody>
                    <a:bodyPr/>
                    <a:lstStyle/>
                    <a:p>
                      <a:pPr algn="ctr" fontAlgn="ctr"/>
                      <a:r>
                        <a:rPr lang="en-US" sz="1300" b="0" i="0" u="none" strike="noStrike">
                          <a:solidFill>
                            <a:srgbClr val="000000"/>
                          </a:solidFill>
                          <a:effectLst/>
                          <a:latin typeface="+mj-lt"/>
                        </a:rPr>
                        <a:t>0</a:t>
                      </a:r>
                    </a:p>
                  </a:txBody>
                  <a:tcPr marL="8667" marR="8667" marT="8667" marB="0" anchor="ctr">
                    <a:solidFill>
                      <a:srgbClr val="DCE6F1"/>
                    </a:solidFill>
                  </a:tcPr>
                </a:tc>
                <a:extLst>
                  <a:ext uri="{0D108BD9-81ED-4DB2-BD59-A6C34878D82A}">
                    <a16:rowId xmlns:a16="http://schemas.microsoft.com/office/drawing/2014/main" val="1033881852"/>
                  </a:ext>
                </a:extLst>
              </a:tr>
              <a:tr h="267808">
                <a:tc>
                  <a:txBody>
                    <a:bodyPr/>
                    <a:lstStyle/>
                    <a:p>
                      <a:pPr algn="l" fontAlgn="ctr"/>
                      <a:r>
                        <a:rPr lang="en-US" sz="1300" u="none" strike="noStrike">
                          <a:effectLst/>
                        </a:rPr>
                        <a:t>Base: </a:t>
                      </a:r>
                      <a:endParaRPr lang="en-US" sz="1300" b="1" i="0" u="none" strike="noStrike">
                        <a:solidFill>
                          <a:srgbClr val="FFFFFF"/>
                        </a:solidFill>
                        <a:effectLst/>
                        <a:latin typeface="Calibri" panose="020F0502020204030204" pitchFamily="34" charset="0"/>
                      </a:endParaRPr>
                    </a:p>
                  </a:txBody>
                  <a:tcPr marL="78006" marR="8667" marT="8667" marB="0" anchor="ctr">
                    <a:solidFill>
                      <a:srgbClr val="4F81BD"/>
                    </a:solidFill>
                  </a:tcPr>
                </a:tc>
                <a:tc>
                  <a:txBody>
                    <a:bodyPr/>
                    <a:lstStyle/>
                    <a:p>
                      <a:pPr algn="ctr" fontAlgn="ctr"/>
                      <a:r>
                        <a:rPr lang="en-US" sz="1300" b="1" i="0" u="none" strike="noStrike">
                          <a:solidFill>
                            <a:srgbClr val="FFFFFF"/>
                          </a:solidFill>
                          <a:effectLst/>
                          <a:latin typeface="+mj-lt"/>
                        </a:rPr>
                        <a:t>1</a:t>
                      </a:r>
                    </a:p>
                  </a:txBody>
                  <a:tcPr marL="8667" marR="8667" marT="8667" marB="0" anchor="ctr">
                    <a:solidFill>
                      <a:srgbClr val="4F81BD"/>
                    </a:solidFill>
                  </a:tcPr>
                </a:tc>
                <a:tc>
                  <a:txBody>
                    <a:bodyPr/>
                    <a:lstStyle/>
                    <a:p>
                      <a:pPr algn="ctr" fontAlgn="ctr"/>
                      <a:r>
                        <a:rPr lang="en-US" sz="1300" b="1" i="0" u="none" strike="noStrike">
                          <a:solidFill>
                            <a:srgbClr val="FFFFFF"/>
                          </a:solidFill>
                          <a:effectLst/>
                          <a:latin typeface="+mj-lt"/>
                        </a:rPr>
                        <a:t>1</a:t>
                      </a:r>
                    </a:p>
                  </a:txBody>
                  <a:tcPr marL="8667" marR="8667" marT="8667" marB="0" anchor="ctr">
                    <a:solidFill>
                      <a:srgbClr val="4F81BD"/>
                    </a:solidFill>
                  </a:tcPr>
                </a:tc>
                <a:tc>
                  <a:txBody>
                    <a:bodyPr/>
                    <a:lstStyle/>
                    <a:p>
                      <a:pPr algn="ctr" fontAlgn="ctr"/>
                      <a:r>
                        <a:rPr lang="en-US" sz="1300" b="1" i="0" u="none" strike="noStrike">
                          <a:solidFill>
                            <a:srgbClr val="FFFFFF"/>
                          </a:solidFill>
                          <a:effectLst/>
                          <a:latin typeface="+mj-lt"/>
                        </a:rPr>
                        <a:t>1</a:t>
                      </a:r>
                    </a:p>
                  </a:txBody>
                  <a:tcPr marL="8667" marR="8667" marT="8667" marB="0" anchor="ctr">
                    <a:solidFill>
                      <a:srgbClr val="4F81BD"/>
                    </a:solidFill>
                  </a:tcPr>
                </a:tc>
                <a:tc>
                  <a:txBody>
                    <a:bodyPr/>
                    <a:lstStyle/>
                    <a:p>
                      <a:pPr algn="ctr" fontAlgn="ctr"/>
                      <a:r>
                        <a:rPr lang="en-US" sz="1300" b="1" i="0" u="none" strike="noStrike">
                          <a:solidFill>
                            <a:srgbClr val="FFFFFF"/>
                          </a:solidFill>
                          <a:effectLst/>
                          <a:latin typeface="+mj-lt"/>
                        </a:rPr>
                        <a:t>5</a:t>
                      </a:r>
                    </a:p>
                  </a:txBody>
                  <a:tcPr marL="8667" marR="8667" marT="8667" marB="0" anchor="ctr">
                    <a:solidFill>
                      <a:srgbClr val="4F81BD"/>
                    </a:solidFill>
                  </a:tcPr>
                </a:tc>
                <a:extLst>
                  <a:ext uri="{0D108BD9-81ED-4DB2-BD59-A6C34878D82A}">
                    <a16:rowId xmlns:a16="http://schemas.microsoft.com/office/drawing/2014/main" val="10012"/>
                  </a:ext>
                </a:extLst>
              </a:tr>
            </a:tbl>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39469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13. Was there anything about your experience with the people who weatherized your home that you would like to share with Austin Energy?</a:t>
            </a:r>
            <a:endParaRPr lang="en-US" sz="1100" b="1">
              <a:latin typeface="+mn-lt"/>
              <a:ea typeface="ＭＳ Ｐゴシック" charset="-128"/>
            </a:endParaRPr>
          </a:p>
        </p:txBody>
      </p:sp>
      <p:graphicFrame>
        <p:nvGraphicFramePr>
          <p:cNvPr id="2" name="Table 1"/>
          <p:cNvGraphicFramePr>
            <a:graphicFrameLocks noGrp="1"/>
          </p:cNvGraphicFramePr>
          <p:nvPr>
            <p:extLst>
              <p:ext uri="{D42A27DB-BD31-4B8C-83A1-F6EECF244321}">
                <p14:modId xmlns:p14="http://schemas.microsoft.com/office/powerpoint/2010/main" val="1094654387"/>
              </p:ext>
            </p:extLst>
          </p:nvPr>
        </p:nvGraphicFramePr>
        <p:xfrm>
          <a:off x="381000" y="1600200"/>
          <a:ext cx="5924551" cy="6078604"/>
        </p:xfrm>
        <a:graphic>
          <a:graphicData uri="http://schemas.openxmlformats.org/drawingml/2006/table">
            <a:tbl>
              <a:tblPr firstRow="1" lastRow="1">
                <a:tableStyleId>{93296810-A885-4BE3-A3E7-6D5BEEA58F35}</a:tableStyleId>
              </a:tblPr>
              <a:tblGrid>
                <a:gridCol w="2200583">
                  <a:extLst>
                    <a:ext uri="{9D8B030D-6E8A-4147-A177-3AD203B41FA5}">
                      <a16:colId xmlns:a16="http://schemas.microsoft.com/office/drawing/2014/main" val="20000"/>
                    </a:ext>
                  </a:extLst>
                </a:gridCol>
                <a:gridCol w="930992">
                  <a:extLst>
                    <a:ext uri="{9D8B030D-6E8A-4147-A177-3AD203B41FA5}">
                      <a16:colId xmlns:a16="http://schemas.microsoft.com/office/drawing/2014/main" val="20002"/>
                    </a:ext>
                  </a:extLst>
                </a:gridCol>
                <a:gridCol w="930992">
                  <a:extLst>
                    <a:ext uri="{9D8B030D-6E8A-4147-A177-3AD203B41FA5}">
                      <a16:colId xmlns:a16="http://schemas.microsoft.com/office/drawing/2014/main" val="20003"/>
                    </a:ext>
                  </a:extLst>
                </a:gridCol>
                <a:gridCol w="930992">
                  <a:extLst>
                    <a:ext uri="{9D8B030D-6E8A-4147-A177-3AD203B41FA5}">
                      <a16:colId xmlns:a16="http://schemas.microsoft.com/office/drawing/2014/main" val="20004"/>
                    </a:ext>
                  </a:extLst>
                </a:gridCol>
                <a:gridCol w="930992">
                  <a:extLst>
                    <a:ext uri="{9D8B030D-6E8A-4147-A177-3AD203B41FA5}">
                      <a16:colId xmlns:a16="http://schemas.microsoft.com/office/drawing/2014/main" val="2698876094"/>
                    </a:ext>
                  </a:extLst>
                </a:gridCol>
              </a:tblGrid>
              <a:tr h="457200">
                <a:tc>
                  <a:txBody>
                    <a:bodyPr/>
                    <a:lstStyle/>
                    <a:p>
                      <a:pPr algn="l" rtl="0" fontAlgn="b"/>
                      <a:r>
                        <a:rPr lang="en-US" sz="12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457200">
                <a:tc>
                  <a:txBody>
                    <a:bodyPr/>
                    <a:lstStyle/>
                    <a:p>
                      <a:pPr algn="l" rtl="0" fontAlgn="ctr"/>
                      <a:r>
                        <a:rPr lang="en-US" sz="1300" b="0" i="0" u="none" strike="noStrike">
                          <a:solidFill>
                            <a:srgbClr val="000000"/>
                          </a:solidFill>
                          <a:effectLst/>
                          <a:latin typeface="Tahoma" panose="020B0604030504040204" pitchFamily="34" charset="0"/>
                        </a:rPr>
                        <a:t>Satisfied with work, no complaints </a:t>
                      </a:r>
                    </a:p>
                  </a:txBody>
                  <a:tcPr marR="9525" marT="9525" marB="0" anchor="ctr">
                    <a:solidFill>
                      <a:srgbClr val="DEE8F3"/>
                    </a:solidFill>
                  </a:tcPr>
                </a:tc>
                <a:tc>
                  <a:txBody>
                    <a:bodyPr/>
                    <a:lstStyle/>
                    <a:p>
                      <a:pPr algn="ctr" rtl="0" fontAlgn="t"/>
                      <a:r>
                        <a:rPr lang="en-US" sz="1300" b="0" i="0" u="none" strike="noStrike">
                          <a:solidFill>
                            <a:srgbClr val="000000"/>
                          </a:solidFill>
                          <a:effectLst/>
                          <a:latin typeface="+mn-lt"/>
                        </a:rPr>
                        <a:t>6</a:t>
                      </a:r>
                    </a:p>
                  </a:txBody>
                  <a:tcPr marL="9525" marR="9525" marT="9525" marB="0" anchor="ctr">
                    <a:solidFill>
                      <a:srgbClr val="DEE8F3"/>
                    </a:solidFill>
                  </a:tcPr>
                </a:tc>
                <a:tc>
                  <a:txBody>
                    <a:bodyPr/>
                    <a:lstStyle/>
                    <a:p>
                      <a:pPr algn="ctr" rtl="0" fontAlgn="t"/>
                      <a:r>
                        <a:rPr lang="en-US" sz="1300" b="0" i="0" u="none" strike="noStrike">
                          <a:solidFill>
                            <a:srgbClr val="000000"/>
                          </a:solidFill>
                          <a:effectLst/>
                          <a:latin typeface="+mn-lt"/>
                        </a:rPr>
                        <a:t>23</a:t>
                      </a:r>
                    </a:p>
                  </a:txBody>
                  <a:tcPr marL="9525" marR="9525" marT="9525" marB="0" anchor="ctr">
                    <a:solidFill>
                      <a:srgbClr val="DEE8F3"/>
                    </a:solidFill>
                  </a:tcPr>
                </a:tc>
                <a:tc>
                  <a:txBody>
                    <a:bodyPr/>
                    <a:lstStyle/>
                    <a:p>
                      <a:pPr algn="ctr" rtl="0" fontAlgn="t"/>
                      <a:r>
                        <a:rPr lang="en-US" sz="1300" b="0" i="0" u="none" strike="noStrike">
                          <a:solidFill>
                            <a:srgbClr val="000000"/>
                          </a:solidFill>
                          <a:effectLst/>
                          <a:latin typeface="+mn-lt"/>
                        </a:rPr>
                        <a:t>9</a:t>
                      </a:r>
                    </a:p>
                  </a:txBody>
                  <a:tcPr marL="9525" marR="9525" marT="9525" marB="0" anchor="ctr">
                    <a:solidFill>
                      <a:srgbClr val="DEE8F3"/>
                    </a:solidFill>
                  </a:tcPr>
                </a:tc>
                <a:tc>
                  <a:txBody>
                    <a:bodyPr/>
                    <a:lstStyle/>
                    <a:p>
                      <a:pPr algn="ctr" rtl="0" fontAlgn="t"/>
                      <a:r>
                        <a:rPr lang="en-US" sz="1300" b="0" i="0" u="none" strike="noStrike">
                          <a:solidFill>
                            <a:srgbClr val="000000"/>
                          </a:solidFill>
                          <a:effectLst/>
                          <a:latin typeface="+mn-lt"/>
                        </a:rPr>
                        <a:t>8</a:t>
                      </a:r>
                    </a:p>
                  </a:txBody>
                  <a:tcPr marL="9525" marR="9525" marT="9525" marB="0" anchor="ctr">
                    <a:solidFill>
                      <a:srgbClr val="DEE8F3"/>
                    </a:solidFill>
                  </a:tcPr>
                </a:tc>
                <a:extLst>
                  <a:ext uri="{0D108BD9-81ED-4DB2-BD59-A6C34878D82A}">
                    <a16:rowId xmlns:a16="http://schemas.microsoft.com/office/drawing/2014/main" val="583634849"/>
                  </a:ext>
                </a:extLst>
              </a:tr>
              <a:tr h="457200">
                <a:tc>
                  <a:txBody>
                    <a:bodyPr/>
                    <a:lstStyle/>
                    <a:p>
                      <a:pPr algn="l" rtl="0" fontAlgn="ctr"/>
                      <a:r>
                        <a:rPr lang="en-US" sz="1300" b="0" i="0" u="none" strike="noStrike">
                          <a:solidFill>
                            <a:srgbClr val="000000"/>
                          </a:solidFill>
                          <a:effectLst/>
                          <a:latin typeface="Tahoma" panose="020B0604030504040204" pitchFamily="34" charset="0"/>
                        </a:rPr>
                        <a:t>Nothing/no changes</a:t>
                      </a:r>
                    </a:p>
                  </a:txBody>
                  <a:tcPr marR="9525" marT="9525" marB="0" anchor="ctr">
                    <a:solidFill>
                      <a:srgbClr val="DDE7F2"/>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6</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4</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4</a:t>
                      </a:r>
                    </a:p>
                  </a:txBody>
                  <a:tcPr marL="9525" marR="9525" marT="9525" marB="0" anchor="ctr">
                    <a:solidFill>
                      <a:srgbClr val="DDE7F2"/>
                    </a:solidFill>
                  </a:tcPr>
                </a:tc>
                <a:extLst>
                  <a:ext uri="{0D108BD9-81ED-4DB2-BD59-A6C34878D82A}">
                    <a16:rowId xmlns:a16="http://schemas.microsoft.com/office/drawing/2014/main" val="1757420798"/>
                  </a:ext>
                </a:extLst>
              </a:tr>
              <a:tr h="457200">
                <a:tc>
                  <a:txBody>
                    <a:bodyPr/>
                    <a:lstStyle/>
                    <a:p>
                      <a:pPr algn="l" rtl="0" fontAlgn="t"/>
                      <a:r>
                        <a:rPr lang="en-US" sz="1300" b="0" i="0" u="none" strike="noStrike">
                          <a:solidFill>
                            <a:srgbClr val="000000"/>
                          </a:solidFill>
                          <a:effectLst/>
                          <a:latin typeface="Tahoma" panose="020B0604030504040204" pitchFamily="34" charset="0"/>
                        </a:rPr>
                        <a:t>Patient, kind, nice, friendly, caring, polite employee</a:t>
                      </a:r>
                    </a:p>
                  </a:txBody>
                  <a:tcPr marR="9525" marT="9525" marB="0" anchor="ctr">
                    <a:solidFill>
                      <a:srgbClr val="DDE7F2"/>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7</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3</a:t>
                      </a:r>
                    </a:p>
                  </a:txBody>
                  <a:tcPr marL="9525" marR="9525" marT="9525" marB="0" anchor="ctr">
                    <a:solidFill>
                      <a:srgbClr val="DDE7F2"/>
                    </a:solidFill>
                  </a:tcPr>
                </a:tc>
                <a:tc>
                  <a:txBody>
                    <a:bodyPr/>
                    <a:lstStyle/>
                    <a:p>
                      <a:pPr algn="ctr" rtl="0" fontAlgn="t"/>
                      <a:r>
                        <a:rPr lang="en-US" sz="1300" b="0" i="0" u="none" strike="noStrike">
                          <a:solidFill>
                            <a:srgbClr val="000000"/>
                          </a:solidFill>
                          <a:effectLst/>
                          <a:latin typeface="+mn-lt"/>
                        </a:rPr>
                        <a:t>7</a:t>
                      </a:r>
                    </a:p>
                  </a:txBody>
                  <a:tcPr marL="9525" marR="9525" marT="9525" marB="0" anchor="ctr">
                    <a:solidFill>
                      <a:srgbClr val="DDE7F2"/>
                    </a:solidFill>
                  </a:tcPr>
                </a:tc>
                <a:extLst>
                  <a:ext uri="{0D108BD9-81ED-4DB2-BD59-A6C34878D82A}">
                    <a16:rowId xmlns:a16="http://schemas.microsoft.com/office/drawing/2014/main" val="1543039307"/>
                  </a:ext>
                </a:extLst>
              </a:tr>
              <a:tr h="328343">
                <a:tc>
                  <a:txBody>
                    <a:bodyPr/>
                    <a:lstStyle/>
                    <a:p>
                      <a:pPr algn="l" rtl="0" fontAlgn="t"/>
                      <a:r>
                        <a:rPr lang="en-US" sz="1300" b="0" i="0" u="none" strike="noStrike">
                          <a:solidFill>
                            <a:srgbClr val="000000"/>
                          </a:solidFill>
                          <a:effectLst/>
                          <a:latin typeface="Tahoma" panose="020B0604030504040204" pitchFamily="34" charset="0"/>
                        </a:rPr>
                        <a:t>Professional</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6</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3</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5</a:t>
                      </a:r>
                    </a:p>
                  </a:txBody>
                  <a:tcPr marL="9525" marR="9525" marT="9525" marB="0" anchor="ctr">
                    <a:solidFill>
                      <a:srgbClr val="DCE6F1"/>
                    </a:solidFill>
                  </a:tcPr>
                </a:tc>
                <a:extLst>
                  <a:ext uri="{0D108BD9-81ED-4DB2-BD59-A6C34878D82A}">
                    <a16:rowId xmlns:a16="http://schemas.microsoft.com/office/drawing/2014/main" val="1782520871"/>
                  </a:ext>
                </a:extLst>
              </a:tr>
              <a:tr h="328343">
                <a:tc>
                  <a:txBody>
                    <a:bodyPr/>
                    <a:lstStyle/>
                    <a:p>
                      <a:pPr algn="l" rtl="0" fontAlgn="ctr"/>
                      <a:r>
                        <a:rPr lang="en-US" sz="1300" b="0" i="0" u="none" strike="noStrike">
                          <a:solidFill>
                            <a:srgbClr val="000000"/>
                          </a:solidFill>
                          <a:effectLst/>
                          <a:latin typeface="Tahoma" panose="020B0604030504040204" pitchFamily="34" charset="0"/>
                        </a:rPr>
                        <a:t>Quick, punctual</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3</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2</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2</a:t>
                      </a:r>
                    </a:p>
                  </a:txBody>
                  <a:tcPr marL="9525" marR="9525" marT="9525" marB="0" anchor="ctr">
                    <a:solidFill>
                      <a:srgbClr val="DCE6F1"/>
                    </a:solidFill>
                  </a:tcPr>
                </a:tc>
                <a:extLst>
                  <a:ext uri="{0D108BD9-81ED-4DB2-BD59-A6C34878D82A}">
                    <a16:rowId xmlns:a16="http://schemas.microsoft.com/office/drawing/2014/main" val="3005387302"/>
                  </a:ext>
                </a:extLst>
              </a:tr>
              <a:tr h="328343">
                <a:tc>
                  <a:txBody>
                    <a:bodyPr/>
                    <a:lstStyle/>
                    <a:p>
                      <a:pPr algn="l" rtl="0" fontAlgn="t"/>
                      <a:r>
                        <a:rPr lang="en-US" sz="1300" b="0" i="0" u="none" strike="noStrike">
                          <a:solidFill>
                            <a:srgbClr val="000000"/>
                          </a:solidFill>
                          <a:effectLst/>
                          <a:latin typeface="Tahoma" panose="020B0604030504040204" pitchFamily="34" charset="0"/>
                        </a:rPr>
                        <a:t>Did not leave area clean</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2</a:t>
                      </a:r>
                    </a:p>
                  </a:txBody>
                  <a:tcPr marL="9525" marR="9525" marT="9525" marB="0" anchor="ctr">
                    <a:solidFill>
                      <a:srgbClr val="DCE6F1"/>
                    </a:solidFill>
                  </a:tcPr>
                </a:tc>
                <a:extLst>
                  <a:ext uri="{0D108BD9-81ED-4DB2-BD59-A6C34878D82A}">
                    <a16:rowId xmlns:a16="http://schemas.microsoft.com/office/drawing/2014/main" val="2938350649"/>
                  </a:ext>
                </a:extLst>
              </a:tr>
              <a:tr h="328343">
                <a:tc>
                  <a:txBody>
                    <a:bodyPr/>
                    <a:lstStyle/>
                    <a:p>
                      <a:pPr algn="l" rtl="0" fontAlgn="ctr"/>
                      <a:r>
                        <a:rPr lang="en-US" sz="1300" b="0" i="0" u="none" strike="noStrike">
                          <a:solidFill>
                            <a:srgbClr val="000000"/>
                          </a:solidFill>
                          <a:effectLst/>
                          <a:latin typeface="Tahoma" panose="020B0604030504040204" pitchFamily="34" charset="0"/>
                        </a:rPr>
                        <a:t>They should talk to homeowner</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 </a:t>
                      </a:r>
                    </a:p>
                  </a:txBody>
                  <a:tcPr marL="9525" marR="9525" marT="9525" marB="0" anchor="ctr">
                    <a:solidFill>
                      <a:srgbClr val="DCE6F1"/>
                    </a:solidFill>
                  </a:tcPr>
                </a:tc>
                <a:extLst>
                  <a:ext uri="{0D108BD9-81ED-4DB2-BD59-A6C34878D82A}">
                    <a16:rowId xmlns:a16="http://schemas.microsoft.com/office/drawing/2014/main" val="1888271279"/>
                  </a:ext>
                </a:extLst>
              </a:tr>
              <a:tr h="328343">
                <a:tc>
                  <a:txBody>
                    <a:bodyPr/>
                    <a:lstStyle/>
                    <a:p>
                      <a:pPr algn="l" rtl="0" fontAlgn="t"/>
                      <a:r>
                        <a:rPr lang="en-US" sz="1300" b="0" i="0" u="none" strike="noStrike">
                          <a:solidFill>
                            <a:srgbClr val="000000"/>
                          </a:solidFill>
                          <a:effectLst/>
                          <a:latin typeface="Tahoma" panose="020B0604030504040204" pitchFamily="34" charset="0"/>
                        </a:rPr>
                        <a:t>Provided helpful information, knowledgeable</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2</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3</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6</a:t>
                      </a:r>
                    </a:p>
                  </a:txBody>
                  <a:tcPr marL="9525" marR="9525" marT="9525" marB="0" anchor="ctr">
                    <a:solidFill>
                      <a:srgbClr val="DCE6F1"/>
                    </a:solidFill>
                  </a:tcPr>
                </a:tc>
                <a:extLst>
                  <a:ext uri="{0D108BD9-81ED-4DB2-BD59-A6C34878D82A}">
                    <a16:rowId xmlns:a16="http://schemas.microsoft.com/office/drawing/2014/main" val="2539509554"/>
                  </a:ext>
                </a:extLst>
              </a:tr>
              <a:tr h="328343">
                <a:tc>
                  <a:txBody>
                    <a:bodyPr/>
                    <a:lstStyle/>
                    <a:p>
                      <a:pPr algn="l" rtl="0" fontAlgn="t"/>
                      <a:r>
                        <a:rPr lang="en-US" sz="1300" b="0" i="0" u="none" strike="noStrike">
                          <a:solidFill>
                            <a:srgbClr val="000000"/>
                          </a:solidFill>
                          <a:effectLst/>
                          <a:latin typeface="Tahoma" panose="020B0604030504040204" pitchFamily="34" charset="0"/>
                        </a:rPr>
                        <a:t>Appreciate program, service</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2070445705"/>
                  </a:ext>
                </a:extLst>
              </a:tr>
              <a:tr h="328343">
                <a:tc>
                  <a:txBody>
                    <a:bodyPr/>
                    <a:lstStyle/>
                    <a:p>
                      <a:pPr algn="l" rtl="0" fontAlgn="t"/>
                      <a:r>
                        <a:rPr lang="en-US" sz="1300" b="0" i="0" u="none" strike="noStrike">
                          <a:solidFill>
                            <a:srgbClr val="000000"/>
                          </a:solidFill>
                          <a:effectLst/>
                          <a:latin typeface="Tahoma" panose="020B0604030504040204" pitchFamily="34" charset="0"/>
                        </a:rPr>
                        <a:t>Incomplete job, items or issues not addressed</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extLst>
                  <a:ext uri="{0D108BD9-81ED-4DB2-BD59-A6C34878D82A}">
                    <a16:rowId xmlns:a16="http://schemas.microsoft.com/office/drawing/2014/main" val="705627683"/>
                  </a:ext>
                </a:extLst>
              </a:tr>
              <a:tr h="328343">
                <a:tc>
                  <a:txBody>
                    <a:bodyPr/>
                    <a:lstStyle/>
                    <a:p>
                      <a:pPr algn="l" rtl="0" fontAlgn="t"/>
                      <a:r>
                        <a:rPr lang="en-US" sz="1300" b="0" i="0" u="none" strike="noStrike">
                          <a:solidFill>
                            <a:srgbClr val="000000"/>
                          </a:solidFill>
                          <a:effectLst/>
                          <a:latin typeface="Tahoma" panose="020B0604030504040204" pitchFamily="34" charset="0"/>
                        </a:rPr>
                        <a:t>Cleaned up after themselves</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fontAlgn="b"/>
                      <a:r>
                        <a:rPr lang="en-US" sz="1300" b="0" i="0" u="none" strike="noStrike">
                          <a:solidFill>
                            <a:srgbClr val="000000"/>
                          </a:solidFill>
                          <a:effectLst/>
                          <a:latin typeface="+mn-lt"/>
                        </a:rPr>
                        <a:t>1</a:t>
                      </a:r>
                    </a:p>
                  </a:txBody>
                  <a:tcPr marL="9525" marR="9525" marT="9525" marB="0" anchor="ctr">
                    <a:solidFill>
                      <a:srgbClr val="DCE6F1"/>
                    </a:solidFill>
                  </a:tcPr>
                </a:tc>
                <a:extLst>
                  <a:ext uri="{0D108BD9-81ED-4DB2-BD59-A6C34878D82A}">
                    <a16:rowId xmlns:a16="http://schemas.microsoft.com/office/drawing/2014/main" val="2262713180"/>
                  </a:ext>
                </a:extLst>
              </a:tr>
              <a:tr h="328343">
                <a:tc>
                  <a:txBody>
                    <a:bodyPr/>
                    <a:lstStyle/>
                    <a:p>
                      <a:pPr algn="l" rtl="0" fontAlgn="ctr"/>
                      <a:r>
                        <a:rPr lang="en-US" sz="1300" b="0" i="0" u="none" strike="noStrike">
                          <a:solidFill>
                            <a:srgbClr val="000000"/>
                          </a:solidFill>
                          <a:effectLst/>
                          <a:latin typeface="Tahoma" panose="020B0604030504040204" pitchFamily="34" charset="0"/>
                        </a:rPr>
                        <a:t>Not knowledgeable/not done properly</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1063798215"/>
                  </a:ext>
                </a:extLst>
              </a:tr>
              <a:tr h="328343">
                <a:tc>
                  <a:txBody>
                    <a:bodyPr/>
                    <a:lstStyle/>
                    <a:p>
                      <a:pPr algn="l" rtl="0" fontAlgn="t"/>
                      <a:r>
                        <a:rPr lang="en-US" sz="1300" b="0" i="0" u="none" strike="noStrike">
                          <a:solidFill>
                            <a:srgbClr val="000000"/>
                          </a:solidFill>
                          <a:effectLst/>
                          <a:latin typeface="Tahoma" panose="020B0604030504040204" pitchFamily="34" charset="0"/>
                        </a:rPr>
                        <a:t>Good communication</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t"/>
                      <a:r>
                        <a:rPr lang="en-US" sz="1300" b="0" i="0" u="none" strike="noStrike">
                          <a:solidFill>
                            <a:srgbClr val="000000"/>
                          </a:solidFill>
                          <a:effectLst/>
                          <a:latin typeface="+mn-lt"/>
                        </a:rPr>
                        <a:t>1</a:t>
                      </a:r>
                    </a:p>
                  </a:txBody>
                  <a:tcPr marL="9525" marR="9525" marT="9525" marB="0" anchor="ctr">
                    <a:solidFill>
                      <a:srgbClr val="DCE6F1"/>
                    </a:solidFill>
                  </a:tcPr>
                </a:tc>
                <a:extLst>
                  <a:ext uri="{0D108BD9-81ED-4DB2-BD59-A6C34878D82A}">
                    <a16:rowId xmlns:a16="http://schemas.microsoft.com/office/drawing/2014/main" val="3290498375"/>
                  </a:ext>
                </a:extLst>
              </a:tr>
              <a:tr h="328343">
                <a:tc>
                  <a:txBody>
                    <a:bodyPr/>
                    <a:lstStyle/>
                    <a:p>
                      <a:pPr algn="l" rtl="0" fontAlgn="ctr"/>
                      <a:r>
                        <a:rPr lang="en-US" sz="1300" b="0" i="0" u="none" strike="noStrike">
                          <a:solidFill>
                            <a:srgbClr val="000000"/>
                          </a:solidFill>
                          <a:effectLst/>
                          <a:latin typeface="Tahoma" panose="020B0604030504040204" pitchFamily="34" charset="0"/>
                        </a:rPr>
                        <a:t>All other</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mn-lt"/>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mn-lt"/>
                        </a:rPr>
                        <a:t>2</a:t>
                      </a:r>
                    </a:p>
                  </a:txBody>
                  <a:tcPr marL="9525" marR="9525" marT="9525" marB="0" anchor="ctr">
                    <a:solidFill>
                      <a:srgbClr val="DCE6F1"/>
                    </a:solidFill>
                  </a:tcPr>
                </a:tc>
                <a:extLst>
                  <a:ext uri="{0D108BD9-81ED-4DB2-BD59-A6C34878D82A}">
                    <a16:rowId xmlns:a16="http://schemas.microsoft.com/office/drawing/2014/main" val="10009"/>
                  </a:ext>
                </a:extLst>
              </a:tr>
              <a:tr h="328343">
                <a:tc>
                  <a:txBody>
                    <a:bodyPr/>
                    <a:lstStyle/>
                    <a:p>
                      <a:pPr algn="l" rtl="0" fontAlgn="ctr"/>
                      <a:r>
                        <a:rPr lang="en-US" sz="13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50</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918021849"/>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graphicFrame>
        <p:nvGraphicFramePr>
          <p:cNvPr id="6" name="Table 5"/>
          <p:cNvGraphicFramePr>
            <a:graphicFrameLocks noGrp="1"/>
          </p:cNvGraphicFramePr>
          <p:nvPr>
            <p:extLst>
              <p:ext uri="{D42A27DB-BD31-4B8C-83A1-F6EECF244321}">
                <p14:modId xmlns:p14="http://schemas.microsoft.com/office/powerpoint/2010/main" val="285853938"/>
              </p:ext>
            </p:extLst>
          </p:nvPr>
        </p:nvGraphicFramePr>
        <p:xfrm>
          <a:off x="514654" y="1981200"/>
          <a:ext cx="5714692" cy="3992072"/>
        </p:xfrm>
        <a:graphic>
          <a:graphicData uri="http://schemas.openxmlformats.org/drawingml/2006/table">
            <a:tbl>
              <a:tblPr firstRow="1" lastRow="1">
                <a:tableStyleId>{93296810-A885-4BE3-A3E7-6D5BEEA58F35}</a:tableStyleId>
              </a:tblPr>
              <a:tblGrid>
                <a:gridCol w="2328208">
                  <a:extLst>
                    <a:ext uri="{9D8B030D-6E8A-4147-A177-3AD203B41FA5}">
                      <a16:colId xmlns:a16="http://schemas.microsoft.com/office/drawing/2014/main" val="20000"/>
                    </a:ext>
                  </a:extLst>
                </a:gridCol>
                <a:gridCol w="846621">
                  <a:extLst>
                    <a:ext uri="{9D8B030D-6E8A-4147-A177-3AD203B41FA5}">
                      <a16:colId xmlns:a16="http://schemas.microsoft.com/office/drawing/2014/main" val="3459671709"/>
                    </a:ext>
                  </a:extLst>
                </a:gridCol>
                <a:gridCol w="846621">
                  <a:extLst>
                    <a:ext uri="{9D8B030D-6E8A-4147-A177-3AD203B41FA5}">
                      <a16:colId xmlns:a16="http://schemas.microsoft.com/office/drawing/2014/main" val="20002"/>
                    </a:ext>
                  </a:extLst>
                </a:gridCol>
                <a:gridCol w="846621">
                  <a:extLst>
                    <a:ext uri="{9D8B030D-6E8A-4147-A177-3AD203B41FA5}">
                      <a16:colId xmlns:a16="http://schemas.microsoft.com/office/drawing/2014/main" val="20003"/>
                    </a:ext>
                  </a:extLst>
                </a:gridCol>
                <a:gridCol w="846621">
                  <a:extLst>
                    <a:ext uri="{9D8B030D-6E8A-4147-A177-3AD203B41FA5}">
                      <a16:colId xmlns:a16="http://schemas.microsoft.com/office/drawing/2014/main" val="2870613696"/>
                    </a:ext>
                  </a:extLst>
                </a:gridCol>
              </a:tblGrid>
              <a:tr h="457200">
                <a:tc>
                  <a:txBody>
                    <a:bodyPr/>
                    <a:lstStyle/>
                    <a:p>
                      <a:pPr algn="l"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71161">
                <a:tc>
                  <a:txBody>
                    <a:bodyPr/>
                    <a:lstStyle/>
                    <a:p>
                      <a:pPr algn="l" rtl="0" fontAlgn="ctr"/>
                      <a:r>
                        <a:rPr lang="en-US" sz="1300" b="0" i="0" u="none" strike="noStrike">
                          <a:solidFill>
                            <a:srgbClr val="000000"/>
                          </a:solidFill>
                          <a:effectLst/>
                          <a:latin typeface="Tahoma" panose="020B0604030504040204" pitchFamily="34" charset="0"/>
                        </a:rPr>
                        <a:t>Saving money on my utility bill</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34</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19</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30</a:t>
                      </a:r>
                    </a:p>
                  </a:txBody>
                  <a:tcPr marL="9525" marR="9525" marT="9525" marB="0" anchor="ctr">
                    <a:solidFill>
                      <a:srgbClr val="DCE6F1"/>
                    </a:solidFill>
                  </a:tcPr>
                </a:tc>
                <a:extLst>
                  <a:ext uri="{0D108BD9-81ED-4DB2-BD59-A6C34878D82A}">
                    <a16:rowId xmlns:a16="http://schemas.microsoft.com/office/drawing/2014/main" val="892133304"/>
                  </a:ext>
                </a:extLst>
              </a:tr>
              <a:tr h="371161">
                <a:tc>
                  <a:txBody>
                    <a:bodyPr/>
                    <a:lstStyle/>
                    <a:p>
                      <a:pPr algn="l" rtl="0" fontAlgn="ctr"/>
                      <a:r>
                        <a:rPr lang="en-US" sz="1300" b="0" i="0" u="none" strike="noStrike">
                          <a:solidFill>
                            <a:srgbClr val="000000"/>
                          </a:solidFill>
                          <a:effectLst/>
                          <a:latin typeface="Tahoma" panose="020B0604030504040204" pitchFamily="34" charset="0"/>
                        </a:rPr>
                        <a:t>Saving energy and/or water</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26</a:t>
                      </a:r>
                    </a:p>
                  </a:txBody>
                  <a:tcPr marL="9525" marR="9525" marT="9525" marB="0" anchor="ctr">
                    <a:solidFill>
                      <a:srgbClr val="DCE6F1"/>
                    </a:solidFill>
                  </a:tcPr>
                </a:tc>
                <a:extLst>
                  <a:ext uri="{0D108BD9-81ED-4DB2-BD59-A6C34878D82A}">
                    <a16:rowId xmlns:a16="http://schemas.microsoft.com/office/drawing/2014/main" val="3808832803"/>
                  </a:ext>
                </a:extLst>
              </a:tr>
              <a:tr h="371161">
                <a:tc>
                  <a:txBody>
                    <a:bodyPr/>
                    <a:lstStyle/>
                    <a:p>
                      <a:pPr algn="l" rtl="0" fontAlgn="ctr"/>
                      <a:r>
                        <a:rPr lang="en-US" sz="1300" b="0" i="0" u="none" strike="noStrike">
                          <a:solidFill>
                            <a:srgbClr val="000000"/>
                          </a:solidFill>
                          <a:effectLst/>
                          <a:latin typeface="Tahoma" panose="020B0604030504040204" pitchFamily="34" charset="0"/>
                        </a:rPr>
                        <a:t>Participating in/using renewable energy</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extLst>
                  <a:ext uri="{0D108BD9-81ED-4DB2-BD59-A6C34878D82A}">
                    <a16:rowId xmlns:a16="http://schemas.microsoft.com/office/drawing/2014/main" val="1504449725"/>
                  </a:ext>
                </a:extLst>
              </a:tr>
              <a:tr h="371161">
                <a:tc>
                  <a:txBody>
                    <a:bodyPr/>
                    <a:lstStyle/>
                    <a:p>
                      <a:pPr algn="l" rtl="0" fontAlgn="ctr"/>
                      <a:r>
                        <a:rPr lang="en-US" sz="1300" b="0" i="0" u="none" strike="noStrike">
                          <a:solidFill>
                            <a:srgbClr val="000000"/>
                          </a:solidFill>
                          <a:effectLst/>
                          <a:latin typeface="Tahoma" panose="020B0604030504040204" pitchFamily="34" charset="0"/>
                        </a:rPr>
                        <a:t>Using less energy and/or water</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25</a:t>
                      </a:r>
                    </a:p>
                  </a:txBody>
                  <a:tcPr marL="9525" marR="9525" marT="9525" marB="0" anchor="ctr">
                    <a:solidFill>
                      <a:srgbClr val="DCE6F1"/>
                    </a:solidFill>
                  </a:tcPr>
                </a:tc>
                <a:extLst>
                  <a:ext uri="{0D108BD9-81ED-4DB2-BD59-A6C34878D82A}">
                    <a16:rowId xmlns:a16="http://schemas.microsoft.com/office/drawing/2014/main" val="1368525732"/>
                  </a:ext>
                </a:extLst>
              </a:tr>
              <a:tr h="371161">
                <a:tc>
                  <a:txBody>
                    <a:bodyPr/>
                    <a:lstStyle/>
                    <a:p>
                      <a:pPr algn="l" rtl="0" fontAlgn="ctr"/>
                      <a:r>
                        <a:rPr lang="en-US" sz="1300" b="0" i="0" u="none" strike="noStrike">
                          <a:solidFill>
                            <a:srgbClr val="000000"/>
                          </a:solidFill>
                          <a:effectLst/>
                          <a:latin typeface="Tahoma" panose="020B0604030504040204" pitchFamily="34" charset="0"/>
                        </a:rPr>
                        <a:t>Knowing I am doing my part for the planet</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26</a:t>
                      </a:r>
                    </a:p>
                  </a:txBody>
                  <a:tcPr marL="9525" marR="9525" marT="9525" marB="0" anchor="ctr">
                    <a:solidFill>
                      <a:srgbClr val="DCE6F1"/>
                    </a:solidFill>
                  </a:tcPr>
                </a:tc>
                <a:extLst>
                  <a:ext uri="{0D108BD9-81ED-4DB2-BD59-A6C34878D82A}">
                    <a16:rowId xmlns:a16="http://schemas.microsoft.com/office/drawing/2014/main" val="3767035061"/>
                  </a:ext>
                </a:extLst>
              </a:tr>
              <a:tr h="371161">
                <a:tc>
                  <a:txBody>
                    <a:bodyPr/>
                    <a:lstStyle/>
                    <a:p>
                      <a:pPr algn="l" rtl="0" fontAlgn="ctr"/>
                      <a:r>
                        <a:rPr lang="en-US" sz="1300" b="0" i="0" u="none" strike="noStrike">
                          <a:solidFill>
                            <a:srgbClr val="000000"/>
                          </a:solidFill>
                          <a:effectLst/>
                          <a:latin typeface="Tahoma" panose="020B0604030504040204" pitchFamily="34" charset="0"/>
                        </a:rPr>
                        <a:t>Feeling more comfortable in my home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extLst>
                  <a:ext uri="{0D108BD9-81ED-4DB2-BD59-A6C34878D82A}">
                    <a16:rowId xmlns:a16="http://schemas.microsoft.com/office/drawing/2014/main" val="1265294911"/>
                  </a:ext>
                </a:extLst>
              </a:tr>
              <a:tr h="371161">
                <a:tc>
                  <a:txBody>
                    <a:bodyPr/>
                    <a:lstStyle/>
                    <a:p>
                      <a:pPr algn="l" rtl="0" fontAlgn="ctr"/>
                      <a:r>
                        <a:rPr lang="en-US" sz="1300" b="0" i="0" u="none" strike="noStrike">
                          <a:solidFill>
                            <a:srgbClr val="000000"/>
                          </a:solidFill>
                          <a:effectLst/>
                          <a:latin typeface="Tahoma" panose="020B0604030504040204" pitchFamily="34" charset="0"/>
                        </a:rPr>
                        <a:t>Setting my thermostat at a higher temperature</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15</a:t>
                      </a:r>
                    </a:p>
                  </a:txBody>
                  <a:tcPr marL="9525" marR="9525" marT="9525" marB="0" anchor="ctr">
                    <a:solidFill>
                      <a:srgbClr val="DCE6F1"/>
                    </a:solidFill>
                  </a:tcPr>
                </a:tc>
                <a:extLst>
                  <a:ext uri="{0D108BD9-81ED-4DB2-BD59-A6C34878D82A}">
                    <a16:rowId xmlns:a16="http://schemas.microsoft.com/office/drawing/2014/main" val="10007"/>
                  </a:ext>
                </a:extLst>
              </a:tr>
              <a:tr h="371161">
                <a:tc>
                  <a:txBody>
                    <a:bodyPr/>
                    <a:lstStyle/>
                    <a:p>
                      <a:pPr algn="l" rtl="0" fontAlgn="ctr"/>
                      <a:r>
                        <a:rPr lang="en-US" sz="1300" b="0" i="0" u="none" strike="noStrike">
                          <a:solidFill>
                            <a:srgbClr val="000000"/>
                          </a:solidFill>
                          <a:effectLst/>
                          <a:latin typeface="Tahoma" panose="020B0604030504040204" pitchFamily="34" charset="0"/>
                        </a:rPr>
                        <a:t>All other</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b">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3</a:t>
                      </a:r>
                    </a:p>
                  </a:txBody>
                  <a:tcPr marL="9525" marR="9525" marT="9525" marB="0" anchor="b">
                    <a:solidFill>
                      <a:srgbClr val="DCE6F1"/>
                    </a:solidFill>
                  </a:tcPr>
                </a:tc>
                <a:extLst>
                  <a:ext uri="{0D108BD9-81ED-4DB2-BD59-A6C34878D82A}">
                    <a16:rowId xmlns:a16="http://schemas.microsoft.com/office/drawing/2014/main" val="2889111066"/>
                  </a:ext>
                </a:extLst>
              </a:tr>
              <a:tr h="357960">
                <a:tc>
                  <a:txBody>
                    <a:bodyPr/>
                    <a:lstStyle/>
                    <a:p>
                      <a:pPr algn="l" rtl="0" fontAlgn="ctr"/>
                      <a:r>
                        <a:rPr lang="en-US" sz="13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12"/>
                  </a:ext>
                </a:extLst>
              </a:tr>
            </a:tbl>
          </a:graphicData>
        </a:graphic>
      </p:graphicFrame>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448146545"/>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 name="Table 1"/>
          <p:cNvGraphicFramePr>
            <a:graphicFrameLocks noGrp="1"/>
          </p:cNvGraphicFramePr>
          <p:nvPr>
            <p:extLst>
              <p:ext uri="{D42A27DB-BD31-4B8C-83A1-F6EECF244321}">
                <p14:modId xmlns:p14="http://schemas.microsoft.com/office/powerpoint/2010/main" val="1233531095"/>
              </p:ext>
            </p:extLst>
          </p:nvPr>
        </p:nvGraphicFramePr>
        <p:xfrm>
          <a:off x="381000" y="1086583"/>
          <a:ext cx="6172201" cy="7011815"/>
        </p:xfrm>
        <a:graphic>
          <a:graphicData uri="http://schemas.openxmlformats.org/drawingml/2006/table">
            <a:tbl>
              <a:tblPr firstRow="1" lastRow="1">
                <a:tableStyleId>{5C22544A-7EE6-4342-B048-85BDC9FD1C3A}</a:tableStyleId>
              </a:tblPr>
              <a:tblGrid>
                <a:gridCol w="2192756">
                  <a:extLst>
                    <a:ext uri="{9D8B030D-6E8A-4147-A177-3AD203B41FA5}">
                      <a16:colId xmlns:a16="http://schemas.microsoft.com/office/drawing/2014/main" val="20000"/>
                    </a:ext>
                  </a:extLst>
                </a:gridCol>
                <a:gridCol w="893345">
                  <a:extLst>
                    <a:ext uri="{9D8B030D-6E8A-4147-A177-3AD203B41FA5}">
                      <a16:colId xmlns:a16="http://schemas.microsoft.com/office/drawing/2014/main" val="20002"/>
                    </a:ext>
                  </a:extLst>
                </a:gridCol>
                <a:gridCol w="974558">
                  <a:extLst>
                    <a:ext uri="{9D8B030D-6E8A-4147-A177-3AD203B41FA5}">
                      <a16:colId xmlns:a16="http://schemas.microsoft.com/office/drawing/2014/main" val="20003"/>
                    </a:ext>
                  </a:extLst>
                </a:gridCol>
                <a:gridCol w="974558">
                  <a:extLst>
                    <a:ext uri="{9D8B030D-6E8A-4147-A177-3AD203B41FA5}">
                      <a16:colId xmlns:a16="http://schemas.microsoft.com/office/drawing/2014/main" val="20004"/>
                    </a:ext>
                  </a:extLst>
                </a:gridCol>
                <a:gridCol w="1136984">
                  <a:extLst>
                    <a:ext uri="{9D8B030D-6E8A-4147-A177-3AD203B41FA5}">
                      <a16:colId xmlns:a16="http://schemas.microsoft.com/office/drawing/2014/main" val="2269961492"/>
                    </a:ext>
                  </a:extLst>
                </a:gridCol>
              </a:tblGrid>
              <a:tr h="359812">
                <a:tc>
                  <a:txBody>
                    <a:bodyPr/>
                    <a:lstStyle/>
                    <a:p>
                      <a:pPr algn="l"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59812">
                <a:tc>
                  <a:txBody>
                    <a:bodyPr/>
                    <a:lstStyle/>
                    <a:p>
                      <a:pPr algn="l" rtl="0" fontAlgn="ctr"/>
                      <a:r>
                        <a:rPr lang="en-US" sz="1300" b="0" i="0" u="none" strike="noStrike">
                          <a:solidFill>
                            <a:srgbClr val="000000"/>
                          </a:solidFill>
                          <a:effectLst/>
                          <a:latin typeface="Tahoma" panose="020B0604030504040204" pitchFamily="34" charset="0"/>
                        </a:rPr>
                        <a:t>Replace windows</a:t>
                      </a:r>
                    </a:p>
                  </a:txBody>
                  <a:tcPr marR="9525" marT="9525" marB="0" anchor="ctr">
                    <a:solidFill>
                      <a:srgbClr val="DEE8F3"/>
                    </a:solidFill>
                  </a:tcPr>
                </a:tc>
                <a:tc>
                  <a:txBody>
                    <a:bodyPr/>
                    <a:lstStyle/>
                    <a:p>
                      <a:pPr algn="ctr" rtl="0" fontAlgn="t"/>
                      <a:r>
                        <a:rPr lang="en-US" sz="1300" b="0" i="0" u="none" strike="noStrike">
                          <a:solidFill>
                            <a:srgbClr val="000000"/>
                          </a:solidFill>
                          <a:effectLst/>
                          <a:latin typeface="Tahoma" panose="020B0604030504040204" pitchFamily="34" charset="0"/>
                        </a:rPr>
                        <a:t>4</a:t>
                      </a:r>
                    </a:p>
                  </a:txBody>
                  <a:tcPr marL="9525" marR="9525" marT="9525" marB="0" anchor="ctr">
                    <a:solidFill>
                      <a:srgbClr val="DEE8F3"/>
                    </a:solidFill>
                  </a:tcPr>
                </a:tc>
                <a:tc>
                  <a:txBody>
                    <a:bodyPr/>
                    <a:lstStyle/>
                    <a:p>
                      <a:pPr algn="ctr" rtl="0" fontAlgn="b"/>
                      <a:r>
                        <a:rPr lang="en-US" sz="1300" b="0" i="0" u="none" strike="noStrike">
                          <a:solidFill>
                            <a:srgbClr val="000000"/>
                          </a:solidFill>
                          <a:effectLst/>
                          <a:latin typeface="Tahoma" panose="020B0604030504040204" pitchFamily="34" charset="0"/>
                        </a:rPr>
                        <a:t>11</a:t>
                      </a:r>
                    </a:p>
                  </a:txBody>
                  <a:tcPr marL="9525" marR="9525" marT="9525" marB="0" anchor="ctr">
                    <a:solidFill>
                      <a:srgbClr val="DEE8F3"/>
                    </a:solidFill>
                  </a:tcPr>
                </a:tc>
                <a:tc>
                  <a:txBody>
                    <a:bodyPr/>
                    <a:lstStyle/>
                    <a:p>
                      <a:pPr algn="ctr" rtl="0" fontAlgn="b"/>
                      <a:r>
                        <a:rPr lang="en-US" sz="1300" b="0" i="0" u="none" strike="noStrike">
                          <a:solidFill>
                            <a:srgbClr val="000000"/>
                          </a:solidFill>
                          <a:effectLst/>
                          <a:latin typeface="Tahoma" panose="020B0604030504040204" pitchFamily="34" charset="0"/>
                        </a:rPr>
                        <a:t>2</a:t>
                      </a:r>
                    </a:p>
                  </a:txBody>
                  <a:tcPr marL="9525" marR="9525" marT="9525" marB="0" anchor="ctr">
                    <a:solidFill>
                      <a:srgbClr val="DEE8F3"/>
                    </a:solidFill>
                  </a:tcPr>
                </a:tc>
                <a:tc>
                  <a:txBody>
                    <a:bodyPr/>
                    <a:lstStyle/>
                    <a:p>
                      <a:pPr algn="ctr" rtl="0" fontAlgn="b"/>
                      <a:r>
                        <a:rPr lang="en-US" sz="1300" b="0" i="0" u="none" strike="noStrike">
                          <a:solidFill>
                            <a:srgbClr val="000000"/>
                          </a:solidFill>
                          <a:effectLst/>
                          <a:latin typeface="Tahoma" panose="020B0604030504040204" pitchFamily="34" charset="0"/>
                        </a:rPr>
                        <a:t>6</a:t>
                      </a:r>
                    </a:p>
                  </a:txBody>
                  <a:tcPr marL="9525" marR="9525" marT="9525" marB="0" anchor="ctr">
                    <a:solidFill>
                      <a:srgbClr val="DEE8F3"/>
                    </a:solidFill>
                  </a:tcPr>
                </a:tc>
                <a:extLst>
                  <a:ext uri="{0D108BD9-81ED-4DB2-BD59-A6C34878D82A}">
                    <a16:rowId xmlns:a16="http://schemas.microsoft.com/office/drawing/2014/main" val="2173363639"/>
                  </a:ext>
                </a:extLst>
              </a:tr>
              <a:tr h="359812">
                <a:tc>
                  <a:txBody>
                    <a:bodyPr/>
                    <a:lstStyle/>
                    <a:p>
                      <a:pPr algn="l" rtl="0" fontAlgn="ctr"/>
                      <a:r>
                        <a:rPr lang="en-US" sz="1300" b="0" i="0" u="none" strike="noStrike">
                          <a:solidFill>
                            <a:srgbClr val="000000"/>
                          </a:solidFill>
                          <a:effectLst/>
                          <a:latin typeface="Tahoma" panose="020B0604030504040204" pitchFamily="34" charset="0"/>
                        </a:rPr>
                        <a:t>Nothing/no suggestions</a:t>
                      </a:r>
                    </a:p>
                  </a:txBody>
                  <a:tcPr marR="9525" marT="9525" marB="0" anchor="ctr">
                    <a:solidFill>
                      <a:srgbClr val="DEE8F3"/>
                    </a:solidFill>
                  </a:tcPr>
                </a:tc>
                <a:tc>
                  <a:txBody>
                    <a:bodyPr/>
                    <a:lstStyle/>
                    <a:p>
                      <a:pPr algn="ctr" rtl="0" fontAlgn="t"/>
                      <a:r>
                        <a:rPr lang="en-US" sz="1300" b="0" i="0" u="none" strike="noStrike">
                          <a:solidFill>
                            <a:srgbClr val="000000"/>
                          </a:solidFill>
                          <a:effectLst/>
                          <a:latin typeface="Tahoma" panose="020B0604030504040204" pitchFamily="34" charset="0"/>
                        </a:rPr>
                        <a:t>1</a:t>
                      </a:r>
                    </a:p>
                  </a:txBody>
                  <a:tcPr marL="9525" marR="9525" marT="9525" marB="0" anchor="ctr">
                    <a:solidFill>
                      <a:srgbClr val="DEE8F3"/>
                    </a:solidFill>
                  </a:tcPr>
                </a:tc>
                <a:tc>
                  <a:txBody>
                    <a:bodyPr/>
                    <a:lstStyle/>
                    <a:p>
                      <a:pPr algn="ctr" rtl="0" fontAlgn="b"/>
                      <a:r>
                        <a:rPr lang="en-US" sz="1300" b="0" i="0" u="none" strike="noStrike">
                          <a:solidFill>
                            <a:srgbClr val="000000"/>
                          </a:solidFill>
                          <a:effectLst/>
                          <a:latin typeface="Tahoma" panose="020B0604030504040204" pitchFamily="34" charset="0"/>
                        </a:rPr>
                        <a:t>15</a:t>
                      </a:r>
                    </a:p>
                  </a:txBody>
                  <a:tcPr marL="9525" marR="9525" marT="9525" marB="0" anchor="ctr">
                    <a:solidFill>
                      <a:srgbClr val="DEE8F3"/>
                    </a:solidFill>
                  </a:tcPr>
                </a:tc>
                <a:tc>
                  <a:txBody>
                    <a:bodyPr/>
                    <a:lstStyle/>
                    <a:p>
                      <a:pPr algn="ctr" rtl="0" fontAlgn="b"/>
                      <a:r>
                        <a:rPr lang="en-US" sz="1300" b="0" i="0" u="none" strike="noStrike">
                          <a:solidFill>
                            <a:srgbClr val="000000"/>
                          </a:solidFill>
                          <a:effectLst/>
                          <a:latin typeface="Tahoma" panose="020B0604030504040204" pitchFamily="34" charset="0"/>
                        </a:rPr>
                        <a:t>5</a:t>
                      </a:r>
                    </a:p>
                  </a:txBody>
                  <a:tcPr marL="9525" marR="9525" marT="9525" marB="0" anchor="ctr">
                    <a:solidFill>
                      <a:srgbClr val="DEE8F3"/>
                    </a:solidFill>
                  </a:tcPr>
                </a:tc>
                <a:tc>
                  <a:txBody>
                    <a:bodyPr/>
                    <a:lstStyle/>
                    <a:p>
                      <a:pPr algn="ctr" rtl="0" fontAlgn="b"/>
                      <a:r>
                        <a:rPr lang="en-US" sz="1300" b="0" i="0" u="none" strike="noStrike">
                          <a:solidFill>
                            <a:srgbClr val="000000"/>
                          </a:solidFill>
                          <a:effectLst/>
                          <a:latin typeface="Tahoma" panose="020B0604030504040204" pitchFamily="34" charset="0"/>
                        </a:rPr>
                        <a:t>5</a:t>
                      </a:r>
                    </a:p>
                  </a:txBody>
                  <a:tcPr marL="9525" marR="9525" marT="9525" marB="0" anchor="ctr">
                    <a:solidFill>
                      <a:srgbClr val="DEE8F3"/>
                    </a:solidFill>
                  </a:tcPr>
                </a:tc>
                <a:extLst>
                  <a:ext uri="{0D108BD9-81ED-4DB2-BD59-A6C34878D82A}">
                    <a16:rowId xmlns:a16="http://schemas.microsoft.com/office/drawing/2014/main" val="1399447181"/>
                  </a:ext>
                </a:extLst>
              </a:tr>
              <a:tr h="359812">
                <a:tc>
                  <a:txBody>
                    <a:bodyPr/>
                    <a:lstStyle/>
                    <a:p>
                      <a:pPr algn="l" rtl="0" fontAlgn="ctr"/>
                      <a:r>
                        <a:rPr lang="en-US" sz="1300" b="0" i="0" u="none" strike="noStrike">
                          <a:solidFill>
                            <a:srgbClr val="000000"/>
                          </a:solidFill>
                          <a:effectLst/>
                          <a:latin typeface="Tahoma" panose="020B0604030504040204" pitchFamily="34" charset="0"/>
                        </a:rPr>
                        <a:t>Solar screens/panels</a:t>
                      </a:r>
                    </a:p>
                  </a:txBody>
                  <a:tcPr marR="9525" marT="9525" marB="0" anchor="ctr">
                    <a:solidFill>
                      <a:srgbClr val="DDE7F2"/>
                    </a:solidFill>
                  </a:tcPr>
                </a:tc>
                <a:tc>
                  <a:txBody>
                    <a:bodyPr/>
                    <a:lstStyle/>
                    <a:p>
                      <a:pPr algn="ctr" rtl="0" fontAlgn="t"/>
                      <a:r>
                        <a:rPr lang="en-US" sz="1300" b="0" i="0" u="none" strike="noStrike">
                          <a:solidFill>
                            <a:srgbClr val="000000"/>
                          </a:solidFill>
                          <a:effectLst/>
                          <a:latin typeface="Tahoma" panose="020B0604030504040204" pitchFamily="34" charset="0"/>
                        </a:rPr>
                        <a:t>1</a:t>
                      </a:r>
                    </a:p>
                  </a:txBody>
                  <a:tcPr marL="9525" marR="9525" marT="9525" marB="0" anchor="ctr">
                    <a:solidFill>
                      <a:srgbClr val="DDE7F2"/>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DE7F2"/>
                    </a:solidFill>
                  </a:tcPr>
                </a:tc>
                <a:tc>
                  <a:txBody>
                    <a:bodyPr/>
                    <a:lstStyle/>
                    <a:p>
                      <a:pPr algn="ctr" rtl="0" fontAlgn="b"/>
                      <a:r>
                        <a:rPr lang="en-US" sz="13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tc>
                  <a:txBody>
                    <a:bodyPr/>
                    <a:lstStyle/>
                    <a:p>
                      <a:pPr algn="ctr" rtl="0" fontAlgn="b"/>
                      <a:r>
                        <a:rPr lang="en-US" sz="13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2704980873"/>
                  </a:ext>
                </a:extLst>
              </a:tr>
              <a:tr h="366466">
                <a:tc>
                  <a:txBody>
                    <a:bodyPr/>
                    <a:lstStyle/>
                    <a:p>
                      <a:pPr algn="l" rtl="0" fontAlgn="t"/>
                      <a:r>
                        <a:rPr lang="en-US" sz="1300" b="0" i="0" u="none" strike="noStrike">
                          <a:solidFill>
                            <a:srgbClr val="000000"/>
                          </a:solidFill>
                          <a:effectLst/>
                          <a:latin typeface="Tahoma" panose="020B0604030504040204" pitchFamily="34" charset="0"/>
                        </a:rPr>
                        <a:t>Show ways to lower energy costs</a:t>
                      </a:r>
                    </a:p>
                  </a:txBody>
                  <a:tcPr marR="9525" marT="9525" marB="0">
                    <a:solidFill>
                      <a:srgbClr val="DDE7F2"/>
                    </a:solidFill>
                  </a:tcPr>
                </a:tc>
                <a:tc>
                  <a:txBody>
                    <a:bodyPr/>
                    <a:lstStyle/>
                    <a:p>
                      <a:pPr algn="ctr" rtl="0" fontAlgn="t"/>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DE7F2"/>
                    </a:solidFill>
                  </a:tcPr>
                </a:tc>
                <a:tc>
                  <a:txBody>
                    <a:bodyPr/>
                    <a:lstStyle/>
                    <a:p>
                      <a:pPr algn="ctr" rtl="0" fontAlgn="b"/>
                      <a:r>
                        <a:rPr lang="en-US" sz="13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2206356197"/>
                  </a:ext>
                </a:extLst>
              </a:tr>
              <a:tr h="291948">
                <a:tc>
                  <a:txBody>
                    <a:bodyPr/>
                    <a:lstStyle/>
                    <a:p>
                      <a:pPr algn="l" rtl="0" fontAlgn="ctr"/>
                      <a:r>
                        <a:rPr lang="en-US" sz="1300" b="0" i="0" u="none" strike="noStrike">
                          <a:solidFill>
                            <a:srgbClr val="000000"/>
                          </a:solidFill>
                          <a:effectLst/>
                          <a:latin typeface="Tahoma" panose="020B0604030504040204" pitchFamily="34" charset="0"/>
                        </a:rPr>
                        <a:t>Lower rates</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1933928347"/>
                  </a:ext>
                </a:extLst>
              </a:tr>
              <a:tr h="343091">
                <a:tc>
                  <a:txBody>
                    <a:bodyPr/>
                    <a:lstStyle/>
                    <a:p>
                      <a:pPr algn="l" rtl="0" fontAlgn="ctr"/>
                      <a:r>
                        <a:rPr lang="en-US" sz="1300" b="0" i="0" u="none" strike="noStrike">
                          <a:solidFill>
                            <a:srgbClr val="000000"/>
                          </a:solidFill>
                          <a:effectLst/>
                          <a:latin typeface="Tahoma" panose="020B0604030504040204" pitchFamily="34" charset="0"/>
                        </a:rPr>
                        <a:t>Provide insulation</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1760650777"/>
                  </a:ext>
                </a:extLst>
              </a:tr>
              <a:tr h="417389">
                <a:tc>
                  <a:txBody>
                    <a:bodyPr/>
                    <a:lstStyle/>
                    <a:p>
                      <a:pPr algn="l" rtl="0" fontAlgn="b"/>
                      <a:r>
                        <a:rPr lang="en-US" sz="1300" b="0" i="0" u="none" strike="noStrike">
                          <a:solidFill>
                            <a:srgbClr val="000000"/>
                          </a:solidFill>
                          <a:effectLst/>
                          <a:latin typeface="Tahoma" panose="020B0604030504040204" pitchFamily="34" charset="0"/>
                        </a:rPr>
                        <a:t>Replace, repair roof</a:t>
                      </a:r>
                    </a:p>
                  </a:txBody>
                  <a:tcPr marR="9525" marT="9525" marB="0" anchor="b">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699953785"/>
                  </a:ext>
                </a:extLst>
              </a:tr>
              <a:tr h="435446">
                <a:tc>
                  <a:txBody>
                    <a:bodyPr/>
                    <a:lstStyle/>
                    <a:p>
                      <a:pPr algn="l" rtl="0" fontAlgn="ctr"/>
                      <a:r>
                        <a:rPr lang="en-US" sz="1300" b="0" i="0" u="none" strike="noStrike">
                          <a:solidFill>
                            <a:srgbClr val="000000"/>
                          </a:solidFill>
                          <a:effectLst/>
                          <a:latin typeface="Tahoma" panose="020B0604030504040204" pitchFamily="34" charset="0"/>
                        </a:rPr>
                        <a:t>Bigger rebates, more rebates</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0 </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2933633366"/>
                  </a:ext>
                </a:extLst>
              </a:tr>
              <a:tr h="535521">
                <a:tc>
                  <a:txBody>
                    <a:bodyPr/>
                    <a:lstStyle/>
                    <a:p>
                      <a:pPr algn="l" rtl="0" fontAlgn="ctr"/>
                      <a:r>
                        <a:rPr lang="en-US" sz="1300" b="0" i="0" u="none" strike="noStrike">
                          <a:solidFill>
                            <a:srgbClr val="000000"/>
                          </a:solidFill>
                          <a:effectLst/>
                          <a:latin typeface="Tahoma" panose="020B0604030504040204" pitchFamily="34" charset="0"/>
                        </a:rPr>
                        <a:t>Replace appliances</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224247233"/>
                  </a:ext>
                </a:extLst>
              </a:tr>
              <a:tr h="405484">
                <a:tc>
                  <a:txBody>
                    <a:bodyPr/>
                    <a:lstStyle/>
                    <a:p>
                      <a:pPr algn="l" rtl="0" fontAlgn="t"/>
                      <a:r>
                        <a:rPr lang="en-US" sz="1300" b="0" i="0" u="none" strike="noStrike">
                          <a:solidFill>
                            <a:srgbClr val="000000"/>
                          </a:solidFill>
                          <a:effectLst/>
                          <a:latin typeface="Tahoma" panose="020B0604030504040204" pitchFamily="34" charset="0"/>
                        </a:rPr>
                        <a:t>Better quality materials</a:t>
                      </a:r>
                    </a:p>
                  </a:txBody>
                  <a:tcPr marR="9525" marT="9525" marB="0">
                    <a:solidFill>
                      <a:srgbClr val="DCE6F1"/>
                    </a:solidFill>
                  </a:tcPr>
                </a:tc>
                <a:tc>
                  <a:txBody>
                    <a:bodyPr/>
                    <a:lstStyle/>
                    <a:p>
                      <a:pPr algn="ctr" rtl="0" fontAlgn="t"/>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878544420"/>
                  </a:ext>
                </a:extLst>
              </a:tr>
              <a:tr h="326372">
                <a:tc>
                  <a:txBody>
                    <a:bodyPr/>
                    <a:lstStyle/>
                    <a:p>
                      <a:pPr algn="l" rtl="0" fontAlgn="b"/>
                      <a:r>
                        <a:rPr lang="en-US" sz="1300" b="0" i="0" u="none" strike="noStrike">
                          <a:solidFill>
                            <a:srgbClr val="000000"/>
                          </a:solidFill>
                          <a:effectLst/>
                          <a:latin typeface="Tahoma" panose="020B0604030504040204" pitchFamily="34" charset="0"/>
                        </a:rPr>
                        <a:t>Replace, repair doors</a:t>
                      </a:r>
                    </a:p>
                  </a:txBody>
                  <a:tcPr marR="9525" marT="9525" marB="0" anchor="b">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759597829"/>
                  </a:ext>
                </a:extLst>
              </a:tr>
              <a:tr h="405484">
                <a:tc>
                  <a:txBody>
                    <a:bodyPr/>
                    <a:lstStyle/>
                    <a:p>
                      <a:pPr algn="l" rtl="0" fontAlgn="ctr"/>
                      <a:r>
                        <a:rPr lang="en-US" sz="1300" b="0" i="0" u="none" strike="noStrike">
                          <a:solidFill>
                            <a:srgbClr val="000000"/>
                          </a:solidFill>
                          <a:effectLst/>
                          <a:latin typeface="Tahoma" panose="020B0604030504040204" pitchFamily="34" charset="0"/>
                        </a:rPr>
                        <a:t>Help provide more material (thermostat, etc.)</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 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09"/>
                  </a:ext>
                </a:extLst>
              </a:tr>
              <a:tr h="366466">
                <a:tc>
                  <a:txBody>
                    <a:bodyPr/>
                    <a:lstStyle/>
                    <a:p>
                      <a:pPr algn="l" rtl="0" fontAlgn="ctr"/>
                      <a:r>
                        <a:rPr lang="en-US" sz="1300" b="0" i="0" u="none" strike="noStrike">
                          <a:solidFill>
                            <a:srgbClr val="000000"/>
                          </a:solidFill>
                          <a:effectLst/>
                          <a:latin typeface="Tahoma" panose="020B0604030504040204" pitchFamily="34" charset="0"/>
                        </a:rPr>
                        <a:t>Repair non-energy efficiency related issues</a:t>
                      </a:r>
                    </a:p>
                  </a:txBody>
                  <a:tcPr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05"/>
                  </a:ext>
                </a:extLst>
              </a:tr>
              <a:tr h="366466">
                <a:tc>
                  <a:txBody>
                    <a:bodyPr/>
                    <a:lstStyle/>
                    <a:p>
                      <a:pPr algn="l" rtl="0" fontAlgn="t"/>
                      <a:r>
                        <a:rPr lang="en-US" sz="1300" b="0" i="0" u="none" strike="noStrike">
                          <a:solidFill>
                            <a:srgbClr val="000000"/>
                          </a:solidFill>
                          <a:effectLst/>
                          <a:latin typeface="Tahoma" panose="020B0604030504040204" pitchFamily="34" charset="0"/>
                        </a:rPr>
                        <a:t>Better quality workmanship, better quality repair</a:t>
                      </a:r>
                    </a:p>
                  </a:txBody>
                  <a:tcPr marR="9525" marT="9525" marB="0">
                    <a:solidFill>
                      <a:srgbClr val="DCE6F1"/>
                    </a:solidFill>
                  </a:tcPr>
                </a:tc>
                <a:tc>
                  <a:txBody>
                    <a:bodyPr/>
                    <a:lstStyle/>
                    <a:p>
                      <a:pPr algn="ctr" rtl="0" fontAlgn="t"/>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06"/>
                  </a:ext>
                </a:extLst>
              </a:tr>
              <a:tr h="291948">
                <a:tc>
                  <a:txBody>
                    <a:bodyPr/>
                    <a:lstStyle/>
                    <a:p>
                      <a:pPr algn="l" rtl="0" fontAlgn="ctr"/>
                      <a:r>
                        <a:rPr lang="en-US" sz="1300" b="0" i="0" u="none" strike="noStrike">
                          <a:solidFill>
                            <a:srgbClr val="000000"/>
                          </a:solidFill>
                          <a:effectLst/>
                          <a:latin typeface="Tahoma" panose="020B0604030504040204" pitchFamily="34" charset="0"/>
                        </a:rPr>
                        <a:t>Pay bill for me</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458681381"/>
                  </a:ext>
                </a:extLst>
              </a:tr>
              <a:tr h="291948">
                <a:tc>
                  <a:txBody>
                    <a:bodyPr/>
                    <a:lstStyle/>
                    <a:p>
                      <a:pPr algn="l" rtl="0" fontAlgn="ctr"/>
                      <a:r>
                        <a:rPr lang="en-US" sz="1300" b="0" i="0" u="none" strike="noStrike">
                          <a:solidFill>
                            <a:srgbClr val="000000"/>
                          </a:solidFill>
                          <a:effectLst/>
                          <a:latin typeface="Tahoma" panose="020B0604030504040204" pitchFamily="34" charset="0"/>
                        </a:rPr>
                        <a:t>Do not know, unsure</a:t>
                      </a:r>
                    </a:p>
                  </a:txBody>
                  <a:tcPr marR="9525" marT="9525" marB="0" anchor="ctr">
                    <a:solidFill>
                      <a:srgbClr val="DCE6F1"/>
                    </a:solidFill>
                  </a:tcPr>
                </a:tc>
                <a:tc>
                  <a:txBody>
                    <a:bodyPr/>
                    <a:lstStyle/>
                    <a:p>
                      <a:pPr algn="ctr" rtl="0" fontAlgn="t"/>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extLst>
                  <a:ext uri="{0D108BD9-81ED-4DB2-BD59-A6C34878D82A}">
                    <a16:rowId xmlns:a16="http://schemas.microsoft.com/office/drawing/2014/main" val="10007"/>
                  </a:ext>
                </a:extLst>
              </a:tr>
              <a:tr h="291948">
                <a:tc>
                  <a:txBody>
                    <a:bodyPr/>
                    <a:lstStyle/>
                    <a:p>
                      <a:pPr algn="l" rtl="0" fontAlgn="b"/>
                      <a:r>
                        <a:rPr lang="en-US" sz="1300" b="0" i="0" u="none" strike="noStrike">
                          <a:solidFill>
                            <a:srgbClr val="000000"/>
                          </a:solidFill>
                          <a:effectLst/>
                          <a:latin typeface="Tahoma" panose="020B0604030504040204" pitchFamily="34" charset="0"/>
                        </a:rPr>
                        <a:t>All other</a:t>
                      </a:r>
                    </a:p>
                  </a:txBody>
                  <a:tcPr marR="9525" marT="9525" marB="0" anchor="b">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4</a:t>
                      </a:r>
                    </a:p>
                  </a:txBody>
                  <a:tcPr marL="9525" marR="9525" marT="9525" marB="0" anchor="ctr">
                    <a:solidFill>
                      <a:srgbClr val="DCE6F1"/>
                    </a:solidFill>
                  </a:tcPr>
                </a:tc>
                <a:tc>
                  <a:txBody>
                    <a:bodyPr/>
                    <a:lstStyle/>
                    <a:p>
                      <a:pPr algn="ctr" rtl="0" fontAlgn="b"/>
                      <a:r>
                        <a:rPr lang="en-US" sz="13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4055152175"/>
                  </a:ext>
                </a:extLst>
              </a:tr>
              <a:tr h="318412">
                <a:tc>
                  <a:txBody>
                    <a:bodyPr/>
                    <a:lstStyle/>
                    <a:p>
                      <a:pPr algn="l" rtl="0" fontAlgn="ctr"/>
                      <a:r>
                        <a:rPr lang="en-US" sz="13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37790173"/>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graphicFrame>
        <p:nvGraphicFramePr>
          <p:cNvPr id="2" name="Table 1"/>
          <p:cNvGraphicFramePr>
            <a:graphicFrameLocks noGrp="1"/>
          </p:cNvGraphicFramePr>
          <p:nvPr>
            <p:extLst>
              <p:ext uri="{D42A27DB-BD31-4B8C-83A1-F6EECF244321}">
                <p14:modId xmlns:p14="http://schemas.microsoft.com/office/powerpoint/2010/main" val="3767780335"/>
              </p:ext>
            </p:extLst>
          </p:nvPr>
        </p:nvGraphicFramePr>
        <p:xfrm>
          <a:off x="514654" y="2133600"/>
          <a:ext cx="5886145" cy="3909988"/>
        </p:xfrm>
        <a:graphic>
          <a:graphicData uri="http://schemas.openxmlformats.org/drawingml/2006/table">
            <a:tbl>
              <a:tblPr firstRow="1" lastRow="1">
                <a:tableStyleId>{5C22544A-7EE6-4342-B048-85BDC9FD1C3A}</a:tableStyleId>
              </a:tblPr>
              <a:tblGrid>
                <a:gridCol w="1916870">
                  <a:extLst>
                    <a:ext uri="{9D8B030D-6E8A-4147-A177-3AD203B41FA5}">
                      <a16:colId xmlns:a16="http://schemas.microsoft.com/office/drawing/2014/main" val="20000"/>
                    </a:ext>
                  </a:extLst>
                </a:gridCol>
                <a:gridCol w="992319">
                  <a:extLst>
                    <a:ext uri="{9D8B030D-6E8A-4147-A177-3AD203B41FA5}">
                      <a16:colId xmlns:a16="http://schemas.microsoft.com/office/drawing/2014/main" val="20002"/>
                    </a:ext>
                  </a:extLst>
                </a:gridCol>
                <a:gridCol w="992319">
                  <a:extLst>
                    <a:ext uri="{9D8B030D-6E8A-4147-A177-3AD203B41FA5}">
                      <a16:colId xmlns:a16="http://schemas.microsoft.com/office/drawing/2014/main" val="20003"/>
                    </a:ext>
                  </a:extLst>
                </a:gridCol>
                <a:gridCol w="993932">
                  <a:extLst>
                    <a:ext uri="{9D8B030D-6E8A-4147-A177-3AD203B41FA5}">
                      <a16:colId xmlns:a16="http://schemas.microsoft.com/office/drawing/2014/main" val="20004"/>
                    </a:ext>
                  </a:extLst>
                </a:gridCol>
                <a:gridCol w="990705">
                  <a:extLst>
                    <a:ext uri="{9D8B030D-6E8A-4147-A177-3AD203B41FA5}">
                      <a16:colId xmlns:a16="http://schemas.microsoft.com/office/drawing/2014/main" val="2566572812"/>
                    </a:ext>
                  </a:extLst>
                </a:gridCol>
              </a:tblGrid>
              <a:tr h="561461">
                <a:tc>
                  <a:txBody>
                    <a:bodyPr/>
                    <a:lstStyle/>
                    <a:p>
                      <a:pPr algn="l"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561461">
                <a:tc>
                  <a:txBody>
                    <a:bodyPr/>
                    <a:lstStyle/>
                    <a:p>
                      <a:pPr algn="l" rtl="0" fontAlgn="ctr"/>
                      <a:r>
                        <a:rPr lang="en-US" sz="1300" b="0" i="0" u="none" strike="noStrike">
                          <a:solidFill>
                            <a:srgbClr val="000000"/>
                          </a:solidFill>
                          <a:effectLst/>
                          <a:latin typeface="Tahoma" panose="020B0604030504040204" pitchFamily="34" charset="0"/>
                        </a:rPr>
                        <a:t>Do not know, not familiar with program</a:t>
                      </a:r>
                    </a:p>
                  </a:txBody>
                  <a:tcPr marR="9525" marT="9525" marB="0" anchor="ctr">
                    <a:solidFill>
                      <a:srgbClr val="DEE8F3"/>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L="9525" marR="9525" marT="9525" marB="0" anchor="ctr">
                    <a:solidFill>
                      <a:srgbClr val="DEE8F3"/>
                    </a:solidFill>
                  </a:tcPr>
                </a:tc>
                <a:tc>
                  <a:txBody>
                    <a:bodyPr/>
                    <a:lstStyle/>
                    <a:p>
                      <a:pPr algn="ctr" rtl="0" fontAlgn="ctr"/>
                      <a:r>
                        <a:rPr lang="en-US" sz="1300" b="0" i="0" u="none" strike="noStrike">
                          <a:solidFill>
                            <a:srgbClr val="000000"/>
                          </a:solidFill>
                          <a:effectLst/>
                          <a:latin typeface="Tahoma" panose="020B0604030504040204" pitchFamily="34" charset="0"/>
                        </a:rPr>
                        <a:t>17</a:t>
                      </a:r>
                    </a:p>
                  </a:txBody>
                  <a:tcPr marL="9525" marR="9525" marT="9525" marB="0" anchor="ctr">
                    <a:solidFill>
                      <a:srgbClr val="DEE8F3"/>
                    </a:solidFill>
                  </a:tcPr>
                </a:tc>
                <a:tc>
                  <a:txBody>
                    <a:bodyPr/>
                    <a:lstStyle/>
                    <a:p>
                      <a:pPr algn="ctr" rtl="0" fontAlgn="ctr"/>
                      <a:r>
                        <a:rPr lang="en-US" sz="1300" b="0" i="0" u="none" strike="noStrike">
                          <a:solidFill>
                            <a:srgbClr val="000000"/>
                          </a:solidFill>
                          <a:effectLst/>
                          <a:latin typeface="Tahoma" panose="020B0604030504040204" pitchFamily="34" charset="0"/>
                        </a:rPr>
                        <a:t>8</a:t>
                      </a:r>
                    </a:p>
                  </a:txBody>
                  <a:tcPr marL="9525" marR="9525" marT="9525" marB="0" anchor="ctr">
                    <a:solidFill>
                      <a:srgbClr val="DEE8F3"/>
                    </a:solidFill>
                  </a:tcPr>
                </a:tc>
                <a:tc>
                  <a:txBody>
                    <a:bodyPr/>
                    <a:lstStyle/>
                    <a:p>
                      <a:pPr algn="ctr" rtl="0" fontAlgn="ctr"/>
                      <a:r>
                        <a:rPr lang="en-US" sz="1300" b="0" i="0" u="none" strike="noStrike">
                          <a:solidFill>
                            <a:srgbClr val="000000"/>
                          </a:solidFill>
                          <a:effectLst/>
                          <a:latin typeface="Tahoma" panose="020B0604030504040204" pitchFamily="34" charset="0"/>
                        </a:rPr>
                        <a:t>18</a:t>
                      </a:r>
                    </a:p>
                  </a:txBody>
                  <a:tcPr marL="9525" marR="9525" marT="9525" marB="0" anchor="ctr">
                    <a:solidFill>
                      <a:srgbClr val="DEE8F3"/>
                    </a:solidFill>
                  </a:tcPr>
                </a:tc>
                <a:extLst>
                  <a:ext uri="{0D108BD9-81ED-4DB2-BD59-A6C34878D82A}">
                    <a16:rowId xmlns:a16="http://schemas.microsoft.com/office/drawing/2014/main" val="513705872"/>
                  </a:ext>
                </a:extLst>
              </a:tr>
              <a:tr h="498297">
                <a:tc>
                  <a:txBody>
                    <a:bodyPr/>
                    <a:lstStyle/>
                    <a:p>
                      <a:pPr algn="l" rtl="0" fontAlgn="ctr"/>
                      <a:r>
                        <a:rPr lang="en-US" sz="1300" b="0" i="0" u="none" strike="noStrike">
                          <a:solidFill>
                            <a:srgbClr val="000000"/>
                          </a:solidFill>
                          <a:effectLst/>
                          <a:latin typeface="Tahoma" panose="020B0604030504040204" pitchFamily="34" charset="0"/>
                        </a:rPr>
                        <a:t>More communication, more information</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36350518"/>
                  </a:ext>
                </a:extLst>
              </a:tr>
              <a:tr h="498297">
                <a:tc>
                  <a:txBody>
                    <a:bodyPr/>
                    <a:lstStyle/>
                    <a:p>
                      <a:pPr algn="l" rtl="0" fontAlgn="ctr"/>
                      <a:r>
                        <a:rPr lang="en-US" sz="1300" b="0" i="0" u="none" strike="noStrike">
                          <a:solidFill>
                            <a:srgbClr val="000000"/>
                          </a:solidFill>
                          <a:effectLst/>
                          <a:latin typeface="Tahoma" panose="020B0604030504040204" pitchFamily="34" charset="0"/>
                        </a:rPr>
                        <a:t>Increase energy savings, lower bill</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4190213363"/>
                  </a:ext>
                </a:extLst>
              </a:tr>
              <a:tr h="498297">
                <a:tc>
                  <a:txBody>
                    <a:bodyPr/>
                    <a:lstStyle/>
                    <a:p>
                      <a:pPr algn="l" rtl="0" fontAlgn="ctr"/>
                      <a:r>
                        <a:rPr lang="en-US" sz="1300" b="0" i="0" u="none" strike="noStrike">
                          <a:solidFill>
                            <a:srgbClr val="000000"/>
                          </a:solidFill>
                          <a:effectLst/>
                          <a:latin typeface="Tahoma" panose="020B0604030504040204" pitchFamily="34" charset="0"/>
                        </a:rPr>
                        <a:t>Assistance with paying bill</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788132141"/>
                  </a:ext>
                </a:extLst>
              </a:tr>
              <a:tr h="498297">
                <a:tc>
                  <a:txBody>
                    <a:bodyPr/>
                    <a:lstStyle/>
                    <a:p>
                      <a:pPr algn="l" rtl="0" fontAlgn="ctr"/>
                      <a:r>
                        <a:rPr lang="en-US" sz="1300" b="0" i="0" u="none" strike="noStrike">
                          <a:solidFill>
                            <a:srgbClr val="000000"/>
                          </a:solidFill>
                          <a:effectLst/>
                          <a:latin typeface="Tahoma" panose="020B0604030504040204" pitchFamily="34" charset="0"/>
                        </a:rPr>
                        <a:t>Nothing, satisfied</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1268249362"/>
                  </a:ext>
                </a:extLst>
              </a:tr>
              <a:tr h="332090">
                <a:tc>
                  <a:txBody>
                    <a:bodyPr/>
                    <a:lstStyle/>
                    <a:p>
                      <a:pPr algn="l" rtl="0" fontAlgn="ctr"/>
                      <a:r>
                        <a:rPr lang="en-US" sz="1300" b="0" i="0" u="none" strike="noStrike">
                          <a:solidFill>
                            <a:srgbClr val="000000"/>
                          </a:solidFill>
                          <a:effectLst/>
                          <a:latin typeface="Tahoma" panose="020B0604030504040204" pitchFamily="34" charset="0"/>
                        </a:rPr>
                        <a:t>All other</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930011011"/>
                  </a:ext>
                </a:extLst>
              </a:tr>
              <a:tr h="461788">
                <a:tc>
                  <a:txBody>
                    <a:bodyPr/>
                    <a:lstStyle/>
                    <a:p>
                      <a:pPr algn="l" rtl="0" fontAlgn="ctr"/>
                      <a:r>
                        <a:rPr lang="en-US" sz="13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6</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20</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9</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22</a:t>
                      </a:r>
                    </a:p>
                  </a:txBody>
                  <a:tcPr marL="9525" marR="9525" marT="9525" marB="0" anchor="ctr">
                    <a:solidFill>
                      <a:srgbClr val="4F81BD"/>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45841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Communication Regarding Low Income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919611102"/>
              </p:ext>
            </p:extLst>
          </p:nvPr>
        </p:nvGraphicFramePr>
        <p:xfrm>
          <a:off x="14356" y="1371600"/>
          <a:ext cx="6843643" cy="662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841468582"/>
              </p:ext>
            </p:extLst>
          </p:nvPr>
        </p:nvGraphicFramePr>
        <p:xfrm>
          <a:off x="133" y="990600"/>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384144801"/>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 name="Table 1"/>
          <p:cNvGraphicFramePr>
            <a:graphicFrameLocks noGrp="1"/>
          </p:cNvGraphicFramePr>
          <p:nvPr>
            <p:extLst>
              <p:ext uri="{D42A27DB-BD31-4B8C-83A1-F6EECF244321}">
                <p14:modId xmlns:p14="http://schemas.microsoft.com/office/powerpoint/2010/main" val="2519968595"/>
              </p:ext>
            </p:extLst>
          </p:nvPr>
        </p:nvGraphicFramePr>
        <p:xfrm>
          <a:off x="304800" y="1958310"/>
          <a:ext cx="6324600" cy="4383588"/>
        </p:xfrm>
        <a:graphic>
          <a:graphicData uri="http://schemas.openxmlformats.org/drawingml/2006/table">
            <a:tbl>
              <a:tblPr firstRow="1" lastRow="1">
                <a:tableStyleId>{5C22544A-7EE6-4342-B048-85BDC9FD1C3A}</a:tableStyleId>
              </a:tblPr>
              <a:tblGrid>
                <a:gridCol w="2286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990600">
                  <a:extLst>
                    <a:ext uri="{9D8B030D-6E8A-4147-A177-3AD203B41FA5}">
                      <a16:colId xmlns:a16="http://schemas.microsoft.com/office/drawing/2014/main" val="953889752"/>
                    </a:ext>
                  </a:extLst>
                </a:gridCol>
              </a:tblGrid>
              <a:tr h="495114">
                <a:tc>
                  <a:txBody>
                    <a:bodyPr/>
                    <a:lstStyle/>
                    <a:p>
                      <a:pPr algn="l" rtl="0" fontAlgn="b"/>
                      <a:r>
                        <a:rPr lang="en-US" sz="1300" b="1" i="0" u="none" strike="noStrike">
                          <a:solidFill>
                            <a:srgbClr val="FFFFFF"/>
                          </a:solidFill>
                          <a:effectLst/>
                          <a:latin typeface="Tahoma" panose="020B0604030504040204" pitchFamily="34" charset="0"/>
                        </a:rPr>
                        <a:t> </a:t>
                      </a:r>
                    </a:p>
                  </a:txBody>
                  <a:tcPr marL="9525" marR="9525" marT="9525" marB="0" anchor="b">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576623">
                <a:tc>
                  <a:txBody>
                    <a:bodyPr/>
                    <a:lstStyle/>
                    <a:p>
                      <a:pPr algn="l" rtl="0" fontAlgn="ctr"/>
                      <a:r>
                        <a:rPr lang="en-US" sz="1300" b="0" i="0" u="none" strike="noStrike">
                          <a:solidFill>
                            <a:srgbClr val="000000"/>
                          </a:solidFill>
                          <a:effectLst/>
                          <a:latin typeface="Tahoma" panose="020B0604030504040204" pitchFamily="34" charset="0"/>
                        </a:rPr>
                        <a:t>Tips on reducing energy and water costs</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3</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8</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10</a:t>
                      </a:r>
                    </a:p>
                  </a:txBody>
                  <a:tcPr marL="9525" marR="9525" marT="9525" marB="0" anchor="ctr">
                    <a:solidFill>
                      <a:srgbClr val="DCE6F1"/>
                    </a:solidFill>
                  </a:tcPr>
                </a:tc>
                <a:extLst>
                  <a:ext uri="{0D108BD9-81ED-4DB2-BD59-A6C34878D82A}">
                    <a16:rowId xmlns:a16="http://schemas.microsoft.com/office/drawing/2014/main" val="174803507"/>
                  </a:ext>
                </a:extLst>
              </a:tr>
              <a:tr h="576623">
                <a:tc>
                  <a:txBody>
                    <a:bodyPr/>
                    <a:lstStyle/>
                    <a:p>
                      <a:pPr algn="l" rtl="0" fontAlgn="ctr"/>
                      <a:r>
                        <a:rPr lang="en-US" sz="1300" b="0" i="0" u="none" strike="noStrike">
                          <a:solidFill>
                            <a:srgbClr val="000000"/>
                          </a:solidFill>
                          <a:effectLst/>
                          <a:latin typeface="Tahoma" panose="020B0604030504040204" pitchFamily="34" charset="0"/>
                        </a:rPr>
                        <a:t>Any new programs or recaps of old programs</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6</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27</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8</a:t>
                      </a:r>
                    </a:p>
                  </a:txBody>
                  <a:tcPr marL="9525" marR="9525" marT="9525" marB="0" anchor="ctr">
                    <a:solidFill>
                      <a:srgbClr val="DCE6F1"/>
                    </a:solidFill>
                  </a:tcPr>
                </a:tc>
                <a:extLst>
                  <a:ext uri="{0D108BD9-81ED-4DB2-BD59-A6C34878D82A}">
                    <a16:rowId xmlns:a16="http://schemas.microsoft.com/office/drawing/2014/main" val="1560512973"/>
                  </a:ext>
                </a:extLst>
              </a:tr>
              <a:tr h="441819">
                <a:tc>
                  <a:txBody>
                    <a:bodyPr/>
                    <a:lstStyle/>
                    <a:p>
                      <a:pPr algn="l" rtl="0" fontAlgn="ctr"/>
                      <a:r>
                        <a:rPr lang="en-US" sz="1300" b="0" i="0" u="none" strike="noStrike">
                          <a:solidFill>
                            <a:srgbClr val="000000"/>
                          </a:solidFill>
                          <a:effectLst/>
                          <a:latin typeface="Tahoma" panose="020B0604030504040204" pitchFamily="34" charset="0"/>
                        </a:rPr>
                        <a:t>Do not know </a:t>
                      </a:r>
                    </a:p>
                  </a:txBody>
                  <a:tcPr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3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extLst>
                  <a:ext uri="{0D108BD9-81ED-4DB2-BD59-A6C34878D82A}">
                    <a16:rowId xmlns:a16="http://schemas.microsoft.com/office/drawing/2014/main" val="3879668846"/>
                  </a:ext>
                </a:extLst>
              </a:tr>
              <a:tr h="290115">
                <a:tc>
                  <a:txBody>
                    <a:bodyPr/>
                    <a:lstStyle/>
                    <a:p>
                      <a:pPr algn="l" rtl="0" fontAlgn="ctr"/>
                      <a:r>
                        <a:rPr lang="en-US" sz="1300" b="0" i="0" u="none" strike="noStrike">
                          <a:solidFill>
                            <a:srgbClr val="000000"/>
                          </a:solidFill>
                          <a:effectLst/>
                          <a:latin typeface="Tahoma" panose="020B0604030504040204" pitchFamily="34" charset="0"/>
                        </a:rPr>
                        <a:t>Power outages</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extLst>
                  <a:ext uri="{0D108BD9-81ED-4DB2-BD59-A6C34878D82A}">
                    <a16:rowId xmlns:a16="http://schemas.microsoft.com/office/drawing/2014/main" val="3000666848"/>
                  </a:ext>
                </a:extLst>
              </a:tr>
              <a:tr h="290115">
                <a:tc>
                  <a:txBody>
                    <a:bodyPr/>
                    <a:lstStyle/>
                    <a:p>
                      <a:pPr algn="l" rtl="0" fontAlgn="ctr"/>
                      <a:r>
                        <a:rPr lang="en-US" sz="1300" b="0" i="0" u="none" strike="noStrike">
                          <a:solidFill>
                            <a:srgbClr val="000000"/>
                          </a:solidFill>
                          <a:effectLst/>
                          <a:latin typeface="Tahoma" panose="020B0604030504040204" pitchFamily="34" charset="0"/>
                        </a:rPr>
                        <a:t>Usage information</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4</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3</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1425576171"/>
                  </a:ext>
                </a:extLst>
              </a:tr>
              <a:tr h="439414">
                <a:tc>
                  <a:txBody>
                    <a:bodyPr/>
                    <a:lstStyle/>
                    <a:p>
                      <a:pPr algn="l" rtl="0" fontAlgn="ctr"/>
                      <a:r>
                        <a:rPr lang="en-US" sz="1300" b="0" i="0" u="none" strike="noStrike">
                          <a:solidFill>
                            <a:srgbClr val="000000"/>
                          </a:solidFill>
                          <a:effectLst/>
                          <a:latin typeface="Tahoma" panose="020B0604030504040204" pitchFamily="34" charset="0"/>
                        </a:rPr>
                        <a:t>Rate changes</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4037979615"/>
                  </a:ext>
                </a:extLst>
              </a:tr>
              <a:tr h="290115">
                <a:tc>
                  <a:txBody>
                    <a:bodyPr/>
                    <a:lstStyle/>
                    <a:p>
                      <a:pPr algn="l" rtl="0" fontAlgn="ctr"/>
                      <a:r>
                        <a:rPr lang="en-US" sz="1300" b="0" i="0" u="none" strike="noStrike">
                          <a:solidFill>
                            <a:srgbClr val="000000"/>
                          </a:solidFill>
                          <a:effectLst/>
                          <a:latin typeface="Tahoma" panose="020B0604030504040204" pitchFamily="34" charset="0"/>
                        </a:rPr>
                        <a:t>No complaints, nothing</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3</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348140906"/>
                  </a:ext>
                </a:extLst>
              </a:tr>
              <a:tr h="290115">
                <a:tc>
                  <a:txBody>
                    <a:bodyPr/>
                    <a:lstStyle/>
                    <a:p>
                      <a:pPr algn="l" rtl="0" fontAlgn="ctr"/>
                      <a:r>
                        <a:rPr lang="en-US" sz="1300" b="0" i="0" u="none" strike="noStrike">
                          <a:solidFill>
                            <a:srgbClr val="000000"/>
                          </a:solidFill>
                          <a:effectLst/>
                          <a:latin typeface="Tahoma" panose="020B0604030504040204" pitchFamily="34" charset="0"/>
                        </a:rPr>
                        <a:t>General information</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601317910"/>
                  </a:ext>
                </a:extLst>
              </a:tr>
              <a:tr h="290115">
                <a:tc>
                  <a:txBody>
                    <a:bodyPr/>
                    <a:lstStyle/>
                    <a:p>
                      <a:pPr algn="l" rtl="0" fontAlgn="ctr"/>
                      <a:r>
                        <a:rPr lang="en-US" sz="1300" b="0" i="0" u="none" strike="noStrike">
                          <a:solidFill>
                            <a:srgbClr val="000000"/>
                          </a:solidFill>
                          <a:effectLst/>
                          <a:latin typeface="Tahoma" panose="020B0604030504040204" pitchFamily="34" charset="0"/>
                        </a:rPr>
                        <a:t>All other</a:t>
                      </a:r>
                    </a:p>
                  </a:txBody>
                  <a:tcPr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0</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2</a:t>
                      </a:r>
                    </a:p>
                  </a:txBody>
                  <a:tcPr marL="9525" marR="9525" marT="9525" marB="0" anchor="ctr">
                    <a:solidFill>
                      <a:srgbClr val="DCE6F1"/>
                    </a:solidFill>
                  </a:tcPr>
                </a:tc>
                <a:tc>
                  <a:txBody>
                    <a:bodyPr/>
                    <a:lstStyle/>
                    <a:p>
                      <a:pPr algn="ctr" rtl="0" fontAlgn="t"/>
                      <a:r>
                        <a:rPr lang="en-US" sz="1300" b="0" i="0" u="none" strike="noStrike">
                          <a:solidFill>
                            <a:srgbClr val="010205"/>
                          </a:solidFill>
                          <a:effectLst/>
                          <a:latin typeface="Tahoma" panose="020B0604030504040204" pitchFamily="34" charset="0"/>
                        </a:rPr>
                        <a:t>1</a:t>
                      </a:r>
                    </a:p>
                  </a:txBody>
                  <a:tcPr marL="9525" marR="9525" marT="9525" marB="0" anchor="ctr">
                    <a:solidFill>
                      <a:srgbClr val="DCE6F1"/>
                    </a:solidFill>
                  </a:tcPr>
                </a:tc>
                <a:extLst>
                  <a:ext uri="{0D108BD9-81ED-4DB2-BD59-A6C34878D82A}">
                    <a16:rowId xmlns:a16="http://schemas.microsoft.com/office/drawing/2014/main" val="10007"/>
                  </a:ext>
                </a:extLst>
              </a:tr>
              <a:tr h="403420">
                <a:tc>
                  <a:txBody>
                    <a:bodyPr/>
                    <a:lstStyle/>
                    <a:p>
                      <a:pPr algn="l" rtl="0" fontAlgn="ctr"/>
                      <a:r>
                        <a:rPr lang="en-US" sz="1300" b="1" i="0" u="none" strike="noStrike">
                          <a:solidFill>
                            <a:srgbClr val="FFFFFF"/>
                          </a:solidFill>
                          <a:effectLst/>
                          <a:latin typeface="Tahoma" panose="020B0604030504040204" pitchFamily="34" charset="0"/>
                        </a:rPr>
                        <a:t>Base: </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3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2321920897"/>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98262214"/>
              </p:ext>
            </p:extLst>
          </p:nvPr>
        </p:nvGraphicFramePr>
        <p:xfrm>
          <a:off x="29308" y="10336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DE31-2491-E16B-5725-5843319FE222}"/>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D9CC2B8B-77D9-EF38-B2C1-BCDF6AEF3362}"/>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a:extLst>
              <a:ext uri="{FF2B5EF4-FFF2-40B4-BE49-F238E27FC236}">
                <a16:creationId xmlns:a16="http://schemas.microsoft.com/office/drawing/2014/main" id="{ED2C9CA4-C99A-FCD2-E77F-DD51B3AD3E75}"/>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D0AE372A-084E-9095-BA69-D2FF70E46156}"/>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1A5B7E8D-1F0F-3E60-A629-98596DC2FEBA}"/>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2CBD7205-BC8A-39E2-CA18-9E1D09CB7358}"/>
              </a:ext>
            </a:extLst>
          </p:cNvPr>
          <p:cNvGraphicFramePr>
            <a:graphicFrameLocks noGrp="1"/>
          </p:cNvGraphicFramePr>
          <p:nvPr>
            <p:extLst>
              <p:ext uri="{D42A27DB-BD31-4B8C-83A1-F6EECF244321}">
                <p14:modId xmlns:p14="http://schemas.microsoft.com/office/powerpoint/2010/main" val="4017936388"/>
              </p:ext>
            </p:extLst>
          </p:nvPr>
        </p:nvGraphicFramePr>
        <p:xfrm>
          <a:off x="485927" y="1321432"/>
          <a:ext cx="5886145" cy="28461479"/>
        </p:xfrm>
        <a:graphic>
          <a:graphicData uri="http://schemas.openxmlformats.org/drawingml/2006/table">
            <a:tbl>
              <a:tblPr fir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61528">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2895">
                <a:tc>
                  <a:txBody>
                    <a:bodyPr/>
                    <a:lstStyle/>
                    <a:p>
                      <a:pPr algn="l" rtl="0" fontAlgn="ctr"/>
                      <a:r>
                        <a:rPr lang="en-US" sz="1200" b="0" i="0" u="none" strike="noStrike">
                          <a:solidFill>
                            <a:srgbClr val="000000"/>
                          </a:solidFill>
                          <a:effectLst/>
                          <a:latin typeface="Tahoma" panose="020B0604030504040204" pitchFamily="34" charset="0"/>
                        </a:rPr>
                        <a:t>None/nothing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25%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38%</a:t>
                      </a:r>
                    </a:p>
                  </a:txBody>
                  <a:tcPr marL="9525" marR="9525" marT="9525" marB="0" anchor="ctr">
                    <a:solidFill>
                      <a:srgbClr val="DDE7F2"/>
                    </a:solidFill>
                  </a:tcPr>
                </a:tc>
                <a:extLst>
                  <a:ext uri="{0D108BD9-81ED-4DB2-BD59-A6C34878D82A}">
                    <a16:rowId xmlns:a16="http://schemas.microsoft.com/office/drawing/2014/main" val="1247239350"/>
                  </a:ext>
                </a:extLst>
              </a:tr>
              <a:tr h="312895">
                <a:tc>
                  <a:txBody>
                    <a:bodyPr/>
                    <a:lstStyle/>
                    <a:p>
                      <a:pPr algn="l" rtl="0" fontAlgn="ctr"/>
                      <a:r>
                        <a:rPr lang="en-US" sz="1200" b="0" i="0" u="none" strike="noStrike">
                          <a:solidFill>
                            <a:srgbClr val="000000"/>
                          </a:solidFill>
                          <a:effectLst/>
                          <a:latin typeface="Tahoma" panose="020B0604030504040204" pitchFamily="34" charset="0"/>
                        </a:rPr>
                        <a:t>No changes, stay the same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DE7F2"/>
                    </a:solidFill>
                  </a:tcPr>
                </a:tc>
                <a:extLst>
                  <a:ext uri="{0D108BD9-81ED-4DB2-BD59-A6C34878D82A}">
                    <a16:rowId xmlns:a16="http://schemas.microsoft.com/office/drawing/2014/main" val="713139723"/>
                  </a:ext>
                </a:extLst>
              </a:tr>
              <a:tr h="312895">
                <a:tc>
                  <a:txBody>
                    <a:bodyPr/>
                    <a:lstStyle/>
                    <a:p>
                      <a:pPr algn="l" rtl="0" fontAlgn="ctr"/>
                      <a:r>
                        <a:rPr lang="en-US" sz="1200" b="0" i="0" u="none" strike="noStrike">
                          <a:solidFill>
                            <a:srgbClr val="000000"/>
                          </a:solidFill>
                          <a:effectLst/>
                          <a:latin typeface="Tahoma" panose="020B0604030504040204" pitchFamily="34" charset="0"/>
                        </a:rPr>
                        <a:t>Don’t know </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DE7F2"/>
                    </a:solidFill>
                  </a:tcPr>
                </a:tc>
                <a:extLst>
                  <a:ext uri="{0D108BD9-81ED-4DB2-BD59-A6C34878D82A}">
                    <a16:rowId xmlns:a16="http://schemas.microsoft.com/office/drawing/2014/main" val="1109802899"/>
                  </a:ext>
                </a:extLst>
              </a:tr>
              <a:tr h="307938">
                <a:tc>
                  <a:txBody>
                    <a:bodyPr/>
                    <a:lstStyle/>
                    <a:p>
                      <a:pPr algn="l" rtl="0" fontAlgn="ctr"/>
                      <a:r>
                        <a:rPr lang="en-US" sz="1200" b="0" i="0" u="none" strike="noStrike">
                          <a:solidFill>
                            <a:srgbClr val="000000"/>
                          </a:solidFill>
                          <a:effectLst/>
                          <a:latin typeface="Tahoma" panose="020B0604030504040204" pitchFamily="34" charset="0"/>
                        </a:rPr>
                        <a:t>I can't think of anything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DE7F2"/>
                    </a:solidFill>
                  </a:tcPr>
                </a:tc>
                <a:extLst>
                  <a:ext uri="{0D108BD9-81ED-4DB2-BD59-A6C34878D82A}">
                    <a16:rowId xmlns:a16="http://schemas.microsoft.com/office/drawing/2014/main" val="2387274723"/>
                  </a:ext>
                </a:extLst>
              </a:tr>
              <a:tr h="1242407">
                <a:tc>
                  <a:txBody>
                    <a:bodyPr/>
                    <a:lstStyle/>
                    <a:p>
                      <a:pPr algn="l" rtl="0" fontAlgn="ctr"/>
                      <a:r>
                        <a:rPr lang="en-US" sz="1200" b="0" i="0" u="none" strike="noStrike">
                          <a:solidFill>
                            <a:srgbClr val="000000"/>
                          </a:solidFill>
                          <a:effectLst/>
                          <a:latin typeface="Tahoma" panose="020B0604030504040204" pitchFamily="34" charset="0"/>
                        </a:rPr>
                        <a:t>A pain in the butt. There was an issue with my water heater getting tagged after they did the work. Whatever they did caused the gas company to shut off my gas. They were difficult to acknowledge that.</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08531572"/>
                  </a:ext>
                </a:extLst>
              </a:tr>
              <a:tr h="361528">
                <a:tc>
                  <a:txBody>
                    <a:bodyPr/>
                    <a:lstStyle/>
                    <a:p>
                      <a:pPr algn="l" rtl="0" fontAlgn="ctr"/>
                      <a:r>
                        <a:rPr lang="en-US" sz="1200" b="0" i="0" u="none" strike="noStrike">
                          <a:solidFill>
                            <a:srgbClr val="000000"/>
                          </a:solidFill>
                          <a:effectLst/>
                          <a:latin typeface="Tahoma" panose="020B0604030504040204" pitchFamily="34" charset="0"/>
                        </a:rPr>
                        <a:t>Austin weatherization program to qualifying customers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174395123"/>
                  </a:ext>
                </a:extLst>
              </a:tr>
              <a:tr h="307938">
                <a:tc>
                  <a:txBody>
                    <a:bodyPr/>
                    <a:lstStyle/>
                    <a:p>
                      <a:pPr algn="l" rtl="0" fontAlgn="ctr"/>
                      <a:r>
                        <a:rPr lang="en-US" sz="1200" b="0" i="0" u="none" strike="noStrike">
                          <a:solidFill>
                            <a:srgbClr val="000000"/>
                          </a:solidFill>
                          <a:effectLst/>
                          <a:latin typeface="Tahoma" panose="020B0604030504040204" pitchFamily="34" charset="0"/>
                        </a:rPr>
                        <a:t>Efficiency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459153912"/>
                  </a:ext>
                </a:extLst>
              </a:tr>
              <a:tr h="307938">
                <a:tc>
                  <a:txBody>
                    <a:bodyPr/>
                    <a:lstStyle/>
                    <a:p>
                      <a:pPr algn="l" rtl="0" fontAlgn="ctr"/>
                      <a:r>
                        <a:rPr lang="en-US" sz="1200" b="0" i="0" u="none" strike="noStrike">
                          <a:solidFill>
                            <a:srgbClr val="000000"/>
                          </a:solidFill>
                          <a:effectLst/>
                          <a:latin typeface="Tahoma" panose="020B0604030504040204" pitchFamily="34" charset="0"/>
                        </a:rPr>
                        <a:t>Environmentally Friendly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33574110"/>
                  </a:ext>
                </a:extLst>
              </a:tr>
              <a:tr h="307938">
                <a:tc>
                  <a:txBody>
                    <a:bodyPr/>
                    <a:lstStyle/>
                    <a:p>
                      <a:pPr algn="l" rtl="0" fontAlgn="ctr"/>
                      <a:r>
                        <a:rPr lang="en-US" sz="1200" b="0" i="0" u="none" strike="noStrike">
                          <a:solidFill>
                            <a:srgbClr val="000000"/>
                          </a:solidFill>
                          <a:effectLst/>
                          <a:latin typeface="Tahoma" panose="020B0604030504040204" pitchFamily="34" charset="0"/>
                        </a:rPr>
                        <a:t>Equitable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4268332777"/>
                  </a:ext>
                </a:extLst>
              </a:tr>
              <a:tr h="307938">
                <a:tc>
                  <a:txBody>
                    <a:bodyPr/>
                    <a:lstStyle/>
                    <a:p>
                      <a:pPr algn="l" rtl="0" fontAlgn="ctr"/>
                      <a:r>
                        <a:rPr lang="en-US" sz="1200" b="0" i="0" u="none" strike="noStrike">
                          <a:solidFill>
                            <a:srgbClr val="000000"/>
                          </a:solidFill>
                          <a:effectLst/>
                          <a:latin typeface="Tahoma" panose="020B0604030504040204" pitchFamily="34" charset="0"/>
                        </a:rPr>
                        <a:t>Exceptional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977933919"/>
                  </a:ext>
                </a:extLst>
              </a:tr>
              <a:tr h="312895">
                <a:tc>
                  <a:txBody>
                    <a:bodyPr/>
                    <a:lstStyle/>
                    <a:p>
                      <a:pPr algn="l" rtl="0" fontAlgn="ctr"/>
                      <a:r>
                        <a:rPr lang="en-US" sz="1200" b="0" i="0" u="none" strike="noStrike">
                          <a:solidFill>
                            <a:srgbClr val="000000"/>
                          </a:solidFill>
                          <a:effectLst/>
                          <a:latin typeface="Tahoma" panose="020B0604030504040204" pitchFamily="34" charset="0"/>
                        </a:rPr>
                        <a:t>Extremely 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631922504"/>
                  </a:ext>
                </a:extLst>
              </a:tr>
              <a:tr h="213419">
                <a:tc>
                  <a:txBody>
                    <a:bodyPr/>
                    <a:lstStyle/>
                    <a:p>
                      <a:pPr algn="l" rtl="0" fontAlgn="ctr"/>
                      <a:r>
                        <a:rPr lang="en-US" sz="1200" b="0" i="0" u="none" strike="noStrike">
                          <a:solidFill>
                            <a:srgbClr val="000000"/>
                          </a:solidFill>
                          <a:effectLst/>
                          <a:latin typeface="Tahoma" panose="020B0604030504040204" pitchFamily="34" charset="0"/>
                        </a:rPr>
                        <a:t>Homeowner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569965966"/>
                  </a:ext>
                </a:extLst>
              </a:tr>
              <a:tr h="537704">
                <a:tc>
                  <a:txBody>
                    <a:bodyPr/>
                    <a:lstStyle/>
                    <a:p>
                      <a:pPr algn="l" rtl="0" fontAlgn="ctr"/>
                      <a:r>
                        <a:rPr lang="en-US" sz="1200" b="0" i="0" u="none" strike="noStrike">
                          <a:solidFill>
                            <a:srgbClr val="000000"/>
                          </a:solidFill>
                          <a:effectLst/>
                          <a:latin typeface="Tahoma" panose="020B0604030504040204" pitchFamily="34" charset="0"/>
                        </a:rPr>
                        <a:t>I already got three people signed up by telling them what I had done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4068219562"/>
                  </a:ext>
                </a:extLst>
              </a:tr>
              <a:tr h="213419">
                <a:tc>
                  <a:txBody>
                    <a:bodyPr/>
                    <a:lstStyle/>
                    <a:p>
                      <a:pPr algn="l" rtl="0" fontAlgn="ctr"/>
                      <a:r>
                        <a:rPr lang="en-US" sz="1200" b="0" i="0" u="none" strike="noStrike">
                          <a:solidFill>
                            <a:srgbClr val="000000"/>
                          </a:solidFill>
                          <a:effectLst/>
                          <a:latin typeface="Tahoma" panose="020B0604030504040204" pitchFamily="34" charset="0"/>
                        </a:rPr>
                        <a:t>Older home weatherization</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2372764997"/>
                  </a:ext>
                </a:extLst>
              </a:tr>
              <a:tr h="361528">
                <a:tc>
                  <a:txBody>
                    <a:bodyPr/>
                    <a:lstStyle/>
                    <a:p>
                      <a:pPr algn="l" rtl="0" fontAlgn="ctr"/>
                      <a:r>
                        <a:rPr lang="en-US" sz="1200" b="0" i="0" u="none" strike="noStrike">
                          <a:solidFill>
                            <a:srgbClr val="000000"/>
                          </a:solidFill>
                          <a:effectLst/>
                          <a:latin typeface="Tahoma" panose="020B0604030504040204" pitchFamily="34" charset="0"/>
                        </a:rPr>
                        <a:t>The title now is great. Austin Energy Efficiency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781579863"/>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The way it was worded was Low to moderate income individuals.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2099357044"/>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Very good program that many should take advantage of if eligible.</a:t>
                      </a:r>
                    </a:p>
                  </a:txBody>
                  <a:tcPr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132018358"/>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I think it's wonderful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481781605"/>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A way to reduce your energy use in the summer</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855255287"/>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All around great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452036569"/>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Amazing</a:t>
                      </a:r>
                    </a:p>
                  </a:txBody>
                  <a:tcPr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138750091"/>
                  </a:ext>
                </a:extLst>
              </a:tr>
              <a:tr h="537704">
                <a:tc>
                  <a:txBody>
                    <a:bodyPr/>
                    <a:lstStyle/>
                    <a:p>
                      <a:pPr algn="l" rtl="0" fontAlgn="ctr"/>
                      <a:r>
                        <a:rPr lang="en-US" sz="1200" b="0" i="0" u="none" strike="noStrike">
                          <a:solidFill>
                            <a:srgbClr val="000000"/>
                          </a:solidFill>
                          <a:effectLst/>
                          <a:latin typeface="Tahoma" panose="020B0604030504040204" pitchFamily="34" charset="0"/>
                        </a:rPr>
                        <a:t>Blessing</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527493585"/>
                  </a:ext>
                </a:extLst>
              </a:tr>
              <a:tr h="537704">
                <a:tc>
                  <a:txBody>
                    <a:bodyPr/>
                    <a:lstStyle/>
                    <a:p>
                      <a:pPr algn="l" rtl="0" fontAlgn="ctr"/>
                      <a:r>
                        <a:rPr lang="en-US" sz="1200" b="0" i="0" u="none" strike="noStrike">
                          <a:solidFill>
                            <a:srgbClr val="000000"/>
                          </a:solidFill>
                          <a:effectLst/>
                          <a:latin typeface="Tahoma" panose="020B0604030504040204" pitchFamily="34" charset="0"/>
                        </a:rPr>
                        <a:t>Check it out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125540992"/>
                  </a:ext>
                </a:extLst>
              </a:tr>
              <a:tr h="537704">
                <a:tc>
                  <a:txBody>
                    <a:bodyPr/>
                    <a:lstStyle/>
                    <a:p>
                      <a:pPr algn="l" rtl="0" fontAlgn="ctr"/>
                      <a:r>
                        <a:rPr lang="en-US" sz="1200" b="0" i="0" u="none" strike="noStrike">
                          <a:solidFill>
                            <a:srgbClr val="000000"/>
                          </a:solidFill>
                          <a:effectLst/>
                          <a:latin typeface="Tahoma" panose="020B0604030504040204" pitchFamily="34" charset="0"/>
                        </a:rPr>
                        <a:t>Cool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90637824"/>
                  </a:ext>
                </a:extLst>
              </a:tr>
              <a:tr h="537704">
                <a:tc>
                  <a:txBody>
                    <a:bodyPr/>
                    <a:lstStyle/>
                    <a:p>
                      <a:pPr algn="l" rtl="0" fontAlgn="ctr"/>
                      <a:r>
                        <a:rPr lang="en-US" sz="1200" b="0" i="0" u="none" strike="noStrike">
                          <a:solidFill>
                            <a:srgbClr val="000000"/>
                          </a:solidFill>
                          <a:effectLst/>
                          <a:latin typeface="Tahoma" panose="020B0604030504040204" pitchFamily="34" charset="0"/>
                        </a:rPr>
                        <a:t>Cost efficient home weatherization improvement.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226488338"/>
                  </a:ext>
                </a:extLst>
              </a:tr>
              <a:tr h="537704">
                <a:tc>
                  <a:txBody>
                    <a:bodyPr/>
                    <a:lstStyle/>
                    <a:p>
                      <a:pPr algn="l" rtl="0" fontAlgn="ctr"/>
                      <a:r>
                        <a:rPr lang="en-US" sz="1200" b="0" i="0" u="none" strike="noStrike">
                          <a:solidFill>
                            <a:srgbClr val="000000"/>
                          </a:solidFill>
                          <a:effectLst/>
                          <a:latin typeface="Tahoma" panose="020B0604030504040204" pitchFamily="34" charset="0"/>
                        </a:rPr>
                        <a:t>Customer assistance weatherization</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186089536"/>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Doing a great job to help</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762987757"/>
                  </a:ext>
                </a:extLst>
              </a:tr>
              <a:tr h="537704">
                <a:tc>
                  <a:txBody>
                    <a:bodyPr/>
                    <a:lstStyle/>
                    <a:p>
                      <a:pPr algn="l" rtl="0" fontAlgn="ctr"/>
                      <a:r>
                        <a:rPr lang="en-US" sz="1200" b="0" i="0" u="none" strike="noStrike">
                          <a:solidFill>
                            <a:srgbClr val="000000"/>
                          </a:solidFill>
                          <a:effectLst/>
                          <a:latin typeface="Tahoma" panose="020B0604030504040204" pitchFamily="34" charset="0"/>
                        </a:rPr>
                        <a:t>Easy</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941496132"/>
                  </a:ext>
                </a:extLst>
              </a:tr>
              <a:tr h="537704">
                <a:tc>
                  <a:txBody>
                    <a:bodyPr/>
                    <a:lstStyle/>
                    <a:p>
                      <a:pPr algn="l" rtl="0" fontAlgn="ctr"/>
                      <a:r>
                        <a:rPr lang="en-US" sz="1200" b="0" i="0" u="none" strike="noStrike">
                          <a:solidFill>
                            <a:srgbClr val="000000"/>
                          </a:solidFill>
                          <a:effectLst/>
                          <a:latin typeface="Tahoma" panose="020B0604030504040204" pitchFamily="34" charset="0"/>
                        </a:rPr>
                        <a:t>Energy saving assist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411714685"/>
                  </a:ext>
                </a:extLst>
              </a:tr>
              <a:tr h="537704">
                <a:tc>
                  <a:txBody>
                    <a:bodyPr/>
                    <a:lstStyle/>
                    <a:p>
                      <a:pPr algn="l" rtl="0" fontAlgn="ctr"/>
                      <a:r>
                        <a:rPr lang="en-US" sz="1200" b="0" i="0" u="none" strike="noStrike">
                          <a:solidFill>
                            <a:srgbClr val="000000"/>
                          </a:solidFill>
                          <a:effectLst/>
                          <a:latin typeface="Tahoma" panose="020B0604030504040204" pitchFamily="34" charset="0"/>
                        </a:rPr>
                        <a:t>Excellent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968855740"/>
                  </a:ext>
                </a:extLst>
              </a:tr>
              <a:tr h="537704">
                <a:tc>
                  <a:txBody>
                    <a:bodyPr/>
                    <a:lstStyle/>
                    <a:p>
                      <a:pPr algn="l" rtl="0" fontAlgn="ctr"/>
                      <a:r>
                        <a:rPr lang="en-US" sz="1200" b="0" i="0" u="none" strike="noStrike">
                          <a:solidFill>
                            <a:srgbClr val="000000"/>
                          </a:solidFill>
                          <a:effectLst/>
                          <a:latin typeface="Tahoma" panose="020B0604030504040204" pitchFamily="34" charset="0"/>
                        </a:rPr>
                        <a:t>Free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114768273"/>
                  </a:ext>
                </a:extLst>
              </a:tr>
              <a:tr h="537704">
                <a:tc>
                  <a:txBody>
                    <a:bodyPr/>
                    <a:lstStyle/>
                    <a:p>
                      <a:pPr algn="l" rtl="0" fontAlgn="ctr"/>
                      <a:r>
                        <a:rPr lang="en-US" sz="1200" b="0" i="0" u="none" strike="noStrike">
                          <a:solidFill>
                            <a:srgbClr val="000000"/>
                          </a:solidFill>
                          <a:effectLst/>
                          <a:latin typeface="Tahoma" panose="020B0604030504040204" pitchFamily="34" charset="0"/>
                        </a:rPr>
                        <a:t>Great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5%</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14113392"/>
                  </a:ext>
                </a:extLst>
              </a:tr>
              <a:tr h="537704">
                <a:tc>
                  <a:txBody>
                    <a:bodyPr/>
                    <a:lstStyle/>
                    <a:p>
                      <a:pPr algn="l" rtl="0" fontAlgn="ctr"/>
                      <a:r>
                        <a:rPr lang="en-US" sz="1200" b="0" i="0" u="none" strike="noStrike">
                          <a:solidFill>
                            <a:srgbClr val="000000"/>
                          </a:solidFill>
                          <a:effectLst/>
                          <a:latin typeface="Tahoma" panose="020B0604030504040204" pitchFamily="34" charset="0"/>
                        </a:rPr>
                        <a:t>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997735550"/>
                  </a:ext>
                </a:extLst>
              </a:tr>
              <a:tr h="537704">
                <a:tc>
                  <a:txBody>
                    <a:bodyPr/>
                    <a:lstStyle/>
                    <a:p>
                      <a:pPr algn="l" rtl="0" fontAlgn="ctr"/>
                      <a:r>
                        <a:rPr lang="en-US" sz="1200" b="0" i="0" u="none" strike="noStrike">
                          <a:solidFill>
                            <a:srgbClr val="000000"/>
                          </a:solidFill>
                          <a:effectLst/>
                          <a:latin typeface="Tahoma" panose="020B0604030504040204" pitchFamily="34" charset="0"/>
                        </a:rPr>
                        <a:t>Home energy improvements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82275212"/>
                  </a:ext>
                </a:extLst>
              </a:tr>
              <a:tr h="537704">
                <a:tc>
                  <a:txBody>
                    <a:bodyPr/>
                    <a:lstStyle/>
                    <a:p>
                      <a:pPr algn="l" rtl="0" fontAlgn="ctr"/>
                      <a:r>
                        <a:rPr lang="en-US" sz="1200" b="0" i="0" u="none" strike="noStrike">
                          <a:solidFill>
                            <a:srgbClr val="000000"/>
                          </a:solidFill>
                          <a:effectLst/>
                          <a:latin typeface="Tahoma" panose="020B0604030504040204" pitchFamily="34" charset="0"/>
                        </a:rPr>
                        <a:t>Home improvements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538010867"/>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I can't remember how I described it to other people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78739659"/>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Income qualified weatherization upgrade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528438963"/>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Incredibly beneficial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270636491"/>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It will help the environment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180390838"/>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Justifiable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2320447"/>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No, I think that says it</a:t>
                      </a:r>
                    </a:p>
                  </a:txBody>
                  <a:tcPr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215254869"/>
                  </a:ext>
                </a:extLst>
              </a:tr>
              <a:tr h="537704">
                <a:tc>
                  <a:txBody>
                    <a:bodyPr/>
                    <a:lstStyle/>
                    <a:p>
                      <a:pPr algn="l" rtl="0" fontAlgn="ctr"/>
                      <a:r>
                        <a:rPr lang="en-US" sz="1200" b="0" i="0" u="none" strike="noStrike">
                          <a:solidFill>
                            <a:srgbClr val="000000"/>
                          </a:solidFill>
                          <a:effectLst/>
                          <a:latin typeface="Tahoma" panose="020B0604030504040204" pitchFamily="34" charset="0"/>
                        </a:rPr>
                        <a:t>Outstanding value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906421469"/>
                  </a:ext>
                </a:extLst>
              </a:tr>
              <a:tr h="537704">
                <a:tc>
                  <a:txBody>
                    <a:bodyPr/>
                    <a:lstStyle/>
                    <a:p>
                      <a:pPr algn="l" rtl="0" fontAlgn="ctr"/>
                      <a:r>
                        <a:rPr lang="en-US" sz="1200" b="0" i="0" u="none" strike="noStrike">
                          <a:solidFill>
                            <a:srgbClr val="000000"/>
                          </a:solidFill>
                          <a:effectLst/>
                          <a:latin typeface="Tahoma" panose="020B0604030504040204" pitchFamily="34" charset="0"/>
                        </a:rPr>
                        <a:t>Pass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631159597"/>
                  </a:ext>
                </a:extLst>
              </a:tr>
              <a:tr h="537704">
                <a:tc>
                  <a:txBody>
                    <a:bodyPr/>
                    <a:lstStyle/>
                    <a:p>
                      <a:pPr algn="l" rtl="0" fontAlgn="ctr"/>
                      <a:r>
                        <a:rPr lang="en-US" sz="1200" b="0" i="0" u="none" strike="noStrike">
                          <a:solidFill>
                            <a:srgbClr val="000000"/>
                          </a:solidFill>
                          <a:effectLst/>
                          <a:latin typeface="Tahoma" panose="020B0604030504040204" pitchFamily="34" charset="0"/>
                        </a:rPr>
                        <a:t>Patients on the waiting list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424834911"/>
                  </a:ext>
                </a:extLst>
              </a:tr>
              <a:tr h="537704">
                <a:tc>
                  <a:txBody>
                    <a:bodyPr/>
                    <a:lstStyle/>
                    <a:p>
                      <a:pPr algn="l" rtl="0" fontAlgn="ctr"/>
                      <a:r>
                        <a:rPr lang="en-US" sz="1200" b="0" i="0" u="none" strike="noStrike">
                          <a:solidFill>
                            <a:srgbClr val="000000"/>
                          </a:solidFill>
                          <a:effectLst/>
                          <a:latin typeface="Tahoma" panose="020B0604030504040204" pitchFamily="34" charset="0"/>
                        </a:rPr>
                        <a:t>Perfect program for somebody who can afford the upgrades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110136698"/>
                  </a:ext>
                </a:extLst>
              </a:tr>
              <a:tr h="537704">
                <a:tc>
                  <a:txBody>
                    <a:bodyPr/>
                    <a:lstStyle/>
                    <a:p>
                      <a:pPr algn="l" rtl="0" fontAlgn="ctr"/>
                      <a:r>
                        <a:rPr lang="en-US" sz="1200" b="0" i="0" u="none" strike="noStrike">
                          <a:solidFill>
                            <a:srgbClr val="000000"/>
                          </a:solidFill>
                          <a:effectLst/>
                          <a:latin typeface="Tahoma" panose="020B0604030504040204" pitchFamily="34" charset="0"/>
                        </a:rPr>
                        <a:t>Pretty good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014274671"/>
                  </a:ext>
                </a:extLst>
              </a:tr>
              <a:tr h="537704">
                <a:tc>
                  <a:txBody>
                    <a:bodyPr/>
                    <a:lstStyle/>
                    <a:p>
                      <a:pPr algn="l" rtl="0" fontAlgn="ctr"/>
                      <a:r>
                        <a:rPr lang="en-US" sz="1200" b="0" i="0" u="none" strike="noStrike">
                          <a:solidFill>
                            <a:srgbClr val="000000"/>
                          </a:solidFill>
                          <a:effectLst/>
                          <a:latin typeface="Tahoma" panose="020B0604030504040204" pitchFamily="34" charset="0"/>
                        </a:rPr>
                        <a:t>Relieving</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026871865"/>
                  </a:ext>
                </a:extLst>
              </a:tr>
              <a:tr h="537704">
                <a:tc>
                  <a:txBody>
                    <a:bodyPr/>
                    <a:lstStyle/>
                    <a:p>
                      <a:pPr algn="l" rtl="0" fontAlgn="ctr"/>
                      <a:r>
                        <a:rPr lang="en-US" sz="1200" b="0" i="0" u="none" strike="noStrike">
                          <a:solidFill>
                            <a:srgbClr val="000000"/>
                          </a:solidFill>
                          <a:effectLst/>
                          <a:latin typeface="Tahoma" panose="020B0604030504040204" pitchFamily="34" charset="0"/>
                        </a:rPr>
                        <a:t>Surreal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40847824"/>
                  </a:ext>
                </a:extLst>
              </a:tr>
              <a:tr h="537704">
                <a:tc>
                  <a:txBody>
                    <a:bodyPr/>
                    <a:lstStyle/>
                    <a:p>
                      <a:pPr algn="l" rtl="0" fontAlgn="ctr"/>
                      <a:r>
                        <a:rPr lang="en-US" sz="1200" b="0" i="0" u="none" strike="noStrike">
                          <a:solidFill>
                            <a:srgbClr val="000000"/>
                          </a:solidFill>
                          <a:effectLst/>
                          <a:latin typeface="Tahoma" panose="020B0604030504040204" pitchFamily="34" charset="0"/>
                        </a:rPr>
                        <a:t>The program is good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86270290"/>
                  </a:ext>
                </a:extLst>
              </a:tr>
              <a:tr h="537704">
                <a:tc>
                  <a:txBody>
                    <a:bodyPr/>
                    <a:lstStyle/>
                    <a:p>
                      <a:pPr algn="l" rtl="0" fontAlgn="ctr"/>
                      <a:r>
                        <a:rPr lang="en-US" sz="1200" b="0" i="0" u="none" strike="noStrike">
                          <a:solidFill>
                            <a:srgbClr val="000000"/>
                          </a:solidFill>
                          <a:effectLst/>
                          <a:latin typeface="Tahoma" panose="020B0604030504040204" pitchFamily="34" charset="0"/>
                        </a:rPr>
                        <a:t>Try to get enrolled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453384289"/>
                  </a:ext>
                </a:extLst>
              </a:tr>
              <a:tr h="537704">
                <a:tc>
                  <a:txBody>
                    <a:bodyPr/>
                    <a:lstStyle/>
                    <a:p>
                      <a:pPr algn="l" rtl="0" fontAlgn="ctr"/>
                      <a:r>
                        <a:rPr lang="en-US" sz="1200" b="0" i="0" u="none" strike="noStrike">
                          <a:solidFill>
                            <a:srgbClr val="000000"/>
                          </a:solidFill>
                          <a:effectLst/>
                          <a:latin typeface="Tahoma" panose="020B0604030504040204" pitchFamily="34" charset="0"/>
                        </a:rPr>
                        <a:t>Very 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43397853"/>
                  </a:ext>
                </a:extLst>
              </a:tr>
              <a:tr h="537704">
                <a:tc>
                  <a:txBody>
                    <a:bodyPr/>
                    <a:lstStyle/>
                    <a:p>
                      <a:pPr algn="l" rtl="0" fontAlgn="ctr"/>
                      <a:r>
                        <a:rPr lang="en-US" sz="1200" b="0" i="0" u="none" strike="noStrike">
                          <a:solidFill>
                            <a:srgbClr val="000000"/>
                          </a:solidFill>
                          <a:effectLst/>
                          <a:latin typeface="Tahoma" panose="020B0604030504040204" pitchFamily="34" charset="0"/>
                        </a:rPr>
                        <a:t>Very useful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247576579"/>
                  </a:ext>
                </a:extLst>
              </a:tr>
              <a:tr h="537704">
                <a:tc>
                  <a:txBody>
                    <a:bodyPr/>
                    <a:lstStyle/>
                    <a:p>
                      <a:pPr algn="l" rtl="0" fontAlgn="ctr"/>
                      <a:r>
                        <a:rPr lang="en-US" sz="1200" b="0" i="0" u="none" strike="noStrike">
                          <a:solidFill>
                            <a:srgbClr val="000000"/>
                          </a:solidFill>
                          <a:effectLst/>
                          <a:latin typeface="Tahoma" panose="020B0604030504040204" pitchFamily="34" charset="0"/>
                        </a:rPr>
                        <a:t>Weatherization assistance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970666124"/>
                  </a:ext>
                </a:extLst>
              </a:tr>
              <a:tr h="537704">
                <a:tc>
                  <a:txBody>
                    <a:bodyPr/>
                    <a:lstStyle/>
                    <a:p>
                      <a:pPr algn="l" rtl="0" fontAlgn="ctr"/>
                      <a:r>
                        <a:rPr lang="en-US" sz="1200" b="0" i="0" u="none" strike="noStrike">
                          <a:solidFill>
                            <a:srgbClr val="000000"/>
                          </a:solidFill>
                          <a:effectLst/>
                          <a:latin typeface="Tahoma" panose="020B0604030504040204" pitchFamily="34" charset="0"/>
                        </a:rPr>
                        <a:t>Worth it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9%</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45748320"/>
                  </a:ext>
                </a:extLst>
              </a:tr>
              <a:tr h="537704">
                <a:tc>
                  <a:txBody>
                    <a:bodyPr/>
                    <a:lstStyle/>
                    <a:p>
                      <a:pPr algn="l" rtl="0" fontAlgn="b"/>
                      <a:r>
                        <a:rPr lang="en-US" sz="1200" b="0" i="0" u="none" strike="noStrike">
                          <a:solidFill>
                            <a:srgbClr val="000000"/>
                          </a:solidFill>
                          <a:effectLst/>
                          <a:latin typeface="Tahoma" panose="020B0604030504040204" pitchFamily="34" charset="0"/>
                        </a:rPr>
                        <a:t>All other</a:t>
                      </a:r>
                    </a:p>
                  </a:txBody>
                  <a:tcPr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930591177"/>
                  </a:ext>
                </a:extLst>
              </a:tr>
              <a:tr h="537704">
                <a:tc>
                  <a:txBody>
                    <a:bodyPr/>
                    <a:lstStyle/>
                    <a:p>
                      <a:pPr algn="l" rtl="0" fontAlgn="ctr"/>
                      <a:r>
                        <a:rPr lang="en-US" sz="1200" b="1" i="0" u="none" strike="noStrike" dirty="0">
                          <a:solidFill>
                            <a:srgbClr val="FFFFFF"/>
                          </a:solidFill>
                          <a:effectLst/>
                          <a:latin typeface="Tahoma" panose="020B0604030504040204" pitchFamily="34" charset="0"/>
                        </a:rPr>
                        <a:t>Base:</a:t>
                      </a:r>
                    </a:p>
                  </a:txBody>
                  <a:tcPr marR="9525" marT="9525" marB="0" anchor="ctr">
                    <a:solidFill>
                      <a:srgbClr val="DCE6F1"/>
                    </a:solidFill>
                  </a:tcPr>
                </a:tc>
                <a:tc>
                  <a:txBody>
                    <a:bodyPr/>
                    <a:lstStyle/>
                    <a:p>
                      <a:pPr algn="ctr" rtl="0" fontAlgn="ctr"/>
                      <a:r>
                        <a:rPr lang="en-US" sz="1200" b="1" i="0" u="none" strike="noStrike" dirty="0">
                          <a:solidFill>
                            <a:srgbClr val="FFFFFF"/>
                          </a:solidFill>
                          <a:effectLst/>
                          <a:latin typeface="Tahoma" panose="020B0604030504040204" pitchFamily="34" charset="0"/>
                        </a:rPr>
                        <a:t>12</a:t>
                      </a:r>
                    </a:p>
                  </a:txBody>
                  <a:tcPr marL="9525" marR="9525" marT="9525" marB="0" anchor="ctr">
                    <a:solidFill>
                      <a:srgbClr val="DCE6F1"/>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DCE6F1"/>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DCE6F1"/>
                    </a:solidFill>
                  </a:tcPr>
                </a:tc>
                <a:tc>
                  <a:txBody>
                    <a:bodyPr/>
                    <a:lstStyle/>
                    <a:p>
                      <a:pPr algn="ctr" rtl="0" fontAlgn="ctr"/>
                      <a:r>
                        <a:rPr lang="en-US" sz="1200" b="1" i="0" u="none" strike="noStrike" dirty="0">
                          <a:solidFill>
                            <a:srgbClr val="FFFFFF"/>
                          </a:solidFill>
                          <a:effectLst/>
                          <a:latin typeface="Tahoma" panose="020B0604030504040204" pitchFamily="34" charset="0"/>
                        </a:rPr>
                        <a:t>33</a:t>
                      </a:r>
                    </a:p>
                  </a:txBody>
                  <a:tcPr marL="9525" marR="9525" marT="9525" marB="0" anchor="ctr">
                    <a:solidFill>
                      <a:srgbClr val="DCE6F1"/>
                    </a:solidFill>
                  </a:tcPr>
                </a:tc>
                <a:extLst>
                  <a:ext uri="{0D108BD9-81ED-4DB2-BD59-A6C34878D82A}">
                    <a16:rowId xmlns:a16="http://schemas.microsoft.com/office/drawing/2014/main" val="114629810"/>
                  </a:ext>
                </a:extLst>
              </a:tr>
            </a:tbl>
          </a:graphicData>
        </a:graphic>
      </p:graphicFrame>
    </p:spTree>
    <p:extLst>
      <p:ext uri="{BB962C8B-B14F-4D97-AF65-F5344CB8AC3E}">
        <p14:creationId xmlns:p14="http://schemas.microsoft.com/office/powerpoint/2010/main" val="12205869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1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2045784845"/>
              </p:ext>
            </p:extLst>
          </p:nvPr>
        </p:nvGraphicFramePr>
        <p:xfrm>
          <a:off x="485927" y="1321432"/>
          <a:ext cx="5886145" cy="6932858"/>
        </p:xfrm>
        <a:graphic>
          <a:graphicData uri="http://schemas.openxmlformats.org/drawingml/2006/table">
            <a:tbl>
              <a:tblPr fir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61528">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2895">
                <a:tc>
                  <a:txBody>
                    <a:bodyPr/>
                    <a:lstStyle/>
                    <a:p>
                      <a:pPr algn="l" rtl="0" fontAlgn="ctr"/>
                      <a:r>
                        <a:rPr lang="en-US" sz="1200" b="0" i="0" u="none" strike="noStrike">
                          <a:solidFill>
                            <a:srgbClr val="000000"/>
                          </a:solidFill>
                          <a:effectLst/>
                          <a:latin typeface="Tahoma" panose="020B0604030504040204" pitchFamily="34" charset="0"/>
                        </a:rPr>
                        <a:t>None/nothing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25%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38%</a:t>
                      </a:r>
                    </a:p>
                  </a:txBody>
                  <a:tcPr marL="9525" marR="9525" marT="9525" marB="0" anchor="ctr">
                    <a:solidFill>
                      <a:srgbClr val="DDE7F2"/>
                    </a:solidFill>
                  </a:tcPr>
                </a:tc>
                <a:extLst>
                  <a:ext uri="{0D108BD9-81ED-4DB2-BD59-A6C34878D82A}">
                    <a16:rowId xmlns:a16="http://schemas.microsoft.com/office/drawing/2014/main" val="1247239350"/>
                  </a:ext>
                </a:extLst>
              </a:tr>
              <a:tr h="312895">
                <a:tc>
                  <a:txBody>
                    <a:bodyPr/>
                    <a:lstStyle/>
                    <a:p>
                      <a:pPr algn="l" rtl="0" fontAlgn="ctr"/>
                      <a:r>
                        <a:rPr lang="en-US" sz="1200" b="0" i="0" u="none" strike="noStrike">
                          <a:solidFill>
                            <a:srgbClr val="000000"/>
                          </a:solidFill>
                          <a:effectLst/>
                          <a:latin typeface="Tahoma" panose="020B0604030504040204" pitchFamily="34" charset="0"/>
                        </a:rPr>
                        <a:t>No changes, stay the same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DE7F2"/>
                    </a:solidFill>
                  </a:tcPr>
                </a:tc>
                <a:extLst>
                  <a:ext uri="{0D108BD9-81ED-4DB2-BD59-A6C34878D82A}">
                    <a16:rowId xmlns:a16="http://schemas.microsoft.com/office/drawing/2014/main" val="713139723"/>
                  </a:ext>
                </a:extLst>
              </a:tr>
              <a:tr h="312895">
                <a:tc>
                  <a:txBody>
                    <a:bodyPr/>
                    <a:lstStyle/>
                    <a:p>
                      <a:pPr algn="l" rtl="0" fontAlgn="ctr"/>
                      <a:r>
                        <a:rPr lang="en-US" sz="1200" b="0" i="0" u="none" strike="noStrike">
                          <a:solidFill>
                            <a:srgbClr val="000000"/>
                          </a:solidFill>
                          <a:effectLst/>
                          <a:latin typeface="Tahoma" panose="020B0604030504040204" pitchFamily="34" charset="0"/>
                        </a:rPr>
                        <a:t>Don’t know </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DE7F2"/>
                    </a:solidFill>
                  </a:tcPr>
                </a:tc>
                <a:extLst>
                  <a:ext uri="{0D108BD9-81ED-4DB2-BD59-A6C34878D82A}">
                    <a16:rowId xmlns:a16="http://schemas.microsoft.com/office/drawing/2014/main" val="1109802899"/>
                  </a:ext>
                </a:extLst>
              </a:tr>
              <a:tr h="307938">
                <a:tc>
                  <a:txBody>
                    <a:bodyPr/>
                    <a:lstStyle/>
                    <a:p>
                      <a:pPr algn="l" rtl="0" fontAlgn="ctr"/>
                      <a:r>
                        <a:rPr lang="en-US" sz="1200" b="0" i="0" u="none" strike="noStrike">
                          <a:solidFill>
                            <a:srgbClr val="000000"/>
                          </a:solidFill>
                          <a:effectLst/>
                          <a:latin typeface="Tahoma" panose="020B0604030504040204" pitchFamily="34" charset="0"/>
                        </a:rPr>
                        <a:t>I can't think of anything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DE7F2"/>
                    </a:solidFill>
                  </a:tcPr>
                </a:tc>
                <a:extLst>
                  <a:ext uri="{0D108BD9-81ED-4DB2-BD59-A6C34878D82A}">
                    <a16:rowId xmlns:a16="http://schemas.microsoft.com/office/drawing/2014/main" val="2387274723"/>
                  </a:ext>
                </a:extLst>
              </a:tr>
              <a:tr h="1242407">
                <a:tc>
                  <a:txBody>
                    <a:bodyPr/>
                    <a:lstStyle/>
                    <a:p>
                      <a:pPr algn="l" rtl="0" fontAlgn="ctr"/>
                      <a:r>
                        <a:rPr lang="en-US" sz="1200" b="0" i="0" u="none" strike="noStrike">
                          <a:solidFill>
                            <a:srgbClr val="000000"/>
                          </a:solidFill>
                          <a:effectLst/>
                          <a:latin typeface="Tahoma" panose="020B0604030504040204" pitchFamily="34" charset="0"/>
                        </a:rPr>
                        <a:t>A pain in the butt. There was an issue with my water heater getting tagged after they did the work. Whatever they did caused the gas company to shut off my gas. They were difficult to acknowledge that.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08531572"/>
                  </a:ext>
                </a:extLst>
              </a:tr>
              <a:tr h="361528">
                <a:tc>
                  <a:txBody>
                    <a:bodyPr/>
                    <a:lstStyle/>
                    <a:p>
                      <a:pPr algn="l" rtl="0" fontAlgn="ctr"/>
                      <a:r>
                        <a:rPr lang="en-US" sz="1200" b="0" i="0" u="none" strike="noStrike">
                          <a:solidFill>
                            <a:srgbClr val="000000"/>
                          </a:solidFill>
                          <a:effectLst/>
                          <a:latin typeface="Tahoma" panose="020B0604030504040204" pitchFamily="34" charset="0"/>
                        </a:rPr>
                        <a:t>Austin weatherization program to qualifying customers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174395123"/>
                  </a:ext>
                </a:extLst>
              </a:tr>
              <a:tr h="307938">
                <a:tc>
                  <a:txBody>
                    <a:bodyPr/>
                    <a:lstStyle/>
                    <a:p>
                      <a:pPr algn="l" rtl="0" fontAlgn="ctr"/>
                      <a:r>
                        <a:rPr lang="en-US" sz="1200" b="0" i="0" u="none" strike="noStrike">
                          <a:solidFill>
                            <a:srgbClr val="000000"/>
                          </a:solidFill>
                          <a:effectLst/>
                          <a:latin typeface="Tahoma" panose="020B0604030504040204" pitchFamily="34" charset="0"/>
                        </a:rPr>
                        <a:t>Efficiency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459153912"/>
                  </a:ext>
                </a:extLst>
              </a:tr>
              <a:tr h="307938">
                <a:tc>
                  <a:txBody>
                    <a:bodyPr/>
                    <a:lstStyle/>
                    <a:p>
                      <a:pPr algn="l" rtl="0" fontAlgn="ctr"/>
                      <a:r>
                        <a:rPr lang="en-US" sz="1200" b="0" i="0" u="none" strike="noStrike">
                          <a:solidFill>
                            <a:srgbClr val="000000"/>
                          </a:solidFill>
                          <a:effectLst/>
                          <a:latin typeface="Tahoma" panose="020B0604030504040204" pitchFamily="34" charset="0"/>
                        </a:rPr>
                        <a:t>Environmentally Friendly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33574110"/>
                  </a:ext>
                </a:extLst>
              </a:tr>
              <a:tr h="307938">
                <a:tc>
                  <a:txBody>
                    <a:bodyPr/>
                    <a:lstStyle/>
                    <a:p>
                      <a:pPr algn="l" rtl="0" fontAlgn="ctr"/>
                      <a:r>
                        <a:rPr lang="en-US" sz="1200" b="0" i="0" u="none" strike="noStrike">
                          <a:solidFill>
                            <a:srgbClr val="000000"/>
                          </a:solidFill>
                          <a:effectLst/>
                          <a:latin typeface="Tahoma" panose="020B0604030504040204" pitchFamily="34" charset="0"/>
                        </a:rPr>
                        <a:t>Equitable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4268332777"/>
                  </a:ext>
                </a:extLst>
              </a:tr>
              <a:tr h="307938">
                <a:tc>
                  <a:txBody>
                    <a:bodyPr/>
                    <a:lstStyle/>
                    <a:p>
                      <a:pPr algn="l" rtl="0" fontAlgn="ctr"/>
                      <a:r>
                        <a:rPr lang="en-US" sz="1200" b="0" i="0" u="none" strike="noStrike">
                          <a:solidFill>
                            <a:srgbClr val="000000"/>
                          </a:solidFill>
                          <a:effectLst/>
                          <a:latin typeface="Tahoma" panose="020B0604030504040204" pitchFamily="34" charset="0"/>
                        </a:rPr>
                        <a:t>Exceptional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3977933919"/>
                  </a:ext>
                </a:extLst>
              </a:tr>
              <a:tr h="312895">
                <a:tc>
                  <a:txBody>
                    <a:bodyPr/>
                    <a:lstStyle/>
                    <a:p>
                      <a:pPr algn="l" rtl="0" fontAlgn="ctr"/>
                      <a:r>
                        <a:rPr lang="en-US" sz="1200" b="0" i="0" u="none" strike="noStrike">
                          <a:solidFill>
                            <a:srgbClr val="000000"/>
                          </a:solidFill>
                          <a:effectLst/>
                          <a:latin typeface="Tahoma" panose="020B0604030504040204" pitchFamily="34" charset="0"/>
                        </a:rPr>
                        <a:t>Extremely 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631922504"/>
                  </a:ext>
                </a:extLst>
              </a:tr>
              <a:tr h="213419">
                <a:tc>
                  <a:txBody>
                    <a:bodyPr/>
                    <a:lstStyle/>
                    <a:p>
                      <a:pPr algn="l" rtl="0" fontAlgn="ctr"/>
                      <a:r>
                        <a:rPr lang="en-US" sz="1200" b="0" i="0" u="none" strike="noStrike">
                          <a:solidFill>
                            <a:srgbClr val="000000"/>
                          </a:solidFill>
                          <a:effectLst/>
                          <a:latin typeface="Tahoma" panose="020B0604030504040204" pitchFamily="34" charset="0"/>
                        </a:rPr>
                        <a:t>Homeowner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569965966"/>
                  </a:ext>
                </a:extLst>
              </a:tr>
              <a:tr h="537704">
                <a:tc>
                  <a:txBody>
                    <a:bodyPr/>
                    <a:lstStyle/>
                    <a:p>
                      <a:pPr algn="l" rtl="0" fontAlgn="ctr"/>
                      <a:r>
                        <a:rPr lang="en-US" sz="1200" b="0" i="0" u="none" strike="noStrike">
                          <a:solidFill>
                            <a:srgbClr val="000000"/>
                          </a:solidFill>
                          <a:effectLst/>
                          <a:latin typeface="Tahoma" panose="020B0604030504040204" pitchFamily="34" charset="0"/>
                        </a:rPr>
                        <a:t>I already got three people signed up by telling them what I had done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4068219562"/>
                  </a:ext>
                </a:extLst>
              </a:tr>
              <a:tr h="213419">
                <a:tc>
                  <a:txBody>
                    <a:bodyPr/>
                    <a:lstStyle/>
                    <a:p>
                      <a:pPr algn="l" rtl="0" fontAlgn="ctr"/>
                      <a:r>
                        <a:rPr lang="en-US" sz="1200" b="0" i="0" u="none" strike="noStrike">
                          <a:solidFill>
                            <a:srgbClr val="000000"/>
                          </a:solidFill>
                          <a:effectLst/>
                          <a:latin typeface="Tahoma" panose="020B0604030504040204" pitchFamily="34" charset="0"/>
                        </a:rPr>
                        <a:t>Older home weatherization</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2372764997"/>
                  </a:ext>
                </a:extLst>
              </a:tr>
              <a:tr h="361528">
                <a:tc>
                  <a:txBody>
                    <a:bodyPr/>
                    <a:lstStyle/>
                    <a:p>
                      <a:pPr algn="l" rtl="0" fontAlgn="ctr"/>
                      <a:r>
                        <a:rPr lang="en-US" sz="1200" b="0" i="0" u="none" strike="noStrike">
                          <a:solidFill>
                            <a:srgbClr val="000000"/>
                          </a:solidFill>
                          <a:effectLst/>
                          <a:latin typeface="Tahoma" panose="020B0604030504040204" pitchFamily="34" charset="0"/>
                        </a:rPr>
                        <a:t>The title now is great. Austin Energy Efficiency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781579863"/>
                  </a:ext>
                </a:extLst>
              </a:tr>
              <a:tr h="537704">
                <a:tc>
                  <a:txBody>
                    <a:bodyPr/>
                    <a:lstStyle/>
                    <a:p>
                      <a:pPr algn="l" rtl="0" fontAlgn="ctr"/>
                      <a:r>
                        <a:rPr lang="en-US" sz="1200" b="0" i="0" u="none" strike="noStrike" dirty="0">
                          <a:solidFill>
                            <a:srgbClr val="000000"/>
                          </a:solidFill>
                          <a:effectLst/>
                          <a:latin typeface="Tahoma" panose="020B0604030504040204" pitchFamily="34" charset="0"/>
                        </a:rPr>
                        <a:t>The way it was worded was Low to moderate income individuals.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132018358"/>
                  </a:ext>
                </a:extLst>
              </a:tr>
            </a:tbl>
          </a:graphicData>
        </a:graphic>
      </p:graphicFrame>
    </p:spTree>
    <p:extLst>
      <p:ext uri="{BB962C8B-B14F-4D97-AF65-F5344CB8AC3E}">
        <p14:creationId xmlns:p14="http://schemas.microsoft.com/office/powerpoint/2010/main" val="21069105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2 of 3)</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F3C71BD1-16DA-4B42-ADF2-996C2A908553}"/>
              </a:ext>
            </a:extLst>
          </p:cNvPr>
          <p:cNvGraphicFramePr>
            <a:graphicFrameLocks noGrp="1"/>
          </p:cNvGraphicFramePr>
          <p:nvPr>
            <p:extLst>
              <p:ext uri="{D42A27DB-BD31-4B8C-83A1-F6EECF244321}">
                <p14:modId xmlns:p14="http://schemas.microsoft.com/office/powerpoint/2010/main" val="879476681"/>
              </p:ext>
            </p:extLst>
          </p:nvPr>
        </p:nvGraphicFramePr>
        <p:xfrm>
          <a:off x="514654" y="1296536"/>
          <a:ext cx="5886145" cy="6715546"/>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408126">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Very good program that many should take advantage of if eligible.</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23872747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I think it's wonderful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3%</a:t>
                      </a:r>
                    </a:p>
                  </a:txBody>
                  <a:tcPr marL="9525" marR="9525" marT="9525" marB="0" anchor="ctr">
                    <a:solidFill>
                      <a:srgbClr val="DDE7F2"/>
                    </a:solidFill>
                  </a:tcPr>
                </a:tc>
                <a:extLst>
                  <a:ext uri="{0D108BD9-81ED-4DB2-BD59-A6C34878D82A}">
                    <a16:rowId xmlns:a16="http://schemas.microsoft.com/office/drawing/2014/main" val="135380707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 way to reduce your energy use in the summer</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All around great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Amazing</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19778">
                <a:tc>
                  <a:txBody>
                    <a:bodyPr/>
                    <a:lstStyle/>
                    <a:p>
                      <a:pPr algn="l" rtl="0" fontAlgn="ctr"/>
                      <a:r>
                        <a:rPr lang="en-US" sz="1200" b="0" i="0" u="none" strike="noStrike">
                          <a:solidFill>
                            <a:srgbClr val="000000"/>
                          </a:solidFill>
                          <a:effectLst/>
                          <a:latin typeface="Tahoma" panose="020B0604030504040204" pitchFamily="34" charset="0"/>
                        </a:rPr>
                        <a:t>Blessing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19778">
                <a:tc>
                  <a:txBody>
                    <a:bodyPr/>
                    <a:lstStyle/>
                    <a:p>
                      <a:pPr algn="l" rtl="0" fontAlgn="ctr"/>
                      <a:r>
                        <a:rPr lang="en-US" sz="1200" b="0" i="0" u="none" strike="noStrike">
                          <a:solidFill>
                            <a:srgbClr val="000000"/>
                          </a:solidFill>
                          <a:effectLst/>
                          <a:latin typeface="Tahoma" panose="020B0604030504040204" pitchFamily="34" charset="0"/>
                        </a:rPr>
                        <a:t>Check it out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19778">
                <a:tc>
                  <a:txBody>
                    <a:bodyPr/>
                    <a:lstStyle/>
                    <a:p>
                      <a:pPr algn="l" rtl="0" fontAlgn="ctr"/>
                      <a:r>
                        <a:rPr lang="en-US" sz="1200" b="0" i="0" u="none" strike="noStrike">
                          <a:solidFill>
                            <a:srgbClr val="000000"/>
                          </a:solidFill>
                          <a:effectLst/>
                          <a:latin typeface="Tahoma" panose="020B0604030504040204" pitchFamily="34" charset="0"/>
                        </a:rPr>
                        <a:t>Cool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408126">
                <a:tc>
                  <a:txBody>
                    <a:bodyPr/>
                    <a:lstStyle/>
                    <a:p>
                      <a:pPr algn="l" rtl="0" fontAlgn="ctr"/>
                      <a:r>
                        <a:rPr lang="en-US" sz="1200" b="0" i="0" u="none" strike="noStrike">
                          <a:solidFill>
                            <a:srgbClr val="000000"/>
                          </a:solidFill>
                          <a:effectLst/>
                          <a:latin typeface="Tahoma" panose="020B0604030504040204" pitchFamily="34" charset="0"/>
                        </a:rPr>
                        <a:t>Cost efficient home weatherization improvement.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19778">
                <a:tc>
                  <a:txBody>
                    <a:bodyPr/>
                    <a:lstStyle/>
                    <a:p>
                      <a:pPr algn="l" rtl="0" fontAlgn="ctr"/>
                      <a:r>
                        <a:rPr lang="en-US" sz="1200" b="0" i="0" u="none" strike="noStrike">
                          <a:solidFill>
                            <a:srgbClr val="000000"/>
                          </a:solidFill>
                          <a:effectLst/>
                          <a:latin typeface="Tahoma" panose="020B0604030504040204" pitchFamily="34" charset="0"/>
                        </a:rPr>
                        <a:t>Customer assistance weatherization</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19778">
                <a:tc>
                  <a:txBody>
                    <a:bodyPr/>
                    <a:lstStyle/>
                    <a:p>
                      <a:pPr algn="l" rtl="0" fontAlgn="ctr"/>
                      <a:r>
                        <a:rPr lang="en-US" sz="1200" b="0" i="0" u="none" strike="noStrike" dirty="0">
                          <a:solidFill>
                            <a:srgbClr val="000000"/>
                          </a:solidFill>
                          <a:effectLst/>
                          <a:latin typeface="Tahoma" panose="020B0604030504040204" pitchFamily="34" charset="0"/>
                        </a:rPr>
                        <a:t>Doing a great job to help</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19778">
                <a:tc>
                  <a:txBody>
                    <a:bodyPr/>
                    <a:lstStyle/>
                    <a:p>
                      <a:pPr algn="l" rtl="0" fontAlgn="ctr"/>
                      <a:r>
                        <a:rPr lang="en-US" sz="1200" b="0" i="0" u="none" strike="noStrike">
                          <a:solidFill>
                            <a:srgbClr val="000000"/>
                          </a:solidFill>
                          <a:effectLst/>
                          <a:latin typeface="Tahoma" panose="020B0604030504040204" pitchFamily="34" charset="0"/>
                        </a:rPr>
                        <a:t>Easy</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19778">
                <a:tc>
                  <a:txBody>
                    <a:bodyPr/>
                    <a:lstStyle/>
                    <a:p>
                      <a:pPr algn="l" rtl="0" fontAlgn="ctr"/>
                      <a:r>
                        <a:rPr lang="en-US" sz="1200" b="0" i="0" u="none" strike="noStrike">
                          <a:solidFill>
                            <a:srgbClr val="000000"/>
                          </a:solidFill>
                          <a:effectLst/>
                          <a:latin typeface="Tahoma" panose="020B0604030504040204" pitchFamily="34" charset="0"/>
                        </a:rPr>
                        <a:t>Energy saving assist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19778">
                <a:tc>
                  <a:txBody>
                    <a:bodyPr/>
                    <a:lstStyle/>
                    <a:p>
                      <a:pPr algn="l" rtl="0" fontAlgn="ctr"/>
                      <a:r>
                        <a:rPr lang="en-US" sz="1200" b="0" i="0" u="none" strike="noStrike">
                          <a:solidFill>
                            <a:srgbClr val="000000"/>
                          </a:solidFill>
                          <a:effectLst/>
                          <a:latin typeface="Tahoma" panose="020B0604030504040204" pitchFamily="34" charset="0"/>
                        </a:rPr>
                        <a:t>Excellent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19778">
                <a:tc>
                  <a:txBody>
                    <a:bodyPr/>
                    <a:lstStyle/>
                    <a:p>
                      <a:pPr algn="l" rtl="0" fontAlgn="ctr"/>
                      <a:r>
                        <a:rPr lang="en-US" sz="1200" b="0" i="0" u="none" strike="noStrike">
                          <a:solidFill>
                            <a:srgbClr val="000000"/>
                          </a:solidFill>
                          <a:effectLst/>
                          <a:latin typeface="Tahoma" panose="020B0604030504040204" pitchFamily="34" charset="0"/>
                        </a:rPr>
                        <a:t>Free program</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408126">
                <a:tc>
                  <a:txBody>
                    <a:bodyPr/>
                    <a:lstStyle/>
                    <a:p>
                      <a:pPr algn="l" rtl="0" fontAlgn="ctr"/>
                      <a:r>
                        <a:rPr lang="en-US" sz="1200" b="0" i="0" u="none" strike="noStrike">
                          <a:solidFill>
                            <a:srgbClr val="000000"/>
                          </a:solidFill>
                          <a:effectLst/>
                          <a:latin typeface="Tahoma" panose="020B0604030504040204" pitchFamily="34" charset="0"/>
                        </a:rPr>
                        <a:t>Great program</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5%</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21625">
                <a:tc>
                  <a:txBody>
                    <a:bodyPr/>
                    <a:lstStyle/>
                    <a:p>
                      <a:pPr algn="l" rtl="0" fontAlgn="ctr"/>
                      <a:r>
                        <a:rPr lang="en-US" sz="1200" b="0" i="0" u="none" strike="noStrike">
                          <a:solidFill>
                            <a:srgbClr val="000000"/>
                          </a:solidFill>
                          <a:effectLst/>
                          <a:latin typeface="Tahoma" panose="020B0604030504040204" pitchFamily="34" charset="0"/>
                        </a:rPr>
                        <a:t>Helpful</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21625">
                <a:tc>
                  <a:txBody>
                    <a:bodyPr/>
                    <a:lstStyle/>
                    <a:p>
                      <a:pPr algn="l" rtl="0" fontAlgn="ctr"/>
                      <a:r>
                        <a:rPr lang="en-US" sz="1200" b="0" i="0" u="none" strike="noStrike">
                          <a:solidFill>
                            <a:srgbClr val="000000"/>
                          </a:solidFill>
                          <a:effectLst/>
                          <a:latin typeface="Tahoma" panose="020B0604030504040204" pitchFamily="34" charset="0"/>
                        </a:rPr>
                        <a:t>Home energy improvements</a:t>
                      </a:r>
                    </a:p>
                  </a:txBody>
                  <a:tcPr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rgbClr val="DCE6F1"/>
                    </a:solidFill>
                  </a:tcPr>
                </a:tc>
                <a:extLst>
                  <a:ext uri="{0D108BD9-81ED-4DB2-BD59-A6C34878D82A}">
                    <a16:rowId xmlns:a16="http://schemas.microsoft.com/office/drawing/2014/main" val="4068219562"/>
                  </a:ext>
                </a:extLst>
              </a:tr>
              <a:tr h="221625">
                <a:tc>
                  <a:txBody>
                    <a:bodyPr/>
                    <a:lstStyle/>
                    <a:p>
                      <a:pPr algn="l" rtl="0" fontAlgn="ctr"/>
                      <a:r>
                        <a:rPr lang="en-US" sz="1200" b="0" i="0" u="none" strike="noStrike">
                          <a:solidFill>
                            <a:srgbClr val="000000"/>
                          </a:solidFill>
                          <a:effectLst/>
                          <a:latin typeface="Tahoma" panose="020B0604030504040204" pitchFamily="34" charset="0"/>
                        </a:rPr>
                        <a:t>Home improvements</a:t>
                      </a:r>
                    </a:p>
                  </a:txBody>
                  <a:tcPr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rgbClr val="DCE6F1"/>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73394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FC0D3-9D5C-03FB-A235-67CDAA15B423}"/>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9C3BD757-E22A-8CA5-CD5D-3E7F8D9EDFCC}"/>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 </a:t>
            </a:r>
            <a:r>
              <a:rPr lang="en-US" altLang="en-US" sz="2400">
                <a:ea typeface="MS PGothic" panose="020B0600070205080204" pitchFamily="34" charset="-128"/>
              </a:rPr>
              <a:t>(Table 3 of 3)</a:t>
            </a:r>
            <a:endParaRPr lang="en-US" altLang="en-US"/>
          </a:p>
        </p:txBody>
      </p:sp>
      <p:sp>
        <p:nvSpPr>
          <p:cNvPr id="23555" name="Slide Number Placeholder 7">
            <a:extLst>
              <a:ext uri="{FF2B5EF4-FFF2-40B4-BE49-F238E27FC236}">
                <a16:creationId xmlns:a16="http://schemas.microsoft.com/office/drawing/2014/main" id="{3C731882-17C9-62CC-B978-F7C6EB539231}"/>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1ED5A6ED-9335-53A3-FA65-3F332554071B}"/>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a:solidFill>
                  <a:srgbClr val="000000"/>
                </a:solidFill>
                <a:latin typeface="Tahoma"/>
                <a:ea typeface="ＭＳ Ｐゴシック" charset="-128"/>
              </a:rPr>
              <a:t>D12</a:t>
            </a:r>
            <a:r>
              <a:rPr kumimoji="0" lang="en-US" sz="1100" b="0" i="0" u="none" strike="noStrike" kern="1200" cap="none" spc="0" normalizeH="0" baseline="0" noProof="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0A3082A5-4124-0FF2-C6A7-7F81BC703AA1}"/>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7" name="Table 6">
            <a:extLst>
              <a:ext uri="{FF2B5EF4-FFF2-40B4-BE49-F238E27FC236}">
                <a16:creationId xmlns:a16="http://schemas.microsoft.com/office/drawing/2014/main" id="{94840290-6ABC-48F4-F41B-B018492D8A38}"/>
              </a:ext>
            </a:extLst>
          </p:cNvPr>
          <p:cNvGraphicFramePr>
            <a:graphicFrameLocks noGrp="1"/>
          </p:cNvGraphicFramePr>
          <p:nvPr>
            <p:extLst>
              <p:ext uri="{D42A27DB-BD31-4B8C-83A1-F6EECF244321}">
                <p14:modId xmlns:p14="http://schemas.microsoft.com/office/powerpoint/2010/main" val="2016592355"/>
              </p:ext>
            </p:extLst>
          </p:nvPr>
        </p:nvGraphicFramePr>
        <p:xfrm>
          <a:off x="514654" y="1296536"/>
          <a:ext cx="5886145" cy="6870094"/>
        </p:xfrm>
        <a:graphic>
          <a:graphicData uri="http://schemas.openxmlformats.org/drawingml/2006/table">
            <a:tbl>
              <a:tblPr firstRow="1" lastRow="1">
                <a:tableStyleId>{5C22544A-7EE6-4342-B048-85BDC9FD1C3A}</a:tableStyleId>
              </a:tblPr>
              <a:tblGrid>
                <a:gridCol w="2152346">
                  <a:extLst>
                    <a:ext uri="{9D8B030D-6E8A-4147-A177-3AD203B41FA5}">
                      <a16:colId xmlns:a16="http://schemas.microsoft.com/office/drawing/2014/main" val="20000"/>
                    </a:ext>
                  </a:extLst>
                </a:gridCol>
                <a:gridCol w="1136972">
                  <a:extLst>
                    <a:ext uri="{9D8B030D-6E8A-4147-A177-3AD203B41FA5}">
                      <a16:colId xmlns:a16="http://schemas.microsoft.com/office/drawing/2014/main" val="3387442301"/>
                    </a:ext>
                  </a:extLst>
                </a:gridCol>
                <a:gridCol w="865609">
                  <a:extLst>
                    <a:ext uri="{9D8B030D-6E8A-4147-A177-3AD203B41FA5}">
                      <a16:colId xmlns:a16="http://schemas.microsoft.com/office/drawing/2014/main" val="3096603461"/>
                    </a:ext>
                  </a:extLst>
                </a:gridCol>
                <a:gridCol w="865609">
                  <a:extLst>
                    <a:ext uri="{9D8B030D-6E8A-4147-A177-3AD203B41FA5}">
                      <a16:colId xmlns:a16="http://schemas.microsoft.com/office/drawing/2014/main" val="335781355"/>
                    </a:ext>
                  </a:extLst>
                </a:gridCol>
                <a:gridCol w="865609">
                  <a:extLst>
                    <a:ext uri="{9D8B030D-6E8A-4147-A177-3AD203B41FA5}">
                      <a16:colId xmlns:a16="http://schemas.microsoft.com/office/drawing/2014/main" val="2532583466"/>
                    </a:ext>
                  </a:extLst>
                </a:gridCol>
              </a:tblGrid>
              <a:tr h="387733">
                <a:tc>
                  <a:txBody>
                    <a:bodyPr/>
                    <a:lstStyle/>
                    <a:p>
                      <a:pPr algn="ctr" rtl="0" fontAlgn="ctr"/>
                      <a:r>
                        <a:rPr lang="en-US" sz="1200" b="1" i="0" u="none" strike="noStrike">
                          <a:solidFill>
                            <a:srgbClr val="FFFFFF"/>
                          </a:solidFill>
                          <a:effectLst/>
                          <a:latin typeface="Tahoma" panose="020B0604030504040204" pitchFamily="34" charset="0"/>
                        </a:rPr>
                        <a:t>Words to Describe Program to Other Participants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 can't remember how I described it to other people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387274723"/>
                  </a:ext>
                </a:extLst>
              </a:tr>
              <a:tr h="356533">
                <a:tc>
                  <a:txBody>
                    <a:bodyPr/>
                    <a:lstStyle/>
                    <a:p>
                      <a:pPr algn="l" rtl="0" fontAlgn="ctr"/>
                      <a:r>
                        <a:rPr lang="en-US" sz="1200" b="0" i="0" u="none" strike="noStrike" dirty="0">
                          <a:solidFill>
                            <a:srgbClr val="000000"/>
                          </a:solidFill>
                          <a:effectLst/>
                          <a:latin typeface="Tahoma" panose="020B0604030504040204" pitchFamily="34" charset="0"/>
                        </a:rPr>
                        <a:t>Income qualified weatherization upgrade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41814725"/>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Incredibly beneficial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880038080"/>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It will help the environment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53807071"/>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Justifiable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879869693"/>
                  </a:ext>
                </a:extLst>
              </a:tr>
              <a:tr h="303799">
                <a:tc>
                  <a:txBody>
                    <a:bodyPr/>
                    <a:lstStyle/>
                    <a:p>
                      <a:pPr algn="l" rtl="0" fontAlgn="ctr"/>
                      <a:r>
                        <a:rPr lang="en-US" sz="1200" b="0" i="0" u="none" strike="noStrike" dirty="0">
                          <a:solidFill>
                            <a:srgbClr val="000000"/>
                          </a:solidFill>
                          <a:effectLst/>
                          <a:latin typeface="Tahoma" panose="020B0604030504040204" pitchFamily="34" charset="0"/>
                        </a:rPr>
                        <a:t>No, I think that says it</a:t>
                      </a:r>
                    </a:p>
                  </a:txBody>
                  <a:tcPr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980449391"/>
                  </a:ext>
                </a:extLst>
              </a:tr>
              <a:tr h="303799">
                <a:tc>
                  <a:txBody>
                    <a:bodyPr/>
                    <a:lstStyle/>
                    <a:p>
                      <a:pPr algn="l" rtl="0" fontAlgn="ctr"/>
                      <a:r>
                        <a:rPr lang="en-US" sz="1200" b="0" i="0" u="none" strike="noStrike">
                          <a:solidFill>
                            <a:srgbClr val="000000"/>
                          </a:solidFill>
                          <a:effectLst/>
                          <a:latin typeface="Tahoma" panose="020B0604030504040204" pitchFamily="34" charset="0"/>
                        </a:rPr>
                        <a:t>Outstanding value</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594809553"/>
                  </a:ext>
                </a:extLst>
              </a:tr>
              <a:tr h="303799">
                <a:tc>
                  <a:txBody>
                    <a:bodyPr/>
                    <a:lstStyle/>
                    <a:p>
                      <a:pPr algn="l" rtl="0" fontAlgn="ctr"/>
                      <a:r>
                        <a:rPr lang="en-US" sz="1200" b="0" i="0" u="none" strike="noStrike">
                          <a:solidFill>
                            <a:srgbClr val="000000"/>
                          </a:solidFill>
                          <a:effectLst/>
                          <a:latin typeface="Tahoma" panose="020B0604030504040204" pitchFamily="34" charset="0"/>
                        </a:rPr>
                        <a:t>Pass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62570224"/>
                  </a:ext>
                </a:extLst>
              </a:tr>
              <a:tr h="303799">
                <a:tc>
                  <a:txBody>
                    <a:bodyPr/>
                    <a:lstStyle/>
                    <a:p>
                      <a:pPr algn="l" rtl="0" fontAlgn="ctr"/>
                      <a:r>
                        <a:rPr lang="en-US" sz="1200" b="0" i="0" u="none" strike="noStrike">
                          <a:solidFill>
                            <a:srgbClr val="000000"/>
                          </a:solidFill>
                          <a:effectLst/>
                          <a:latin typeface="Tahoma" panose="020B0604030504040204" pitchFamily="34" charset="0"/>
                        </a:rPr>
                        <a:t>Patients on the waiting list</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269965633"/>
                  </a:ext>
                </a:extLst>
              </a:tr>
              <a:tr h="356533">
                <a:tc>
                  <a:txBody>
                    <a:bodyPr/>
                    <a:lstStyle/>
                    <a:p>
                      <a:pPr algn="l" rtl="0" fontAlgn="ctr"/>
                      <a:r>
                        <a:rPr lang="en-US" sz="1200" b="0" i="0" u="none" strike="noStrike">
                          <a:solidFill>
                            <a:srgbClr val="000000"/>
                          </a:solidFill>
                          <a:effectLst/>
                          <a:latin typeface="Tahoma" panose="020B0604030504040204" pitchFamily="34" charset="0"/>
                        </a:rPr>
                        <a:t>Perfect program for somebody who can afford the upgrades</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86902819"/>
                  </a:ext>
                </a:extLst>
              </a:tr>
              <a:tr h="387733">
                <a:tc>
                  <a:txBody>
                    <a:bodyPr/>
                    <a:lstStyle/>
                    <a:p>
                      <a:pPr algn="l" rtl="0" fontAlgn="ctr"/>
                      <a:r>
                        <a:rPr lang="en-US" sz="1200" b="0" i="0" u="none" strike="noStrike">
                          <a:solidFill>
                            <a:srgbClr val="000000"/>
                          </a:solidFill>
                          <a:effectLst/>
                          <a:latin typeface="Tahoma" panose="020B0604030504040204" pitchFamily="34" charset="0"/>
                        </a:rPr>
                        <a:t>Pretty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308531572"/>
                  </a:ext>
                </a:extLst>
              </a:tr>
              <a:tr h="303799">
                <a:tc>
                  <a:txBody>
                    <a:bodyPr/>
                    <a:lstStyle/>
                    <a:p>
                      <a:pPr algn="l" rtl="0" fontAlgn="ctr"/>
                      <a:r>
                        <a:rPr lang="en-US" sz="1200" b="0" i="0" u="none" strike="noStrike">
                          <a:solidFill>
                            <a:srgbClr val="000000"/>
                          </a:solidFill>
                          <a:effectLst/>
                          <a:latin typeface="Tahoma" panose="020B0604030504040204" pitchFamily="34" charset="0"/>
                        </a:rPr>
                        <a:t>Relieving</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174395123"/>
                  </a:ext>
                </a:extLst>
              </a:tr>
              <a:tr h="303799">
                <a:tc>
                  <a:txBody>
                    <a:bodyPr/>
                    <a:lstStyle/>
                    <a:p>
                      <a:pPr algn="l" rtl="0" fontAlgn="ctr"/>
                      <a:r>
                        <a:rPr lang="en-US" sz="1200" b="0" i="0" u="none" strike="noStrike">
                          <a:solidFill>
                            <a:srgbClr val="000000"/>
                          </a:solidFill>
                          <a:effectLst/>
                          <a:latin typeface="Tahoma" panose="020B0604030504040204" pitchFamily="34" charset="0"/>
                        </a:rPr>
                        <a:t>Surreal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459153912"/>
                  </a:ext>
                </a:extLst>
              </a:tr>
              <a:tr h="303799">
                <a:tc>
                  <a:txBody>
                    <a:bodyPr/>
                    <a:lstStyle/>
                    <a:p>
                      <a:pPr algn="l" rtl="0" fontAlgn="ctr"/>
                      <a:r>
                        <a:rPr lang="en-US" sz="1200" b="0" i="0" u="none" strike="noStrike">
                          <a:solidFill>
                            <a:srgbClr val="000000"/>
                          </a:solidFill>
                          <a:effectLst/>
                          <a:latin typeface="Tahoma" panose="020B0604030504040204" pitchFamily="34" charset="0"/>
                        </a:rPr>
                        <a:t>The program is good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33574110"/>
                  </a:ext>
                </a:extLst>
              </a:tr>
              <a:tr h="303799">
                <a:tc>
                  <a:txBody>
                    <a:bodyPr/>
                    <a:lstStyle/>
                    <a:p>
                      <a:pPr algn="l" rtl="0" fontAlgn="ctr"/>
                      <a:r>
                        <a:rPr lang="en-US" sz="1200" b="0" i="0" u="none" strike="noStrike">
                          <a:solidFill>
                            <a:srgbClr val="000000"/>
                          </a:solidFill>
                          <a:effectLst/>
                          <a:latin typeface="Tahoma" panose="020B0604030504040204" pitchFamily="34" charset="0"/>
                        </a:rPr>
                        <a:t>Try to get enrolled</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4268332777"/>
                  </a:ext>
                </a:extLst>
              </a:tr>
              <a:tr h="303799">
                <a:tc>
                  <a:txBody>
                    <a:bodyPr/>
                    <a:lstStyle/>
                    <a:p>
                      <a:pPr algn="l" rtl="0" fontAlgn="ctr"/>
                      <a:r>
                        <a:rPr lang="en-US" sz="1200" b="0" i="0" u="none" strike="noStrike">
                          <a:solidFill>
                            <a:srgbClr val="000000"/>
                          </a:solidFill>
                          <a:effectLst/>
                          <a:latin typeface="Tahoma" panose="020B0604030504040204" pitchFamily="34" charset="0"/>
                        </a:rPr>
                        <a:t>Very helpful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0%</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1443192731"/>
                  </a:ext>
                </a:extLst>
              </a:tr>
              <a:tr h="303799">
                <a:tc>
                  <a:txBody>
                    <a:bodyPr/>
                    <a:lstStyle/>
                    <a:p>
                      <a:pPr algn="l" rtl="0" fontAlgn="ctr"/>
                      <a:r>
                        <a:rPr lang="en-US" sz="1200" b="0" i="0" u="none" strike="noStrike">
                          <a:solidFill>
                            <a:srgbClr val="000000"/>
                          </a:solidFill>
                          <a:effectLst/>
                          <a:latin typeface="Tahoma" panose="020B0604030504040204" pitchFamily="34" charset="0"/>
                        </a:rPr>
                        <a:t>Very useful</a:t>
                      </a:r>
                    </a:p>
                  </a:txBody>
                  <a:tcPr marR="9525" marT="9525" marB="0" anchor="ctr">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DE7F2"/>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DE7F2"/>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DE7F2"/>
                    </a:solidFill>
                  </a:tcPr>
                </a:tc>
                <a:extLst>
                  <a:ext uri="{0D108BD9-81ED-4DB2-BD59-A6C34878D82A}">
                    <a16:rowId xmlns:a16="http://schemas.microsoft.com/office/drawing/2014/main" val="3977933919"/>
                  </a:ext>
                </a:extLst>
              </a:tr>
              <a:tr h="387733">
                <a:tc>
                  <a:txBody>
                    <a:bodyPr/>
                    <a:lstStyle/>
                    <a:p>
                      <a:pPr algn="l" rtl="0" fontAlgn="ctr"/>
                      <a:r>
                        <a:rPr lang="en-US" sz="1200" b="0" i="0" u="none" strike="noStrike">
                          <a:solidFill>
                            <a:srgbClr val="000000"/>
                          </a:solidFill>
                          <a:effectLst/>
                          <a:latin typeface="Tahoma" panose="020B0604030504040204" pitchFamily="34" charset="0"/>
                        </a:rPr>
                        <a:t>Weatherization assistance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2%</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631922504"/>
                  </a:ext>
                </a:extLst>
              </a:tr>
              <a:tr h="210551">
                <a:tc>
                  <a:txBody>
                    <a:bodyPr/>
                    <a:lstStyle/>
                    <a:p>
                      <a:pPr algn="l" rtl="0" fontAlgn="ctr"/>
                      <a:r>
                        <a:rPr lang="en-US" sz="1200" b="0" i="0" u="none" strike="noStrike">
                          <a:solidFill>
                            <a:srgbClr val="000000"/>
                          </a:solidFill>
                          <a:effectLst/>
                          <a:latin typeface="Tahoma" panose="020B0604030504040204" pitchFamily="34" charset="0"/>
                        </a:rPr>
                        <a:t>Worth it</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Tahoma" panose="020B0604030504040204" pitchFamily="34" charset="0"/>
                        </a:rPr>
                        <a:t>9%</a:t>
                      </a:r>
                    </a:p>
                  </a:txBody>
                  <a:tcPr marL="9525"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569965966"/>
                  </a:ext>
                </a:extLst>
              </a:tr>
              <a:tr h="210551">
                <a:tc>
                  <a:txBody>
                    <a:bodyPr/>
                    <a:lstStyle/>
                    <a:p>
                      <a:pPr algn="l" rtl="0" fontAlgn="b"/>
                      <a:r>
                        <a:rPr lang="en-US" sz="1200" b="0" i="0" u="none" strike="noStrike">
                          <a:solidFill>
                            <a:srgbClr val="000000"/>
                          </a:solidFill>
                          <a:effectLst/>
                          <a:latin typeface="Tahoma" panose="020B0604030504040204" pitchFamily="34" charset="0"/>
                        </a:rPr>
                        <a:t>All other</a:t>
                      </a:r>
                    </a:p>
                  </a:txBody>
                  <a:tcPr marR="9525" marT="9525" marB="0" anchor="b">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200" b="0" i="0" u="none" strike="noStrike" dirty="0">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68219562"/>
                  </a:ext>
                </a:extLst>
              </a:tr>
              <a:tr h="210551">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dirty="0">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2372764997"/>
                  </a:ext>
                </a:extLst>
              </a:tr>
            </a:tbl>
          </a:graphicData>
        </a:graphic>
      </p:graphicFrame>
    </p:spTree>
    <p:extLst>
      <p:ext uri="{BB962C8B-B14F-4D97-AF65-F5344CB8AC3E}">
        <p14:creationId xmlns:p14="http://schemas.microsoft.com/office/powerpoint/2010/main" val="25045105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 name="Table 1"/>
          <p:cNvGraphicFramePr>
            <a:graphicFrameLocks noGrp="1"/>
          </p:cNvGraphicFramePr>
          <p:nvPr>
            <p:extLst>
              <p:ext uri="{D42A27DB-BD31-4B8C-83A1-F6EECF244321}">
                <p14:modId xmlns:p14="http://schemas.microsoft.com/office/powerpoint/2010/main" val="1982543056"/>
              </p:ext>
            </p:extLst>
          </p:nvPr>
        </p:nvGraphicFramePr>
        <p:xfrm>
          <a:off x="383726" y="2057400"/>
          <a:ext cx="5845624" cy="1656740"/>
        </p:xfrm>
        <a:graphic>
          <a:graphicData uri="http://schemas.openxmlformats.org/drawingml/2006/table">
            <a:tbl>
              <a:tblPr firstRow="1" lastRow="1">
                <a:tableStyleId>{5C22544A-7EE6-4342-B048-85BDC9FD1C3A}</a:tableStyleId>
              </a:tblPr>
              <a:tblGrid>
                <a:gridCol w="1532890">
                  <a:extLst>
                    <a:ext uri="{9D8B030D-6E8A-4147-A177-3AD203B41FA5}">
                      <a16:colId xmlns:a16="http://schemas.microsoft.com/office/drawing/2014/main" val="20000"/>
                    </a:ext>
                  </a:extLst>
                </a:gridCol>
                <a:gridCol w="902784">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428750">
                  <a:extLst>
                    <a:ext uri="{9D8B030D-6E8A-4147-A177-3AD203B41FA5}">
                      <a16:colId xmlns:a16="http://schemas.microsoft.com/office/drawing/2014/main" val="309755922"/>
                    </a:ext>
                  </a:extLst>
                </a:gridCol>
              </a:tblGrid>
              <a:tr h="457200">
                <a:tc>
                  <a:txBody>
                    <a:bodyPr/>
                    <a:lstStyle/>
                    <a:p>
                      <a:pPr algn="ctr" fontAlgn="ctr"/>
                      <a:r>
                        <a:rPr lang="en-US" sz="1200" u="none" strike="noStrike">
                          <a:effectLst/>
                        </a:rPr>
                        <a:t>Gender</a:t>
                      </a:r>
                      <a:endParaRPr lang="en-US" sz="1200" b="1" i="0" u="none" strike="noStrike">
                        <a:solidFill>
                          <a:srgbClr val="FFFFFF"/>
                        </a:solidFill>
                        <a:effectLst/>
                        <a:latin typeface="Calibri" panose="020F0502020204030204" pitchFamily="34" charset="0"/>
                      </a:endParaRP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Q1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Q2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Q3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Q4 2024</a:t>
                      </a:r>
                    </a:p>
                  </a:txBody>
                  <a:tcPr marL="9525" marR="9525" marT="9525" marB="0" anchor="ctr">
                    <a:solidFill>
                      <a:srgbClr val="4F81BD"/>
                    </a:solidFill>
                  </a:tcPr>
                </a:tc>
                <a:extLst>
                  <a:ext uri="{0D108BD9-81ED-4DB2-BD59-A6C34878D82A}">
                    <a16:rowId xmlns:a16="http://schemas.microsoft.com/office/drawing/2014/main" val="10000"/>
                  </a:ext>
                </a:extLst>
              </a:tr>
              <a:tr h="297332">
                <a:tc>
                  <a:txBody>
                    <a:bodyPr/>
                    <a:lstStyle/>
                    <a:p>
                      <a:pPr algn="l" fontAlgn="ctr"/>
                      <a:r>
                        <a:rPr lang="en-US" sz="1200" u="none" strike="noStrike">
                          <a:effectLst/>
                        </a:rPr>
                        <a:t>Male</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algn="ctr" fontAlgn="ctr"/>
                      <a:r>
                        <a:rPr lang="en-US" sz="1200" b="0" i="0" u="none" strike="noStrike">
                          <a:solidFill>
                            <a:srgbClr val="000000"/>
                          </a:solidFill>
                          <a:effectLst/>
                          <a:latin typeface="+mn-lt"/>
                        </a:rPr>
                        <a:t>33%</a:t>
                      </a:r>
                    </a:p>
                  </a:txBody>
                  <a:tcPr marL="9525" marR="9525" marT="9525" marB="0" anchor="ctr">
                    <a:solidFill>
                      <a:srgbClr val="DCE6F1"/>
                    </a:solidFill>
                  </a:tcPr>
                </a:tc>
                <a:tc>
                  <a:txBody>
                    <a:bodyPr/>
                    <a:lstStyle/>
                    <a:p>
                      <a:pPr algn="ctr" fontAlgn="ctr"/>
                      <a:r>
                        <a:rPr lang="en-US" sz="1200" b="0" i="0" u="none" strike="noStrike">
                          <a:solidFill>
                            <a:srgbClr val="000000"/>
                          </a:solidFill>
                          <a:effectLst/>
                          <a:latin typeface="+mn-lt"/>
                        </a:rPr>
                        <a:t>46%</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32%</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30%</a:t>
                      </a:r>
                    </a:p>
                  </a:txBody>
                  <a:tcPr marL="9525" marR="9525" marT="9525" marB="0" anchor="ctr">
                    <a:solidFill>
                      <a:srgbClr val="DCE6F1"/>
                    </a:solidFill>
                  </a:tcPr>
                </a:tc>
                <a:extLst>
                  <a:ext uri="{0D108BD9-81ED-4DB2-BD59-A6C34878D82A}">
                    <a16:rowId xmlns:a16="http://schemas.microsoft.com/office/drawing/2014/main" val="10001"/>
                  </a:ext>
                </a:extLst>
              </a:tr>
              <a:tr h="304800">
                <a:tc>
                  <a:txBody>
                    <a:bodyPr/>
                    <a:lstStyle/>
                    <a:p>
                      <a:pPr algn="l" fontAlgn="ctr"/>
                      <a:r>
                        <a:rPr lang="en-US" sz="1200" u="none" strike="noStrike">
                          <a:effectLst/>
                        </a:rPr>
                        <a:t>Female</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58%</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50%</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63%</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70%</a:t>
                      </a:r>
                    </a:p>
                  </a:txBody>
                  <a:tcPr marL="9525" marR="9525" marT="9525" marB="0" anchor="ctr">
                    <a:solidFill>
                      <a:srgbClr val="DCE6F1"/>
                    </a:solidFill>
                  </a:tcPr>
                </a:tc>
                <a:extLst>
                  <a:ext uri="{0D108BD9-81ED-4DB2-BD59-A6C34878D82A}">
                    <a16:rowId xmlns:a16="http://schemas.microsoft.com/office/drawing/2014/main" val="10002"/>
                  </a:ext>
                </a:extLst>
              </a:tr>
              <a:tr h="304800">
                <a:tc>
                  <a:txBody>
                    <a:bodyPr/>
                    <a:lstStyle/>
                    <a:p>
                      <a:pPr marL="0" algn="l" defTabSz="914400" rtl="0" eaLnBrk="1" fontAlgn="ctr" latinLnBrk="0" hangingPunct="1"/>
                      <a:r>
                        <a:rPr lang="en-US" sz="1200" u="none" strike="noStrike" kern="1200">
                          <a:solidFill>
                            <a:schemeClr val="dk1"/>
                          </a:solidFill>
                          <a:effectLst/>
                          <a:latin typeface="+mn-lt"/>
                          <a:ea typeface="+mn-ea"/>
                          <a:cs typeface="+mn-cs"/>
                        </a:rPr>
                        <a:t>Refused</a:t>
                      </a: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8%</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mn-lt"/>
                        </a:rPr>
                        <a:t>5%</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5%</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2959310255"/>
                  </a:ext>
                </a:extLst>
              </a:tr>
              <a:tr h="292608">
                <a:tc>
                  <a:txBody>
                    <a:bodyPr/>
                    <a:lstStyle/>
                    <a:p>
                      <a:pPr algn="l" fontAlgn="ctr"/>
                      <a:r>
                        <a:rPr lang="en-US" sz="1200" u="none" strike="noStrike">
                          <a:effectLst/>
                        </a:rPr>
                        <a:t>Base: </a:t>
                      </a:r>
                      <a:endParaRPr lang="en-US" sz="1200" b="1" i="0" u="none" strike="noStrike">
                        <a:solidFill>
                          <a:srgbClr val="FFFFFF"/>
                        </a:solidFill>
                        <a:effectLst/>
                        <a:latin typeface="Calibri" panose="020F0502020204030204" pitchFamily="34" charset="0"/>
                      </a:endParaRPr>
                    </a:p>
                  </a:txBody>
                  <a:tcPr marL="85725" marR="9525" marT="9525" marB="0" anchor="ctr">
                    <a:solidFill>
                      <a:srgbClr val="4F81BD"/>
                    </a:solidFill>
                  </a:tcPr>
                </a:tc>
                <a:tc>
                  <a:txBody>
                    <a:bodyPr/>
                    <a:lstStyle/>
                    <a:p>
                      <a:pPr algn="ctr" fontAlgn="ctr"/>
                      <a:r>
                        <a:rPr lang="en-US" sz="1200" b="1" i="0" u="none" strike="noStrike">
                          <a:solidFill>
                            <a:srgbClr val="FFFFFF"/>
                          </a:solidFill>
                          <a:effectLst/>
                          <a:latin typeface="+mj-lt"/>
                        </a:rPr>
                        <a:t>12</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j-lt"/>
                        </a:rPr>
                        <a:t>44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j-lt"/>
                        </a:rPr>
                        <a:t>19</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j-lt"/>
                        </a:rPr>
                        <a:t>33</a:t>
                      </a:r>
                    </a:p>
                  </a:txBody>
                  <a:tcPr marL="9525" marR="9525" marT="9525" marB="0" anchor="ctr">
                    <a:solidFill>
                      <a:srgbClr val="4F81BD"/>
                    </a:solidFill>
                  </a:tcPr>
                </a:tc>
                <a:extLst>
                  <a:ext uri="{0D108BD9-81ED-4DB2-BD59-A6C34878D82A}">
                    <a16:rowId xmlns:a16="http://schemas.microsoft.com/office/drawing/2014/main" val="10003"/>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48897965"/>
              </p:ext>
            </p:extLst>
          </p:nvPr>
        </p:nvGraphicFramePr>
        <p:xfrm>
          <a:off x="383726" y="3962400"/>
          <a:ext cx="5845625" cy="2598833"/>
        </p:xfrm>
        <a:graphic>
          <a:graphicData uri="http://schemas.openxmlformats.org/drawingml/2006/table">
            <a:tbl>
              <a:tblPr firstRow="1" lastRow="1">
                <a:tableStyleId>{5C22544A-7EE6-4342-B048-85BDC9FD1C3A}</a:tableStyleId>
              </a:tblPr>
              <a:tblGrid>
                <a:gridCol w="1521274">
                  <a:extLst>
                    <a:ext uri="{9D8B030D-6E8A-4147-A177-3AD203B41FA5}">
                      <a16:colId xmlns:a16="http://schemas.microsoft.com/office/drawing/2014/main" val="20000"/>
                    </a:ext>
                  </a:extLst>
                </a:gridCol>
                <a:gridCol w="9144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428751">
                  <a:extLst>
                    <a:ext uri="{9D8B030D-6E8A-4147-A177-3AD203B41FA5}">
                      <a16:colId xmlns:a16="http://schemas.microsoft.com/office/drawing/2014/main" val="1767870716"/>
                    </a:ext>
                  </a:extLst>
                </a:gridCol>
              </a:tblGrid>
              <a:tr h="457200">
                <a:tc>
                  <a:txBody>
                    <a:bodyPr/>
                    <a:lstStyle/>
                    <a:p>
                      <a:pPr algn="ctr" fontAlgn="ctr"/>
                      <a:r>
                        <a:rPr lang="en-US" sz="1200" u="none" strike="noStrike">
                          <a:effectLst/>
                        </a:rPr>
                        <a:t>Age</a:t>
                      </a:r>
                      <a:endParaRPr lang="en-US" sz="1200" b="1" i="0" u="none" strike="noStrike">
                        <a:solidFill>
                          <a:srgbClr val="FFFFFF"/>
                        </a:solidFill>
                        <a:effectLst/>
                        <a:latin typeface="Calibri" panose="020F0502020204030204" pitchFamily="34" charset="0"/>
                      </a:endParaRP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Q1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Q2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Q3 2024</a:t>
                      </a:r>
                    </a:p>
                  </a:txBody>
                  <a:tcPr marL="9525" marR="9525" marT="9525" marB="0" anchor="ctr">
                    <a:solidFill>
                      <a:srgbClr val="4F81BD"/>
                    </a:solidFill>
                  </a:tcPr>
                </a:tc>
                <a:tc>
                  <a:txBody>
                    <a:bodyPr/>
                    <a:lstStyle/>
                    <a:p>
                      <a:pPr algn="ctr" fontAlgn="ctr"/>
                      <a:r>
                        <a:rPr lang="en-US" sz="1200" b="1" i="0" u="none" strike="noStrike">
                          <a:solidFill>
                            <a:srgbClr val="FFFFFF"/>
                          </a:solidFill>
                          <a:effectLst/>
                          <a:latin typeface="+mn-lt"/>
                        </a:rPr>
                        <a:t>Q4 2024</a:t>
                      </a:r>
                    </a:p>
                  </a:txBody>
                  <a:tcPr marL="9525" marR="9525" marT="9525" marB="0" anchor="ctr">
                    <a:solidFill>
                      <a:srgbClr val="4F81BD"/>
                    </a:solidFill>
                  </a:tcPr>
                </a:tc>
                <a:extLst>
                  <a:ext uri="{0D108BD9-81ED-4DB2-BD59-A6C34878D82A}">
                    <a16:rowId xmlns:a16="http://schemas.microsoft.com/office/drawing/2014/main" val="10000"/>
                  </a:ext>
                </a:extLst>
              </a:tr>
              <a:tr h="263740">
                <a:tc>
                  <a:txBody>
                    <a:bodyPr/>
                    <a:lstStyle/>
                    <a:p>
                      <a:pPr algn="l" fontAlgn="ctr"/>
                      <a:r>
                        <a:rPr lang="en-US" sz="1200" b="0" i="0" u="none" strike="noStrike">
                          <a:solidFill>
                            <a:srgbClr val="000000"/>
                          </a:solidFill>
                          <a:effectLst/>
                          <a:latin typeface="+mn-lt"/>
                        </a:rPr>
                        <a:t>18 to 24</a:t>
                      </a: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8%</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0%</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0%</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0%</a:t>
                      </a:r>
                    </a:p>
                  </a:txBody>
                  <a:tcPr marL="9525" marR="9525" marT="9525" marB="0" anchor="ctr">
                    <a:solidFill>
                      <a:srgbClr val="DCE6F1"/>
                    </a:solidFill>
                  </a:tcPr>
                </a:tc>
                <a:extLst>
                  <a:ext uri="{0D108BD9-81ED-4DB2-BD59-A6C34878D82A}">
                    <a16:rowId xmlns:a16="http://schemas.microsoft.com/office/drawing/2014/main" val="743809597"/>
                  </a:ext>
                </a:extLst>
              </a:tr>
              <a:tr h="263740">
                <a:tc>
                  <a:txBody>
                    <a:bodyPr/>
                    <a:lstStyle/>
                    <a:p>
                      <a:pPr algn="l" fontAlgn="ctr"/>
                      <a:r>
                        <a:rPr lang="en-US" sz="1200" u="none" strike="noStrike">
                          <a:effectLst/>
                        </a:rPr>
                        <a:t>25 to 34</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0%</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14%</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18%</a:t>
                      </a:r>
                    </a:p>
                  </a:txBody>
                  <a:tcPr marL="9525" marR="9525" marT="9525" marB="0" anchor="ctr">
                    <a:solidFill>
                      <a:srgbClr val="DCE6F1"/>
                    </a:solidFill>
                  </a:tcPr>
                </a:tc>
                <a:extLst>
                  <a:ext uri="{0D108BD9-81ED-4DB2-BD59-A6C34878D82A}">
                    <a16:rowId xmlns:a16="http://schemas.microsoft.com/office/drawing/2014/main" val="10002"/>
                  </a:ext>
                </a:extLst>
              </a:tr>
              <a:tr h="263740">
                <a:tc>
                  <a:txBody>
                    <a:bodyPr/>
                    <a:lstStyle/>
                    <a:p>
                      <a:pPr algn="l" fontAlgn="ctr"/>
                      <a:r>
                        <a:rPr lang="en-US" sz="1200" u="none" strike="noStrike">
                          <a:effectLst/>
                        </a:rPr>
                        <a:t>35 to 44</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42%</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16%</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21%</a:t>
                      </a:r>
                    </a:p>
                  </a:txBody>
                  <a:tcPr marL="9525" marR="9525" marT="9525" marB="0" anchor="ctr">
                    <a:solidFill>
                      <a:srgbClr val="DCE6F1"/>
                    </a:solidFill>
                  </a:tcPr>
                </a:tc>
                <a:extLst>
                  <a:ext uri="{0D108BD9-81ED-4DB2-BD59-A6C34878D82A}">
                    <a16:rowId xmlns:a16="http://schemas.microsoft.com/office/drawing/2014/main" val="10003"/>
                  </a:ext>
                </a:extLst>
              </a:tr>
              <a:tr h="263740">
                <a:tc>
                  <a:txBody>
                    <a:bodyPr/>
                    <a:lstStyle/>
                    <a:p>
                      <a:pPr algn="l" fontAlgn="ctr"/>
                      <a:r>
                        <a:rPr lang="en-US" sz="1200" u="none" strike="noStrike">
                          <a:effectLst/>
                        </a:rPr>
                        <a:t>45 to 54</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8%</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23%</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9%</a:t>
                      </a:r>
                    </a:p>
                  </a:txBody>
                  <a:tcPr marL="9525" marR="9525" marT="9525" marB="0" anchor="ctr">
                    <a:solidFill>
                      <a:srgbClr val="DCE6F1"/>
                    </a:solidFill>
                  </a:tcPr>
                </a:tc>
                <a:extLst>
                  <a:ext uri="{0D108BD9-81ED-4DB2-BD59-A6C34878D82A}">
                    <a16:rowId xmlns:a16="http://schemas.microsoft.com/office/drawing/2014/main" val="10004"/>
                  </a:ext>
                </a:extLst>
              </a:tr>
              <a:tr h="263740">
                <a:tc>
                  <a:txBody>
                    <a:bodyPr/>
                    <a:lstStyle/>
                    <a:p>
                      <a:pPr algn="l" fontAlgn="ctr"/>
                      <a:r>
                        <a:rPr lang="en-US" sz="1200" u="none" strike="noStrike">
                          <a:effectLst/>
                        </a:rPr>
                        <a:t>55 to 64</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17%</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7%</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16%</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21%</a:t>
                      </a:r>
                    </a:p>
                  </a:txBody>
                  <a:tcPr marL="9525" marR="9525" marT="9525" marB="0" anchor="ctr">
                    <a:solidFill>
                      <a:srgbClr val="DCE6F1"/>
                    </a:solidFill>
                  </a:tcPr>
                </a:tc>
                <a:extLst>
                  <a:ext uri="{0D108BD9-81ED-4DB2-BD59-A6C34878D82A}">
                    <a16:rowId xmlns:a16="http://schemas.microsoft.com/office/drawing/2014/main" val="10005"/>
                  </a:ext>
                </a:extLst>
              </a:tr>
              <a:tr h="263740">
                <a:tc>
                  <a:txBody>
                    <a:bodyPr/>
                    <a:lstStyle/>
                    <a:p>
                      <a:pPr algn="l" fontAlgn="ctr"/>
                      <a:r>
                        <a:rPr lang="en-US" sz="1200" u="none" strike="noStrike">
                          <a:effectLst/>
                        </a:rPr>
                        <a:t>65 years or older</a:t>
                      </a:r>
                      <a:endParaRPr lang="en-US" sz="1200" b="0" i="0" u="none" strike="noStrike">
                        <a:solidFill>
                          <a:srgbClr val="000000"/>
                        </a:solidFill>
                        <a:effectLst/>
                        <a:latin typeface="Calibri" panose="020F0502020204030204" pitchFamily="34" charset="0"/>
                      </a:endParaRP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17%</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27%</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32%</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30%</a:t>
                      </a:r>
                    </a:p>
                  </a:txBody>
                  <a:tcPr marL="9525" marR="9525" marT="9525" marB="0" anchor="ctr">
                    <a:solidFill>
                      <a:srgbClr val="DCE6F1"/>
                    </a:solidFill>
                  </a:tcPr>
                </a:tc>
                <a:extLst>
                  <a:ext uri="{0D108BD9-81ED-4DB2-BD59-A6C34878D82A}">
                    <a16:rowId xmlns:a16="http://schemas.microsoft.com/office/drawing/2014/main" val="10007"/>
                  </a:ext>
                </a:extLst>
              </a:tr>
              <a:tr h="263740">
                <a:tc>
                  <a:txBody>
                    <a:bodyPr/>
                    <a:lstStyle/>
                    <a:p>
                      <a:pPr algn="l" fontAlgn="ctr"/>
                      <a:r>
                        <a:rPr lang="en-US" sz="1200" b="0" i="0" u="none" strike="noStrike">
                          <a:solidFill>
                            <a:srgbClr val="000000"/>
                          </a:solidFill>
                          <a:effectLst/>
                          <a:latin typeface="+mn-lt"/>
                        </a:rPr>
                        <a:t>Refused</a:t>
                      </a:r>
                    </a:p>
                  </a:txBody>
                  <a:tcPr marL="857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8%</a:t>
                      </a:r>
                    </a:p>
                  </a:txBody>
                  <a:tcPr marL="9525" marR="9525" marT="9525" marB="0" anchor="ctr">
                    <a:solidFill>
                      <a:srgbClr val="DCE6F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ahoma"/>
                          <a:ea typeface="+mn-ea"/>
                          <a:cs typeface="+mn-cs"/>
                        </a:rPr>
                        <a:t>14%</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11%</a:t>
                      </a:r>
                    </a:p>
                  </a:txBody>
                  <a:tcPr marL="9525" marR="9525" marT="9525" marB="0" anchor="ctr">
                    <a:solidFill>
                      <a:srgbClr val="DCE6F1"/>
                    </a:solidFill>
                  </a:tcPr>
                </a:tc>
                <a:tc>
                  <a:txBody>
                    <a:bodyPr/>
                    <a:lstStyle/>
                    <a:p>
                      <a:pPr algn="ctr" fontAlgn="t"/>
                      <a:r>
                        <a:rPr lang="en-US" sz="1200" b="0" i="0" u="none" strike="noStrike">
                          <a:solidFill>
                            <a:srgbClr val="010205"/>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2268362044"/>
                  </a:ext>
                </a:extLst>
              </a:tr>
              <a:tr h="295453">
                <a:tc>
                  <a:txBody>
                    <a:bodyPr/>
                    <a:lstStyle/>
                    <a:p>
                      <a:pPr algn="l" fontAlgn="ctr"/>
                      <a:r>
                        <a:rPr lang="en-US" sz="1200" u="none" strike="noStrike">
                          <a:effectLst/>
                        </a:rPr>
                        <a:t>Base: </a:t>
                      </a:r>
                      <a:endParaRPr lang="en-US" sz="1200" b="1" i="0" u="none" strike="noStrike">
                        <a:solidFill>
                          <a:srgbClr val="FFFFFF"/>
                        </a:solidFill>
                        <a:effectLst/>
                        <a:latin typeface="Calibri" panose="020F0502020204030204" pitchFamily="34" charset="0"/>
                      </a:endParaRPr>
                    </a:p>
                  </a:txBody>
                  <a:tcPr marL="85725" marR="9525" marT="9525" marB="0" anchor="ctr">
                    <a:solidFill>
                      <a:srgbClr val="4F81BD"/>
                    </a:solidFill>
                  </a:tcPr>
                </a:tc>
                <a:tc>
                  <a:txBody>
                    <a:bodyPr/>
                    <a:lstStyle/>
                    <a:p>
                      <a:pPr algn="ctr" fontAlgn="ctr"/>
                      <a:r>
                        <a:rPr lang="en-US" sz="1200" b="1" i="0" u="none" strike="noStrike">
                          <a:solidFill>
                            <a:schemeClr val="bg1"/>
                          </a:solidFill>
                          <a:effectLst/>
                          <a:latin typeface="+mj-lt"/>
                        </a:rPr>
                        <a:t>12</a:t>
                      </a:r>
                    </a:p>
                  </a:txBody>
                  <a:tcPr marL="9525" marR="9525" marT="9525" marB="0" anchor="ctr">
                    <a:solidFill>
                      <a:srgbClr val="4F81BD"/>
                    </a:solidFill>
                  </a:tcPr>
                </a:tc>
                <a:tc>
                  <a:txBody>
                    <a:bodyPr/>
                    <a:lstStyle/>
                    <a:p>
                      <a:pPr algn="ctr" fontAlgn="ctr"/>
                      <a:r>
                        <a:rPr lang="en-US" sz="1200" b="1" i="0" u="none" strike="noStrike">
                          <a:solidFill>
                            <a:schemeClr val="bg1"/>
                          </a:solidFill>
                          <a:effectLst/>
                          <a:latin typeface="+mj-lt"/>
                        </a:rPr>
                        <a:t>44</a:t>
                      </a:r>
                    </a:p>
                  </a:txBody>
                  <a:tcPr marL="9525" marR="9525" marT="9525" marB="0" anchor="ctr">
                    <a:solidFill>
                      <a:srgbClr val="4F81BD"/>
                    </a:solidFill>
                  </a:tcPr>
                </a:tc>
                <a:tc>
                  <a:txBody>
                    <a:bodyPr/>
                    <a:lstStyle/>
                    <a:p>
                      <a:pPr algn="ctr" fontAlgn="ctr"/>
                      <a:r>
                        <a:rPr lang="en-US" sz="1200" b="1" i="0" u="none" strike="noStrike">
                          <a:solidFill>
                            <a:schemeClr val="bg1"/>
                          </a:solidFill>
                          <a:effectLst/>
                          <a:latin typeface="+mj-lt"/>
                        </a:rPr>
                        <a:t>19</a:t>
                      </a:r>
                    </a:p>
                  </a:txBody>
                  <a:tcPr marL="9525" marR="9525" marT="9525" marB="0" anchor="ctr">
                    <a:solidFill>
                      <a:srgbClr val="4F81BD"/>
                    </a:solidFill>
                  </a:tcPr>
                </a:tc>
                <a:tc>
                  <a:txBody>
                    <a:bodyPr/>
                    <a:lstStyle/>
                    <a:p>
                      <a:pPr algn="ctr" fontAlgn="ctr"/>
                      <a:r>
                        <a:rPr lang="en-US" sz="1200" b="1" i="0" u="none" strike="noStrike">
                          <a:solidFill>
                            <a:schemeClr val="bg1"/>
                          </a:solidFill>
                          <a:effectLst/>
                          <a:latin typeface="+mj-lt"/>
                        </a:rPr>
                        <a:t>33</a:t>
                      </a:r>
                    </a:p>
                  </a:txBody>
                  <a:tcPr marL="9525" marR="9525" marT="9525" marB="0" anchor="ctr">
                    <a:solidFill>
                      <a:srgbClr val="4F81BD"/>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6941998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graphicFrame>
        <p:nvGraphicFramePr>
          <p:cNvPr id="4" name="Table 3"/>
          <p:cNvGraphicFramePr>
            <a:graphicFrameLocks noGrp="1"/>
          </p:cNvGraphicFramePr>
          <p:nvPr>
            <p:extLst>
              <p:ext uri="{D42A27DB-BD31-4B8C-83A1-F6EECF244321}">
                <p14:modId xmlns:p14="http://schemas.microsoft.com/office/powerpoint/2010/main" val="1567605632"/>
              </p:ext>
            </p:extLst>
          </p:nvPr>
        </p:nvGraphicFramePr>
        <p:xfrm>
          <a:off x="381000" y="1405719"/>
          <a:ext cx="5706881" cy="3350285"/>
        </p:xfrm>
        <a:graphic>
          <a:graphicData uri="http://schemas.openxmlformats.org/drawingml/2006/table">
            <a:tbl>
              <a:tblPr firstRow="1" lastRow="1">
                <a:tableStyleId>{5C22544A-7EE6-4342-B048-85BDC9FD1C3A}</a:tableStyleId>
              </a:tblPr>
              <a:tblGrid>
                <a:gridCol w="1595565">
                  <a:extLst>
                    <a:ext uri="{9D8B030D-6E8A-4147-A177-3AD203B41FA5}">
                      <a16:colId xmlns:a16="http://schemas.microsoft.com/office/drawing/2014/main" val="20000"/>
                    </a:ext>
                  </a:extLst>
                </a:gridCol>
                <a:gridCol w="1027829">
                  <a:extLst>
                    <a:ext uri="{9D8B030D-6E8A-4147-A177-3AD203B41FA5}">
                      <a16:colId xmlns:a16="http://schemas.microsoft.com/office/drawing/2014/main" val="20002"/>
                    </a:ext>
                  </a:extLst>
                </a:gridCol>
                <a:gridCol w="1027829">
                  <a:extLst>
                    <a:ext uri="{9D8B030D-6E8A-4147-A177-3AD203B41FA5}">
                      <a16:colId xmlns:a16="http://schemas.microsoft.com/office/drawing/2014/main" val="20003"/>
                    </a:ext>
                  </a:extLst>
                </a:gridCol>
                <a:gridCol w="1027829">
                  <a:extLst>
                    <a:ext uri="{9D8B030D-6E8A-4147-A177-3AD203B41FA5}">
                      <a16:colId xmlns:a16="http://schemas.microsoft.com/office/drawing/2014/main" val="20004"/>
                    </a:ext>
                  </a:extLst>
                </a:gridCol>
                <a:gridCol w="1027829">
                  <a:extLst>
                    <a:ext uri="{9D8B030D-6E8A-4147-A177-3AD203B41FA5}">
                      <a16:colId xmlns:a16="http://schemas.microsoft.com/office/drawing/2014/main" val="2210063126"/>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Ethnicity</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00905">
                <a:tc>
                  <a:txBody>
                    <a:bodyPr/>
                    <a:lstStyle/>
                    <a:p>
                      <a:pPr algn="l" rtl="0" fontAlgn="ctr"/>
                      <a:r>
                        <a:rPr lang="en-US" sz="1200" b="0" i="0" u="none" strike="noStrike">
                          <a:solidFill>
                            <a:schemeClr val="tx1"/>
                          </a:solidFill>
                          <a:effectLst/>
                          <a:latin typeface="+mn-lt"/>
                        </a:rPr>
                        <a:t>White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mn-lt"/>
                        </a:rPr>
                        <a:t>42%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mn-lt"/>
                        </a:rPr>
                        <a:t>30%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53%</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49%</a:t>
                      </a:r>
                    </a:p>
                  </a:txBody>
                  <a:tcPr marL="9525" marR="9525" marT="9525" marB="0" anchor="ctr">
                    <a:solidFill>
                      <a:srgbClr val="DCE6F1"/>
                    </a:solidFill>
                  </a:tcPr>
                </a:tc>
                <a:extLst>
                  <a:ext uri="{0D108BD9-81ED-4DB2-BD59-A6C34878D82A}">
                    <a16:rowId xmlns:a16="http://schemas.microsoft.com/office/drawing/2014/main" val="3934536250"/>
                  </a:ext>
                </a:extLst>
              </a:tr>
              <a:tr h="300905">
                <a:tc>
                  <a:txBody>
                    <a:bodyPr/>
                    <a:lstStyle/>
                    <a:p>
                      <a:pPr algn="l" rtl="0" fontAlgn="ctr"/>
                      <a:r>
                        <a:rPr lang="en-US" sz="1200" b="0" i="0" u="none" strike="noStrike">
                          <a:solidFill>
                            <a:schemeClr val="tx1"/>
                          </a:solidFill>
                          <a:effectLst/>
                          <a:latin typeface="+mn-lt"/>
                        </a:rPr>
                        <a:t>Two or more races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mn-lt"/>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mn-lt"/>
                        </a:rPr>
                        <a:t>5%</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5%</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15%</a:t>
                      </a:r>
                    </a:p>
                  </a:txBody>
                  <a:tcPr marL="9525" marR="9525" marT="9525" marB="0" anchor="ctr">
                    <a:solidFill>
                      <a:srgbClr val="DCE6F1"/>
                    </a:solidFill>
                  </a:tcPr>
                </a:tc>
                <a:extLst>
                  <a:ext uri="{0D108BD9-81ED-4DB2-BD59-A6C34878D82A}">
                    <a16:rowId xmlns:a16="http://schemas.microsoft.com/office/drawing/2014/main" val="892266141"/>
                  </a:ext>
                </a:extLst>
              </a:tr>
              <a:tr h="300905">
                <a:tc>
                  <a:txBody>
                    <a:bodyPr/>
                    <a:lstStyle/>
                    <a:p>
                      <a:pPr algn="l" rtl="0" fontAlgn="ctr"/>
                      <a:r>
                        <a:rPr lang="en-US" sz="1200" b="0" i="0" u="none" strike="noStrike">
                          <a:solidFill>
                            <a:schemeClr val="tx1"/>
                          </a:solidFill>
                          <a:effectLst/>
                          <a:latin typeface="+mn-lt"/>
                        </a:rPr>
                        <a:t>African American</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mn-lt"/>
                        </a:rPr>
                        <a:t>42%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mn-lt"/>
                        </a:rPr>
                        <a:t>18%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5%</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12%</a:t>
                      </a:r>
                    </a:p>
                  </a:txBody>
                  <a:tcPr marL="9525" marR="9525" marT="9525" marB="0" anchor="ctr">
                    <a:solidFill>
                      <a:srgbClr val="DCE6F1"/>
                    </a:solidFill>
                  </a:tcPr>
                </a:tc>
                <a:extLst>
                  <a:ext uri="{0D108BD9-81ED-4DB2-BD59-A6C34878D82A}">
                    <a16:rowId xmlns:a16="http://schemas.microsoft.com/office/drawing/2014/main" val="901745913"/>
                  </a:ext>
                </a:extLst>
              </a:tr>
              <a:tr h="300905">
                <a:tc>
                  <a:txBody>
                    <a:bodyPr/>
                    <a:lstStyle/>
                    <a:p>
                      <a:pPr algn="l" rtl="0" fontAlgn="ctr"/>
                      <a:r>
                        <a:rPr lang="en-US" sz="1200" b="0" i="0" u="none" strike="noStrike">
                          <a:solidFill>
                            <a:schemeClr val="tx1"/>
                          </a:solidFill>
                          <a:effectLst/>
                          <a:latin typeface="+mn-lt"/>
                        </a:rPr>
                        <a:t>Hispanic</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mn-lt"/>
                        </a:rPr>
                        <a:t>30%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21%</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12%</a:t>
                      </a:r>
                    </a:p>
                  </a:txBody>
                  <a:tcPr marL="9525" marR="9525" marT="9525" marB="0" anchor="ctr">
                    <a:solidFill>
                      <a:srgbClr val="DCE6F1"/>
                    </a:solidFill>
                  </a:tcPr>
                </a:tc>
                <a:extLst>
                  <a:ext uri="{0D108BD9-81ED-4DB2-BD59-A6C34878D82A}">
                    <a16:rowId xmlns:a16="http://schemas.microsoft.com/office/drawing/2014/main" val="1076448652"/>
                  </a:ext>
                </a:extLst>
              </a:tr>
              <a:tr h="300905">
                <a:tc>
                  <a:txBody>
                    <a:bodyPr/>
                    <a:lstStyle/>
                    <a:p>
                      <a:pPr algn="l" rtl="0" fontAlgn="t"/>
                      <a:r>
                        <a:rPr lang="en-US" sz="1200" b="0" i="0" u="none" strike="noStrike">
                          <a:solidFill>
                            <a:schemeClr val="tx1"/>
                          </a:solidFill>
                          <a:effectLst/>
                          <a:latin typeface="+mn-lt"/>
                        </a:rPr>
                        <a:t>Asian or Pacific Islander</a:t>
                      </a:r>
                    </a:p>
                  </a:txBody>
                  <a:tcPr marR="9525" marT="9525" marB="0">
                    <a:solidFill>
                      <a:srgbClr val="DCE6F1"/>
                    </a:solidFill>
                  </a:tcPr>
                </a:tc>
                <a:tc>
                  <a:txBody>
                    <a:bodyPr/>
                    <a:lstStyle/>
                    <a:p>
                      <a:pPr algn="ctr" rtl="0" fontAlgn="ctr"/>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6%</a:t>
                      </a:r>
                    </a:p>
                  </a:txBody>
                  <a:tcPr marL="9525" marR="9525" marT="9525" marB="0" anchor="ctr">
                    <a:solidFill>
                      <a:srgbClr val="DCE6F1"/>
                    </a:solidFill>
                  </a:tcPr>
                </a:tc>
                <a:extLst>
                  <a:ext uri="{0D108BD9-81ED-4DB2-BD59-A6C34878D82A}">
                    <a16:rowId xmlns:a16="http://schemas.microsoft.com/office/drawing/2014/main" val="2651295377"/>
                  </a:ext>
                </a:extLst>
              </a:tr>
              <a:tr h="300905">
                <a:tc>
                  <a:txBody>
                    <a:bodyPr/>
                    <a:lstStyle/>
                    <a:p>
                      <a:pPr algn="l" rtl="0" fontAlgn="t"/>
                      <a:r>
                        <a:rPr lang="en-US" sz="1200" b="0" i="0" u="none" strike="noStrike">
                          <a:solidFill>
                            <a:schemeClr val="tx1"/>
                          </a:solidFill>
                          <a:effectLst/>
                          <a:latin typeface="+mn-lt"/>
                        </a:rPr>
                        <a:t>Aleutian, Eskimo, or American Indian</a:t>
                      </a:r>
                    </a:p>
                  </a:txBody>
                  <a:tcPr marR="9525" marT="9525" marB="0">
                    <a:solidFill>
                      <a:srgbClr val="DCE6F1"/>
                    </a:solidFill>
                  </a:tcPr>
                </a:tc>
                <a:tc>
                  <a:txBody>
                    <a:bodyPr/>
                    <a:lstStyle/>
                    <a:p>
                      <a:pPr algn="ctr" rtl="0" fontAlgn="ctr"/>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5%</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extLst>
                  <a:ext uri="{0D108BD9-81ED-4DB2-BD59-A6C34878D82A}">
                    <a16:rowId xmlns:a16="http://schemas.microsoft.com/office/drawing/2014/main" val="4247438770"/>
                  </a:ext>
                </a:extLst>
              </a:tr>
              <a:tr h="300905">
                <a:tc>
                  <a:txBody>
                    <a:bodyPr/>
                    <a:lstStyle/>
                    <a:p>
                      <a:pPr algn="l" rtl="0" fontAlgn="ctr"/>
                      <a:r>
                        <a:rPr lang="en-US" sz="1200" b="0" i="0" u="none" strike="noStrike">
                          <a:solidFill>
                            <a:schemeClr val="tx1"/>
                          </a:solidFill>
                          <a:effectLst/>
                          <a:latin typeface="+mn-lt"/>
                        </a:rPr>
                        <a:t>Other</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0%</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6%</a:t>
                      </a:r>
                    </a:p>
                  </a:txBody>
                  <a:tcPr marL="9525" marR="9525" marT="9525" marB="0" anchor="ctr">
                    <a:solidFill>
                      <a:srgbClr val="DCE6F1"/>
                    </a:solidFill>
                  </a:tcPr>
                </a:tc>
                <a:extLst>
                  <a:ext uri="{0D108BD9-81ED-4DB2-BD59-A6C34878D82A}">
                    <a16:rowId xmlns:a16="http://schemas.microsoft.com/office/drawing/2014/main" val="3328842640"/>
                  </a:ext>
                </a:extLst>
              </a:tr>
              <a:tr h="300905">
                <a:tc>
                  <a:txBody>
                    <a:bodyPr/>
                    <a:lstStyle/>
                    <a:p>
                      <a:pPr algn="l" rtl="0" fontAlgn="ctr"/>
                      <a:r>
                        <a:rPr lang="en-US" sz="1200" b="0" i="0" u="none" strike="noStrike">
                          <a:solidFill>
                            <a:schemeClr val="tx1"/>
                          </a:solidFill>
                          <a:effectLst/>
                          <a:latin typeface="+mn-lt"/>
                        </a:rPr>
                        <a:t>Refused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mn-lt"/>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mn-lt"/>
                        </a:rPr>
                        <a:t>18%</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11%</a:t>
                      </a:r>
                    </a:p>
                  </a:txBody>
                  <a:tcPr marL="9525" marR="9525" marT="9525" marB="0" anchor="ctr">
                    <a:solidFill>
                      <a:srgbClr val="DCE6F1"/>
                    </a:solidFill>
                  </a:tcPr>
                </a:tc>
                <a:tc>
                  <a:txBody>
                    <a:bodyPr/>
                    <a:lstStyle/>
                    <a:p>
                      <a:pPr algn="ctr" rtl="0" fontAlgn="b"/>
                      <a:r>
                        <a:rPr lang="en-US" sz="1200" b="0" i="0" u="none" strike="noStrike">
                          <a:solidFill>
                            <a:srgbClr val="000000"/>
                          </a:solidFill>
                          <a:effectLst/>
                          <a:latin typeface="+mn-lt"/>
                        </a:rPr>
                        <a:t>11%</a:t>
                      </a:r>
                    </a:p>
                  </a:txBody>
                  <a:tcPr marL="9525" marR="9525" marT="9525" marB="0" anchor="ctr">
                    <a:solidFill>
                      <a:srgbClr val="DCE6F1"/>
                    </a:solidFill>
                  </a:tcPr>
                </a:tc>
                <a:extLst>
                  <a:ext uri="{0D108BD9-81ED-4DB2-BD59-A6C34878D82A}">
                    <a16:rowId xmlns:a16="http://schemas.microsoft.com/office/drawing/2014/main" val="10010"/>
                  </a:ext>
                </a:extLst>
              </a:tr>
              <a:tr h="337085">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graphicFrame>
        <p:nvGraphicFramePr>
          <p:cNvPr id="2" name="Table 1"/>
          <p:cNvGraphicFramePr>
            <a:graphicFrameLocks noGrp="1"/>
          </p:cNvGraphicFramePr>
          <p:nvPr>
            <p:extLst>
              <p:ext uri="{D42A27DB-BD31-4B8C-83A1-F6EECF244321}">
                <p14:modId xmlns:p14="http://schemas.microsoft.com/office/powerpoint/2010/main" val="3586457457"/>
              </p:ext>
            </p:extLst>
          </p:nvPr>
        </p:nvGraphicFramePr>
        <p:xfrm>
          <a:off x="355493" y="1297190"/>
          <a:ext cx="5873857" cy="3247626"/>
        </p:xfrm>
        <a:graphic>
          <a:graphicData uri="http://schemas.openxmlformats.org/drawingml/2006/table">
            <a:tbl>
              <a:tblPr firstRow="1" lastRow="1">
                <a:tableStyleId>{5C22544A-7EE6-4342-B048-85BDC9FD1C3A}</a:tableStyleId>
              </a:tblPr>
              <a:tblGrid>
                <a:gridCol w="1765059">
                  <a:extLst>
                    <a:ext uri="{9D8B030D-6E8A-4147-A177-3AD203B41FA5}">
                      <a16:colId xmlns:a16="http://schemas.microsoft.com/office/drawing/2014/main" val="20000"/>
                    </a:ext>
                  </a:extLst>
                </a:gridCol>
                <a:gridCol w="992781">
                  <a:extLst>
                    <a:ext uri="{9D8B030D-6E8A-4147-A177-3AD203B41FA5}">
                      <a16:colId xmlns:a16="http://schemas.microsoft.com/office/drawing/2014/main" val="20002"/>
                    </a:ext>
                  </a:extLst>
                </a:gridCol>
                <a:gridCol w="992781">
                  <a:extLst>
                    <a:ext uri="{9D8B030D-6E8A-4147-A177-3AD203B41FA5}">
                      <a16:colId xmlns:a16="http://schemas.microsoft.com/office/drawing/2014/main" val="20003"/>
                    </a:ext>
                  </a:extLst>
                </a:gridCol>
                <a:gridCol w="994043">
                  <a:extLst>
                    <a:ext uri="{9D8B030D-6E8A-4147-A177-3AD203B41FA5}">
                      <a16:colId xmlns:a16="http://schemas.microsoft.com/office/drawing/2014/main" val="20004"/>
                    </a:ext>
                  </a:extLst>
                </a:gridCol>
                <a:gridCol w="1129193">
                  <a:extLst>
                    <a:ext uri="{9D8B030D-6E8A-4147-A177-3AD203B41FA5}">
                      <a16:colId xmlns:a16="http://schemas.microsoft.com/office/drawing/2014/main" val="3623192165"/>
                    </a:ext>
                  </a:extLst>
                </a:gridCol>
              </a:tblGrid>
              <a:tr h="468408">
                <a:tc>
                  <a:txBody>
                    <a:bodyPr/>
                    <a:lstStyle/>
                    <a:p>
                      <a:pPr algn="ctr" rtl="0" fontAlgn="ctr"/>
                      <a:r>
                        <a:rPr lang="en-US" sz="1200" b="1" i="0" u="none" strike="noStrike">
                          <a:solidFill>
                            <a:srgbClr val="FFFFFF"/>
                          </a:solidFill>
                          <a:effectLst/>
                          <a:latin typeface="Tahoma" panose="020B0604030504040204" pitchFamily="34" charset="0"/>
                        </a:rPr>
                        <a:t>Education</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468408">
                <a:tc>
                  <a:txBody>
                    <a:bodyPr/>
                    <a:lstStyle/>
                    <a:p>
                      <a:pPr algn="l" rtl="0" fontAlgn="ctr"/>
                      <a:r>
                        <a:rPr lang="en-US" sz="1200" b="0" i="0" u="none" strike="noStrike">
                          <a:solidFill>
                            <a:srgbClr val="000000"/>
                          </a:solidFill>
                          <a:effectLst/>
                          <a:latin typeface="Tahoma" panose="020B0604030504040204" pitchFamily="34" charset="0"/>
                        </a:rPr>
                        <a:t>Some high school</a:t>
                      </a:r>
                    </a:p>
                  </a:txBody>
                  <a:tcPr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EE8F3"/>
                    </a:solidFill>
                  </a:tcPr>
                </a:tc>
                <a:extLst>
                  <a:ext uri="{0D108BD9-81ED-4DB2-BD59-A6C34878D82A}">
                    <a16:rowId xmlns:a16="http://schemas.microsoft.com/office/drawing/2014/main" val="4106662465"/>
                  </a:ext>
                </a:extLst>
              </a:tr>
              <a:tr h="324308">
                <a:tc>
                  <a:txBody>
                    <a:bodyPr/>
                    <a:lstStyle/>
                    <a:p>
                      <a:pPr algn="l" rtl="0" fontAlgn="ctr"/>
                      <a:r>
                        <a:rPr lang="en-US" sz="1200" b="0" i="0" u="none" strike="noStrike">
                          <a:solidFill>
                            <a:srgbClr val="000000"/>
                          </a:solidFill>
                          <a:effectLst/>
                          <a:latin typeface="Tahoma" panose="020B0604030504040204" pitchFamily="34" charset="0"/>
                        </a:rPr>
                        <a:t>Graduated high school </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extLst>
                  <a:ext uri="{0D108BD9-81ED-4DB2-BD59-A6C34878D82A}">
                    <a16:rowId xmlns:a16="http://schemas.microsoft.com/office/drawing/2014/main" val="410703783"/>
                  </a:ext>
                </a:extLst>
              </a:tr>
              <a:tr h="324308">
                <a:tc>
                  <a:txBody>
                    <a:bodyPr/>
                    <a:lstStyle/>
                    <a:p>
                      <a:pPr algn="l" rtl="0" fontAlgn="ctr"/>
                      <a:r>
                        <a:rPr lang="en-US" sz="1200" b="0" i="0" u="none" strike="noStrike">
                          <a:solidFill>
                            <a:srgbClr val="000000"/>
                          </a:solidFill>
                          <a:effectLst/>
                          <a:latin typeface="Tahoma" panose="020B0604030504040204" pitchFamily="34" charset="0"/>
                        </a:rPr>
                        <a:t>Some college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extLst>
                  <a:ext uri="{0D108BD9-81ED-4DB2-BD59-A6C34878D82A}">
                    <a16:rowId xmlns:a16="http://schemas.microsoft.com/office/drawing/2014/main" val="10002"/>
                  </a:ext>
                </a:extLst>
              </a:tr>
              <a:tr h="324632">
                <a:tc>
                  <a:txBody>
                    <a:bodyPr/>
                    <a:lstStyle/>
                    <a:p>
                      <a:pPr algn="l" rtl="0" fontAlgn="ctr"/>
                      <a:r>
                        <a:rPr lang="en-US" sz="1200" b="0" i="0" u="none" strike="noStrike">
                          <a:solidFill>
                            <a:srgbClr val="000000"/>
                          </a:solidFill>
                          <a:effectLst/>
                          <a:latin typeface="Tahoma" panose="020B0604030504040204" pitchFamily="34" charset="0"/>
                        </a:rPr>
                        <a:t>Graduated college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36%</a:t>
                      </a:r>
                    </a:p>
                  </a:txBody>
                  <a:tcPr marL="9525" marR="9525" marT="9525" marB="0" anchor="ctr">
                    <a:solidFill>
                      <a:srgbClr val="DCE6F1"/>
                    </a:solidFill>
                  </a:tcPr>
                </a:tc>
                <a:extLst>
                  <a:ext uri="{0D108BD9-81ED-4DB2-BD59-A6C34878D82A}">
                    <a16:rowId xmlns:a16="http://schemas.microsoft.com/office/drawing/2014/main" val="10003"/>
                  </a:ext>
                </a:extLst>
              </a:tr>
              <a:tr h="324632">
                <a:tc>
                  <a:txBody>
                    <a:bodyPr/>
                    <a:lstStyle/>
                    <a:p>
                      <a:pPr algn="l" rtl="0" fontAlgn="ctr"/>
                      <a:r>
                        <a:rPr lang="en-US" sz="1200" b="0" i="0" u="none" strike="noStrike">
                          <a:solidFill>
                            <a:srgbClr val="000000"/>
                          </a:solidFill>
                          <a:effectLst/>
                          <a:latin typeface="Tahoma" panose="020B0604030504040204" pitchFamily="34" charset="0"/>
                        </a:rPr>
                        <a:t>Post-graduate work</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30%</a:t>
                      </a:r>
                    </a:p>
                  </a:txBody>
                  <a:tcPr marL="9525" marR="9525" marT="9525" marB="0" anchor="ctr">
                    <a:solidFill>
                      <a:srgbClr val="DCE6F1"/>
                    </a:solidFill>
                  </a:tcPr>
                </a:tc>
                <a:extLst>
                  <a:ext uri="{0D108BD9-81ED-4DB2-BD59-A6C34878D82A}">
                    <a16:rowId xmlns:a16="http://schemas.microsoft.com/office/drawing/2014/main" val="10004"/>
                  </a:ext>
                </a:extLst>
              </a:tr>
              <a:tr h="324632">
                <a:tc>
                  <a:txBody>
                    <a:bodyPr/>
                    <a:lstStyle/>
                    <a:p>
                      <a:pPr algn="l" rtl="0" fontAlgn="ctr"/>
                      <a:r>
                        <a:rPr lang="en-US" sz="1200" b="0" i="0" u="none" strike="noStrike">
                          <a:solidFill>
                            <a:srgbClr val="000000"/>
                          </a:solidFill>
                          <a:effectLst/>
                          <a:latin typeface="Tahoma" panose="020B0604030504040204" pitchFamily="34" charset="0"/>
                        </a:rPr>
                        <a:t>DK/unsure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0005"/>
                  </a:ext>
                </a:extLst>
              </a:tr>
              <a:tr h="324632">
                <a:tc>
                  <a:txBody>
                    <a:bodyPr/>
                    <a:lstStyle/>
                    <a:p>
                      <a:pPr algn="l" rtl="0" fontAlgn="ctr"/>
                      <a:r>
                        <a:rPr lang="en-US" sz="1200" b="0" i="0" u="none" strike="noStrike">
                          <a:solidFill>
                            <a:srgbClr val="000000"/>
                          </a:solidFill>
                          <a:effectLst/>
                          <a:latin typeface="Tahoma" panose="020B0604030504040204" pitchFamily="34" charset="0"/>
                        </a:rPr>
                        <a:t>Refused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07"/>
                  </a:ext>
                </a:extLst>
              </a:tr>
              <a:tr h="363666">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616162817"/>
              </p:ext>
            </p:extLst>
          </p:nvPr>
        </p:nvGraphicFramePr>
        <p:xfrm>
          <a:off x="286848" y="5027588"/>
          <a:ext cx="5942501" cy="2364587"/>
        </p:xfrm>
        <a:graphic>
          <a:graphicData uri="http://schemas.openxmlformats.org/drawingml/2006/table">
            <a:tbl>
              <a:tblPr firstRow="1" lastRow="1">
                <a:tableStyleId>{5C22544A-7EE6-4342-B048-85BDC9FD1C3A}</a:tableStyleId>
              </a:tblPr>
              <a:tblGrid>
                <a:gridCol w="1814178">
                  <a:extLst>
                    <a:ext uri="{9D8B030D-6E8A-4147-A177-3AD203B41FA5}">
                      <a16:colId xmlns:a16="http://schemas.microsoft.com/office/drawing/2014/main" val="20000"/>
                    </a:ext>
                  </a:extLst>
                </a:gridCol>
                <a:gridCol w="1005142">
                  <a:extLst>
                    <a:ext uri="{9D8B030D-6E8A-4147-A177-3AD203B41FA5}">
                      <a16:colId xmlns:a16="http://schemas.microsoft.com/office/drawing/2014/main" val="20002"/>
                    </a:ext>
                  </a:extLst>
                </a:gridCol>
                <a:gridCol w="1012122">
                  <a:extLst>
                    <a:ext uri="{9D8B030D-6E8A-4147-A177-3AD203B41FA5}">
                      <a16:colId xmlns:a16="http://schemas.microsoft.com/office/drawing/2014/main" val="20003"/>
                    </a:ext>
                  </a:extLst>
                </a:gridCol>
                <a:gridCol w="991182">
                  <a:extLst>
                    <a:ext uri="{9D8B030D-6E8A-4147-A177-3AD203B41FA5}">
                      <a16:colId xmlns:a16="http://schemas.microsoft.com/office/drawing/2014/main" val="20004"/>
                    </a:ext>
                  </a:extLst>
                </a:gridCol>
                <a:gridCol w="1119877">
                  <a:extLst>
                    <a:ext uri="{9D8B030D-6E8A-4147-A177-3AD203B41FA5}">
                      <a16:colId xmlns:a16="http://schemas.microsoft.com/office/drawing/2014/main" val="773117181"/>
                    </a:ext>
                  </a:extLst>
                </a:gridCol>
              </a:tblGrid>
              <a:tr h="719935">
                <a:tc>
                  <a:txBody>
                    <a:bodyPr/>
                    <a:lstStyle/>
                    <a:p>
                      <a:pPr algn="ctr" rtl="0" fontAlgn="ctr"/>
                      <a:r>
                        <a:rPr lang="en-US" sz="1200" b="1" i="0" u="none" strike="noStrike">
                          <a:solidFill>
                            <a:srgbClr val="FFFFFF"/>
                          </a:solidFill>
                          <a:effectLst/>
                          <a:latin typeface="Tahoma" panose="020B0604030504040204" pitchFamily="34" charset="0"/>
                        </a:rPr>
                        <a:t>Have Anyone Under the Age of 18 Living In Home</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99164">
                <a:tc>
                  <a:txBody>
                    <a:bodyPr/>
                    <a:lstStyle/>
                    <a:p>
                      <a:pPr algn="l" rtl="0" fontAlgn="ctr"/>
                      <a:r>
                        <a:rPr lang="en-US" sz="1200" b="0" i="0" u="none" strike="noStrike">
                          <a:solidFill>
                            <a:srgbClr val="000000"/>
                          </a:solidFill>
                          <a:effectLst/>
                          <a:latin typeface="Tahoma" panose="020B0604030504040204" pitchFamily="34" charset="0"/>
                        </a:rPr>
                        <a:t>Yes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extLst>
                  <a:ext uri="{0D108BD9-81ED-4DB2-BD59-A6C34878D82A}">
                    <a16:rowId xmlns:a16="http://schemas.microsoft.com/office/drawing/2014/main" val="10001"/>
                  </a:ext>
                </a:extLst>
              </a:tr>
              <a:tr h="399164">
                <a:tc>
                  <a:txBody>
                    <a:bodyPr/>
                    <a:lstStyle/>
                    <a:p>
                      <a:pPr algn="l" rtl="0" fontAlgn="ctr"/>
                      <a:r>
                        <a:rPr lang="en-US" sz="1200" b="0" i="0" u="none" strike="noStrike">
                          <a:solidFill>
                            <a:srgbClr val="000000"/>
                          </a:solidFill>
                          <a:effectLst/>
                          <a:latin typeface="Tahoma" panose="020B0604030504040204" pitchFamily="34" charset="0"/>
                        </a:rPr>
                        <a:t>No</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91%</a:t>
                      </a:r>
                    </a:p>
                  </a:txBody>
                  <a:tcPr marL="9525" marR="9525" marT="9525" marB="0" anchor="ctr">
                    <a:solidFill>
                      <a:srgbClr val="DCE6F1"/>
                    </a:solidFill>
                  </a:tcPr>
                </a:tc>
                <a:extLst>
                  <a:ext uri="{0D108BD9-81ED-4DB2-BD59-A6C34878D82A}">
                    <a16:rowId xmlns:a16="http://schemas.microsoft.com/office/drawing/2014/main" val="10002"/>
                  </a:ext>
                </a:extLst>
              </a:tr>
              <a:tr h="399164">
                <a:tc>
                  <a:txBody>
                    <a:bodyPr/>
                    <a:lstStyle/>
                    <a:p>
                      <a:pPr algn="l" rtl="0" fontAlgn="ctr"/>
                      <a:r>
                        <a:rPr lang="en-US" sz="1200" b="0" i="0" u="none" strike="noStrike">
                          <a:solidFill>
                            <a:srgbClr val="000000"/>
                          </a:solidFill>
                          <a:effectLst/>
                          <a:latin typeface="Tahoma" panose="020B0604030504040204" pitchFamily="34" charset="0"/>
                        </a:rPr>
                        <a:t>Refused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771392051"/>
                  </a:ext>
                </a:extLst>
              </a:tr>
              <a:tr h="447160">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graphicFrame>
        <p:nvGraphicFramePr>
          <p:cNvPr id="2" name="Table 1"/>
          <p:cNvGraphicFramePr>
            <a:graphicFrameLocks noGrp="1"/>
          </p:cNvGraphicFramePr>
          <p:nvPr>
            <p:extLst>
              <p:ext uri="{D42A27DB-BD31-4B8C-83A1-F6EECF244321}">
                <p14:modId xmlns:p14="http://schemas.microsoft.com/office/powerpoint/2010/main" val="2283370230"/>
              </p:ext>
            </p:extLst>
          </p:nvPr>
        </p:nvGraphicFramePr>
        <p:xfrm>
          <a:off x="187452" y="1035767"/>
          <a:ext cx="6041896" cy="3342005"/>
        </p:xfrm>
        <a:graphic>
          <a:graphicData uri="http://schemas.openxmlformats.org/drawingml/2006/table">
            <a:tbl>
              <a:tblPr firstRow="1" lastRow="1">
                <a:tableStyleId>{5C22544A-7EE6-4342-B048-85BDC9FD1C3A}</a:tableStyleId>
              </a:tblPr>
              <a:tblGrid>
                <a:gridCol w="2073492">
                  <a:extLst>
                    <a:ext uri="{9D8B030D-6E8A-4147-A177-3AD203B41FA5}">
                      <a16:colId xmlns:a16="http://schemas.microsoft.com/office/drawing/2014/main" val="20000"/>
                    </a:ext>
                  </a:extLst>
                </a:gridCol>
                <a:gridCol w="992101">
                  <a:extLst>
                    <a:ext uri="{9D8B030D-6E8A-4147-A177-3AD203B41FA5}">
                      <a16:colId xmlns:a16="http://schemas.microsoft.com/office/drawing/2014/main" val="20002"/>
                    </a:ext>
                  </a:extLst>
                </a:gridCol>
                <a:gridCol w="992101">
                  <a:extLst>
                    <a:ext uri="{9D8B030D-6E8A-4147-A177-3AD203B41FA5}">
                      <a16:colId xmlns:a16="http://schemas.microsoft.com/office/drawing/2014/main" val="20003"/>
                    </a:ext>
                  </a:extLst>
                </a:gridCol>
                <a:gridCol w="992101">
                  <a:extLst>
                    <a:ext uri="{9D8B030D-6E8A-4147-A177-3AD203B41FA5}">
                      <a16:colId xmlns:a16="http://schemas.microsoft.com/office/drawing/2014/main" val="20004"/>
                    </a:ext>
                  </a:extLst>
                </a:gridCol>
                <a:gridCol w="992101">
                  <a:extLst>
                    <a:ext uri="{9D8B030D-6E8A-4147-A177-3AD203B41FA5}">
                      <a16:colId xmlns:a16="http://schemas.microsoft.com/office/drawing/2014/main" val="1665027593"/>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Years Lived In Residence</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6865">
                <a:tc>
                  <a:txBody>
                    <a:bodyPr/>
                    <a:lstStyle/>
                    <a:p>
                      <a:pPr algn="l" rtl="0" fontAlgn="ctr"/>
                      <a:r>
                        <a:rPr lang="en-US" sz="1200" b="0" i="0" u="none" strike="noStrike">
                          <a:solidFill>
                            <a:srgbClr val="000000"/>
                          </a:solidFill>
                          <a:effectLst/>
                          <a:latin typeface="Tahoma" panose="020B0604030504040204" pitchFamily="34" charset="0"/>
                        </a:rPr>
                        <a:t>Less than 1 year</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405573643"/>
                  </a:ext>
                </a:extLst>
              </a:tr>
              <a:tr h="316865">
                <a:tc>
                  <a:txBody>
                    <a:bodyPr/>
                    <a:lstStyle/>
                    <a:p>
                      <a:pPr algn="l" rtl="0" fontAlgn="ctr"/>
                      <a:r>
                        <a:rPr lang="en-US" sz="1200" b="0" i="0" u="none" strike="noStrike">
                          <a:solidFill>
                            <a:srgbClr val="000000"/>
                          </a:solidFill>
                          <a:effectLst/>
                          <a:latin typeface="Tahoma" panose="020B0604030504040204" pitchFamily="34" charset="0"/>
                        </a:rPr>
                        <a:t>1 to 2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24%</a:t>
                      </a:r>
                    </a:p>
                  </a:txBody>
                  <a:tcPr marL="9525" marR="9525" marT="9525" marB="0" anchor="ctr">
                    <a:solidFill>
                      <a:srgbClr val="DCE6F1"/>
                    </a:solidFill>
                  </a:tcPr>
                </a:tc>
                <a:extLst>
                  <a:ext uri="{0D108BD9-81ED-4DB2-BD59-A6C34878D82A}">
                    <a16:rowId xmlns:a16="http://schemas.microsoft.com/office/drawing/2014/main" val="10003"/>
                  </a:ext>
                </a:extLst>
              </a:tr>
              <a:tr h="316865">
                <a:tc>
                  <a:txBody>
                    <a:bodyPr/>
                    <a:lstStyle/>
                    <a:p>
                      <a:pPr algn="l" rtl="0" fontAlgn="ctr"/>
                      <a:r>
                        <a:rPr lang="en-US" sz="1200" b="0" i="0" u="none" strike="noStrike">
                          <a:solidFill>
                            <a:srgbClr val="000000"/>
                          </a:solidFill>
                          <a:effectLst/>
                          <a:latin typeface="Tahoma" panose="020B0604030504040204" pitchFamily="34" charset="0"/>
                        </a:rPr>
                        <a:t>3 to 5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CE6F1"/>
                    </a:solidFill>
                  </a:tcPr>
                </a:tc>
                <a:extLst>
                  <a:ext uri="{0D108BD9-81ED-4DB2-BD59-A6C34878D82A}">
                    <a16:rowId xmlns:a16="http://schemas.microsoft.com/office/drawing/2014/main" val="10004"/>
                  </a:ext>
                </a:extLst>
              </a:tr>
              <a:tr h="316865">
                <a:tc>
                  <a:txBody>
                    <a:bodyPr/>
                    <a:lstStyle/>
                    <a:p>
                      <a:pPr algn="l" rtl="0" fontAlgn="ctr"/>
                      <a:r>
                        <a:rPr lang="en-US" sz="1200" b="0" i="0" u="none" strike="noStrike">
                          <a:solidFill>
                            <a:srgbClr val="000000"/>
                          </a:solidFill>
                          <a:effectLst/>
                          <a:latin typeface="Tahoma" panose="020B0604030504040204" pitchFamily="34" charset="0"/>
                        </a:rPr>
                        <a:t>6 to 10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extLst>
                  <a:ext uri="{0D108BD9-81ED-4DB2-BD59-A6C34878D82A}">
                    <a16:rowId xmlns:a16="http://schemas.microsoft.com/office/drawing/2014/main" val="10005"/>
                  </a:ext>
                </a:extLst>
              </a:tr>
              <a:tr h="316865">
                <a:tc>
                  <a:txBody>
                    <a:bodyPr/>
                    <a:lstStyle/>
                    <a:p>
                      <a:pPr algn="l" rtl="0" fontAlgn="ctr"/>
                      <a:r>
                        <a:rPr lang="en-US" sz="1200" b="0" i="0" u="none" strike="noStrike">
                          <a:solidFill>
                            <a:srgbClr val="000000"/>
                          </a:solidFill>
                          <a:effectLst/>
                          <a:latin typeface="Tahoma" panose="020B0604030504040204" pitchFamily="34" charset="0"/>
                        </a:rPr>
                        <a:t>11 to 15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CE6F1"/>
                    </a:solidFill>
                  </a:tcPr>
                </a:tc>
                <a:extLst>
                  <a:ext uri="{0D108BD9-81ED-4DB2-BD59-A6C34878D82A}">
                    <a16:rowId xmlns:a16="http://schemas.microsoft.com/office/drawing/2014/main" val="10006"/>
                  </a:ext>
                </a:extLst>
              </a:tr>
              <a:tr h="316865">
                <a:tc>
                  <a:txBody>
                    <a:bodyPr/>
                    <a:lstStyle/>
                    <a:p>
                      <a:pPr algn="l" rtl="0" fontAlgn="ctr"/>
                      <a:r>
                        <a:rPr lang="en-US" sz="1200" b="0" i="0" u="none" strike="noStrike">
                          <a:solidFill>
                            <a:srgbClr val="000000"/>
                          </a:solidFill>
                          <a:effectLst/>
                          <a:latin typeface="Tahoma" panose="020B0604030504040204" pitchFamily="34" charset="0"/>
                        </a:rPr>
                        <a:t>16 to 20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extLst>
                  <a:ext uri="{0D108BD9-81ED-4DB2-BD59-A6C34878D82A}">
                    <a16:rowId xmlns:a16="http://schemas.microsoft.com/office/drawing/2014/main" val="10007"/>
                  </a:ext>
                </a:extLst>
              </a:tr>
              <a:tr h="314325">
                <a:tc>
                  <a:txBody>
                    <a:bodyPr/>
                    <a:lstStyle/>
                    <a:p>
                      <a:pPr algn="l" rtl="0" fontAlgn="ctr"/>
                      <a:r>
                        <a:rPr lang="en-US" sz="1200" b="0" i="0" u="none" strike="noStrike">
                          <a:solidFill>
                            <a:srgbClr val="000000"/>
                          </a:solidFill>
                          <a:effectLst/>
                          <a:latin typeface="Tahoma" panose="020B0604030504040204" pitchFamily="34" charset="0"/>
                        </a:rPr>
                        <a:t>More than 20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27%</a:t>
                      </a:r>
                    </a:p>
                  </a:txBody>
                  <a:tcPr marL="9525" marR="9525" marT="9525" marB="0" anchor="ctr">
                    <a:solidFill>
                      <a:srgbClr val="DCE6F1"/>
                    </a:solidFill>
                  </a:tcPr>
                </a:tc>
                <a:extLst>
                  <a:ext uri="{0D108BD9-81ED-4DB2-BD59-A6C34878D82A}">
                    <a16:rowId xmlns:a16="http://schemas.microsoft.com/office/drawing/2014/main" val="10008"/>
                  </a:ext>
                </a:extLst>
              </a:tr>
              <a:tr h="314325">
                <a:tc>
                  <a:txBody>
                    <a:bodyPr/>
                    <a:lstStyle/>
                    <a:p>
                      <a:pPr algn="l" rtl="0" fontAlgn="ctr"/>
                      <a:r>
                        <a:rPr lang="en-US" sz="1200" b="0" i="0" u="none" strike="noStrike">
                          <a:solidFill>
                            <a:srgbClr val="000000"/>
                          </a:solidFill>
                          <a:effectLst/>
                          <a:latin typeface="Tahoma" panose="020B0604030504040204" pitchFamily="34" charset="0"/>
                        </a:rPr>
                        <a:t>Refused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09"/>
                  </a:ext>
                </a:extLst>
              </a:tr>
              <a:tr h="354965">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11"/>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225685495"/>
              </p:ext>
            </p:extLst>
          </p:nvPr>
        </p:nvGraphicFramePr>
        <p:xfrm>
          <a:off x="193314" y="5039753"/>
          <a:ext cx="6036036" cy="2584393"/>
        </p:xfrm>
        <a:graphic>
          <a:graphicData uri="http://schemas.openxmlformats.org/drawingml/2006/table">
            <a:tbl>
              <a:tblPr firstRow="1" lastRow="1">
                <a:tableStyleId>{5C22544A-7EE6-4342-B048-85BDC9FD1C3A}</a:tableStyleId>
              </a:tblPr>
              <a:tblGrid>
                <a:gridCol w="2071480">
                  <a:extLst>
                    <a:ext uri="{9D8B030D-6E8A-4147-A177-3AD203B41FA5}">
                      <a16:colId xmlns:a16="http://schemas.microsoft.com/office/drawing/2014/main" val="20000"/>
                    </a:ext>
                  </a:extLst>
                </a:gridCol>
                <a:gridCol w="991139">
                  <a:extLst>
                    <a:ext uri="{9D8B030D-6E8A-4147-A177-3AD203B41FA5}">
                      <a16:colId xmlns:a16="http://schemas.microsoft.com/office/drawing/2014/main" val="20002"/>
                    </a:ext>
                  </a:extLst>
                </a:gridCol>
                <a:gridCol w="991139">
                  <a:extLst>
                    <a:ext uri="{9D8B030D-6E8A-4147-A177-3AD203B41FA5}">
                      <a16:colId xmlns:a16="http://schemas.microsoft.com/office/drawing/2014/main" val="20003"/>
                    </a:ext>
                  </a:extLst>
                </a:gridCol>
                <a:gridCol w="991139">
                  <a:extLst>
                    <a:ext uri="{9D8B030D-6E8A-4147-A177-3AD203B41FA5}">
                      <a16:colId xmlns:a16="http://schemas.microsoft.com/office/drawing/2014/main" val="20004"/>
                    </a:ext>
                  </a:extLst>
                </a:gridCol>
                <a:gridCol w="991139">
                  <a:extLst>
                    <a:ext uri="{9D8B030D-6E8A-4147-A177-3AD203B41FA5}">
                      <a16:colId xmlns:a16="http://schemas.microsoft.com/office/drawing/2014/main" val="1669390030"/>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Years Lived In Austin</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299427">
                <a:tc>
                  <a:txBody>
                    <a:bodyPr/>
                    <a:lstStyle/>
                    <a:p>
                      <a:pPr algn="l" rtl="0" fontAlgn="ctr"/>
                      <a:r>
                        <a:rPr lang="en-US" sz="1200" b="0" i="0" u="none" strike="noStrike">
                          <a:solidFill>
                            <a:srgbClr val="000000"/>
                          </a:solidFill>
                          <a:effectLst/>
                          <a:latin typeface="Tahoma" panose="020B0604030504040204" pitchFamily="34" charset="0"/>
                        </a:rPr>
                        <a:t>1 to 5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18%</a:t>
                      </a:r>
                    </a:p>
                  </a:txBody>
                  <a:tcPr marL="9525" marR="9525" marT="9525" marB="0" anchor="ctr">
                    <a:solidFill>
                      <a:srgbClr val="DCE6F1"/>
                    </a:solidFill>
                  </a:tcPr>
                </a:tc>
                <a:extLst>
                  <a:ext uri="{0D108BD9-81ED-4DB2-BD59-A6C34878D82A}">
                    <a16:rowId xmlns:a16="http://schemas.microsoft.com/office/drawing/2014/main" val="10002"/>
                  </a:ext>
                </a:extLst>
              </a:tr>
              <a:tr h="299427">
                <a:tc>
                  <a:txBody>
                    <a:bodyPr/>
                    <a:lstStyle/>
                    <a:p>
                      <a:pPr algn="l" rtl="0" fontAlgn="ctr"/>
                      <a:r>
                        <a:rPr lang="en-US" sz="1200" b="0" i="0" u="none" strike="noStrike">
                          <a:solidFill>
                            <a:srgbClr val="000000"/>
                          </a:solidFill>
                          <a:effectLst/>
                          <a:latin typeface="Tahoma" panose="020B0604030504040204" pitchFamily="34" charset="0"/>
                        </a:rPr>
                        <a:t>6 to 10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12%</a:t>
                      </a:r>
                    </a:p>
                  </a:txBody>
                  <a:tcPr marL="9525" marR="9525" marT="9525" marB="0" anchor="ctr">
                    <a:solidFill>
                      <a:srgbClr val="DCE6F1"/>
                    </a:solidFill>
                  </a:tcPr>
                </a:tc>
                <a:extLst>
                  <a:ext uri="{0D108BD9-81ED-4DB2-BD59-A6C34878D82A}">
                    <a16:rowId xmlns:a16="http://schemas.microsoft.com/office/drawing/2014/main" val="10003"/>
                  </a:ext>
                </a:extLst>
              </a:tr>
              <a:tr h="299427">
                <a:tc>
                  <a:txBody>
                    <a:bodyPr/>
                    <a:lstStyle/>
                    <a:p>
                      <a:pPr algn="l" rtl="0" fontAlgn="ctr"/>
                      <a:r>
                        <a:rPr lang="en-US" sz="1200" b="0" i="0" u="none" strike="noStrike">
                          <a:solidFill>
                            <a:srgbClr val="000000"/>
                          </a:solidFill>
                          <a:effectLst/>
                          <a:latin typeface="Tahoma" panose="020B0604030504040204" pitchFamily="34" charset="0"/>
                        </a:rPr>
                        <a:t>11 to 15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0004"/>
                  </a:ext>
                </a:extLst>
              </a:tr>
              <a:tr h="299427">
                <a:tc>
                  <a:txBody>
                    <a:bodyPr/>
                    <a:lstStyle/>
                    <a:p>
                      <a:pPr algn="l" rtl="0" fontAlgn="ctr"/>
                      <a:r>
                        <a:rPr lang="en-US" sz="1200" b="0" i="0" u="none" strike="noStrike">
                          <a:solidFill>
                            <a:srgbClr val="000000"/>
                          </a:solidFill>
                          <a:effectLst/>
                          <a:latin typeface="Tahoma" panose="020B0604030504040204" pitchFamily="34" charset="0"/>
                        </a:rPr>
                        <a:t>16 to 20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extLst>
                  <a:ext uri="{0D108BD9-81ED-4DB2-BD59-A6C34878D82A}">
                    <a16:rowId xmlns:a16="http://schemas.microsoft.com/office/drawing/2014/main" val="10005"/>
                  </a:ext>
                </a:extLst>
              </a:tr>
              <a:tr h="297027">
                <a:tc>
                  <a:txBody>
                    <a:bodyPr/>
                    <a:lstStyle/>
                    <a:p>
                      <a:pPr algn="l" rtl="0" fontAlgn="ctr"/>
                      <a:r>
                        <a:rPr lang="en-US" sz="1200" b="0" i="0" u="none" strike="noStrike">
                          <a:solidFill>
                            <a:srgbClr val="000000"/>
                          </a:solidFill>
                          <a:effectLst/>
                          <a:latin typeface="Tahoma" panose="020B0604030504040204" pitchFamily="34" charset="0"/>
                        </a:rPr>
                        <a:t>More than 20 years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58%</a:t>
                      </a:r>
                    </a:p>
                  </a:txBody>
                  <a:tcPr marL="9525" marR="9525" marT="9525" marB="0" anchor="ctr">
                    <a:solidFill>
                      <a:srgbClr val="DCE6F1"/>
                    </a:solidFill>
                  </a:tcPr>
                </a:tc>
                <a:extLst>
                  <a:ext uri="{0D108BD9-81ED-4DB2-BD59-A6C34878D82A}">
                    <a16:rowId xmlns:a16="http://schemas.microsoft.com/office/drawing/2014/main" val="10006"/>
                  </a:ext>
                </a:extLst>
              </a:tr>
              <a:tr h="297027">
                <a:tc>
                  <a:txBody>
                    <a:bodyPr/>
                    <a:lstStyle/>
                    <a:p>
                      <a:pPr algn="l" rtl="0" fontAlgn="ctr"/>
                      <a:r>
                        <a:rPr lang="en-US" sz="1200" b="0" i="0" u="none" strike="noStrike">
                          <a:solidFill>
                            <a:srgbClr val="000000"/>
                          </a:solidFill>
                          <a:effectLst/>
                          <a:latin typeface="Tahoma" panose="020B0604030504040204" pitchFamily="34" charset="0"/>
                        </a:rPr>
                        <a:t>Refused</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07"/>
                  </a:ext>
                </a:extLst>
              </a:tr>
              <a:tr h="335431">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44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19</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182975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60</a:t>
            </a:fld>
            <a:endParaRPr lang="en-US" altLang="en-US" sz="1400"/>
          </a:p>
        </p:txBody>
      </p:sp>
      <p:graphicFrame>
        <p:nvGraphicFramePr>
          <p:cNvPr id="2" name="Table 1"/>
          <p:cNvGraphicFramePr>
            <a:graphicFrameLocks noGrp="1"/>
          </p:cNvGraphicFramePr>
          <p:nvPr>
            <p:extLst>
              <p:ext uri="{D42A27DB-BD31-4B8C-83A1-F6EECF244321}">
                <p14:modId xmlns:p14="http://schemas.microsoft.com/office/powerpoint/2010/main" val="3105206645"/>
              </p:ext>
            </p:extLst>
          </p:nvPr>
        </p:nvGraphicFramePr>
        <p:xfrm>
          <a:off x="485612" y="1443606"/>
          <a:ext cx="5743737" cy="4715510"/>
        </p:xfrm>
        <a:graphic>
          <a:graphicData uri="http://schemas.openxmlformats.org/drawingml/2006/table">
            <a:tbl>
              <a:tblPr firstRow="1" lastRow="1">
                <a:tableStyleId>{5C22544A-7EE6-4342-B048-85BDC9FD1C3A}</a:tableStyleId>
              </a:tblPr>
              <a:tblGrid>
                <a:gridCol w="1567989">
                  <a:extLst>
                    <a:ext uri="{9D8B030D-6E8A-4147-A177-3AD203B41FA5}">
                      <a16:colId xmlns:a16="http://schemas.microsoft.com/office/drawing/2014/main" val="20000"/>
                    </a:ext>
                  </a:extLst>
                </a:gridCol>
                <a:gridCol w="1043937">
                  <a:extLst>
                    <a:ext uri="{9D8B030D-6E8A-4147-A177-3AD203B41FA5}">
                      <a16:colId xmlns:a16="http://schemas.microsoft.com/office/drawing/2014/main" val="1665027593"/>
                    </a:ext>
                  </a:extLst>
                </a:gridCol>
                <a:gridCol w="1043937">
                  <a:extLst>
                    <a:ext uri="{9D8B030D-6E8A-4147-A177-3AD203B41FA5}">
                      <a16:colId xmlns:a16="http://schemas.microsoft.com/office/drawing/2014/main" val="3387442301"/>
                    </a:ext>
                  </a:extLst>
                </a:gridCol>
                <a:gridCol w="1043937">
                  <a:extLst>
                    <a:ext uri="{9D8B030D-6E8A-4147-A177-3AD203B41FA5}">
                      <a16:colId xmlns:a16="http://schemas.microsoft.com/office/drawing/2014/main" val="3375867837"/>
                    </a:ext>
                  </a:extLst>
                </a:gridCol>
                <a:gridCol w="1043937">
                  <a:extLst>
                    <a:ext uri="{9D8B030D-6E8A-4147-A177-3AD203B41FA5}">
                      <a16:colId xmlns:a16="http://schemas.microsoft.com/office/drawing/2014/main" val="958102180"/>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Physical Health Not Good In the Past 30 Days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316865">
                <a:tc>
                  <a:txBody>
                    <a:bodyPr/>
                    <a:lstStyle/>
                    <a:p>
                      <a:pPr algn="l" rtl="0" fontAlgn="ctr"/>
                      <a:r>
                        <a:rPr lang="en-US" sz="1200" b="0" i="0" u="none" strike="noStrike">
                          <a:solidFill>
                            <a:srgbClr val="000000"/>
                          </a:solidFill>
                          <a:effectLst/>
                          <a:latin typeface="Tahoma" panose="020B0604030504040204" pitchFamily="34" charset="0"/>
                        </a:rPr>
                        <a:t>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50%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46%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64%</a:t>
                      </a:r>
                    </a:p>
                  </a:txBody>
                  <a:tcPr marL="9525" marR="9525" marT="9525" marB="0" anchor="ctr">
                    <a:solidFill>
                      <a:srgbClr val="DCE6F1"/>
                    </a:solidFill>
                  </a:tcPr>
                </a:tc>
                <a:extLst>
                  <a:ext uri="{0D108BD9-81ED-4DB2-BD59-A6C34878D82A}">
                    <a16:rowId xmlns:a16="http://schemas.microsoft.com/office/drawing/2014/main" val="10001"/>
                  </a:ext>
                </a:extLst>
              </a:tr>
              <a:tr h="316865">
                <a:tc>
                  <a:txBody>
                    <a:bodyPr/>
                    <a:lstStyle/>
                    <a:p>
                      <a:pPr algn="l" rtl="0" fontAlgn="ctr"/>
                      <a:r>
                        <a:rPr lang="en-US" sz="1200" b="0" i="0" u="none" strike="noStrike">
                          <a:solidFill>
                            <a:srgbClr val="000000"/>
                          </a:solidFill>
                          <a:effectLst/>
                          <a:latin typeface="Tahoma" panose="020B0604030504040204" pitchFamily="34" charset="0"/>
                        </a:rPr>
                        <a:t>1 time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12%</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0002"/>
                  </a:ext>
                </a:extLst>
              </a:tr>
              <a:tr h="316865">
                <a:tc>
                  <a:txBody>
                    <a:bodyPr/>
                    <a:lstStyle/>
                    <a:p>
                      <a:pPr algn="l" rtl="0" fontAlgn="ctr"/>
                      <a:r>
                        <a:rPr lang="en-US" sz="1200" b="0" i="0" u="none" strike="noStrike">
                          <a:solidFill>
                            <a:srgbClr val="000000"/>
                          </a:solidFill>
                          <a:effectLst/>
                          <a:latin typeface="Tahoma" panose="020B0604030504040204" pitchFamily="34" charset="0"/>
                        </a:rPr>
                        <a:t>2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extLst>
                  <a:ext uri="{0D108BD9-81ED-4DB2-BD59-A6C34878D82A}">
                    <a16:rowId xmlns:a16="http://schemas.microsoft.com/office/drawing/2014/main" val="10003"/>
                  </a:ext>
                </a:extLst>
              </a:tr>
              <a:tr h="316865">
                <a:tc>
                  <a:txBody>
                    <a:bodyPr/>
                    <a:lstStyle/>
                    <a:p>
                      <a:pPr algn="l" rtl="0" fontAlgn="ctr"/>
                      <a:r>
                        <a:rPr lang="en-US" sz="1200" b="0" i="0" u="none" strike="noStrike">
                          <a:solidFill>
                            <a:srgbClr val="000000"/>
                          </a:solidFill>
                          <a:effectLst/>
                          <a:latin typeface="Tahoma" panose="020B0604030504040204" pitchFamily="34" charset="0"/>
                        </a:rPr>
                        <a:t>3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extLst>
                  <a:ext uri="{0D108BD9-81ED-4DB2-BD59-A6C34878D82A}">
                    <a16:rowId xmlns:a16="http://schemas.microsoft.com/office/drawing/2014/main" val="148151650"/>
                  </a:ext>
                </a:extLst>
              </a:tr>
              <a:tr h="316865">
                <a:tc>
                  <a:txBody>
                    <a:bodyPr/>
                    <a:lstStyle/>
                    <a:p>
                      <a:pPr algn="l" rtl="0" fontAlgn="ctr"/>
                      <a:r>
                        <a:rPr lang="en-US" sz="1200" b="0" i="0" u="none" strike="noStrike">
                          <a:solidFill>
                            <a:srgbClr val="000000"/>
                          </a:solidFill>
                          <a:effectLst/>
                          <a:latin typeface="Tahoma" panose="020B0604030504040204" pitchFamily="34" charset="0"/>
                        </a:rPr>
                        <a:t>4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15%</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718792193"/>
                  </a:ext>
                </a:extLst>
              </a:tr>
              <a:tr h="316865">
                <a:tc>
                  <a:txBody>
                    <a:bodyPr/>
                    <a:lstStyle/>
                    <a:p>
                      <a:pPr algn="l" rtl="0" fontAlgn="ctr"/>
                      <a:r>
                        <a:rPr lang="en-US" sz="1200" b="0" i="0" u="none" strike="noStrike">
                          <a:solidFill>
                            <a:srgbClr val="000000"/>
                          </a:solidFill>
                          <a:effectLst/>
                          <a:latin typeface="Tahoma" panose="020B0604030504040204" pitchFamily="34" charset="0"/>
                        </a:rPr>
                        <a:t>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839640657"/>
                  </a:ext>
                </a:extLst>
              </a:tr>
              <a:tr h="316865">
                <a:tc>
                  <a:txBody>
                    <a:bodyPr/>
                    <a:lstStyle/>
                    <a:p>
                      <a:pPr algn="l" rtl="0" fontAlgn="ctr"/>
                      <a:r>
                        <a:rPr lang="en-US" sz="1200" b="0" i="0" u="none" strike="noStrike">
                          <a:solidFill>
                            <a:srgbClr val="000000"/>
                          </a:solidFill>
                          <a:effectLst/>
                          <a:latin typeface="Tahoma" panose="020B0604030504040204" pitchFamily="34" charset="0"/>
                        </a:rPr>
                        <a:t>6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extLst>
                  <a:ext uri="{0D108BD9-81ED-4DB2-BD59-A6C34878D82A}">
                    <a16:rowId xmlns:a16="http://schemas.microsoft.com/office/drawing/2014/main" val="2741441539"/>
                  </a:ext>
                </a:extLst>
              </a:tr>
              <a:tr h="316865">
                <a:tc>
                  <a:txBody>
                    <a:bodyPr/>
                    <a:lstStyle/>
                    <a:p>
                      <a:pPr algn="l" rtl="0" fontAlgn="ctr"/>
                      <a:r>
                        <a:rPr lang="en-US" sz="1200" b="0" i="0" u="none" strike="noStrike">
                          <a:solidFill>
                            <a:srgbClr val="000000"/>
                          </a:solidFill>
                          <a:effectLst/>
                          <a:latin typeface="Tahoma" panose="020B0604030504040204" pitchFamily="34" charset="0"/>
                        </a:rPr>
                        <a:t>7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417725022"/>
                  </a:ext>
                </a:extLst>
              </a:tr>
              <a:tr h="316865">
                <a:tc>
                  <a:txBody>
                    <a:bodyPr/>
                    <a:lstStyle/>
                    <a:p>
                      <a:pPr algn="l" rtl="0" fontAlgn="ctr"/>
                      <a:r>
                        <a:rPr lang="en-US" sz="1200" b="0" i="0" u="none" strike="noStrike">
                          <a:solidFill>
                            <a:srgbClr val="000000"/>
                          </a:solidFill>
                          <a:effectLst/>
                          <a:latin typeface="Tahoma" panose="020B0604030504040204" pitchFamily="34" charset="0"/>
                        </a:rPr>
                        <a:t>15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1860394633"/>
                  </a:ext>
                </a:extLst>
              </a:tr>
              <a:tr h="316865">
                <a:tc>
                  <a:txBody>
                    <a:bodyPr/>
                    <a:lstStyle/>
                    <a:p>
                      <a:pPr algn="l" rtl="0" fontAlgn="ctr"/>
                      <a:r>
                        <a:rPr lang="en-US" sz="1200" b="0" i="0" u="none" strike="noStrike">
                          <a:solidFill>
                            <a:srgbClr val="000000"/>
                          </a:solidFill>
                          <a:effectLst/>
                          <a:latin typeface="Tahoma" panose="020B0604030504040204" pitchFamily="34" charset="0"/>
                        </a:rPr>
                        <a:t>20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8%</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785044530"/>
                  </a:ext>
                </a:extLst>
              </a:tr>
              <a:tr h="316865">
                <a:tc>
                  <a:txBody>
                    <a:bodyPr/>
                    <a:lstStyle/>
                    <a:p>
                      <a:pPr algn="l" rtl="0" fontAlgn="ctr"/>
                      <a:r>
                        <a:rPr lang="en-US" sz="1200" b="0" i="0" u="none" strike="noStrike">
                          <a:solidFill>
                            <a:srgbClr val="000000"/>
                          </a:solidFill>
                          <a:effectLst/>
                          <a:latin typeface="Tahoma" panose="020B0604030504040204" pitchFamily="34" charset="0"/>
                        </a:rPr>
                        <a:t>25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983343518"/>
                  </a:ext>
                </a:extLst>
              </a:tr>
              <a:tr h="316865">
                <a:tc>
                  <a:txBody>
                    <a:bodyPr/>
                    <a:lstStyle/>
                    <a:p>
                      <a:pPr algn="l" rtl="0" fontAlgn="ctr"/>
                      <a:r>
                        <a:rPr lang="en-US" sz="1200" b="0" i="0" u="none" strike="noStrike">
                          <a:solidFill>
                            <a:srgbClr val="000000"/>
                          </a:solidFill>
                          <a:effectLst/>
                          <a:latin typeface="Tahoma" panose="020B0604030504040204" pitchFamily="34" charset="0"/>
                        </a:rPr>
                        <a:t>30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extLst>
                  <a:ext uri="{0D108BD9-81ED-4DB2-BD59-A6C34878D82A}">
                    <a16:rowId xmlns:a16="http://schemas.microsoft.com/office/drawing/2014/main" val="10004"/>
                  </a:ext>
                </a:extLst>
              </a:tr>
              <a:tr h="354965">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10</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13</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11"/>
                  </a:ext>
                </a:extLst>
              </a:tr>
            </a:tbl>
          </a:graphicData>
        </a:graphic>
      </p:graphicFrame>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Tree>
    <p:extLst>
      <p:ext uri="{BB962C8B-B14F-4D97-AF65-F5344CB8AC3E}">
        <p14:creationId xmlns:p14="http://schemas.microsoft.com/office/powerpoint/2010/main" val="3331388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graphicFrame>
        <p:nvGraphicFramePr>
          <p:cNvPr id="3" name="Table 2"/>
          <p:cNvGraphicFramePr>
            <a:graphicFrameLocks noGrp="1"/>
          </p:cNvGraphicFramePr>
          <p:nvPr>
            <p:extLst>
              <p:ext uri="{D42A27DB-BD31-4B8C-83A1-F6EECF244321}">
                <p14:modId xmlns:p14="http://schemas.microsoft.com/office/powerpoint/2010/main" val="322915707"/>
              </p:ext>
            </p:extLst>
          </p:nvPr>
        </p:nvGraphicFramePr>
        <p:xfrm>
          <a:off x="485612" y="1414462"/>
          <a:ext cx="5743737" cy="4943920"/>
        </p:xfrm>
        <a:graphic>
          <a:graphicData uri="http://schemas.openxmlformats.org/drawingml/2006/table">
            <a:tbl>
              <a:tblPr firstRow="1" lastRow="1">
                <a:tableStyleId>{5C22544A-7EE6-4342-B048-85BDC9FD1C3A}</a:tableStyleId>
              </a:tblPr>
              <a:tblGrid>
                <a:gridCol w="1567989">
                  <a:extLst>
                    <a:ext uri="{9D8B030D-6E8A-4147-A177-3AD203B41FA5}">
                      <a16:colId xmlns:a16="http://schemas.microsoft.com/office/drawing/2014/main" val="20000"/>
                    </a:ext>
                  </a:extLst>
                </a:gridCol>
                <a:gridCol w="1043937">
                  <a:extLst>
                    <a:ext uri="{9D8B030D-6E8A-4147-A177-3AD203B41FA5}">
                      <a16:colId xmlns:a16="http://schemas.microsoft.com/office/drawing/2014/main" val="1669390030"/>
                    </a:ext>
                  </a:extLst>
                </a:gridCol>
                <a:gridCol w="1043937">
                  <a:extLst>
                    <a:ext uri="{9D8B030D-6E8A-4147-A177-3AD203B41FA5}">
                      <a16:colId xmlns:a16="http://schemas.microsoft.com/office/drawing/2014/main" val="2467363076"/>
                    </a:ext>
                  </a:extLst>
                </a:gridCol>
                <a:gridCol w="1043937">
                  <a:extLst>
                    <a:ext uri="{9D8B030D-6E8A-4147-A177-3AD203B41FA5}">
                      <a16:colId xmlns:a16="http://schemas.microsoft.com/office/drawing/2014/main" val="1818035039"/>
                    </a:ext>
                  </a:extLst>
                </a:gridCol>
                <a:gridCol w="1043937">
                  <a:extLst>
                    <a:ext uri="{9D8B030D-6E8A-4147-A177-3AD203B41FA5}">
                      <a16:colId xmlns:a16="http://schemas.microsoft.com/office/drawing/2014/main" val="3288149643"/>
                    </a:ext>
                  </a:extLst>
                </a:gridCol>
              </a:tblGrid>
              <a:tr h="457200">
                <a:tc>
                  <a:txBody>
                    <a:bodyPr/>
                    <a:lstStyle/>
                    <a:p>
                      <a:pPr algn="ctr" rtl="0" fontAlgn="ctr"/>
                      <a:r>
                        <a:rPr lang="en-US" sz="1200" b="1" i="0" u="none" strike="noStrike">
                          <a:solidFill>
                            <a:srgbClr val="FFFFFF"/>
                          </a:solidFill>
                          <a:effectLst/>
                          <a:latin typeface="Tahoma" panose="020B0604030504040204" pitchFamily="34" charset="0"/>
                        </a:rPr>
                        <a:t>Mental Health Not Good In the Past 30 Days</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Q1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Q2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Q3 2024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Q4 2024</a:t>
                      </a:r>
                    </a:p>
                  </a:txBody>
                  <a:tcPr marL="9525" marR="9525" marT="9525" marB="0" anchor="ctr">
                    <a:solidFill>
                      <a:srgbClr val="4F81BD"/>
                    </a:solidFill>
                  </a:tcPr>
                </a:tc>
                <a:extLst>
                  <a:ext uri="{0D108BD9-81ED-4DB2-BD59-A6C34878D82A}">
                    <a16:rowId xmlns:a16="http://schemas.microsoft.com/office/drawing/2014/main" val="10000"/>
                  </a:ext>
                </a:extLst>
              </a:tr>
              <a:tr h="457200">
                <a:tc>
                  <a:txBody>
                    <a:bodyPr/>
                    <a:lstStyle/>
                    <a:p>
                      <a:pPr algn="l" rtl="0" fontAlgn="ctr"/>
                      <a:r>
                        <a:rPr lang="en-US" sz="1200" b="0" i="0" u="none" strike="noStrike">
                          <a:solidFill>
                            <a:srgbClr val="000000"/>
                          </a:solidFill>
                          <a:effectLst/>
                          <a:latin typeface="Tahoma" panose="020B0604030504040204" pitchFamily="34" charset="0"/>
                        </a:rPr>
                        <a:t>0 times</a:t>
                      </a:r>
                    </a:p>
                  </a:txBody>
                  <a:tcPr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60%</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69%</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36%</a:t>
                      </a:r>
                    </a:p>
                  </a:txBody>
                  <a:tcPr marL="9525" marR="9525" marT="9525" marB="0" anchor="ctr">
                    <a:solidFill>
                      <a:srgbClr val="DEE8F3"/>
                    </a:solidFill>
                  </a:tcPr>
                </a:tc>
                <a:tc>
                  <a:txBody>
                    <a:bodyPr/>
                    <a:lstStyle/>
                    <a:p>
                      <a:pPr algn="ctr" rtl="0" fontAlgn="ctr"/>
                      <a:r>
                        <a:rPr lang="en-US" sz="1200" b="0" i="0" u="none" strike="noStrike">
                          <a:solidFill>
                            <a:srgbClr val="000000"/>
                          </a:solidFill>
                          <a:effectLst/>
                          <a:latin typeface="Tahoma" panose="020B0604030504040204" pitchFamily="34" charset="0"/>
                        </a:rPr>
                        <a:t>48%</a:t>
                      </a:r>
                    </a:p>
                  </a:txBody>
                  <a:tcPr marL="9525" marR="9525" marT="9525" marB="0" anchor="ctr">
                    <a:solidFill>
                      <a:srgbClr val="DEE8F3"/>
                    </a:solidFill>
                  </a:tcPr>
                </a:tc>
                <a:extLst>
                  <a:ext uri="{0D108BD9-81ED-4DB2-BD59-A6C34878D82A}">
                    <a16:rowId xmlns:a16="http://schemas.microsoft.com/office/drawing/2014/main" val="3102716824"/>
                  </a:ext>
                </a:extLst>
              </a:tr>
              <a:tr h="299427">
                <a:tc>
                  <a:txBody>
                    <a:bodyPr/>
                    <a:lstStyle/>
                    <a:p>
                      <a:pPr algn="l" rtl="0" fontAlgn="ctr"/>
                      <a:r>
                        <a:rPr lang="en-US" sz="1200" b="0" i="0" u="none" strike="noStrike">
                          <a:solidFill>
                            <a:srgbClr val="000000"/>
                          </a:solidFill>
                          <a:effectLst/>
                          <a:latin typeface="Tahoma" panose="020B0604030504040204" pitchFamily="34" charset="0"/>
                        </a:rPr>
                        <a:t>1 time</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extLst>
                  <a:ext uri="{0D108BD9-81ED-4DB2-BD59-A6C34878D82A}">
                    <a16:rowId xmlns:a16="http://schemas.microsoft.com/office/drawing/2014/main" val="10001"/>
                  </a:ext>
                </a:extLst>
              </a:tr>
              <a:tr h="299427">
                <a:tc>
                  <a:txBody>
                    <a:bodyPr/>
                    <a:lstStyle/>
                    <a:p>
                      <a:pPr algn="l" rtl="0" fontAlgn="ctr"/>
                      <a:r>
                        <a:rPr lang="en-US" sz="1200" b="0" i="0" u="none" strike="noStrike">
                          <a:solidFill>
                            <a:srgbClr val="000000"/>
                          </a:solidFill>
                          <a:effectLst/>
                          <a:latin typeface="Tahoma" panose="020B0604030504040204" pitchFamily="34" charset="0"/>
                        </a:rPr>
                        <a:t>2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0002"/>
                  </a:ext>
                </a:extLst>
              </a:tr>
              <a:tr h="299427">
                <a:tc>
                  <a:txBody>
                    <a:bodyPr/>
                    <a:lstStyle/>
                    <a:p>
                      <a:pPr algn="l" rtl="0" fontAlgn="ctr"/>
                      <a:r>
                        <a:rPr lang="en-US" sz="1200" b="0" i="0" u="none" strike="noStrike">
                          <a:solidFill>
                            <a:srgbClr val="000000"/>
                          </a:solidFill>
                          <a:effectLst/>
                          <a:latin typeface="Tahoma" panose="020B0604030504040204" pitchFamily="34" charset="0"/>
                        </a:rPr>
                        <a:t>3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14%</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0003"/>
                  </a:ext>
                </a:extLst>
              </a:tr>
              <a:tr h="299427">
                <a:tc>
                  <a:txBody>
                    <a:bodyPr/>
                    <a:lstStyle/>
                    <a:p>
                      <a:pPr algn="l" rtl="0" fontAlgn="ctr"/>
                      <a:r>
                        <a:rPr lang="en-US" sz="1200" b="0" i="0" u="none" strike="noStrike">
                          <a:solidFill>
                            <a:srgbClr val="000000"/>
                          </a:solidFill>
                          <a:effectLst/>
                          <a:latin typeface="Tahoma" panose="020B0604030504040204" pitchFamily="34" charset="0"/>
                        </a:rPr>
                        <a:t>4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10004"/>
                  </a:ext>
                </a:extLst>
              </a:tr>
              <a:tr h="299427">
                <a:tc>
                  <a:txBody>
                    <a:bodyPr/>
                    <a:lstStyle/>
                    <a:p>
                      <a:pPr algn="l" rtl="0" fontAlgn="ctr"/>
                      <a:r>
                        <a:rPr lang="en-US" sz="1200" b="0" i="0" u="none" strike="noStrike">
                          <a:solidFill>
                            <a:srgbClr val="000000"/>
                          </a:solidFill>
                          <a:effectLst/>
                          <a:latin typeface="Tahoma" panose="020B0604030504040204" pitchFamily="34" charset="0"/>
                        </a:rPr>
                        <a:t>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21%</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12%</a:t>
                      </a:r>
                    </a:p>
                  </a:txBody>
                  <a:tcPr marL="9525" marR="9525" marT="9525" marB="0" anchor="ctr">
                    <a:solidFill>
                      <a:srgbClr val="DCE6F1"/>
                    </a:solidFill>
                  </a:tcPr>
                </a:tc>
                <a:extLst>
                  <a:ext uri="{0D108BD9-81ED-4DB2-BD59-A6C34878D82A}">
                    <a16:rowId xmlns:a16="http://schemas.microsoft.com/office/drawing/2014/main" val="1015768570"/>
                  </a:ext>
                </a:extLst>
              </a:tr>
              <a:tr h="299427">
                <a:tc>
                  <a:txBody>
                    <a:bodyPr/>
                    <a:lstStyle/>
                    <a:p>
                      <a:pPr algn="l" rtl="0" fontAlgn="ctr"/>
                      <a:r>
                        <a:rPr lang="en-US" sz="1200" b="0" i="0" u="none" strike="noStrike">
                          <a:solidFill>
                            <a:srgbClr val="000000"/>
                          </a:solidFill>
                          <a:effectLst/>
                          <a:latin typeface="Tahoma" panose="020B0604030504040204" pitchFamily="34" charset="0"/>
                        </a:rPr>
                        <a:t>7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3203606894"/>
                  </a:ext>
                </a:extLst>
              </a:tr>
              <a:tr h="299427">
                <a:tc>
                  <a:txBody>
                    <a:bodyPr/>
                    <a:lstStyle/>
                    <a:p>
                      <a:pPr algn="l" rtl="0" fontAlgn="ctr"/>
                      <a:r>
                        <a:rPr lang="en-US" sz="1200" b="0" i="0" u="none" strike="noStrike">
                          <a:solidFill>
                            <a:srgbClr val="000000"/>
                          </a:solidFill>
                          <a:effectLst/>
                          <a:latin typeface="Tahoma" panose="020B0604030504040204" pitchFamily="34" charset="0"/>
                        </a:rPr>
                        <a:t>10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extLst>
                  <a:ext uri="{0D108BD9-81ED-4DB2-BD59-A6C34878D82A}">
                    <a16:rowId xmlns:a16="http://schemas.microsoft.com/office/drawing/2014/main" val="2578859464"/>
                  </a:ext>
                </a:extLst>
              </a:tr>
              <a:tr h="299427">
                <a:tc>
                  <a:txBody>
                    <a:bodyPr/>
                    <a:lstStyle/>
                    <a:p>
                      <a:pPr algn="l" rtl="0" fontAlgn="ctr"/>
                      <a:r>
                        <a:rPr lang="en-US" sz="1200" b="0" i="0" u="none" strike="noStrike">
                          <a:solidFill>
                            <a:srgbClr val="000000"/>
                          </a:solidFill>
                          <a:effectLst/>
                          <a:latin typeface="Tahoma" panose="020B0604030504040204" pitchFamily="34" charset="0"/>
                        </a:rPr>
                        <a:t>14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814682072"/>
                  </a:ext>
                </a:extLst>
              </a:tr>
              <a:tr h="299427">
                <a:tc>
                  <a:txBody>
                    <a:bodyPr/>
                    <a:lstStyle/>
                    <a:p>
                      <a:pPr algn="l" rtl="0" fontAlgn="ctr"/>
                      <a:r>
                        <a:rPr lang="en-US" sz="1200" b="0" i="0" u="none" strike="noStrike">
                          <a:solidFill>
                            <a:srgbClr val="000000"/>
                          </a:solidFill>
                          <a:effectLst/>
                          <a:latin typeface="Tahoma" panose="020B0604030504040204" pitchFamily="34" charset="0"/>
                        </a:rPr>
                        <a:t>15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6%</a:t>
                      </a:r>
                    </a:p>
                  </a:txBody>
                  <a:tcPr marL="9525" marR="9525" marT="9525" marB="0" anchor="ctr">
                    <a:solidFill>
                      <a:srgbClr val="DCE6F1"/>
                    </a:solidFill>
                  </a:tcPr>
                </a:tc>
                <a:extLst>
                  <a:ext uri="{0D108BD9-81ED-4DB2-BD59-A6C34878D82A}">
                    <a16:rowId xmlns:a16="http://schemas.microsoft.com/office/drawing/2014/main" val="425916774"/>
                  </a:ext>
                </a:extLst>
              </a:tr>
              <a:tr h="299427">
                <a:tc>
                  <a:txBody>
                    <a:bodyPr/>
                    <a:lstStyle/>
                    <a:p>
                      <a:pPr algn="l" rtl="0" fontAlgn="ctr"/>
                      <a:r>
                        <a:rPr lang="en-US" sz="1200" b="0" i="0" u="none" strike="noStrike">
                          <a:solidFill>
                            <a:srgbClr val="000000"/>
                          </a:solidFill>
                          <a:effectLst/>
                          <a:latin typeface="Tahoma" panose="020B0604030504040204" pitchFamily="34" charset="0"/>
                        </a:rPr>
                        <a:t>20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extLst>
                  <a:ext uri="{0D108BD9-81ED-4DB2-BD59-A6C34878D82A}">
                    <a16:rowId xmlns:a16="http://schemas.microsoft.com/office/drawing/2014/main" val="3146119889"/>
                  </a:ext>
                </a:extLst>
              </a:tr>
              <a:tr h="299427">
                <a:tc>
                  <a:txBody>
                    <a:bodyPr/>
                    <a:lstStyle/>
                    <a:p>
                      <a:pPr algn="l" rtl="0" fontAlgn="ctr"/>
                      <a:r>
                        <a:rPr lang="en-US" sz="1200" b="0" i="0" u="none" strike="noStrike">
                          <a:solidFill>
                            <a:srgbClr val="000000"/>
                          </a:solidFill>
                          <a:effectLst/>
                          <a:latin typeface="Tahoma" panose="020B0604030504040204" pitchFamily="34" charset="0"/>
                        </a:rPr>
                        <a:t>25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20%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extLst>
                  <a:ext uri="{0D108BD9-81ED-4DB2-BD59-A6C34878D82A}">
                    <a16:rowId xmlns:a16="http://schemas.microsoft.com/office/drawing/2014/main" val="2838617285"/>
                  </a:ext>
                </a:extLst>
              </a:tr>
              <a:tr h="299427">
                <a:tc>
                  <a:txBody>
                    <a:bodyPr/>
                    <a:lstStyle/>
                    <a:p>
                      <a:pPr algn="l" rtl="0" fontAlgn="ctr"/>
                      <a:r>
                        <a:rPr lang="en-US" sz="1200" b="0" i="0" u="none" strike="noStrike">
                          <a:solidFill>
                            <a:srgbClr val="000000"/>
                          </a:solidFill>
                          <a:effectLst/>
                          <a:latin typeface="Tahoma" panose="020B0604030504040204" pitchFamily="34" charset="0"/>
                        </a:rPr>
                        <a:t>30 times</a:t>
                      </a:r>
                    </a:p>
                  </a:txBody>
                  <a:tcPr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0%</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3%</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7%</a:t>
                      </a:r>
                    </a:p>
                  </a:txBody>
                  <a:tcPr marL="9525" marR="9525" marT="9525" marB="0" anchor="ctr">
                    <a:solidFill>
                      <a:srgbClr val="DCE6F1"/>
                    </a:solidFill>
                  </a:tcPr>
                </a:tc>
                <a:tc>
                  <a:txBody>
                    <a:bodyPr/>
                    <a:lstStyle/>
                    <a:p>
                      <a:pPr algn="ctr" rtl="0" fontAlgn="ctr"/>
                      <a:r>
                        <a:rPr lang="en-US" sz="1200" b="0" i="0" u="none" strike="noStrike">
                          <a:solidFill>
                            <a:srgbClr val="000000"/>
                          </a:solidFill>
                          <a:effectLst/>
                          <a:latin typeface="Tahoma" panose="020B0604030504040204" pitchFamily="34" charset="0"/>
                        </a:rPr>
                        <a:t>9%</a:t>
                      </a:r>
                    </a:p>
                  </a:txBody>
                  <a:tcPr marL="9525" marR="9525" marT="9525" marB="0" anchor="ctr">
                    <a:solidFill>
                      <a:srgbClr val="DCE6F1"/>
                    </a:solidFill>
                  </a:tcPr>
                </a:tc>
                <a:extLst>
                  <a:ext uri="{0D108BD9-81ED-4DB2-BD59-A6C34878D82A}">
                    <a16:rowId xmlns:a16="http://schemas.microsoft.com/office/drawing/2014/main" val="3500077433"/>
                  </a:ext>
                </a:extLst>
              </a:tr>
              <a:tr h="335431">
                <a:tc>
                  <a:txBody>
                    <a:bodyPr/>
                    <a:lstStyle/>
                    <a:p>
                      <a:pPr algn="l" rtl="0" fontAlgn="ctr"/>
                      <a:r>
                        <a:rPr lang="en-US" sz="1200" b="1" i="0" u="none" strike="noStrike">
                          <a:solidFill>
                            <a:srgbClr val="FFFFFF"/>
                          </a:solidFill>
                          <a:effectLst/>
                          <a:latin typeface="Tahoma" panose="020B0604030504040204" pitchFamily="34" charset="0"/>
                        </a:rPr>
                        <a:t>Base: </a:t>
                      </a:r>
                    </a:p>
                  </a:txBody>
                  <a:tcPr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10</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32</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14</a:t>
                      </a:r>
                    </a:p>
                  </a:txBody>
                  <a:tcPr marL="9525" marR="9525" marT="9525" marB="0" anchor="ctr">
                    <a:solidFill>
                      <a:srgbClr val="4F81BD"/>
                    </a:solidFill>
                  </a:tcPr>
                </a:tc>
                <a:tc>
                  <a:txBody>
                    <a:bodyPr/>
                    <a:lstStyle/>
                    <a:p>
                      <a:pPr algn="ctr" rtl="0" fontAlgn="ctr"/>
                      <a:r>
                        <a:rPr lang="en-US" sz="1200" b="1" i="0" u="none" strike="noStrike">
                          <a:solidFill>
                            <a:srgbClr val="FFFFFF"/>
                          </a:solidFill>
                          <a:effectLst/>
                          <a:latin typeface="Tahoma" panose="020B0604030504040204" pitchFamily="34" charset="0"/>
                        </a:rPr>
                        <a:t>33</a:t>
                      </a:r>
                    </a:p>
                  </a:txBody>
                  <a:tcPr marL="9525" marR="9525" marT="9525" marB="0" anchor="ctr">
                    <a:solidFill>
                      <a:srgbClr val="4F81BD"/>
                    </a:solidFill>
                  </a:tcPr>
                </a:tc>
                <a:extLst>
                  <a:ext uri="{0D108BD9-81ED-4DB2-BD59-A6C34878D82A}">
                    <a16:rowId xmlns:a16="http://schemas.microsoft.com/office/drawing/2014/main" val="10008"/>
                  </a:ext>
                </a:extLst>
              </a:tr>
            </a:tbl>
          </a:graphicData>
        </a:graphic>
      </p:graphicFrame>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Tree>
    <p:extLst>
      <p:ext uri="{BB962C8B-B14F-4D97-AF65-F5344CB8AC3E}">
        <p14:creationId xmlns:p14="http://schemas.microsoft.com/office/powerpoint/2010/main" val="15876760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62</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3142653356"/>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63</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altLang="en-US" sz="1800">
                <a:cs typeface="Geneva"/>
              </a:rPr>
              <a:t>During January 2025, Creative Consumer Research (CCR) conducted 33 telephone interviews with individuals living in homes that went through Austin Energy’s Low Income Weatherization Program.</a:t>
            </a:r>
          </a:p>
          <a:p>
            <a:pPr>
              <a:spcBef>
                <a:spcPts val="600"/>
              </a:spcBef>
            </a:pPr>
            <a:r>
              <a:rPr lang="en-US" altLang="en-US" sz="1800">
                <a:ea typeface="Geneva"/>
                <a:cs typeface="Geneva"/>
              </a:rPr>
              <a:t>This quarter 36 contacts were provided, and the average survey length was 17 minutes.</a:t>
            </a:r>
          </a:p>
          <a:p>
            <a:pPr>
              <a:spcBef>
                <a:spcPts val="600"/>
              </a:spcBef>
            </a:pPr>
            <a:r>
              <a:rPr lang="en-US" altLang="en-US" sz="180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a:ea typeface="Geneva"/>
                <a:cs typeface="Geneva"/>
              </a:rPr>
              <a:t>For reference throughout the report, a ‘Top Box’ score is the percentage of ‘8’, ‘9’, and ‘10’ scores on a </a:t>
            </a:r>
            <a:br>
              <a:rPr lang="en-US" altLang="en-US" sz="1800">
                <a:ea typeface="Geneva"/>
                <a:cs typeface="Geneva"/>
              </a:rPr>
            </a:br>
            <a:r>
              <a:rPr lang="en-US" altLang="en-US" sz="1800">
                <a:ea typeface="Geneva"/>
                <a:cs typeface="Geneva"/>
              </a:rPr>
              <a:t>10-point scale.</a:t>
            </a:r>
          </a:p>
          <a:p>
            <a:pPr marL="0" indent="0">
              <a:buNone/>
            </a:pPr>
            <a:r>
              <a:rPr lang="en-US" altLang="en-US" sz="1800">
                <a:ea typeface="Geneva"/>
                <a:cs typeface="Geneva"/>
              </a:rPr>
              <a:t> </a:t>
            </a:r>
          </a:p>
          <a:p>
            <a:endParaRPr lang="en-US" altLang="en-US" sz="1800">
              <a:ea typeface="Geneva"/>
              <a:cs typeface="Geneva"/>
            </a:endParaRPr>
          </a:p>
          <a:p>
            <a:pPr marL="0" indent="0">
              <a:buNone/>
            </a:pPr>
            <a:endParaRPr lang="en-US" altLang="en-US" sz="1800">
              <a:ea typeface="MS PGothic" panose="020B0600070205080204" pitchFamily="34" charset="-128"/>
            </a:endParaRPr>
          </a:p>
          <a:p>
            <a:pPr marL="0" indent="0">
              <a:buNone/>
            </a:pPr>
            <a:endParaRPr lang="en-US" altLang="en-US" sz="180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extLst>
    <p:ext uri="{6950BFC3-D8DA-4A85-94F7-54DA5524770B}">
      <p188:commentRel xmlns:p188="http://schemas.microsoft.com/office/powerpoint/2018/8/main" r:id="rId2"/>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64</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0D050B2-3251-403C-968B-F8C9227395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50</TotalTime>
  <Words>6118</Words>
  <Application>Microsoft Macintosh PowerPoint</Application>
  <PresentationFormat>On-screen Show (4:3)</PresentationFormat>
  <Paragraphs>1881</Paragraphs>
  <Slides>64</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64</vt:i4>
      </vt:variant>
    </vt:vector>
  </HeadingPairs>
  <TitlesOfParts>
    <vt:vector size="75" baseType="lpstr">
      <vt:lpstr>MS PGothic</vt:lpstr>
      <vt:lpstr>MS PGothic</vt:lpstr>
      <vt:lpstr>Arial</vt:lpstr>
      <vt:lpstr>Calibri</vt:lpstr>
      <vt:lpstr>Courier New</vt:lpstr>
      <vt:lpstr>Geneva</vt:lpstr>
      <vt:lpstr>Helvetica</vt:lpstr>
      <vt:lpstr>Tahoma</vt:lpstr>
      <vt:lpstr>Times New Roman</vt:lpstr>
      <vt:lpstr>Univers 49 Light Ultra Condense</vt:lpstr>
      <vt:lpstr>Default Design</vt:lpstr>
      <vt:lpstr>Low Income Weatherization Survey FY2024 Q4  February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  (Table 1 of 3)</vt:lpstr>
      <vt:lpstr>Possible Low Income Weatherization Program Names  (Table 1 of 3)</vt:lpstr>
      <vt:lpstr>Possible Low Income Weatherization Program Names (Table 2 of 3)</vt:lpstr>
      <vt:lpstr>Possible Low Income Weatherization Program Names (Table 3 of 3)</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11</cp:revision>
  <cp:lastPrinted>2024-11-19T11:53:05Z</cp:lastPrinted>
  <dcterms:created xsi:type="dcterms:W3CDTF">2004-11-29T14:50:58Z</dcterms:created>
  <dcterms:modified xsi:type="dcterms:W3CDTF">2025-12-12T12:44:34Z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